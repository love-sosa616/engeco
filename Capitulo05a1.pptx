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  <p:sldMasterId id="2147483660" r:id="rId4"/>
    <p:sldMasterId id="2147483672" r:id="rId5"/>
    <p:sldMasterId id="2147483706" r:id="rId6"/>
  </p:sldMasterIdLst>
  <p:notesMasterIdLst>
    <p:notesMasterId r:id="rId37"/>
  </p:notesMasterIdLst>
  <p:sldIdLst>
    <p:sldId id="280" r:id="rId7"/>
    <p:sldId id="282" r:id="rId8"/>
    <p:sldId id="283" r:id="rId9"/>
    <p:sldId id="284" r:id="rId10"/>
    <p:sldId id="307" r:id="rId11"/>
    <p:sldId id="308" r:id="rId12"/>
    <p:sldId id="309" r:id="rId13"/>
    <p:sldId id="297" r:id="rId14"/>
    <p:sldId id="296" r:id="rId15"/>
    <p:sldId id="298" r:id="rId16"/>
    <p:sldId id="299" r:id="rId17"/>
    <p:sldId id="285" r:id="rId18"/>
    <p:sldId id="286" r:id="rId19"/>
    <p:sldId id="300" r:id="rId20"/>
    <p:sldId id="301" r:id="rId21"/>
    <p:sldId id="310" r:id="rId22"/>
    <p:sldId id="287" r:id="rId23"/>
    <p:sldId id="288" r:id="rId24"/>
    <p:sldId id="289" r:id="rId25"/>
    <p:sldId id="290" r:id="rId26"/>
    <p:sldId id="291" r:id="rId27"/>
    <p:sldId id="302" r:id="rId28"/>
    <p:sldId id="292" r:id="rId29"/>
    <p:sldId id="303" r:id="rId30"/>
    <p:sldId id="293" r:id="rId31"/>
    <p:sldId id="294" r:id="rId32"/>
    <p:sldId id="295" r:id="rId33"/>
    <p:sldId id="304" r:id="rId34"/>
    <p:sldId id="305" r:id="rId35"/>
    <p:sldId id="306" r:id="rId36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DAA"/>
    <a:srgbClr val="777777"/>
    <a:srgbClr val="0196D8"/>
    <a:srgbClr val="2771A0"/>
    <a:srgbClr val="792612"/>
    <a:srgbClr val="B98357"/>
    <a:srgbClr val="F7FCF5"/>
    <a:srgbClr val="F1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0" autoAdjust="0"/>
    <p:restoredTop sz="94660"/>
  </p:normalViewPr>
  <p:slideViewPr>
    <p:cSldViewPr>
      <p:cViewPr>
        <p:scale>
          <a:sx n="85" d="100"/>
          <a:sy n="85" d="100"/>
        </p:scale>
        <p:origin x="-972" y="4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Usuario\Meus%20documentos\UnB\Faculdade%20de%20Tecnologia\Disciplinas%20a%20ministrar%20na%20UnB\Engenharia%20Economica\Planilha%20Exerc.1%20cap5.xls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pt-BR"/>
              <a:t>Resultado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529468503937008"/>
          <c:y val="0.18554425488480622"/>
          <c:w val="0.544150262467192"/>
          <c:h val="0.65482210557013742"/>
        </c:manualLayout>
      </c:layout>
      <c:lineChart>
        <c:grouping val="standard"/>
        <c:varyColors val="0"/>
        <c:ser>
          <c:idx val="0"/>
          <c:order val="0"/>
          <c:tx>
            <c:strRef>
              <c:f>Plan1!$B$3</c:f>
              <c:strCache>
                <c:ptCount val="1"/>
                <c:pt idx="0">
                  <c:v>Receita</c:v>
                </c:pt>
              </c:strCache>
            </c:strRef>
          </c:tx>
          <c:marker>
            <c:symbol val="none"/>
          </c:marker>
          <c:cat>
            <c:numRef>
              <c:f>Plan1!$D$4:$D$10</c:f>
              <c:numCache>
                <c:formatCode>#,##0</c:formatCode>
                <c:ptCount val="7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450</c:v>
                </c:pt>
                <c:pt idx="4">
                  <c:v>600</c:v>
                </c:pt>
                <c:pt idx="5">
                  <c:v>800</c:v>
                </c:pt>
                <c:pt idx="6">
                  <c:v>1000</c:v>
                </c:pt>
              </c:numCache>
            </c:numRef>
          </c:cat>
          <c:val>
            <c:numRef>
              <c:f>Plan1!$B$4:$B$10</c:f>
              <c:numCache>
                <c:formatCode>#,##0.00</c:formatCode>
                <c:ptCount val="7"/>
                <c:pt idx="0">
                  <c:v>0</c:v>
                </c:pt>
                <c:pt idx="1">
                  <c:v>160000</c:v>
                </c:pt>
                <c:pt idx="2">
                  <c:v>320000</c:v>
                </c:pt>
                <c:pt idx="3">
                  <c:v>360000</c:v>
                </c:pt>
                <c:pt idx="4">
                  <c:v>480000</c:v>
                </c:pt>
                <c:pt idx="5">
                  <c:v>640000</c:v>
                </c:pt>
                <c:pt idx="6">
                  <c:v>800000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BA-4354-81E5-0AD2E22055C6}"/>
            </c:ext>
          </c:extLst>
        </c:ser>
        <c:ser>
          <c:idx val="1"/>
          <c:order val="1"/>
          <c:tx>
            <c:strRef>
              <c:f>Plan1!$C$3</c:f>
              <c:strCache>
                <c:ptCount val="1"/>
                <c:pt idx="0">
                  <c:v>Custo</c:v>
                </c:pt>
              </c:strCache>
            </c:strRef>
          </c:tx>
          <c:marker>
            <c:symbol val="none"/>
          </c:marker>
          <c:cat>
            <c:numRef>
              <c:f>Plan1!$D$4:$D$10</c:f>
              <c:numCache>
                <c:formatCode>#,##0</c:formatCode>
                <c:ptCount val="7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450</c:v>
                </c:pt>
                <c:pt idx="4">
                  <c:v>600</c:v>
                </c:pt>
                <c:pt idx="5">
                  <c:v>800</c:v>
                </c:pt>
                <c:pt idx="6">
                  <c:v>1000</c:v>
                </c:pt>
              </c:numCache>
            </c:numRef>
          </c:cat>
          <c:val>
            <c:numRef>
              <c:f>Plan1!$C$4:$C$10</c:f>
              <c:numCache>
                <c:formatCode>#,##0.00</c:formatCode>
                <c:ptCount val="7"/>
                <c:pt idx="0">
                  <c:v>270000</c:v>
                </c:pt>
                <c:pt idx="1">
                  <c:v>310000</c:v>
                </c:pt>
                <c:pt idx="2">
                  <c:v>350000</c:v>
                </c:pt>
                <c:pt idx="3">
                  <c:v>360000</c:v>
                </c:pt>
                <c:pt idx="4">
                  <c:v>390000</c:v>
                </c:pt>
                <c:pt idx="5">
                  <c:v>430000</c:v>
                </c:pt>
                <c:pt idx="6">
                  <c:v>470000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BA-4354-81E5-0AD2E22055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054016"/>
        <c:axId val="46055808"/>
      </c:lineChart>
      <c:catAx>
        <c:axId val="46054016"/>
        <c:scaling>
          <c:orientation val="minMax"/>
        </c:scaling>
        <c:delete val="0"/>
        <c:axPos val="b"/>
        <c:numFmt formatCode="#,##0" sourceLinked="1"/>
        <c:majorTickMark val="none"/>
        <c:minorTickMark val="none"/>
        <c:tickLblPos val="nextTo"/>
        <c:crossAx val="46055808"/>
        <c:crosses val="autoZero"/>
        <c:auto val="1"/>
        <c:lblAlgn val="ctr"/>
        <c:lblOffset val="100"/>
        <c:noMultiLvlLbl val="0"/>
      </c:catAx>
      <c:valAx>
        <c:axId val="4605580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Valores</a:t>
                </a:r>
              </a:p>
            </c:rich>
          </c:tx>
          <c:overlay val="0"/>
        </c:title>
        <c:numFmt formatCode="#,##0.00" sourceLinked="1"/>
        <c:majorTickMark val="none"/>
        <c:minorTickMark val="none"/>
        <c:tickLblPos val="nextTo"/>
        <c:crossAx val="46054016"/>
        <c:crosses val="autoZero"/>
        <c:crossBetween val="between"/>
      </c:valAx>
    </c:plotArea>
    <c:legend>
      <c:legendPos val="r"/>
      <c:overlay val="0"/>
    </c:legend>
    <c:plotVisOnly val="0"/>
    <c:dispBlanksAs val="zero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16EC481-FF28-54CD-3119-7BC1F779BB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49BDA7-2B0C-EA7B-BBC6-6E2C0852CCF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6E8817E-5592-41F2-ACAB-B9F495936F8D}" type="datetimeFigureOut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2510E5DB-864A-FC88-B169-32DF0CF27F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9ACB2C66-0BD3-AB8C-D288-527933777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8406D4-EA0C-BDBD-9D6F-93ABE975D7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5784BC-14FD-9F7D-2C48-F2A415EAB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FDEF759-2D52-4B5A-A29C-A86645C83643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>
            <a:extLst>
              <a:ext uri="{FF2B5EF4-FFF2-40B4-BE49-F238E27FC236}">
                <a16:creationId xmlns:a16="http://schemas.microsoft.com/office/drawing/2014/main" id="{AE917956-DC4B-E1B3-CC0F-8BB9DF10DF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Espaço Reservado para Anotações 2">
            <a:extLst>
              <a:ext uri="{FF2B5EF4-FFF2-40B4-BE49-F238E27FC236}">
                <a16:creationId xmlns:a16="http://schemas.microsoft.com/office/drawing/2014/main" id="{E9089CEF-E602-FC4B-C339-95F5868479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66A76B-C605-EE70-92EC-C36168E96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3490507-AE67-4CEE-8E33-90983E6A9FB3}" type="slidenum">
              <a:rPr lang="pt-BR" altLang="pt-BR">
                <a:latin typeface="Calibri" panose="020F0502020204030204" pitchFamily="34" charset="0"/>
              </a:rPr>
              <a:pPr eaLnBrk="1" hangingPunct="1"/>
              <a:t>1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Imagem de Slide 1">
            <a:extLst>
              <a:ext uri="{FF2B5EF4-FFF2-40B4-BE49-F238E27FC236}">
                <a16:creationId xmlns:a16="http://schemas.microsoft.com/office/drawing/2014/main" id="{35C05359-8440-FF99-4E2E-53C6FFDB05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Espaço Reservado para Anotações 2">
            <a:extLst>
              <a:ext uri="{FF2B5EF4-FFF2-40B4-BE49-F238E27FC236}">
                <a16:creationId xmlns:a16="http://schemas.microsoft.com/office/drawing/2014/main" id="{61C1895C-153D-81D0-F288-FB7A699C54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F766E8-7511-0578-545D-DC4A00E19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B5FB1F-EC17-418A-91F8-C201CB8BB453}" type="slidenum">
              <a:rPr lang="pt-BR" altLang="pt-BR">
                <a:latin typeface="Calibri" panose="020F0502020204030204" pitchFamily="34" charset="0"/>
              </a:rPr>
              <a:pPr eaLnBrk="1" hangingPunct="1"/>
              <a:t>2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>
            <a:extLst>
              <a:ext uri="{FF2B5EF4-FFF2-40B4-BE49-F238E27FC236}">
                <a16:creationId xmlns:a16="http://schemas.microsoft.com/office/drawing/2014/main" id="{2AF6F06A-208E-478E-0F86-C96E8CE472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Espaço Reservado para Anotações 2">
            <a:extLst>
              <a:ext uri="{FF2B5EF4-FFF2-40B4-BE49-F238E27FC236}">
                <a16:creationId xmlns:a16="http://schemas.microsoft.com/office/drawing/2014/main" id="{1C678713-D676-1175-08A5-E325109CC5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65B910-CC65-20E7-228A-6A7731985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3FC254A-F404-4046-8AAC-26FE010F9BF0}" type="slidenum">
              <a:rPr lang="pt-BR" altLang="pt-BR">
                <a:latin typeface="Calibri" panose="020F0502020204030204" pitchFamily="34" charset="0"/>
              </a:rPr>
              <a:pPr eaLnBrk="1" hangingPunct="1"/>
              <a:t>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>
            <a:extLst>
              <a:ext uri="{FF2B5EF4-FFF2-40B4-BE49-F238E27FC236}">
                <a16:creationId xmlns:a16="http://schemas.microsoft.com/office/drawing/2014/main" id="{5B116CAB-A714-986F-D364-9578B099E3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Espaço Reservado para Anotações 2">
            <a:extLst>
              <a:ext uri="{FF2B5EF4-FFF2-40B4-BE49-F238E27FC236}">
                <a16:creationId xmlns:a16="http://schemas.microsoft.com/office/drawing/2014/main" id="{1912323E-93EE-9841-F180-165C9D2FB7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B17B76-AEBB-6CC1-4BCA-8E6A65F61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70C8656-998C-4AAF-A702-C14CD2DEEF55}" type="slidenum">
              <a:rPr lang="pt-BR" altLang="pt-BR">
                <a:latin typeface="Calibri" panose="020F0502020204030204" pitchFamily="34" charset="0"/>
              </a:rPr>
              <a:pPr eaLnBrk="1" hangingPunct="1"/>
              <a:t>4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>
            <a:extLst>
              <a:ext uri="{FF2B5EF4-FFF2-40B4-BE49-F238E27FC236}">
                <a16:creationId xmlns:a16="http://schemas.microsoft.com/office/drawing/2014/main" id="{5926E491-ADBF-0E3A-FF22-E827576F42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Espaço Reservado para Anotações 2">
            <a:extLst>
              <a:ext uri="{FF2B5EF4-FFF2-40B4-BE49-F238E27FC236}">
                <a16:creationId xmlns:a16="http://schemas.microsoft.com/office/drawing/2014/main" id="{C6598453-ACCF-6323-2D12-086A14D5F1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B1ECDD-2798-14FB-65AA-68C4369EA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753199B-5B39-4BA5-BEC2-559D9050E858}" type="slidenum">
              <a:rPr lang="pt-BR" altLang="pt-BR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pt-BR" altLang="pt-BR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>
            <a:extLst>
              <a:ext uri="{FF2B5EF4-FFF2-40B4-BE49-F238E27FC236}">
                <a16:creationId xmlns:a16="http://schemas.microsoft.com/office/drawing/2014/main" id="{0C26734F-3CAA-2AF9-DB59-5434C3DA3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Espaço Reservado para Anotações 2">
            <a:extLst>
              <a:ext uri="{FF2B5EF4-FFF2-40B4-BE49-F238E27FC236}">
                <a16:creationId xmlns:a16="http://schemas.microsoft.com/office/drawing/2014/main" id="{EAF587DD-1EEE-24A3-85F3-22DADAF4EC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5AF688-F622-2B04-CB9C-291FAB826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7065577-8322-4F96-A98D-704B2B2921DE}" type="slidenum">
              <a:rPr lang="pt-BR" altLang="pt-BR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pt-BR" altLang="pt-BR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>
            <a:extLst>
              <a:ext uri="{FF2B5EF4-FFF2-40B4-BE49-F238E27FC236}">
                <a16:creationId xmlns:a16="http://schemas.microsoft.com/office/drawing/2014/main" id="{D87DE5F9-A3F0-53B0-C792-899FFF9533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Espaço Reservado para Anotações 2">
            <a:extLst>
              <a:ext uri="{FF2B5EF4-FFF2-40B4-BE49-F238E27FC236}">
                <a16:creationId xmlns:a16="http://schemas.microsoft.com/office/drawing/2014/main" id="{264F2AC2-E20D-146B-33BF-085892189E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4F1824-466B-34FF-A0B8-5C742EA49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2B9FC7-FD61-4276-8A04-B88863134C3F}" type="slidenum">
              <a:rPr lang="pt-BR" altLang="pt-BR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pt-BR" altLang="pt-BR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>
            <a:extLst>
              <a:ext uri="{FF2B5EF4-FFF2-40B4-BE49-F238E27FC236}">
                <a16:creationId xmlns:a16="http://schemas.microsoft.com/office/drawing/2014/main" id="{2BE3CF06-AB8B-6E70-52F5-B9F5599345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Espaço Reservado para Anotações 2">
            <a:extLst>
              <a:ext uri="{FF2B5EF4-FFF2-40B4-BE49-F238E27FC236}">
                <a16:creationId xmlns:a16="http://schemas.microsoft.com/office/drawing/2014/main" id="{9BA87687-3F55-1392-85CE-741993424F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1381F4-B96C-2485-D9C8-369206E7E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CA4553-A39A-4C9F-8C4A-DFC1CA5B165B}" type="slidenum">
              <a:rPr lang="pt-BR" altLang="pt-BR">
                <a:latin typeface="Calibri" panose="020F0502020204030204" pitchFamily="34" charset="0"/>
              </a:rPr>
              <a:pPr eaLnBrk="1" hangingPunct="1"/>
              <a:t>8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id="{C83B41A6-3A5E-4B5F-338F-509B80FA84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id="{78CB7C00-2EE4-2792-4FE6-E6EA672D0D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EC4858-69C3-5194-AB59-F75178E80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57E0AC6-9187-4613-8E3D-1E8F7FD8AC64}" type="slidenum">
              <a:rPr lang="pt-BR" altLang="pt-BR">
                <a:latin typeface="Calibri" panose="020F0502020204030204" pitchFamily="34" charset="0"/>
              </a:rPr>
              <a:pPr eaLnBrk="1" hangingPunct="1"/>
              <a:t>9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Imagem de Slide 1">
            <a:extLst>
              <a:ext uri="{FF2B5EF4-FFF2-40B4-BE49-F238E27FC236}">
                <a16:creationId xmlns:a16="http://schemas.microsoft.com/office/drawing/2014/main" id="{BDEFD016-A3A2-8DA6-1079-19D31E0397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Espaço Reservado para Anotações 2">
            <a:extLst>
              <a:ext uri="{FF2B5EF4-FFF2-40B4-BE49-F238E27FC236}">
                <a16:creationId xmlns:a16="http://schemas.microsoft.com/office/drawing/2014/main" id="{42434094-B3FA-B570-6B47-1B4D53926C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53F555-5A48-EF83-26E1-AE8F5E366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B3D3EE-BCAD-47E5-A3A8-2B8B3B2BAF83}" type="slidenum">
              <a:rPr lang="pt-BR" altLang="pt-BR">
                <a:latin typeface="Calibri" panose="020F0502020204030204" pitchFamily="34" charset="0"/>
              </a:rPr>
              <a:pPr eaLnBrk="1" hangingPunct="1"/>
              <a:t>10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>
            <a:extLst>
              <a:ext uri="{FF2B5EF4-FFF2-40B4-BE49-F238E27FC236}">
                <a16:creationId xmlns:a16="http://schemas.microsoft.com/office/drawing/2014/main" id="{5960F9D3-E593-404B-B4C4-23F9907C45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Espaço Reservado para Anotações 2">
            <a:extLst>
              <a:ext uri="{FF2B5EF4-FFF2-40B4-BE49-F238E27FC236}">
                <a16:creationId xmlns:a16="http://schemas.microsoft.com/office/drawing/2014/main" id="{C2BCAF29-FA63-D6D6-E488-BDBD9B6360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D2453D-6019-0D7A-BC1F-7ED99843A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47E833-52F7-485C-A3CC-4F2F2885D707}" type="slidenum">
              <a:rPr lang="pt-BR" altLang="pt-BR">
                <a:latin typeface="Calibri" panose="020F0502020204030204" pitchFamily="34" charset="0"/>
              </a:rPr>
              <a:pPr eaLnBrk="1" hangingPunct="1"/>
              <a:t>11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Imagem de Slide 1">
            <a:extLst>
              <a:ext uri="{FF2B5EF4-FFF2-40B4-BE49-F238E27FC236}">
                <a16:creationId xmlns:a16="http://schemas.microsoft.com/office/drawing/2014/main" id="{E4A40592-0F81-727F-43E3-D0F2A947FD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Espaço Reservado para Anotações 2">
            <a:extLst>
              <a:ext uri="{FF2B5EF4-FFF2-40B4-BE49-F238E27FC236}">
                <a16:creationId xmlns:a16="http://schemas.microsoft.com/office/drawing/2014/main" id="{B6714D2A-5F20-FADB-8960-A980992746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663F03-B2AA-01BA-3EC7-01DB8E39B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C0CA912-EDC1-419C-8DCF-2AC10E906121}" type="slidenum">
              <a:rPr lang="pt-BR" altLang="pt-BR">
                <a:latin typeface="Calibri" panose="020F0502020204030204" pitchFamily="34" charset="0"/>
              </a:rPr>
              <a:pPr eaLnBrk="1" hangingPunct="1"/>
              <a:t>12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>
            <a:extLst>
              <a:ext uri="{FF2B5EF4-FFF2-40B4-BE49-F238E27FC236}">
                <a16:creationId xmlns:a16="http://schemas.microsoft.com/office/drawing/2014/main" id="{BE812C1F-84FF-9353-0EBC-9F5226B7D2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Espaço Reservado para Anotações 2">
            <a:extLst>
              <a:ext uri="{FF2B5EF4-FFF2-40B4-BE49-F238E27FC236}">
                <a16:creationId xmlns:a16="http://schemas.microsoft.com/office/drawing/2014/main" id="{63AFED5A-D718-6AC5-A6EE-10861046F1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9A700C-8782-1826-9917-505A6077E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E50A3A7-1F51-4AB6-B174-2DEB3A95D773}" type="slidenum">
              <a:rPr lang="pt-BR" altLang="pt-BR">
                <a:latin typeface="Calibri" panose="020F0502020204030204" pitchFamily="34" charset="0"/>
              </a:rPr>
              <a:pPr eaLnBrk="1" hangingPunct="1"/>
              <a:t>13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>
            <a:extLst>
              <a:ext uri="{FF2B5EF4-FFF2-40B4-BE49-F238E27FC236}">
                <a16:creationId xmlns:a16="http://schemas.microsoft.com/office/drawing/2014/main" id="{CA73520A-9C5B-DBE2-31EF-A075F46652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Espaço Reservado para Anotações 2">
            <a:extLst>
              <a:ext uri="{FF2B5EF4-FFF2-40B4-BE49-F238E27FC236}">
                <a16:creationId xmlns:a16="http://schemas.microsoft.com/office/drawing/2014/main" id="{7C9D88A5-0781-432A-2283-00D5FF3BA9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E0FF3A-71F6-A302-0D64-A93F2979E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9A8EF7-CD5C-408A-8D87-65C4817DE2A0}" type="slidenum">
              <a:rPr lang="pt-BR" altLang="pt-BR">
                <a:latin typeface="Calibri" panose="020F0502020204030204" pitchFamily="34" charset="0"/>
              </a:rPr>
              <a:pPr eaLnBrk="1" hangingPunct="1"/>
              <a:t>14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>
            <a:extLst>
              <a:ext uri="{FF2B5EF4-FFF2-40B4-BE49-F238E27FC236}">
                <a16:creationId xmlns:a16="http://schemas.microsoft.com/office/drawing/2014/main" id="{90E80895-536F-EFF1-A394-B78A1CCEF1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Espaço Reservado para Anotações 2">
            <a:extLst>
              <a:ext uri="{FF2B5EF4-FFF2-40B4-BE49-F238E27FC236}">
                <a16:creationId xmlns:a16="http://schemas.microsoft.com/office/drawing/2014/main" id="{3D31AA42-7817-C8F3-0176-9CCE04E33C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69749D-C4B4-3053-96E5-CD0AF8BE3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8429E5A-AB61-436D-B1F9-B0F64545DB5D}" type="slidenum">
              <a:rPr lang="pt-BR" altLang="pt-BR">
                <a:latin typeface="Calibri" panose="020F0502020204030204" pitchFamily="34" charset="0"/>
              </a:rPr>
              <a:pPr eaLnBrk="1" hangingPunct="1"/>
              <a:t>15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Imagem de Slide 1">
            <a:extLst>
              <a:ext uri="{FF2B5EF4-FFF2-40B4-BE49-F238E27FC236}">
                <a16:creationId xmlns:a16="http://schemas.microsoft.com/office/drawing/2014/main" id="{DCC63965-9E2F-B1DD-2674-5C4665CA13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Espaço Reservado para Anotações 2">
            <a:extLst>
              <a:ext uri="{FF2B5EF4-FFF2-40B4-BE49-F238E27FC236}">
                <a16:creationId xmlns:a16="http://schemas.microsoft.com/office/drawing/2014/main" id="{15D0D841-1C57-5BA1-FAFC-6F91F04409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58EC05-F97B-95E0-DE81-A1F46299A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37C9A7A-A049-4794-BF09-6FCD37A9DE18}" type="slidenum">
              <a:rPr lang="pt-BR" altLang="pt-BR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pt-BR" altLang="pt-BR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>
            <a:extLst>
              <a:ext uri="{FF2B5EF4-FFF2-40B4-BE49-F238E27FC236}">
                <a16:creationId xmlns:a16="http://schemas.microsoft.com/office/drawing/2014/main" id="{C46FA9A6-1483-E902-F72E-8DA16857E8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Espaço Reservado para Anotações 2">
            <a:extLst>
              <a:ext uri="{FF2B5EF4-FFF2-40B4-BE49-F238E27FC236}">
                <a16:creationId xmlns:a16="http://schemas.microsoft.com/office/drawing/2014/main" id="{ACB99861-E44A-87BE-48B0-963A2B9007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683D6A-CBF1-2EFA-BC19-45096A138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988ADFE-3D74-4670-9317-65633A1D2D26}" type="slidenum">
              <a:rPr lang="pt-BR" altLang="pt-BR">
                <a:latin typeface="Calibri" panose="020F0502020204030204" pitchFamily="34" charset="0"/>
              </a:rPr>
              <a:pPr eaLnBrk="1" hangingPunct="1"/>
              <a:t>17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>
            <a:extLst>
              <a:ext uri="{FF2B5EF4-FFF2-40B4-BE49-F238E27FC236}">
                <a16:creationId xmlns:a16="http://schemas.microsoft.com/office/drawing/2014/main" id="{2AE6E247-F05C-398B-91AF-4B14665E88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Espaço Reservado para Anotações 2">
            <a:extLst>
              <a:ext uri="{FF2B5EF4-FFF2-40B4-BE49-F238E27FC236}">
                <a16:creationId xmlns:a16="http://schemas.microsoft.com/office/drawing/2014/main" id="{F880108C-EEBD-5929-93A9-90D64DD949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71AD6A-7D6D-6322-5527-59AAEB3DD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EAA8BE-428A-4D9F-8D01-46980421FE52}" type="slidenum">
              <a:rPr lang="pt-BR" altLang="pt-BR">
                <a:latin typeface="Calibri" panose="020F0502020204030204" pitchFamily="34" charset="0"/>
              </a:rPr>
              <a:pPr eaLnBrk="1" hangingPunct="1"/>
              <a:t>18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>
            <a:extLst>
              <a:ext uri="{FF2B5EF4-FFF2-40B4-BE49-F238E27FC236}">
                <a16:creationId xmlns:a16="http://schemas.microsoft.com/office/drawing/2014/main" id="{D6C56087-BBD4-F367-A0E0-832A66F944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Espaço Reservado para Anotações 2">
            <a:extLst>
              <a:ext uri="{FF2B5EF4-FFF2-40B4-BE49-F238E27FC236}">
                <a16:creationId xmlns:a16="http://schemas.microsoft.com/office/drawing/2014/main" id="{AF80EBDB-FF7F-D19F-4760-30A79C0E5E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50E27C-3A61-B002-08CE-434FCEF33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CCBE31E-13B5-4EE2-A2FC-69F4FDC5E2BC}" type="slidenum">
              <a:rPr lang="pt-BR" altLang="pt-BR">
                <a:latin typeface="Calibri" panose="020F0502020204030204" pitchFamily="34" charset="0"/>
              </a:rPr>
              <a:pPr eaLnBrk="1" hangingPunct="1"/>
              <a:t>19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92D1B14-F0AB-8ECD-AD49-AF518A1615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43848892-B0AC-433B-BAEE-28CC3F0DF1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2770BF-63CA-6240-9A9A-1FE32B3DC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879BCC6-D339-4311-B9AE-7AF6B4F57832}" type="slidenum">
              <a:rPr lang="pt-BR" altLang="pt-BR">
                <a:latin typeface="Calibri" panose="020F0502020204030204" pitchFamily="34" charset="0"/>
              </a:rPr>
              <a:pPr eaLnBrk="1" hangingPunct="1"/>
              <a:t>20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>
            <a:extLst>
              <a:ext uri="{FF2B5EF4-FFF2-40B4-BE49-F238E27FC236}">
                <a16:creationId xmlns:a16="http://schemas.microsoft.com/office/drawing/2014/main" id="{1ED751D2-AEA4-327D-830B-93737B7F3F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Espaço Reservado para Anotações 2">
            <a:extLst>
              <a:ext uri="{FF2B5EF4-FFF2-40B4-BE49-F238E27FC236}">
                <a16:creationId xmlns:a16="http://schemas.microsoft.com/office/drawing/2014/main" id="{67D343F0-D94C-B4CD-DD36-786989BA9E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EA47CA-8336-AEBB-5FA6-D4E3C0CE2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051AF96-2D27-4F17-BAF4-C8622118E8D4}" type="slidenum">
              <a:rPr lang="pt-BR" altLang="pt-BR">
                <a:latin typeface="Calibri" panose="020F0502020204030204" pitchFamily="34" charset="0"/>
              </a:rPr>
              <a:pPr eaLnBrk="1" hangingPunct="1"/>
              <a:t>21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>
            <a:extLst>
              <a:ext uri="{FF2B5EF4-FFF2-40B4-BE49-F238E27FC236}">
                <a16:creationId xmlns:a16="http://schemas.microsoft.com/office/drawing/2014/main" id="{E5F59EBC-8A07-1665-1777-2E0F631263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Espaço Reservado para Anotações 2">
            <a:extLst>
              <a:ext uri="{FF2B5EF4-FFF2-40B4-BE49-F238E27FC236}">
                <a16:creationId xmlns:a16="http://schemas.microsoft.com/office/drawing/2014/main" id="{E0164C21-3263-82DA-B5E0-BED48FFB99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0CC4FF-47E9-A0A8-4D40-C9A8FF45B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C756515-4469-45C9-9039-C5A518D42CC9}" type="slidenum">
              <a:rPr lang="pt-BR" altLang="pt-BR">
                <a:latin typeface="Calibri" panose="020F0502020204030204" pitchFamily="34" charset="0"/>
              </a:rPr>
              <a:pPr eaLnBrk="1" hangingPunct="1"/>
              <a:t>22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>
            <a:extLst>
              <a:ext uri="{FF2B5EF4-FFF2-40B4-BE49-F238E27FC236}">
                <a16:creationId xmlns:a16="http://schemas.microsoft.com/office/drawing/2014/main" id="{5906D53E-B04F-3DD0-64CF-272F227218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Espaço Reservado para Anotações 2">
            <a:extLst>
              <a:ext uri="{FF2B5EF4-FFF2-40B4-BE49-F238E27FC236}">
                <a16:creationId xmlns:a16="http://schemas.microsoft.com/office/drawing/2014/main" id="{FD7F5D4A-791F-207F-6DBE-BFC7BA3346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903F0B-6CD4-0F07-F769-7B88E119A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7CE5155-A609-410B-8194-2CE9E5D7379D}" type="slidenum">
              <a:rPr lang="pt-BR" altLang="pt-BR">
                <a:latin typeface="Calibri" panose="020F0502020204030204" pitchFamily="34" charset="0"/>
              </a:rPr>
              <a:pPr eaLnBrk="1" hangingPunct="1"/>
              <a:t>23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>
            <a:extLst>
              <a:ext uri="{FF2B5EF4-FFF2-40B4-BE49-F238E27FC236}">
                <a16:creationId xmlns:a16="http://schemas.microsoft.com/office/drawing/2014/main" id="{E051FD3B-9C12-C353-8B8F-BBCA7CBB6A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Espaço Reservado para Anotações 2">
            <a:extLst>
              <a:ext uri="{FF2B5EF4-FFF2-40B4-BE49-F238E27FC236}">
                <a16:creationId xmlns:a16="http://schemas.microsoft.com/office/drawing/2014/main" id="{36971313-F9B6-370A-0B80-0D075EC9F9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2F7719-B5E6-C4B3-9899-BBB4D3116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D126B0E-75B7-4AA2-94BD-96007FC1A570}" type="slidenum">
              <a:rPr lang="pt-BR" altLang="pt-BR">
                <a:latin typeface="Calibri" panose="020F0502020204030204" pitchFamily="34" charset="0"/>
              </a:rPr>
              <a:pPr eaLnBrk="1" hangingPunct="1"/>
              <a:t>24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>
            <a:extLst>
              <a:ext uri="{FF2B5EF4-FFF2-40B4-BE49-F238E27FC236}">
                <a16:creationId xmlns:a16="http://schemas.microsoft.com/office/drawing/2014/main" id="{7A908325-342C-3C01-E844-48BC631996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Espaço Reservado para Anotações 2">
            <a:extLst>
              <a:ext uri="{FF2B5EF4-FFF2-40B4-BE49-F238E27FC236}">
                <a16:creationId xmlns:a16="http://schemas.microsoft.com/office/drawing/2014/main" id="{72DD08FC-805C-8981-138C-8BC859D613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1E2F0E-3776-2F86-304F-F73A078ED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9B8A0BD-19AA-4B62-A730-E38F83BEAF68}" type="slidenum">
              <a:rPr lang="pt-BR" altLang="pt-BR">
                <a:latin typeface="Calibri" panose="020F0502020204030204" pitchFamily="34" charset="0"/>
              </a:rPr>
              <a:pPr eaLnBrk="1" hangingPunct="1"/>
              <a:t>25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ço Reservado para Imagem de Slide 1">
            <a:extLst>
              <a:ext uri="{FF2B5EF4-FFF2-40B4-BE49-F238E27FC236}">
                <a16:creationId xmlns:a16="http://schemas.microsoft.com/office/drawing/2014/main" id="{7A7FD2C9-E762-FCF0-7E31-D7A3D866FA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Espaço Reservado para Anotações 2">
            <a:extLst>
              <a:ext uri="{FF2B5EF4-FFF2-40B4-BE49-F238E27FC236}">
                <a16:creationId xmlns:a16="http://schemas.microsoft.com/office/drawing/2014/main" id="{0FA6F42F-A94F-24D6-B0A9-15FD44C67A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BEFCF-261D-2118-C710-339813DB1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0FAEFDC-F90C-4AEF-A5FD-CD5F10EA99BD}" type="slidenum">
              <a:rPr lang="pt-BR" altLang="pt-BR">
                <a:latin typeface="Calibri" panose="020F0502020204030204" pitchFamily="34" charset="0"/>
              </a:rPr>
              <a:pPr eaLnBrk="1" hangingPunct="1"/>
              <a:t>26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>
            <a:extLst>
              <a:ext uri="{FF2B5EF4-FFF2-40B4-BE49-F238E27FC236}">
                <a16:creationId xmlns:a16="http://schemas.microsoft.com/office/drawing/2014/main" id="{A5573EF5-DF93-289F-A79B-860D665C15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Espaço Reservado para Anotações 2">
            <a:extLst>
              <a:ext uri="{FF2B5EF4-FFF2-40B4-BE49-F238E27FC236}">
                <a16:creationId xmlns:a16="http://schemas.microsoft.com/office/drawing/2014/main" id="{9F4D82B8-CC34-4DDB-2061-D5C25AD51F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AC63F2-5562-FC92-E2F2-26C900F3C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5B012C3-DB8D-4133-BF0E-0E99847DBD6F}" type="slidenum">
              <a:rPr lang="pt-BR" altLang="pt-BR">
                <a:latin typeface="Calibri" panose="020F0502020204030204" pitchFamily="34" charset="0"/>
              </a:rPr>
              <a:pPr eaLnBrk="1" hangingPunct="1"/>
              <a:t>27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Imagem de Slide 1">
            <a:extLst>
              <a:ext uri="{FF2B5EF4-FFF2-40B4-BE49-F238E27FC236}">
                <a16:creationId xmlns:a16="http://schemas.microsoft.com/office/drawing/2014/main" id="{8BBAEAC0-4419-B397-594E-4F74497362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Espaço Reservado para Anotações 2">
            <a:extLst>
              <a:ext uri="{FF2B5EF4-FFF2-40B4-BE49-F238E27FC236}">
                <a16:creationId xmlns:a16="http://schemas.microsoft.com/office/drawing/2014/main" id="{83F5415E-6D91-3FB1-FA0F-7BC71A0672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15F38A-791E-E2B3-A5A2-2F909A683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BF7CDD9-D055-4094-BE23-8D6D389C89AD}" type="slidenum">
              <a:rPr lang="pt-BR" altLang="pt-BR">
                <a:latin typeface="Calibri" panose="020F0502020204030204" pitchFamily="34" charset="0"/>
              </a:rPr>
              <a:pPr eaLnBrk="1" hangingPunct="1"/>
              <a:t>28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>
            <a:extLst>
              <a:ext uri="{FF2B5EF4-FFF2-40B4-BE49-F238E27FC236}">
                <a16:creationId xmlns:a16="http://schemas.microsoft.com/office/drawing/2014/main" id="{5ECACB7A-8348-DADC-C2DD-D659D1B1B5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Espaço Reservado para Anotações 2">
            <a:extLst>
              <a:ext uri="{FF2B5EF4-FFF2-40B4-BE49-F238E27FC236}">
                <a16:creationId xmlns:a16="http://schemas.microsoft.com/office/drawing/2014/main" id="{A92D7C8C-09E1-964A-BB06-BC95822A4E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AEB1EF-AB1D-8D1B-27E9-67E0F8F37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E2B4698-ECFD-4A8F-950D-1F57B86BA701}" type="slidenum">
              <a:rPr lang="pt-BR" altLang="pt-BR">
                <a:latin typeface="Calibri" panose="020F0502020204030204" pitchFamily="34" charset="0"/>
              </a:rPr>
              <a:pPr eaLnBrk="1" hangingPunct="1"/>
              <a:t>29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>
            <a:extLst>
              <a:ext uri="{FF2B5EF4-FFF2-40B4-BE49-F238E27FC236}">
                <a16:creationId xmlns:a16="http://schemas.microsoft.com/office/drawing/2014/main" id="{CB33573B-8F87-B724-48F9-33B4CCD669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Espaço Reservado para Anotações 2">
            <a:extLst>
              <a:ext uri="{FF2B5EF4-FFF2-40B4-BE49-F238E27FC236}">
                <a16:creationId xmlns:a16="http://schemas.microsoft.com/office/drawing/2014/main" id="{517F8053-5A6F-7E37-89B1-750336B73B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79BA9A-B51C-CD1C-F6D8-9A7851F2C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3BEA37-F881-4812-8FC0-2ABC7B7A5656}" type="slidenum">
              <a:rPr lang="pt-BR" altLang="pt-BR">
                <a:latin typeface="Calibri" panose="020F0502020204030204" pitchFamily="34" charset="0"/>
              </a:rPr>
              <a:pPr eaLnBrk="1" hangingPunct="1"/>
              <a:t>30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F26A90-D525-3565-233B-832821B8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365284-6F21-4B6A-BF65-D721B4080992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8994B5-E0FC-8502-4502-76DCB871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CD3ED7-2916-2364-6B68-515B48B4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537ACE-7D3B-4E84-9961-0C62F4BF3B4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51901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DF1FD2-1F59-429F-B806-633C2825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ED8D8-9B17-4A53-A33C-F4E93EC59D34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21228C-F5CA-904B-35F1-71C08DD4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C6A2AD-810D-3326-2F2D-FA2E451A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3EDE1-84C7-46C6-9597-81CA6A32147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6070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9CAB94-46DF-3DCB-ECE5-E421CC17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24C23-110B-4D57-A214-41F71101E336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885BD8-5A78-81E8-95D9-682D91300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445541-6500-7934-B143-E40FD103B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56556-E3B8-42E9-8BAF-6263E13F1E7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9358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047F2F45-130C-A2AD-3B2F-9D34576F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EDE7A-D514-4B5F-9DFE-9225ECDF4895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EDA1443F-F84D-AFE0-A5FD-61D7C272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3D71534-C0C3-1498-BDC2-80F93C0B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DD947-B82E-47E3-9834-26D6F6E96AC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8446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FE4D2530-6C05-2708-A704-D6F90FFC2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4795C-232A-460E-B9DC-8F26E5BA1EB6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E1232C5B-10E0-EFDA-CACE-E49CA35BB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DC574A86-F24E-161A-C0A8-72538E8D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E91CCA-5B93-461F-90AA-4C6FBD13C2D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7737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ACBC29C9-1761-1E6B-440A-5AFA98F1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A46C1-572F-4E10-8AA1-20BFF799FCFE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2F571028-5580-1539-FA67-F9A661C5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9401B6A8-7BB4-B902-B90E-344E8385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76D74-37D4-43FB-9648-6EB8B7AC3F0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12403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5CAD8194-D0EB-7E55-22BE-190E9308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CBE4B-988A-4F00-858C-6DFE95098060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2268EBD8-DFD5-84A3-A7A5-6CD7BCD0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1CF7FCA2-FC28-37FB-0911-17E0CB37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0027A-20EA-4839-ADCC-771C20E8C5E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387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53F2AC3-90AC-71FC-01B1-30734B5EA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31759-8489-47D2-8320-317B520BCC2F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307AD631-F4BC-87F3-472D-92BFB3BA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5D8A44CF-C829-9DB4-1FF9-D627B864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CBCADF-7340-4417-85E3-5559166CEDC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1502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C05153A-9485-ACE9-BB83-2FE0642E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4FB04-48D4-4043-943A-7957B3EE09F4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37E5BE5D-9531-EC67-EA01-D71C0D4C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4AA45932-7C31-D136-FD61-4B02495A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3A6363-C8E4-4D33-93AA-1351C709392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4578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AB7B73-20F1-3397-E14C-26C228E0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9C677-8DD3-4DF0-9B11-385BD716D76D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5ADF79-C62C-400A-5A0F-3B82C2FA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89085A-6D43-9E5B-A737-59658D9A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C57B2A-B6CC-495E-938B-C53CC2A7A2E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0037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EE5E65-862E-FD3E-5520-D280538D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06262-3AC0-4EF3-86CA-0A19DF220BD1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9774F2-3E9A-CE48-BDC1-51A9D46AF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D8997D-3F02-1FAC-E589-CE12B495D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FBBBFD-4DBB-4DF1-9EC1-3C90F007060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65673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062D0B-C513-19E1-47F1-77F9BEF1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EA0E1-ED15-4CB6-BD60-2FD47C191744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64C717-0D86-4DCF-2B48-71BD7854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8E66CA-8134-4E57-A29E-D2D029C9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CB45C7-9D91-4EF4-A706-C691D0FFDCE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37184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8F6F7C-2266-0B33-48B9-F8039825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1EC7B-0E2F-4855-8DED-B135A48A7111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8891A-3BA2-92E3-89DE-E1E1D080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45AA8A-C575-82F3-0A2A-D5822BC8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13A3E3-BF82-4A8A-ABCF-A5EA665B162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00346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FCCF9D-7107-E97A-0747-ECF64D32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ECA72-9867-4EBA-9086-52E8FD7C69CA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E00B22-A259-5439-7338-32775923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33F6CF-1C71-35C4-C18C-BA6EE3DA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76B5F7-591A-40B5-B985-FFF8FB63F89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72053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0ECCFE19-6E8E-0B29-8824-592010D4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11211-27FA-4B44-AA4B-70121961EA17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F47C3E77-3DFC-0706-AF65-1ECC83BFB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F6480763-A67E-9BD7-42F0-87023259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D37A04-5511-4024-9A40-75DCE02F691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69357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3F15B7A5-B73F-83BD-0215-AA8BC35F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1D0A9-4B53-410F-A7A6-3CB6B28E2827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FE95BA16-B2FC-4E4E-4D32-29DB428D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07E62D4A-0F5C-AA28-33E2-64C90FC0B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333DE-A258-43E6-9265-5D81A83702C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56450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FFFF9454-CA57-42D2-1CF6-F18337D35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4FF9B-62A6-4966-937A-D6B888C96EC2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C2292B69-D342-2509-2B21-96764DBD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F18DCFDE-29FE-BF5C-F785-5E1E6D87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20D274-64DA-4EF8-A924-F1B1A3DB7A0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53205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9C073224-15ED-CCF0-FCAA-676CA733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E7665-E5AF-4614-85E0-06167C78E384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CEC36DE2-58A1-B29D-301A-5142A3BB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8D893231-C674-61EC-1C00-A64823A9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9F472D-2A7F-40DD-AB5B-524CBB32AF3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771482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9D3E029-59C3-3D36-6043-19296B2C5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F573F-7C22-46DA-9D97-B1B2ED1CE62F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E17F7CB3-DD1A-4990-C051-DCEA4475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7BA5B2D6-5844-BABA-F175-7B9D8468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C6B6BF-C5C2-4B0A-9918-3AF20200EAB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531080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45DA78C0-5C0C-925B-24A7-638E574F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42921-4BC9-4BCC-BAF5-971818C047F3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9FEB5E30-0053-89F3-2A5C-ADD9A946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3C13EA2-396E-6FE9-9919-B940D1708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3C887-4204-4A4F-9A82-8534B87ADC7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849627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CBFF0D-9644-69A2-45F2-C2D2726E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C90C7-4914-4A7B-B980-154E61879E47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65CF71-ACB9-D350-D639-A25EB8D6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60E3D9-1E5C-398E-38A2-7F16D178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FAF45D-1802-4470-A69E-9212AF76813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214266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BB5AD6-57AC-70D4-1D4F-528814584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92C6-0077-468E-9BFA-8E7162104D6B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8F3934-EFA0-F2F1-247D-A897EDA7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3C7D19-5AEC-4450-FB11-F8FD3829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73FCD7-6631-4748-A816-18576422A46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36084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3C8818-FBBB-5B10-452F-23811F40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26BFE-2937-4543-A72F-EE7109C92A30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EBE17D-D948-293C-3E80-DF5487E9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C78D8D-2515-EB3B-A93F-0EBA8D32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5E7F2-136F-40D2-BEF0-DFE2A9B1FFF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922346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3DC28F-6488-4A4F-D48B-7E7911FA7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5C180-F3FF-4FC2-BB2B-2F2840896514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D4165C-FFFE-4C99-A682-9CE36A6D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147126-F38B-4264-4504-BB3D0A8D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11890-0A09-401F-AB67-8E7B85AE058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357888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9FDFC8-4593-0324-27FA-C98F216EF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6B4C5-DED4-4783-A150-8CC1A6AF48B1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331D2-68D0-8562-46A1-E4309256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6841E9-C523-5A1A-232D-36020C32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FC84B2-8D0E-4866-BD9C-413AD695DD2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995017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7B995A98-C8B1-5C8D-6DE9-C8610D52B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90A7E-9C01-42E0-B63F-0FC95394EA22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6243D7F-8D73-D7B4-A1FD-03830F57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B5FA8677-D6FC-801E-91E2-2EC3E94F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8A9A6F-CD61-4A45-BDBE-52A595A1861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22151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5A20B662-E5C3-E082-5817-712DC3B1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4E360-D32A-41B6-8A02-E3365E02F57F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2CBD9B4F-E0F7-1208-2B12-C3BB7188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139AFB8A-0898-5713-3046-D6543DBD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2B9F61-7F90-4422-A370-2643E28146A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389433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759FFD73-790A-8E8C-12D8-F4841B61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EAA30C-D77A-4F88-B003-693C59076EAD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32EC6DE1-2770-D4ED-02F4-258D1766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FC294F59-AA50-5025-B27D-E84A9C4D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B999F5-C6C0-4445-89F4-D49B239D7D1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740968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16F0B74E-594A-BFA6-8393-303E42C6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DDBB7-671F-4BEA-AE0F-7652A873FDD5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46B556BB-6CB5-7742-A3D0-934F2A16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306799D-0B96-3003-2CA9-7F0EB300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F8AEE-65DE-4615-BA7E-FDBB6B56A92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54252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51D6724-611C-BE1B-6CAC-99F5FDB8E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DB776D-40BA-4A7D-8B1A-BF30B9AF5118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3FC10666-56E2-6502-85F0-05B3F949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9E0D0121-8D66-7D71-46C2-1A9F2D7A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4E4C26-55C7-4846-B773-4AB4DECA6D3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409224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581990B-32B5-2837-FCAD-F60B8237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12D83-CE04-4743-92E5-0B856301F8E0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C1630FC-4FC7-B189-4715-3F86239B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4C6CD58-AE05-F680-06B2-4C9BC89D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253537-CB7C-4AFB-B251-DAF382E0164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340535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DB7DCB-144A-4A23-5CFC-F750DCF93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47637-D2B1-4298-AFB3-584018BCEF51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CE6A5C-BB1D-59BD-B5C5-A43FF40F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46A23D-9BAB-8333-04A1-53E31B72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DA92AF-CFAF-43FD-94AC-336D762C899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231252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20F4EF-DA13-D3B6-A304-DB0936950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AA6DE-9B86-474E-A6ED-2EA6FDD1989D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0EF11-5F04-4D96-AF9C-CADDC04B6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8AE1D7-9F1E-127B-7FC1-5BD52007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5D7BA-6E36-4779-BE0F-BB27524986A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590493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A80929-55DF-B08F-2E13-7ADF96BFB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80E1F5-2FFE-4BA9-BB4D-F6971A580A71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B523D9-1FEA-BC6C-9831-2F153A65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1A28B7-D901-3F4B-D886-E1079AD4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FDB18-3FFC-43A9-90A8-54D0DD8906D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000113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2FA388-4489-E188-BB19-375633DA6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4ACD0-2095-4D3E-9524-1A090A9A6776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C84EDA-9C74-7497-AF2C-46FD520E2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9B4208-0C96-B1D4-7CED-CEC703B5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58E4C-B17A-40B6-BEBB-6070308E546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938993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9E16EB-E5C3-4B38-F20F-2698BEC2A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9DD62-332D-4E19-AF52-C46CF04FDD73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2ED1D0-2D81-D7C4-17B3-3F58F00C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DF4064-333A-FFA0-C176-DB481E6D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104B4-A687-4C55-9776-542E13FA37E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70639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F1F823D2-BE72-2017-7B2B-3ECE174E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00FD4-B62A-4C8C-83DC-4E73F8EB35AF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85BEC86-47C7-40EF-FC8B-4F5FAB550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95BB38A-0529-6C1D-EAD3-09B3A86C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6E44EB-3A97-4F05-AB2F-E355F3D70F2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641537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880256F4-F748-35D2-673B-E0B94A06E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A68CB-8535-47ED-9817-366F95E4226D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BD9A7B84-625B-650E-0E1F-4159A1F4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6A01046B-CFB1-EECD-FDC7-B63E6C44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355E0A-E1E3-4CA8-AFA6-FB83492C74E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279766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CEC17021-4A15-DA21-9F05-866D2805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D9227-CDBC-4589-B6B1-42680A4350CB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72208452-013C-5660-7FDC-F5110724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EE9850E9-62D9-242A-1BFC-444D5D0D7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D62854-FF49-4832-8039-DB07D73DF4B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52366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BC6BA7DE-4037-FF91-3805-C10444F49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09AEA-710F-49B5-9092-B53A98B6D359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AE064FA-707A-F8C9-1751-E11E7959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C085CA6-1EA4-3F59-1548-AD68BE09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D7BB5-A301-451D-A842-6449EDAC97D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701254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54AB6BB-8CBE-EE7B-3731-A4C69993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FEC19-F6EC-483B-9F99-DC8AF40DE8A2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F7153BA6-F87C-2355-ACF1-6B1DBEA4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FBC43280-F66D-FB15-BAA0-1478CA1D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4BD391-BFDB-4088-B02E-CD2F695CFAD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654342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7E88DB9A-4085-A188-2D8C-B1105778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9A614-E23E-4D45-B008-F289B6D3133C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0527B52-5B93-3BF4-BC75-2CC55798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26A97C10-2ED9-4266-00C6-F3FCB728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107366-ACD0-422D-AE0C-562A99E02B8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774453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96C884-6DE8-A5A6-077E-CD24575DB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FECE6-37DB-48C2-A189-0746854D5BDB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FE01E5-8F69-B1B5-054E-48AED762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6A722D-4FC9-98BD-E4F9-A973CC96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17E0D-2C93-43E6-8DEE-7A11BA88AF8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453673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FC0E06-AEDB-36BE-72B6-14C93989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C42C3-1BF1-4EE5-A56D-0F3B42912E8F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827CD6-C3A7-95A0-46F6-777EBA0D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80F661-6503-5914-F503-7C0A21D5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18410-92B6-43BE-826F-963547FF104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1374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F757BEBD-65DA-DB7F-A540-449967828EA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1D202A86-2B6C-6485-2136-89228A4EC2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074681-3822-8894-823C-6C6911320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006BD88-E553-4E64-B69F-EE9000549EDF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910A4-D510-B57F-A038-790778FF6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9DBEF6-ED6B-4AE2-833F-BF885525F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BE0C890-E0E6-4FAC-89CA-53A6C9016D85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ADE55827-0B45-B7D6-39AC-C372EE80B37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FCB770B3-EB7A-C189-38AD-B1548D9C4E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EC076A-312F-AD07-948F-8DAFD0A39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DA94BAC-D04A-4F59-AB3C-124A0B52152C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E0595A-C976-6169-BD4C-0A97BEEA4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5AD3D2-60FE-52B1-CE23-B177F271F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1DA8354-1C27-40DF-9C80-37A7F166DF35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C84A79BF-BF15-15AB-43A3-5CBCCF92CE0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0D844AC3-9C7F-F19B-B20B-E99C8A932D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5C5B85-1286-5F4B-21A8-D48584242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04B17AE-B8B5-4B2D-BA02-CEB52A08B253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A5083E-4018-6A01-CF85-256303B82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BA780B-B1BF-CC32-9443-1F857B7D4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029D1FCD-4892-4C14-9FDF-6D126F585E7A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Título 1">
            <a:extLst>
              <a:ext uri="{FF2B5EF4-FFF2-40B4-BE49-F238E27FC236}">
                <a16:creationId xmlns:a16="http://schemas.microsoft.com/office/drawing/2014/main" id="{4ECC059B-0748-99D4-0B34-8094E0D4108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4099" name="Espaço Reservado para Texto 2">
            <a:extLst>
              <a:ext uri="{FF2B5EF4-FFF2-40B4-BE49-F238E27FC236}">
                <a16:creationId xmlns:a16="http://schemas.microsoft.com/office/drawing/2014/main" id="{484588F2-3D51-8B99-E8BB-1ED529B715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108216-E286-B1DA-A0FE-C99E8EEE6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9D1D0E1-2A52-45B4-BCCF-5961B4D56013}" type="datetime1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D1473A-F3F0-02F6-074E-719882EC9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F07460-4EC7-088D-4101-2DC719EF8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99270D8-C774-4960-9294-B859DA37E2E3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aixaDeTexto 9">
            <a:extLst>
              <a:ext uri="{FF2B5EF4-FFF2-40B4-BE49-F238E27FC236}">
                <a16:creationId xmlns:a16="http://schemas.microsoft.com/office/drawing/2014/main" id="{FEDBDA4D-050E-AC8E-4B69-3CBA9D546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370138"/>
            <a:ext cx="2662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4000" b="1">
                <a:solidFill>
                  <a:schemeClr val="bg1"/>
                </a:solidFill>
              </a:rPr>
              <a:t>Capítulo 5</a:t>
            </a:r>
          </a:p>
        </p:txBody>
      </p:sp>
      <p:sp>
        <p:nvSpPr>
          <p:cNvPr id="5123" name="CaixaDeTexto 4">
            <a:extLst>
              <a:ext uri="{FF2B5EF4-FFF2-40B4-BE49-F238E27FC236}">
                <a16:creationId xmlns:a16="http://schemas.microsoft.com/office/drawing/2014/main" id="{712473BB-F154-19E5-644E-5E79FC8A0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3078163"/>
            <a:ext cx="37449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/>
              <a:t>Ponto de equilíbrio econômico, alavancagem operacional e financeira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F0FC542-90D6-2AEF-197F-A340F8F64135}"/>
              </a:ext>
            </a:extLst>
          </p:cNvPr>
          <p:cNvCxnSpPr/>
          <p:nvPr/>
        </p:nvCxnSpPr>
        <p:spPr>
          <a:xfrm>
            <a:off x="1071563" y="3071813"/>
            <a:ext cx="3786187" cy="1587"/>
          </a:xfrm>
          <a:prstGeom prst="line">
            <a:avLst/>
          </a:prstGeom>
          <a:ln w="15875" cmpd="sng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CaixaDeTexto 6">
            <a:extLst>
              <a:ext uri="{FF2B5EF4-FFF2-40B4-BE49-F238E27FC236}">
                <a16:creationId xmlns:a16="http://schemas.microsoft.com/office/drawing/2014/main" id="{C711F52D-4276-AEE0-59A4-62571989C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2357438"/>
            <a:ext cx="26622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4000" b="1">
                <a:solidFill>
                  <a:srgbClr val="2C5DAA"/>
                </a:solidFill>
              </a:rPr>
              <a:t>Capítulo 5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aixaDeTexto 3">
            <a:extLst>
              <a:ext uri="{FF2B5EF4-FFF2-40B4-BE49-F238E27FC236}">
                <a16:creationId xmlns:a16="http://schemas.microsoft.com/office/drawing/2014/main" id="{0FB50AA5-EEFE-D79C-0008-80D4F4262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6147" name="CaixaDeTexto 6">
            <a:extLst>
              <a:ext uri="{FF2B5EF4-FFF2-40B4-BE49-F238E27FC236}">
                <a16:creationId xmlns:a16="http://schemas.microsoft.com/office/drawing/2014/main" id="{7F084932-6A7E-F31C-FCD1-C3E618DB9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89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Ponto de equilíbrio operacional (PEO) é o nível e quantidade de vendas em que o Lajir se iguala a zero.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À medida que o volume das operações se desloca para cima do ponto de equilíbrio, surgem lucros crescentes, ao passo que abaixo desse ponto ocorrem prejuízos cada vez maiores.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487E41-F0BA-91EF-3926-D6B2F7D09EFA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149" name="CaixaDeTexto 10">
            <a:extLst>
              <a:ext uri="{FF2B5EF4-FFF2-40B4-BE49-F238E27FC236}">
                <a16:creationId xmlns:a16="http://schemas.microsoft.com/office/drawing/2014/main" id="{49BDA4AA-A68E-157D-1E5D-3105DFFD9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6150" name="CaixaDeTexto 12">
            <a:extLst>
              <a:ext uri="{FF2B5EF4-FFF2-40B4-BE49-F238E27FC236}">
                <a16:creationId xmlns:a16="http://schemas.microsoft.com/office/drawing/2014/main" id="{980D299E-B76C-FA81-9CAE-BA42C69BE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019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5.1 Ponto de equilíbrio operacional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A4A7A9F2-69DF-352D-06A3-6FEEB725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75212E74-3DFA-49D1-890E-1CD51CE8DD29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3">
            <a:extLst>
              <a:ext uri="{FF2B5EF4-FFF2-40B4-BE49-F238E27FC236}">
                <a16:creationId xmlns:a16="http://schemas.microsoft.com/office/drawing/2014/main" id="{CF2E34E5-5F99-D4D4-084B-E185AFE84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4F9F39F-6244-ACFD-97F2-7B3A08C4A03D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7172" name="CaixaDeTexto 10">
            <a:extLst>
              <a:ext uri="{FF2B5EF4-FFF2-40B4-BE49-F238E27FC236}">
                <a16:creationId xmlns:a16="http://schemas.microsoft.com/office/drawing/2014/main" id="{3AA1DB0B-89F3-AE9B-9A09-66093D6EB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FFE00615-5090-8712-24DC-E603172B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47674E1B-B882-44CD-A9E2-94A885168814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D84D2D-6F3C-5C1F-3D7A-E27EDD9AA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515" t="38437" r="1562" b="32500"/>
          <a:stretch>
            <a:fillRect/>
          </a:stretch>
        </p:blipFill>
        <p:spPr bwMode="auto">
          <a:xfrm>
            <a:off x="1627188" y="2714625"/>
            <a:ext cx="6302375" cy="1206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175" name="CaixaDeTexto 6">
            <a:extLst>
              <a:ext uri="{FF2B5EF4-FFF2-40B4-BE49-F238E27FC236}">
                <a16:creationId xmlns:a16="http://schemas.microsoft.com/office/drawing/2014/main" id="{BE13D932-8C40-7A1E-E18C-BAA73668B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933825"/>
            <a:ext cx="67151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onde: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PE = ponto de equilíbrio ou quantidade de equilíbrio; Cv = custo variável unitário; CF = custo fixo (sem a depreciação); Q = volume de vendas; P = preço unitário; 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Dep = depreciação; CFT = custo fixo total (com a depreciação);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P – Cv = margem de contribuição unitária.</a:t>
            </a:r>
          </a:p>
        </p:txBody>
      </p:sp>
      <p:sp>
        <p:nvSpPr>
          <p:cNvPr id="7176" name="CaixaDeTexto 12">
            <a:extLst>
              <a:ext uri="{FF2B5EF4-FFF2-40B4-BE49-F238E27FC236}">
                <a16:creationId xmlns:a16="http://schemas.microsoft.com/office/drawing/2014/main" id="{0F4CFA15-DAE4-D37A-DB69-625559885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019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5.1 Ponto de equilíbrio operacional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9A30E66F-FD09-1D56-2B0E-ADD8BE8B9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8195" name="CaixaDeTexto 6">
            <a:extLst>
              <a:ext uri="{FF2B5EF4-FFF2-40B4-BE49-F238E27FC236}">
                <a16:creationId xmlns:a16="http://schemas.microsoft.com/office/drawing/2014/main" id="{3EF85663-1609-CC75-D7CC-553C40C6F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Ponto de equilíbrio em unidades (quantidade mínima de produção para o equilíbrio):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76BEA43-0158-A72E-15C5-0418C85B8AD2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8197" name="CaixaDeTexto 10">
            <a:extLst>
              <a:ext uri="{FF2B5EF4-FFF2-40B4-BE49-F238E27FC236}">
                <a16:creationId xmlns:a16="http://schemas.microsoft.com/office/drawing/2014/main" id="{F9E8089E-8626-9A54-8413-3F7CBC60D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728293F2-2E27-D7AD-9E9A-50E29A37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6615E60C-29A7-42E9-8F6C-40DBFD8468C8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34DB21-DC55-FB07-0F84-C1119E30E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4570" t="30937" r="44336" b="52188"/>
          <a:stretch>
            <a:fillRect/>
          </a:stretch>
        </p:blipFill>
        <p:spPr bwMode="auto">
          <a:xfrm>
            <a:off x="3875088" y="3214688"/>
            <a:ext cx="1179512" cy="590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200" name="CaixaDeTexto 6">
            <a:extLst>
              <a:ext uri="{FF2B5EF4-FFF2-40B4-BE49-F238E27FC236}">
                <a16:creationId xmlns:a16="http://schemas.microsoft.com/office/drawing/2014/main" id="{C9E9EE2F-CC66-4EC2-4C21-675DA8C03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098925"/>
            <a:ext cx="6715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Ponto de equilíbrio em unidades monetárias (valor total de produção para o equilíbrio):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400FCDC5-079F-5DB3-5C10-7D1AC9C5B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37695" t="41562" r="38867" b="42500"/>
          <a:stretch>
            <a:fillRect/>
          </a:stretch>
        </p:blipFill>
        <p:spPr bwMode="auto">
          <a:xfrm>
            <a:off x="3883025" y="4670425"/>
            <a:ext cx="1235075" cy="52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202" name="CaixaDeTexto 12">
            <a:extLst>
              <a:ext uri="{FF2B5EF4-FFF2-40B4-BE49-F238E27FC236}">
                <a16:creationId xmlns:a16="http://schemas.microsoft.com/office/drawing/2014/main" id="{F9CCBCFC-2909-7ED8-0F08-3E63DAEF7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019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5.1 Ponto de equilíbrio operacional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3">
            <a:extLst>
              <a:ext uri="{FF2B5EF4-FFF2-40B4-BE49-F238E27FC236}">
                <a16:creationId xmlns:a16="http://schemas.microsoft.com/office/drawing/2014/main" id="{685F53CC-B032-0D9E-8AD2-3B2929E0F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9219" name="CaixaDeTexto 6">
            <a:extLst>
              <a:ext uri="{FF2B5EF4-FFF2-40B4-BE49-F238E27FC236}">
                <a16:creationId xmlns:a16="http://schemas.microsoft.com/office/drawing/2014/main" id="{9F447750-D0CC-2010-3FE5-6E885A419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492375"/>
            <a:ext cx="6715125" cy="337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400">
                <a:solidFill>
                  <a:srgbClr val="000000"/>
                </a:solidFill>
              </a:rPr>
              <a:t>Uma empresa tem as seguintes informações: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400">
                <a:solidFill>
                  <a:srgbClr val="000000"/>
                </a:solidFill>
              </a:rPr>
              <a:t>Custos Fixos totais (CFT) = $ 270.000,00;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400">
                <a:solidFill>
                  <a:srgbClr val="000000"/>
                </a:solidFill>
              </a:rPr>
              <a:t>Quantidade de Produção (Q) = 1.000 unidades/ano;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400">
                <a:solidFill>
                  <a:srgbClr val="000000"/>
                </a:solidFill>
              </a:rPr>
              <a:t>Preço unitário de venda (P) = $ 800/unidade;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400">
                <a:solidFill>
                  <a:srgbClr val="000000"/>
                </a:solidFill>
              </a:rPr>
              <a:t>Custo variável unitário (Cv) = $ 200/unidade;</a:t>
            </a:r>
          </a:p>
          <a:p>
            <a:pPr eaLnBrk="1" hangingPunct="1">
              <a:lnSpc>
                <a:spcPct val="150000"/>
              </a:lnSpc>
            </a:pPr>
            <a:endParaRPr lang="pt-BR" altLang="pt-BR" sz="140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pt-BR" altLang="pt-BR" sz="1400">
                <a:solidFill>
                  <a:srgbClr val="000000"/>
                </a:solidFill>
              </a:rPr>
              <a:t>Lucro (Lajir) = Receita – Custos Totais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400">
                <a:solidFill>
                  <a:srgbClr val="000000"/>
                </a:solidFill>
              </a:rPr>
              <a:t>Receita =  P.Q = 800.Q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400">
                <a:solidFill>
                  <a:srgbClr val="000000"/>
                </a:solidFill>
              </a:rPr>
              <a:t>Custos Totais = CFT + Cv = 270.000 + 200.Q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</a:rPr>
              <a:t>Ponto de Equilíbrio </a:t>
            </a:r>
            <a:r>
              <a:rPr lang="pt-BR" altLang="pt-BR" sz="1600">
                <a:solidFill>
                  <a:srgbClr val="000000"/>
                </a:solidFill>
                <a:sym typeface="Wingdings" panose="05000000000000000000" pitchFamily="2" charset="2"/>
              </a:rPr>
              <a:t> Lajir = 0  Receita = Custos Totais</a:t>
            </a:r>
            <a:endParaRPr lang="pt-BR" altLang="pt-BR" sz="1600">
              <a:solidFill>
                <a:srgbClr val="000000"/>
              </a:solidFill>
            </a:endParaRPr>
          </a:p>
        </p:txBody>
      </p:sp>
      <p:sp>
        <p:nvSpPr>
          <p:cNvPr id="9220" name="CaixaDeTexto 9">
            <a:extLst>
              <a:ext uri="{FF2B5EF4-FFF2-40B4-BE49-F238E27FC236}">
                <a16:creationId xmlns:a16="http://schemas.microsoft.com/office/drawing/2014/main" id="{81C3C482-8A80-1228-90C7-538DC572F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142875"/>
            <a:ext cx="50006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Capítulo 5</a:t>
            </a:r>
            <a:r>
              <a:rPr lang="pt-BR" altLang="pt-BR">
                <a:solidFill>
                  <a:srgbClr val="F2F2F2"/>
                </a:solidFill>
              </a:rPr>
              <a:t> | Ponto de equilíbrio econômico, alavancagem operacional e financeira</a:t>
            </a:r>
          </a:p>
          <a:p>
            <a:pPr eaLnBrk="1" hangingPunct="1"/>
            <a:endParaRPr lang="pt-BR" altLang="pt-BR">
              <a:solidFill>
                <a:srgbClr val="F12130"/>
              </a:solidFill>
            </a:endParaRPr>
          </a:p>
        </p:txBody>
      </p:sp>
      <p:sp>
        <p:nvSpPr>
          <p:cNvPr id="9221" name="CaixaDeTexto 10">
            <a:extLst>
              <a:ext uri="{FF2B5EF4-FFF2-40B4-BE49-F238E27FC236}">
                <a16:creationId xmlns:a16="http://schemas.microsoft.com/office/drawing/2014/main" id="{6D7E80A0-019E-89C2-7294-881ACA205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3DF7FA8E-9939-4DA4-7C58-13DD5409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BF190C63-AF65-4C53-AA76-FEB7DCB29DB6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9223" name="CaixaDeTexto 12">
            <a:extLst>
              <a:ext uri="{FF2B5EF4-FFF2-40B4-BE49-F238E27FC236}">
                <a16:creationId xmlns:a16="http://schemas.microsoft.com/office/drawing/2014/main" id="{91C8C485-673C-9A54-2707-EF442D0D1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1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aixaDeTexto 3">
            <a:extLst>
              <a:ext uri="{FF2B5EF4-FFF2-40B4-BE49-F238E27FC236}">
                <a16:creationId xmlns:a16="http://schemas.microsoft.com/office/drawing/2014/main" id="{C9A98F98-B283-3503-FE23-B5AE3F166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243" name="CaixaDeTexto 9">
            <a:extLst>
              <a:ext uri="{FF2B5EF4-FFF2-40B4-BE49-F238E27FC236}">
                <a16:creationId xmlns:a16="http://schemas.microsoft.com/office/drawing/2014/main" id="{D0B0D393-8BA8-3C7B-FB67-B3A34A14B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142875"/>
            <a:ext cx="50006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Capítulo 5</a:t>
            </a:r>
            <a:r>
              <a:rPr lang="pt-BR" altLang="pt-BR">
                <a:solidFill>
                  <a:srgbClr val="F2F2F2"/>
                </a:solidFill>
              </a:rPr>
              <a:t> | Ponto de equilíbrio econômico, alavancagem operacional e financeira</a:t>
            </a:r>
          </a:p>
          <a:p>
            <a:pPr eaLnBrk="1" hangingPunct="1"/>
            <a:endParaRPr lang="pt-BR" altLang="pt-BR">
              <a:solidFill>
                <a:srgbClr val="F12130"/>
              </a:solidFill>
            </a:endParaRPr>
          </a:p>
        </p:txBody>
      </p:sp>
      <p:sp>
        <p:nvSpPr>
          <p:cNvPr id="10244" name="CaixaDeTexto 10">
            <a:extLst>
              <a:ext uri="{FF2B5EF4-FFF2-40B4-BE49-F238E27FC236}">
                <a16:creationId xmlns:a16="http://schemas.microsoft.com/office/drawing/2014/main" id="{28B241DD-D55B-4E5C-8816-811171491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B509D227-D200-3C49-4819-1FEE5A4E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1F7A5B0D-38BC-41F6-875B-ED175FC6E59D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0246" name="CaixaDeTexto 12">
            <a:extLst>
              <a:ext uri="{FF2B5EF4-FFF2-40B4-BE49-F238E27FC236}">
                <a16:creationId xmlns:a16="http://schemas.microsoft.com/office/drawing/2014/main" id="{F44C0CE6-9416-29F1-5449-3A18D51D0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1</a:t>
            </a:r>
          </a:p>
        </p:txBody>
      </p:sp>
      <p:sp>
        <p:nvSpPr>
          <p:cNvPr id="10247" name="CaixaDeTexto 6">
            <a:extLst>
              <a:ext uri="{FF2B5EF4-FFF2-40B4-BE49-F238E27FC236}">
                <a16:creationId xmlns:a16="http://schemas.microsoft.com/office/drawing/2014/main" id="{820F12C3-F587-90F0-0761-9C272A0E0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492375"/>
            <a:ext cx="6715125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  <a:sym typeface="Wingdings" panose="05000000000000000000" pitchFamily="2" charset="2"/>
              </a:rPr>
              <a:t>Receita = Custos Totais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  <a:sym typeface="Wingdings" panose="05000000000000000000" pitchFamily="2" charset="2"/>
              </a:rPr>
              <a:t>800.Q   = 270.000 + 200.Q  600.Q = 270.000  Q = 450 unidades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  <a:sym typeface="Wingdings" panose="05000000000000000000" pitchFamily="2" charset="2"/>
              </a:rPr>
              <a:t>Então  se Lajir = 0  Lajir = Receita – Custo Total = 0: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  <a:sym typeface="Wingdings" panose="05000000000000000000" pitchFamily="2" charset="2"/>
              </a:rPr>
              <a:t>Receita = 800.450 = $ 360.000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  <a:sym typeface="Wingdings" panose="05000000000000000000" pitchFamily="2" charset="2"/>
              </a:rPr>
              <a:t>Custo Total = 270.000 + 200.Q = 270.000 + 90.000 = $ 360.000</a:t>
            </a:r>
          </a:p>
          <a:p>
            <a:pPr eaLnBrk="1" hangingPunct="1">
              <a:lnSpc>
                <a:spcPct val="150000"/>
              </a:lnSpc>
            </a:pPr>
            <a:endParaRPr lang="pt-BR" altLang="pt-BR" sz="160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  <a:sym typeface="Wingdings" panose="05000000000000000000" pitchFamily="2" charset="2"/>
              </a:rPr>
              <a:t>Caso Q = 600 unidades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  <a:sym typeface="Wingdings" panose="05000000000000000000" pitchFamily="2" charset="2"/>
              </a:rPr>
              <a:t>Receita = 800.600 = 480.000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</a:rPr>
              <a:t>Custo Total = 270.000 + 200.600 = 390.000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</a:rPr>
              <a:t>Lajir = 480.000 – 390.000 = $ 90.000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aixaDeTexto 3">
            <a:extLst>
              <a:ext uri="{FF2B5EF4-FFF2-40B4-BE49-F238E27FC236}">
                <a16:creationId xmlns:a16="http://schemas.microsoft.com/office/drawing/2014/main" id="{61C32B45-1C3A-5B00-90D9-BC8F713FB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1267" name="CaixaDeTexto 9">
            <a:extLst>
              <a:ext uri="{FF2B5EF4-FFF2-40B4-BE49-F238E27FC236}">
                <a16:creationId xmlns:a16="http://schemas.microsoft.com/office/drawing/2014/main" id="{DCED1ECA-D619-C248-E143-D3F2AC217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142875"/>
            <a:ext cx="50006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Capítulo 5</a:t>
            </a:r>
            <a:r>
              <a:rPr lang="pt-BR" altLang="pt-BR">
                <a:solidFill>
                  <a:srgbClr val="F2F2F2"/>
                </a:solidFill>
              </a:rPr>
              <a:t> | Ponto de equilíbrio econômico, alavancagem operacional e financeira</a:t>
            </a:r>
          </a:p>
          <a:p>
            <a:pPr eaLnBrk="1" hangingPunct="1"/>
            <a:endParaRPr lang="pt-BR" altLang="pt-BR">
              <a:solidFill>
                <a:srgbClr val="F12130"/>
              </a:solidFill>
            </a:endParaRPr>
          </a:p>
        </p:txBody>
      </p:sp>
      <p:sp>
        <p:nvSpPr>
          <p:cNvPr id="11268" name="CaixaDeTexto 10">
            <a:extLst>
              <a:ext uri="{FF2B5EF4-FFF2-40B4-BE49-F238E27FC236}">
                <a16:creationId xmlns:a16="http://schemas.microsoft.com/office/drawing/2014/main" id="{48F1DCFE-E005-9E08-E428-CE0C5378A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8556175E-7BD6-EABC-0A81-5CCE9E2EC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83FD9F5B-D262-4B07-93C6-48C9E6EF2B2F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1270" name="CaixaDeTexto 12">
            <a:extLst>
              <a:ext uri="{FF2B5EF4-FFF2-40B4-BE49-F238E27FC236}">
                <a16:creationId xmlns:a16="http://schemas.microsoft.com/office/drawing/2014/main" id="{EF8EBAE9-B4E6-867D-4054-B27E73E24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1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E3408577-FF26-0859-AC2E-896B65655A39}"/>
              </a:ext>
            </a:extLst>
          </p:cNvPr>
          <p:cNvGraphicFramePr/>
          <p:nvPr/>
        </p:nvGraphicFramePr>
        <p:xfrm>
          <a:off x="3707904" y="278092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6FE1F4BB-D5A6-8A80-F933-A959D753988A}"/>
              </a:ext>
            </a:extLst>
          </p:cNvPr>
          <p:cNvGraphicFramePr>
            <a:graphicFrameLocks noGrp="1"/>
          </p:cNvGraphicFramePr>
          <p:nvPr/>
        </p:nvGraphicFramePr>
        <p:xfrm>
          <a:off x="250825" y="2924175"/>
          <a:ext cx="3492500" cy="2376489"/>
        </p:xfrm>
        <a:graphic>
          <a:graphicData uri="http://schemas.openxmlformats.org/drawingml/2006/table">
            <a:tbl>
              <a:tblPr/>
              <a:tblGrid>
                <a:gridCol w="847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8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97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Receita</a:t>
                      </a:r>
                    </a:p>
                  </a:txBody>
                  <a:tcPr marL="9527" marR="9527" marT="952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Custo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Quantidade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Lucro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16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9527" marR="9527" marT="952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-270.000,00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16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160.000,00</a:t>
                      </a:r>
                    </a:p>
                  </a:txBody>
                  <a:tcPr marL="9527" marR="9527" marT="952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-150.000,00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16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320.000,00</a:t>
                      </a:r>
                    </a:p>
                  </a:txBody>
                  <a:tcPr marL="9527" marR="9527" marT="952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-30.000,00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16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360.000,00</a:t>
                      </a:r>
                    </a:p>
                  </a:txBody>
                  <a:tcPr marL="9527" marR="9527" marT="952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16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480.000,00</a:t>
                      </a:r>
                    </a:p>
                  </a:txBody>
                  <a:tcPr marL="9527" marR="9527" marT="952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16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640.000,00</a:t>
                      </a:r>
                    </a:p>
                  </a:txBody>
                  <a:tcPr marL="9527" marR="9527" marT="952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16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800.000,00</a:t>
                      </a:r>
                    </a:p>
                  </a:txBody>
                  <a:tcPr marL="9527" marR="9527" marT="952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330.000,00</a:t>
                      </a:r>
                    </a:p>
                  </a:txBody>
                  <a:tcPr marL="9527" marR="9527" marT="952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aixaDeTexto 3">
            <a:extLst>
              <a:ext uri="{FF2B5EF4-FFF2-40B4-BE49-F238E27FC236}">
                <a16:creationId xmlns:a16="http://schemas.microsoft.com/office/drawing/2014/main" id="{738E3E5E-615C-980D-461C-85D8DF91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2291" name="CaixaDeTexto 6">
            <a:extLst>
              <a:ext uri="{FF2B5EF4-FFF2-40B4-BE49-F238E27FC236}">
                <a16:creationId xmlns:a16="http://schemas.microsoft.com/office/drawing/2014/main" id="{9398F725-5B37-2FA4-C375-40C631D9E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Uma pessoa deve decidir entre comprar um veículo ou continuar usando táxi para se locomover. Sabe-se que o táxi cobra $2,00/Km rodado.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D3F0E81-1CA6-E0AC-C977-D24CFD0E80F9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2293" name="CaixaDeTexto 10">
            <a:extLst>
              <a:ext uri="{FF2B5EF4-FFF2-40B4-BE49-F238E27FC236}">
                <a16:creationId xmlns:a16="http://schemas.microsoft.com/office/drawing/2014/main" id="{56EB0460-F934-6DB9-0F84-0B81D1353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5F3B278E-5AF5-AD39-13D5-D0184347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AC8AA742-F4AA-4C6E-95B4-CFC02D932047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2295" name="CaixaDeTexto 12">
            <a:extLst>
              <a:ext uri="{FF2B5EF4-FFF2-40B4-BE49-F238E27FC236}">
                <a16:creationId xmlns:a16="http://schemas.microsoft.com/office/drawing/2014/main" id="{4BAA9513-4CB6-873A-CBF4-66D1A1541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33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 2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3">
            <a:extLst>
              <a:ext uri="{FF2B5EF4-FFF2-40B4-BE49-F238E27FC236}">
                <a16:creationId xmlns:a16="http://schemas.microsoft.com/office/drawing/2014/main" id="{9700316E-7F67-DDEF-8199-761A2AE2F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3315" name="CaixaDeTexto 6">
            <a:extLst>
              <a:ext uri="{FF2B5EF4-FFF2-40B4-BE49-F238E27FC236}">
                <a16:creationId xmlns:a16="http://schemas.microsoft.com/office/drawing/2014/main" id="{557C9E5B-4772-3B58-C438-591A41B2D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Veja as características do veículo que ela pretende adquirir: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902F32-5138-A105-B93B-00E0F0DDED63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3317" name="CaixaDeTexto 10">
            <a:extLst>
              <a:ext uri="{FF2B5EF4-FFF2-40B4-BE49-F238E27FC236}">
                <a16:creationId xmlns:a16="http://schemas.microsoft.com/office/drawing/2014/main" id="{098456F6-E56C-C81A-231E-FCB09A5EA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3DDC3B30-C4D1-2406-11E4-7300B2E8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725D99F0-D91D-4649-9D6E-8B347734B7AC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146815-25B1-6E4F-2989-A9C53D35E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265" t="41250" r="13867" b="22187"/>
          <a:stretch>
            <a:fillRect/>
          </a:stretch>
        </p:blipFill>
        <p:spPr bwMode="auto">
          <a:xfrm>
            <a:off x="1741488" y="3286125"/>
            <a:ext cx="5286375" cy="18907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12012414-728E-C86A-1869-B3C0967BA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20508" t="61874" r="17382" b="23125"/>
          <a:stretch>
            <a:fillRect/>
          </a:stretch>
        </p:blipFill>
        <p:spPr bwMode="auto">
          <a:xfrm>
            <a:off x="1741488" y="5286375"/>
            <a:ext cx="5259387" cy="793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321" name="CaixaDeTexto 12">
            <a:extLst>
              <a:ext uri="{FF2B5EF4-FFF2-40B4-BE49-F238E27FC236}">
                <a16:creationId xmlns:a16="http://schemas.microsoft.com/office/drawing/2014/main" id="{71E1AFD2-5E39-F903-74F8-4C591FF4B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aixaDeTexto 3">
            <a:extLst>
              <a:ext uri="{FF2B5EF4-FFF2-40B4-BE49-F238E27FC236}">
                <a16:creationId xmlns:a16="http://schemas.microsoft.com/office/drawing/2014/main" id="{B2E62DDC-5D86-AF6A-4696-6F26C7A32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4339" name="CaixaDeTexto 6">
            <a:extLst>
              <a:ext uri="{FF2B5EF4-FFF2-40B4-BE49-F238E27FC236}">
                <a16:creationId xmlns:a16="http://schemas.microsoft.com/office/drawing/2014/main" id="{9DFF614F-CEEC-FDA8-96EA-C49B39E3D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Custos fixo por dia e variável por quilômetro: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8EFBB39-BDBA-EA8D-826B-17857637CF63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4341" name="CaixaDeTexto 10">
            <a:extLst>
              <a:ext uri="{FF2B5EF4-FFF2-40B4-BE49-F238E27FC236}">
                <a16:creationId xmlns:a16="http://schemas.microsoft.com/office/drawing/2014/main" id="{CB82BD21-46B5-D2E1-8DC2-403EE40C7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D0ABB28-EC87-9A9F-BB0A-D5F7F829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00926D13-B959-4285-8DAA-C5EC88A96E94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7949F5B-1C44-CD78-9496-75945DCD6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9922" t="22500" r="16211" b="29687"/>
          <a:stretch>
            <a:fillRect/>
          </a:stretch>
        </p:blipFill>
        <p:spPr bwMode="auto">
          <a:xfrm>
            <a:off x="1714500" y="3413125"/>
            <a:ext cx="5072063" cy="2373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344" name="CaixaDeTexto 12">
            <a:extLst>
              <a:ext uri="{FF2B5EF4-FFF2-40B4-BE49-F238E27FC236}">
                <a16:creationId xmlns:a16="http://schemas.microsoft.com/office/drawing/2014/main" id="{C5E82E61-FFBB-EB04-DB0F-66C690228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aixaDeTexto 3">
            <a:extLst>
              <a:ext uri="{FF2B5EF4-FFF2-40B4-BE49-F238E27FC236}">
                <a16:creationId xmlns:a16="http://schemas.microsoft.com/office/drawing/2014/main" id="{6AC075CC-D994-B927-9AC1-338CCA74C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5363" name="CaixaDeTexto 6">
            <a:extLst>
              <a:ext uri="{FF2B5EF4-FFF2-40B4-BE49-F238E27FC236}">
                <a16:creationId xmlns:a16="http://schemas.microsoft.com/office/drawing/2014/main" id="{10A5A78E-77BA-F6EE-45A5-58A00EAC7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Ponto de equilíbrio contábil: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5FA1D84-118C-F3DB-D1DC-3A011DFBB7BE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5365" name="CaixaDeTexto 10">
            <a:extLst>
              <a:ext uri="{FF2B5EF4-FFF2-40B4-BE49-F238E27FC236}">
                <a16:creationId xmlns:a16="http://schemas.microsoft.com/office/drawing/2014/main" id="{74E50A24-B999-A1F1-3857-6630CE38A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94697865-7DAF-D31F-8A4B-9EA31C5B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A36D85A9-AE96-406A-A0BC-A275E562A14C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131F262-7EFD-279D-A921-95CF46BE0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6953" t="61875" r="27929" b="25000"/>
          <a:stretch>
            <a:fillRect/>
          </a:stretch>
        </p:blipFill>
        <p:spPr bwMode="auto">
          <a:xfrm>
            <a:off x="1714500" y="3429000"/>
            <a:ext cx="4429125" cy="8048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368" name="Retângulo 8">
            <a:extLst>
              <a:ext uri="{FF2B5EF4-FFF2-40B4-BE49-F238E27FC236}">
                <a16:creationId xmlns:a16="http://schemas.microsoft.com/office/drawing/2014/main" id="{7AD60006-FB5C-F8C9-4394-B21EA80A8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4572000"/>
            <a:ext cx="5643562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Pode-se concluir que, se a pessoa rodar por dia menos de 52,80 quilômetros, será melhor que continue usando táxi e desista da compra do veículo próprio.</a:t>
            </a:r>
          </a:p>
        </p:txBody>
      </p:sp>
      <p:sp>
        <p:nvSpPr>
          <p:cNvPr id="15369" name="CaixaDeTexto 12">
            <a:extLst>
              <a:ext uri="{FF2B5EF4-FFF2-40B4-BE49-F238E27FC236}">
                <a16:creationId xmlns:a16="http://schemas.microsoft.com/office/drawing/2014/main" id="{D9DEA897-D718-395B-2E18-697461858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aixaDeTexto 3">
            <a:extLst>
              <a:ext uri="{FF2B5EF4-FFF2-40B4-BE49-F238E27FC236}">
                <a16:creationId xmlns:a16="http://schemas.microsoft.com/office/drawing/2014/main" id="{71FF582D-AB4F-0DF4-B353-77D0EA901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6387" name="CaixaDeTexto 6">
            <a:extLst>
              <a:ext uri="{FF2B5EF4-FFF2-40B4-BE49-F238E27FC236}">
                <a16:creationId xmlns:a16="http://schemas.microsoft.com/office/drawing/2014/main" id="{967F6027-D1F1-1C56-9EAA-FA78C8D34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B0F6C87-DDAE-901D-02A4-F934F36FAEB7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6389" name="CaixaDeTexto 10">
            <a:extLst>
              <a:ext uri="{FF2B5EF4-FFF2-40B4-BE49-F238E27FC236}">
                <a16:creationId xmlns:a16="http://schemas.microsoft.com/office/drawing/2014/main" id="{B43681C6-7BF7-2D32-444C-39E5AAEF1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6390" name="CaixaDeTexto 12">
            <a:extLst>
              <a:ext uri="{FF2B5EF4-FFF2-40B4-BE49-F238E27FC236}">
                <a16:creationId xmlns:a16="http://schemas.microsoft.com/office/drawing/2014/main" id="{EF16C173-37A1-369A-0C31-ACD5DF213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941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5.2 Ponto de equilíbrio econômico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B59DB69-3745-0535-3D7E-BD86CC6D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E0313C0E-9676-4150-A16E-11015E55992A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6392" name="CaixaDeTexto 6">
            <a:extLst>
              <a:ext uri="{FF2B5EF4-FFF2-40B4-BE49-F238E27FC236}">
                <a16:creationId xmlns:a16="http://schemas.microsoft.com/office/drawing/2014/main" id="{2222BDE3-5216-ACB6-4493-AF3BF1D2D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No ponto de equilíbrio contábil, as vendas cobrem apenas os custos e as despesas fixas e variáveis (incluída a depreciação), mas não inclui o custo de oportunidade do capital investido.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Para refletir o custo de oportunidade do capital investido, ajusta-se a fórmula do PE contábil, substituindo-se a depreciação pelo valor de uma anuidade uniforme equivalente ou custo anual equivalente (CAE), calculada com base no investimento inicial e no custo de oportunidade do capital.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aixaDeTexto 3">
            <a:extLst>
              <a:ext uri="{FF2B5EF4-FFF2-40B4-BE49-F238E27FC236}">
                <a16:creationId xmlns:a16="http://schemas.microsoft.com/office/drawing/2014/main" id="{94108145-187F-BB05-C572-D365DF6E6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7411" name="CaixaDeTexto 6">
            <a:extLst>
              <a:ext uri="{FF2B5EF4-FFF2-40B4-BE49-F238E27FC236}">
                <a16:creationId xmlns:a16="http://schemas.microsoft.com/office/drawing/2014/main" id="{5376B0C7-EE8D-7B21-146B-98A5A19DF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429000"/>
            <a:ext cx="6715125" cy="265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onde: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CF = custo fixo (sem a depreciação);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CAE = custo anual equivalente;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P – Cv = margem de contribuição unitária.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Caso se trate de um projeto de investimento, o PE econômico poderá ser encontrado determinando-se o volume de vendas que torne nulo o VPL do projeto.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D1098CC-31C7-50FA-580C-902E25B9C213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7413" name="CaixaDeTexto 10">
            <a:extLst>
              <a:ext uri="{FF2B5EF4-FFF2-40B4-BE49-F238E27FC236}">
                <a16:creationId xmlns:a16="http://schemas.microsoft.com/office/drawing/2014/main" id="{4EB18997-B9DA-3662-8821-1CFAAA800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F9F058EB-ED29-B0EF-6BF6-45CAE721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033E7934-9E47-47DA-90FA-33EC1E7662B6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B82CAC4-29A4-D6D0-E176-CD095B1CE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9961" t="32812" r="6250" b="47500"/>
          <a:stretch>
            <a:fillRect/>
          </a:stretch>
        </p:blipFill>
        <p:spPr bwMode="auto">
          <a:xfrm>
            <a:off x="1892300" y="2643188"/>
            <a:ext cx="5359400" cy="787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416" name="CaixaDeTexto 12">
            <a:extLst>
              <a:ext uri="{FF2B5EF4-FFF2-40B4-BE49-F238E27FC236}">
                <a16:creationId xmlns:a16="http://schemas.microsoft.com/office/drawing/2014/main" id="{A238F4AC-EEC9-A636-11C1-7790E2670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941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5.2 Ponto de equilíbrio econômico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aixaDeTexto 3">
            <a:extLst>
              <a:ext uri="{FF2B5EF4-FFF2-40B4-BE49-F238E27FC236}">
                <a16:creationId xmlns:a16="http://schemas.microsoft.com/office/drawing/2014/main" id="{C7F019F0-0F73-BE07-70D9-5A99F3D0A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8435" name="CaixaDeTexto 6">
            <a:extLst>
              <a:ext uri="{FF2B5EF4-FFF2-40B4-BE49-F238E27FC236}">
                <a16:creationId xmlns:a16="http://schemas.microsoft.com/office/drawing/2014/main" id="{F6F0D2F8-A154-5528-FD6A-958873246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19375"/>
            <a:ext cx="6715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Retomando os dados do Exemplo 5.3, e considerando que o dinheiro investido na compra do veículo possa ser aplicado em alternativas de risco similar que rendam 20% ao ano (custo de oportunidade do capital), determine o ponto de equilíbrio econômico.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4EB348C-A85E-B330-DF9B-D462B655EF90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8437" name="CaixaDeTexto 10">
            <a:extLst>
              <a:ext uri="{FF2B5EF4-FFF2-40B4-BE49-F238E27FC236}">
                <a16:creationId xmlns:a16="http://schemas.microsoft.com/office/drawing/2014/main" id="{7BA7BF63-B6A0-C001-4DAC-10DBF8491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52A65A23-263E-D1D6-7513-DD23FEB7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CD49DDF1-5245-47A2-B24D-85AB91E64764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F04D1F5-D85E-D2CA-760E-A37A61F66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6953" t="40313" r="22656" b="40937"/>
          <a:stretch>
            <a:fillRect/>
          </a:stretch>
        </p:blipFill>
        <p:spPr bwMode="auto">
          <a:xfrm>
            <a:off x="1714500" y="4500563"/>
            <a:ext cx="4608513" cy="1071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440" name="CaixaDeTexto 12">
            <a:extLst>
              <a:ext uri="{FF2B5EF4-FFF2-40B4-BE49-F238E27FC236}">
                <a16:creationId xmlns:a16="http://schemas.microsoft.com/office/drawing/2014/main" id="{9E3CE617-EC86-6F51-F1BC-961E0EEFB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941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5.2 Ponto de equilíbrio econômico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aixaDeTexto 3">
            <a:extLst>
              <a:ext uri="{FF2B5EF4-FFF2-40B4-BE49-F238E27FC236}">
                <a16:creationId xmlns:a16="http://schemas.microsoft.com/office/drawing/2014/main" id="{33FED9C4-01D8-9343-9140-3A3D54BEA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1FE575-0B46-1C11-1C2E-27663DE43881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9460" name="CaixaDeTexto 10">
            <a:extLst>
              <a:ext uri="{FF2B5EF4-FFF2-40B4-BE49-F238E27FC236}">
                <a16:creationId xmlns:a16="http://schemas.microsoft.com/office/drawing/2014/main" id="{E23FC295-2AB8-AFE1-5F09-0E8A4B605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6F909B59-F7B6-E317-D820-A2F80151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927E1B07-99AB-4479-A47E-8D5D9A5B6E40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F312AE8-9038-8EE1-0CB3-1A5C7FE51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0468" t="30000" r="26172" b="52187"/>
          <a:stretch>
            <a:fillRect/>
          </a:stretch>
        </p:blipFill>
        <p:spPr bwMode="auto">
          <a:xfrm>
            <a:off x="1692275" y="4868863"/>
            <a:ext cx="3906838" cy="1003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463" name="CaixaDeTexto 6">
            <a:extLst>
              <a:ext uri="{FF2B5EF4-FFF2-40B4-BE49-F238E27FC236}">
                <a16:creationId xmlns:a16="http://schemas.microsoft.com/office/drawing/2014/main" id="{5CE27886-3D0C-B1D5-770D-BA18DAD32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19375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para: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135AC793-D362-8ACB-7784-5FE8D5193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29883" t="48750" r="30273" b="40000"/>
          <a:stretch>
            <a:fillRect/>
          </a:stretch>
        </p:blipFill>
        <p:spPr bwMode="auto">
          <a:xfrm>
            <a:off x="1692275" y="3068638"/>
            <a:ext cx="3906838" cy="688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465" name="CaixaDeTexto 6">
            <a:extLst>
              <a:ext uri="{FF2B5EF4-FFF2-40B4-BE49-F238E27FC236}">
                <a16:creationId xmlns:a16="http://schemas.microsoft.com/office/drawing/2014/main" id="{222F0F96-2420-ABE9-E6E1-2E15D9A63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4298950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então:</a:t>
            </a:r>
          </a:p>
        </p:txBody>
      </p:sp>
      <p:sp>
        <p:nvSpPr>
          <p:cNvPr id="19466" name="CaixaDeTexto 12">
            <a:extLst>
              <a:ext uri="{FF2B5EF4-FFF2-40B4-BE49-F238E27FC236}">
                <a16:creationId xmlns:a16="http://schemas.microsoft.com/office/drawing/2014/main" id="{D74F5740-9E7E-D8F9-A518-4A3380E88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941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5.2 Ponto de equilíbrio econômico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aixaDeTexto 3">
            <a:extLst>
              <a:ext uri="{FF2B5EF4-FFF2-40B4-BE49-F238E27FC236}">
                <a16:creationId xmlns:a16="http://schemas.microsoft.com/office/drawing/2014/main" id="{00C924F1-15D3-D753-AA3A-1FEC80238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0483" name="CaixaDeTexto 6">
            <a:extLst>
              <a:ext uri="{FF2B5EF4-FFF2-40B4-BE49-F238E27FC236}">
                <a16:creationId xmlns:a16="http://schemas.microsoft.com/office/drawing/2014/main" id="{F77FCF7B-D544-0998-E236-160D677AB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19375"/>
            <a:ext cx="6715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>
                <a:solidFill>
                  <a:srgbClr val="000000"/>
                </a:solidFill>
              </a:rPr>
              <a:t>Retomando os dados do Exemplo 5.3, e considerando que o dinheiro investido na compra do veículo possa ser aplicado em alternativas de risco similar que rendam 20% ao ano (custo de oportunidade do capital), determine o ponto de equilíbrio econômico.</a:t>
            </a:r>
          </a:p>
        </p:txBody>
      </p:sp>
      <p:sp>
        <p:nvSpPr>
          <p:cNvPr id="20484" name="CaixaDeTexto 9">
            <a:extLst>
              <a:ext uri="{FF2B5EF4-FFF2-40B4-BE49-F238E27FC236}">
                <a16:creationId xmlns:a16="http://schemas.microsoft.com/office/drawing/2014/main" id="{DC26314F-AA83-9943-4056-789AA68C7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142875"/>
            <a:ext cx="50006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Capítulo 5</a:t>
            </a:r>
            <a:r>
              <a:rPr lang="pt-BR" altLang="pt-BR">
                <a:solidFill>
                  <a:srgbClr val="F2F2F2"/>
                </a:solidFill>
              </a:rPr>
              <a:t> | Ponto de equilíbrio econômico, alavancagem operacional e financeira</a:t>
            </a:r>
          </a:p>
          <a:p>
            <a:pPr eaLnBrk="1" hangingPunct="1"/>
            <a:endParaRPr lang="pt-BR" altLang="pt-BR">
              <a:solidFill>
                <a:srgbClr val="F12130"/>
              </a:solidFill>
            </a:endParaRPr>
          </a:p>
        </p:txBody>
      </p:sp>
      <p:sp>
        <p:nvSpPr>
          <p:cNvPr id="20485" name="CaixaDeTexto 10">
            <a:extLst>
              <a:ext uri="{FF2B5EF4-FFF2-40B4-BE49-F238E27FC236}">
                <a16:creationId xmlns:a16="http://schemas.microsoft.com/office/drawing/2014/main" id="{D5FA007E-9DB6-0C27-13D5-3E9F57360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6FBC54C4-9348-9989-9165-0A229209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DE9DA6AA-A791-4956-A4F2-59E67F0CE121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E31B199-8054-DDD2-DB82-84855CB24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6953" t="40313" r="22656" b="40937"/>
          <a:stretch>
            <a:fillRect/>
          </a:stretch>
        </p:blipFill>
        <p:spPr bwMode="auto">
          <a:xfrm>
            <a:off x="1714500" y="4500563"/>
            <a:ext cx="4608513" cy="1071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488" name="CaixaDeTexto 12">
            <a:extLst>
              <a:ext uri="{FF2B5EF4-FFF2-40B4-BE49-F238E27FC236}">
                <a16:creationId xmlns:a16="http://schemas.microsoft.com/office/drawing/2014/main" id="{BC65F7D4-A058-4F0C-EE26-4F715F2B7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941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5.2 Ponto de equilíbrio econômico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3">
            <a:extLst>
              <a:ext uri="{FF2B5EF4-FFF2-40B4-BE49-F238E27FC236}">
                <a16:creationId xmlns:a16="http://schemas.microsoft.com/office/drawing/2014/main" id="{E038EA3A-C742-0EEF-0621-1B21744F4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1507" name="CaixaDeTexto 6">
            <a:extLst>
              <a:ext uri="{FF2B5EF4-FFF2-40B4-BE49-F238E27FC236}">
                <a16:creationId xmlns:a16="http://schemas.microsoft.com/office/drawing/2014/main" id="{B0741F64-9A6B-0CBC-562B-3B6EC6F87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665E30-8A4E-396C-7606-01034D095C14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1509" name="CaixaDeTexto 10">
            <a:extLst>
              <a:ext uri="{FF2B5EF4-FFF2-40B4-BE49-F238E27FC236}">
                <a16:creationId xmlns:a16="http://schemas.microsoft.com/office/drawing/2014/main" id="{E5639BCD-6700-5A92-24F6-3D0B4D043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21510" name="CaixaDeTexto 12">
            <a:extLst>
              <a:ext uri="{FF2B5EF4-FFF2-40B4-BE49-F238E27FC236}">
                <a16:creationId xmlns:a16="http://schemas.microsoft.com/office/drawing/2014/main" id="{5FD3E752-9A6C-AE37-91B5-797039090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395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5.3 Alavancagem operacional: risco do negócio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4A6AC143-E8CF-3577-4A0F-28336856A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F800D0C4-FC43-4C85-BD08-2C6592DF87B2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1512" name="CaixaDeTexto 6">
            <a:extLst>
              <a:ext uri="{FF2B5EF4-FFF2-40B4-BE49-F238E27FC236}">
                <a16:creationId xmlns:a16="http://schemas.microsoft.com/office/drawing/2014/main" id="{F66A0E03-75F5-9BC9-84C1-F706626B9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A alavancagem operacional é uma extensão do conceito de ponto de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equilíbrio operacional: 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quanto mais afastada (para cima) do PE a empresa operar, menor será seu risco e alavancagem operacional. 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o mesmo efeito se dá em sentido contrário: quando o volume de vendas diminui, o Lajir sofre uma queda proporcionalmente mais rápida. </a:t>
            </a:r>
          </a:p>
          <a:p>
            <a:pPr lvl="1" eaLnBrk="1" hangingPunct="1">
              <a:lnSpc>
                <a:spcPct val="150000"/>
              </a:lnSpc>
            </a:pPr>
            <a:endParaRPr lang="pt-BR" altLang="pt-BR" sz="160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aixaDeTexto 3">
            <a:extLst>
              <a:ext uri="{FF2B5EF4-FFF2-40B4-BE49-F238E27FC236}">
                <a16:creationId xmlns:a16="http://schemas.microsoft.com/office/drawing/2014/main" id="{503ADC7C-FC9A-785C-C588-3152CFE78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2531" name="CaixaDeTexto 6">
            <a:extLst>
              <a:ext uri="{FF2B5EF4-FFF2-40B4-BE49-F238E27FC236}">
                <a16:creationId xmlns:a16="http://schemas.microsoft.com/office/drawing/2014/main" id="{A8489FC6-9862-2A59-C5CA-4C9AEC9E4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3D7F249-8BB1-AFC0-57C8-B44E69FEDD72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2533" name="CaixaDeTexto 10">
            <a:extLst>
              <a:ext uri="{FF2B5EF4-FFF2-40B4-BE49-F238E27FC236}">
                <a16:creationId xmlns:a16="http://schemas.microsoft.com/office/drawing/2014/main" id="{1CB14C6D-84BB-9847-6FE7-911A32883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6FFAA7F-335D-A25A-432E-D2EA04CD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01929280-8CF8-44CD-A392-452D85D03312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2535" name="CaixaDeTexto 6">
            <a:extLst>
              <a:ext uri="{FF2B5EF4-FFF2-40B4-BE49-F238E27FC236}">
                <a16:creationId xmlns:a16="http://schemas.microsoft.com/office/drawing/2014/main" id="{4ADEA5B6-EA7A-C376-4286-DEB487057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43188"/>
            <a:ext cx="67151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Formalmente, o grau de alavancagem operacional (GAO) é o quociente entre a variação do Lajir e a do volume de vendas:</a:t>
            </a:r>
          </a:p>
        </p:txBody>
      </p:sp>
      <p:sp>
        <p:nvSpPr>
          <p:cNvPr id="22536" name="CaixaDeTexto 6">
            <a:extLst>
              <a:ext uri="{FF2B5EF4-FFF2-40B4-BE49-F238E27FC236}">
                <a16:creationId xmlns:a16="http://schemas.microsoft.com/office/drawing/2014/main" id="{356D4E4B-1C40-D33B-215A-C98187B06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4286250"/>
            <a:ext cx="67151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Onde: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CFT = custo fixo total;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P = preço;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Q = vendas (unidades);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Cv = custo variável unitário.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EAFA533-A202-A517-B591-BE02AC63C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4101" t="46875" r="2148" b="32500"/>
          <a:stretch>
            <a:fillRect/>
          </a:stretch>
        </p:blipFill>
        <p:spPr bwMode="auto">
          <a:xfrm>
            <a:off x="1714500" y="3500438"/>
            <a:ext cx="5715000" cy="785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538" name="CaixaDeTexto 12">
            <a:extLst>
              <a:ext uri="{FF2B5EF4-FFF2-40B4-BE49-F238E27FC236}">
                <a16:creationId xmlns:a16="http://schemas.microsoft.com/office/drawing/2014/main" id="{7FA1653C-6B1F-D8DC-198F-E38232211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395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5.3 Alavancagem operacional: risco do negócio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aixaDeTexto 3">
            <a:extLst>
              <a:ext uri="{FF2B5EF4-FFF2-40B4-BE49-F238E27FC236}">
                <a16:creationId xmlns:a16="http://schemas.microsoft.com/office/drawing/2014/main" id="{9867A580-25C5-71CE-8088-7C82D3163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3555" name="CaixaDeTexto 6">
            <a:extLst>
              <a:ext uri="{FF2B5EF4-FFF2-40B4-BE49-F238E27FC236}">
                <a16:creationId xmlns:a16="http://schemas.microsoft.com/office/drawing/2014/main" id="{DE777656-7D9B-9B9B-040D-12FB875C7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535809-0A4D-DA37-0CB1-DC592D1B33B1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3557" name="CaixaDeTexto 10">
            <a:extLst>
              <a:ext uri="{FF2B5EF4-FFF2-40B4-BE49-F238E27FC236}">
                <a16:creationId xmlns:a16="http://schemas.microsoft.com/office/drawing/2014/main" id="{2452C8B5-1144-F89C-3660-09B453621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23558" name="CaixaDeTexto 12">
            <a:extLst>
              <a:ext uri="{FF2B5EF4-FFF2-40B4-BE49-F238E27FC236}">
                <a16:creationId xmlns:a16="http://schemas.microsoft.com/office/drawing/2014/main" id="{9D2A1033-8FB9-97F4-6E4D-C82110996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062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5.4 Alavancagem financeira: risco financeiro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8593F48A-52D2-70DA-B890-3BFE7C7B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7DB89B54-1010-4682-AEA7-78882FDF0657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3560" name="CaixaDeTexto 6">
            <a:extLst>
              <a:ext uri="{FF2B5EF4-FFF2-40B4-BE49-F238E27FC236}">
                <a16:creationId xmlns:a16="http://schemas.microsoft.com/office/drawing/2014/main" id="{5D6C2905-CA0F-D79E-7FFB-1DBAF362E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71750"/>
            <a:ext cx="6715125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Capacidade de usar os custos financeiros fixos para aumentar os efeitos das variações das vendas sobre o LPA (lucro por ação) ou sobre a rentabilidade do capital próprio (rentabilidade dos acionistas).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O grau de alavancagem financeira (GAF) pode ser calculado como o quociente entre a variação do lucro disponível aos acionistas ordinários (LDA) e a variação do Lajir: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09D685F-8FA9-C6FF-6C36-9F0224907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9375" t="50625" r="7421" b="28750"/>
          <a:stretch>
            <a:fillRect/>
          </a:stretch>
        </p:blipFill>
        <p:spPr bwMode="auto">
          <a:xfrm>
            <a:off x="1963738" y="5000625"/>
            <a:ext cx="5216525" cy="808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aixaDeTexto 3">
            <a:extLst>
              <a:ext uri="{FF2B5EF4-FFF2-40B4-BE49-F238E27FC236}">
                <a16:creationId xmlns:a16="http://schemas.microsoft.com/office/drawing/2014/main" id="{4BC8D5E3-B026-A197-B2AC-DF39DB4D6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4579" name="CaixaDeTexto 6">
            <a:extLst>
              <a:ext uri="{FF2B5EF4-FFF2-40B4-BE49-F238E27FC236}">
                <a16:creationId xmlns:a16="http://schemas.microsoft.com/office/drawing/2014/main" id="{D4D28540-F0E2-141C-412A-918D39FB0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23CBF4C-C8E5-D833-70F6-2DF9BCB76F63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4581" name="CaixaDeTexto 10">
            <a:extLst>
              <a:ext uri="{FF2B5EF4-FFF2-40B4-BE49-F238E27FC236}">
                <a16:creationId xmlns:a16="http://schemas.microsoft.com/office/drawing/2014/main" id="{90A3BEBE-6CB8-5AB5-9001-86E3CC988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24582" name="CaixaDeTexto 12">
            <a:extLst>
              <a:ext uri="{FF2B5EF4-FFF2-40B4-BE49-F238E27FC236}">
                <a16:creationId xmlns:a16="http://schemas.microsoft.com/office/drawing/2014/main" id="{32F6BFCD-838C-6261-D6B8-F86F50F4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692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5.5 Escolha do melhor plano financeiro: análise LPA </a:t>
            </a:r>
            <a:r>
              <a:rPr lang="pt-BR" altLang="pt-BR" b="1">
                <a:solidFill>
                  <a:srgbClr val="2C5DAA"/>
                </a:solidFill>
                <a:sym typeface="Euclid Symbol"/>
              </a:rPr>
              <a:t>X</a:t>
            </a:r>
            <a:r>
              <a:rPr lang="pt-BR" altLang="pt-BR" b="1">
                <a:solidFill>
                  <a:srgbClr val="2C5DAA"/>
                </a:solidFill>
              </a:rPr>
              <a:t> Lajir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9135D214-4C9E-B869-6BF3-26698A3F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4E1D3977-A36E-4316-813E-7E1FA45BE758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4584" name="CaixaDeTexto 6">
            <a:extLst>
              <a:ext uri="{FF2B5EF4-FFF2-40B4-BE49-F238E27FC236}">
                <a16:creationId xmlns:a16="http://schemas.microsoft.com/office/drawing/2014/main" id="{BD961B60-CED4-B5C6-1155-1C86A3D0B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A alavancagem financeira tem duas conseqüências sobre o lucro por ação (LPA):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aumento no risco associado ao LPA, devido ao uso de obrigações financeiras fixas — mede-se pelo GAF;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aumento do valor do LPA quando o custo da dívida é inferior à rentabilidade operacional da empresa — explica-se pela análise LPA × Lajir.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aixaDeTexto 3">
            <a:extLst>
              <a:ext uri="{FF2B5EF4-FFF2-40B4-BE49-F238E27FC236}">
                <a16:creationId xmlns:a16="http://schemas.microsoft.com/office/drawing/2014/main" id="{6C22458F-4B0B-677E-9B5E-AF3759BD7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5603" name="CaixaDeTexto 6">
            <a:extLst>
              <a:ext uri="{FF2B5EF4-FFF2-40B4-BE49-F238E27FC236}">
                <a16:creationId xmlns:a16="http://schemas.microsoft.com/office/drawing/2014/main" id="{40D2364C-3A01-DB8E-E13E-A167E06E5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B291275-D9AF-7952-0FCC-CAC1E643B306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5605" name="CaixaDeTexto 10">
            <a:extLst>
              <a:ext uri="{FF2B5EF4-FFF2-40B4-BE49-F238E27FC236}">
                <a16:creationId xmlns:a16="http://schemas.microsoft.com/office/drawing/2014/main" id="{8FCC9BDD-48E5-0E93-B38E-D416444FB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25606" name="CaixaDeTexto 12">
            <a:extLst>
              <a:ext uri="{FF2B5EF4-FFF2-40B4-BE49-F238E27FC236}">
                <a16:creationId xmlns:a16="http://schemas.microsoft.com/office/drawing/2014/main" id="{0FDE18D6-7A55-82E7-D219-BC18BA8DE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595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Análise LPA X</a:t>
            </a:r>
            <a:r>
              <a:rPr lang="pt-BR" altLang="pt-BR" b="1">
                <a:solidFill>
                  <a:srgbClr val="2C5DAA"/>
                </a:solidFill>
                <a:sym typeface="Euclid Symbol"/>
              </a:rPr>
              <a:t> </a:t>
            </a:r>
            <a:r>
              <a:rPr lang="pt-BR" altLang="pt-BR" b="1">
                <a:solidFill>
                  <a:srgbClr val="2C5DAA"/>
                </a:solidFill>
              </a:rPr>
              <a:t>Lajir — Exemplo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4BD8C73-E6F5-3CB1-A752-8BB58532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E936831D-1891-467D-BAD5-A329677DCA41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5608" name="CaixaDeTexto 6">
            <a:extLst>
              <a:ext uri="{FF2B5EF4-FFF2-40B4-BE49-F238E27FC236}">
                <a16:creationId xmlns:a16="http://schemas.microsoft.com/office/drawing/2014/main" id="{7B4ED778-BFC3-8011-8636-16D1417C9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Suponhamos que uma empresa pretenda levantar $ 2.000.000 para financiar um projeto de investimento e tenha a seu dispor dois planos de financiamento: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plano 1: emitir 40.000 ações a um preço unitário de $ 50 cada;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plano 2: emitir títulos de dívida que pagam juros efetivos de 10% ao ano.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Antes da decisão de financiamento, há 100.000 ações em poder dos acionistas e a alíquota de IR é 50%.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aixaDeTexto 3">
            <a:extLst>
              <a:ext uri="{FF2B5EF4-FFF2-40B4-BE49-F238E27FC236}">
                <a16:creationId xmlns:a16="http://schemas.microsoft.com/office/drawing/2014/main" id="{FB517FAD-9962-B072-6FD2-4F351E0A6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6627" name="CaixaDeTexto 6">
            <a:extLst>
              <a:ext uri="{FF2B5EF4-FFF2-40B4-BE49-F238E27FC236}">
                <a16:creationId xmlns:a16="http://schemas.microsoft.com/office/drawing/2014/main" id="{B5560522-309C-B771-3504-CD25EDCF0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72B215F-4585-0164-249A-68D9EE27B7EF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6629" name="CaixaDeTexto 10">
            <a:extLst>
              <a:ext uri="{FF2B5EF4-FFF2-40B4-BE49-F238E27FC236}">
                <a16:creationId xmlns:a16="http://schemas.microsoft.com/office/drawing/2014/main" id="{6BD47749-8493-FDC9-7346-E261B87C5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2EF61D20-87D6-7242-BA4C-4201E713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E4070446-15BA-4B36-BF29-C9165BBE620C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D79120B-0116-F8C7-3C20-768DD8351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1094" t="21562" r="22070" b="34375"/>
          <a:stretch>
            <a:fillRect/>
          </a:stretch>
        </p:blipFill>
        <p:spPr bwMode="auto">
          <a:xfrm>
            <a:off x="1654175" y="3251200"/>
            <a:ext cx="5346700" cy="259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632" name="CaixaDeTexto 6">
            <a:extLst>
              <a:ext uri="{FF2B5EF4-FFF2-40B4-BE49-F238E27FC236}">
                <a16:creationId xmlns:a16="http://schemas.microsoft.com/office/drawing/2014/main" id="{2CBAC735-4DE1-CD8D-FBB9-BC1522C53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Análise para Lajir de $ 1.000.000:</a:t>
            </a:r>
          </a:p>
        </p:txBody>
      </p:sp>
      <p:sp>
        <p:nvSpPr>
          <p:cNvPr id="26633" name="CaixaDeTexto 12">
            <a:extLst>
              <a:ext uri="{FF2B5EF4-FFF2-40B4-BE49-F238E27FC236}">
                <a16:creationId xmlns:a16="http://schemas.microsoft.com/office/drawing/2014/main" id="{C262E006-9501-94BF-2C2F-7683DCAF8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595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Análise LPA X</a:t>
            </a:r>
            <a:r>
              <a:rPr lang="pt-BR" altLang="pt-BR" b="1">
                <a:solidFill>
                  <a:srgbClr val="2C5DAA"/>
                </a:solidFill>
                <a:sym typeface="Euclid Symbol"/>
              </a:rPr>
              <a:t> </a:t>
            </a:r>
            <a:r>
              <a:rPr lang="pt-BR" altLang="pt-BR" b="1">
                <a:solidFill>
                  <a:srgbClr val="2C5DAA"/>
                </a:solidFill>
              </a:rPr>
              <a:t>Lajir — Exemplo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aixaDeTexto 3">
            <a:extLst>
              <a:ext uri="{FF2B5EF4-FFF2-40B4-BE49-F238E27FC236}">
                <a16:creationId xmlns:a16="http://schemas.microsoft.com/office/drawing/2014/main" id="{CEF4A8AD-9C6B-6A92-ACE7-E75E5C0C8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7651" name="CaixaDeTexto 6">
            <a:extLst>
              <a:ext uri="{FF2B5EF4-FFF2-40B4-BE49-F238E27FC236}">
                <a16:creationId xmlns:a16="http://schemas.microsoft.com/office/drawing/2014/main" id="{B08919F6-8367-5802-E05D-0DFDB4223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0C28B1-70FD-75D5-F1BA-502A4194BC92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7653" name="CaixaDeTexto 10">
            <a:extLst>
              <a:ext uri="{FF2B5EF4-FFF2-40B4-BE49-F238E27FC236}">
                <a16:creationId xmlns:a16="http://schemas.microsoft.com/office/drawing/2014/main" id="{BC4E5828-97A5-BE69-F942-181A25D66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40694EF3-1431-722E-1AE3-CC50C8DE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F56DE2EB-4A64-4118-9B5B-4A4DDED818EB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23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7655" name="CaixaDeTexto 6">
            <a:extLst>
              <a:ext uri="{FF2B5EF4-FFF2-40B4-BE49-F238E27FC236}">
                <a16:creationId xmlns:a16="http://schemas.microsoft.com/office/drawing/2014/main" id="{5FE6DB94-A86C-D50A-9518-BE623217A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Podemos determinar o Lajir de equilíbrio que torna os planos 1 e 2 equivalentes igualando seus lucros por ação (LPA) e, a seguir, resolvendo para o Lajir a seguinte igualdade: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82DF4BB-DA0C-74FD-3F81-05205A5F7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0547" t="30937" r="5664" b="26875"/>
          <a:stretch>
            <a:fillRect/>
          </a:stretch>
        </p:blipFill>
        <p:spPr bwMode="auto">
          <a:xfrm>
            <a:off x="1757363" y="4086225"/>
            <a:ext cx="4100512" cy="1290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657" name="CaixaDeTexto 12">
            <a:extLst>
              <a:ext uri="{FF2B5EF4-FFF2-40B4-BE49-F238E27FC236}">
                <a16:creationId xmlns:a16="http://schemas.microsoft.com/office/drawing/2014/main" id="{5103BF3A-850A-785A-C542-45939F108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595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Análise LPA X</a:t>
            </a:r>
            <a:r>
              <a:rPr lang="pt-BR" altLang="pt-BR" b="1">
                <a:solidFill>
                  <a:srgbClr val="2C5DAA"/>
                </a:solidFill>
                <a:sym typeface="Euclid Symbol"/>
              </a:rPr>
              <a:t> </a:t>
            </a:r>
            <a:r>
              <a:rPr lang="pt-BR" altLang="pt-BR" b="1">
                <a:solidFill>
                  <a:srgbClr val="2C5DAA"/>
                </a:solidFill>
              </a:rPr>
              <a:t>Lajir — Exemplo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aixaDeTexto 3">
            <a:extLst>
              <a:ext uri="{FF2B5EF4-FFF2-40B4-BE49-F238E27FC236}">
                <a16:creationId xmlns:a16="http://schemas.microsoft.com/office/drawing/2014/main" id="{7989DC92-73DE-D3AB-A3E5-127110D8E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8675" name="CaixaDeTexto 6">
            <a:extLst>
              <a:ext uri="{FF2B5EF4-FFF2-40B4-BE49-F238E27FC236}">
                <a16:creationId xmlns:a16="http://schemas.microsoft.com/office/drawing/2014/main" id="{6FC2265E-85FC-D0F9-376F-0D405C562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BADF87B-897F-04B0-C5D2-976A4F999346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8677" name="CaixaDeTexto 10">
            <a:extLst>
              <a:ext uri="{FF2B5EF4-FFF2-40B4-BE49-F238E27FC236}">
                <a16:creationId xmlns:a16="http://schemas.microsoft.com/office/drawing/2014/main" id="{DBCBF24D-DBD7-36E6-B233-60318D1FF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CF7B3D3-A509-6ADD-6399-5006FA7A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0579615D-B6A6-4C1D-AB53-AC8D4E3DA115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8679" name="CaixaDeTexto 6">
            <a:extLst>
              <a:ext uri="{FF2B5EF4-FFF2-40B4-BE49-F238E27FC236}">
                <a16:creationId xmlns:a16="http://schemas.microsoft.com/office/drawing/2014/main" id="{977546BA-DC70-1856-B15B-E0C685D51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→ Lajir de equilíbrio = $ 700.000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vendas esperadas ≥ $ 700.000 → plano 2 mais adequado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vendas esperadas ≤ $ 700.000 → plano 1 mais adequado</a:t>
            </a:r>
          </a:p>
        </p:txBody>
      </p:sp>
      <p:sp>
        <p:nvSpPr>
          <p:cNvPr id="28680" name="CaixaDeTexto 12">
            <a:extLst>
              <a:ext uri="{FF2B5EF4-FFF2-40B4-BE49-F238E27FC236}">
                <a16:creationId xmlns:a16="http://schemas.microsoft.com/office/drawing/2014/main" id="{05CDC386-6B35-D8A3-527D-038D1BA5E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595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Análise LPA X</a:t>
            </a:r>
            <a:r>
              <a:rPr lang="pt-BR" altLang="pt-BR" b="1">
                <a:solidFill>
                  <a:srgbClr val="2C5DAA"/>
                </a:solidFill>
                <a:sym typeface="Euclid Symbol"/>
              </a:rPr>
              <a:t> </a:t>
            </a:r>
            <a:r>
              <a:rPr lang="pt-BR" altLang="pt-BR" b="1">
                <a:solidFill>
                  <a:srgbClr val="2C5DAA"/>
                </a:solidFill>
              </a:rPr>
              <a:t>Lajir — Exemplo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aixaDeTexto 3">
            <a:extLst>
              <a:ext uri="{FF2B5EF4-FFF2-40B4-BE49-F238E27FC236}">
                <a16:creationId xmlns:a16="http://schemas.microsoft.com/office/drawing/2014/main" id="{B624C4AC-2250-3144-483C-D08E609DC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29699" name="CaixaDeTexto 6">
            <a:extLst>
              <a:ext uri="{FF2B5EF4-FFF2-40B4-BE49-F238E27FC236}">
                <a16:creationId xmlns:a16="http://schemas.microsoft.com/office/drawing/2014/main" id="{18CC3652-4180-7641-6ECC-7CE4BEE6B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1AC1378-B136-8C74-4AC9-20012A7E4E9F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9701" name="CaixaDeTexto 10">
            <a:extLst>
              <a:ext uri="{FF2B5EF4-FFF2-40B4-BE49-F238E27FC236}">
                <a16:creationId xmlns:a16="http://schemas.microsoft.com/office/drawing/2014/main" id="{1D69B72F-C615-62D8-F93C-ED02B0753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29702" name="CaixaDeTexto 12">
            <a:extLst>
              <a:ext uri="{FF2B5EF4-FFF2-40B4-BE49-F238E27FC236}">
                <a16:creationId xmlns:a16="http://schemas.microsoft.com/office/drawing/2014/main" id="{CF7A0042-CC85-FE7D-4B41-88BB0841F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989138"/>
            <a:ext cx="6242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 5.6 Alavancagem financeira e planos de financiamento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B08D7C4B-F177-A586-D1E0-04678724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61CCBE8B-834E-4769-8B8D-5BB601A860F3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25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9704" name="CaixaDeTexto 6">
            <a:extLst>
              <a:ext uri="{FF2B5EF4-FFF2-40B4-BE49-F238E27FC236}">
                <a16:creationId xmlns:a16="http://schemas.microsoft.com/office/drawing/2014/main" id="{02AA84DE-9783-C5F0-996E-77D168C91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428875"/>
            <a:ext cx="6715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200"/>
              <a:t>LPA, seu incremento em relação à situação anterior e GAF em relação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200"/>
              <a:t>aos planos de financiamento apresentados no exemplo anterior (com acréscimo de 50%):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A0DB27E-AA9E-46FD-0FDF-B47F8079B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6445" t="11250" r="9179" b="8125"/>
          <a:stretch>
            <a:fillRect/>
          </a:stretch>
        </p:blipFill>
        <p:spPr bwMode="auto">
          <a:xfrm>
            <a:off x="2195513" y="3213100"/>
            <a:ext cx="4714875" cy="2816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aixaDeTexto 3">
            <a:extLst>
              <a:ext uri="{FF2B5EF4-FFF2-40B4-BE49-F238E27FC236}">
                <a16:creationId xmlns:a16="http://schemas.microsoft.com/office/drawing/2014/main" id="{B7520758-C1F2-6138-9D6C-D0928CBD6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0723" name="CaixaDeTexto 6">
            <a:extLst>
              <a:ext uri="{FF2B5EF4-FFF2-40B4-BE49-F238E27FC236}">
                <a16:creationId xmlns:a16="http://schemas.microsoft.com/office/drawing/2014/main" id="{C1794E8F-C5B8-C553-B409-9F16969EC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9AEAF3B-41AB-FA56-BD13-E7008D4697B1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0725" name="CaixaDeTexto 10">
            <a:extLst>
              <a:ext uri="{FF2B5EF4-FFF2-40B4-BE49-F238E27FC236}">
                <a16:creationId xmlns:a16="http://schemas.microsoft.com/office/drawing/2014/main" id="{37BA47F9-DF7B-57C0-75BE-856093682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26" name="CaixaDeTexto 12">
            <a:extLst>
              <a:ext uri="{FF2B5EF4-FFF2-40B4-BE49-F238E27FC236}">
                <a16:creationId xmlns:a16="http://schemas.microsoft.com/office/drawing/2014/main" id="{25BAC931-5AE6-2784-3D66-8793D1024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981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5.7 Receita mínima de equilíbrio econômico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87963E3C-0485-C90C-E8D8-602CE21C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5EBB00FF-2285-4865-A508-3E56DAE8BBF6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26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30728" name="CaixaDeTexto 6">
            <a:extLst>
              <a:ext uri="{FF2B5EF4-FFF2-40B4-BE49-F238E27FC236}">
                <a16:creationId xmlns:a16="http://schemas.microsoft.com/office/drawing/2014/main" id="{3F8CE699-A9D8-3DF7-6FD5-D38816F05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Dispor da receita mínima de equilíbrio é importante, sobretudo quando ainda não se dispõe de informações completas, que tornem possível a total estruturação do fluxo de caixa e o cálculo do custo do capital requerido para a avaliação econômica.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O cálculo da receita mínima de equilíbrio é um auxílio adicional no processo de tomada de decisões (geralmente é útil em empreendimentos pequenos onde não seja possível uma análise mais aprimorada com base na projeção e no desconto de fluxos de caixa).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aixaDeTexto 3">
            <a:extLst>
              <a:ext uri="{FF2B5EF4-FFF2-40B4-BE49-F238E27FC236}">
                <a16:creationId xmlns:a16="http://schemas.microsoft.com/office/drawing/2014/main" id="{0838B865-4F1A-BBC4-CBAF-A6AD58C26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1747" name="CaixaDeTexto 6">
            <a:extLst>
              <a:ext uri="{FF2B5EF4-FFF2-40B4-BE49-F238E27FC236}">
                <a16:creationId xmlns:a16="http://schemas.microsoft.com/office/drawing/2014/main" id="{B7F0448B-A051-1704-658F-93B8042B0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6DBDE74-3DB8-A642-8189-16009D70960F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1749" name="CaixaDeTexto 10">
            <a:extLst>
              <a:ext uri="{FF2B5EF4-FFF2-40B4-BE49-F238E27FC236}">
                <a16:creationId xmlns:a16="http://schemas.microsoft.com/office/drawing/2014/main" id="{3F5CE24D-A10A-B898-66FB-0C64D0127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1750" name="CaixaDeTexto 12">
            <a:extLst>
              <a:ext uri="{FF2B5EF4-FFF2-40B4-BE49-F238E27FC236}">
                <a16:creationId xmlns:a16="http://schemas.microsoft.com/office/drawing/2014/main" id="{CB1C151D-09FB-5B25-2AF1-685AC238C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733EE0E4-F53F-1C88-FD98-4FE1C2924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94178556-C248-45C8-96AE-952CBFD960C3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27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31752" name="CaixaDeTexto 6">
            <a:extLst>
              <a:ext uri="{FF2B5EF4-FFF2-40B4-BE49-F238E27FC236}">
                <a16:creationId xmlns:a16="http://schemas.microsoft.com/office/drawing/2014/main" id="{4FA79335-394B-7EAF-0086-F726D0E75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357438"/>
            <a:ext cx="6715125" cy="374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Recentemente, um engenheiro inscreveu-se no plano de demissão voluntária (PDV) da empresa em que trabalhava. Recebeu da companhia $ 150.000 em benefícios trabalhistas, valor que aplicou imediatamente em um fundo de renda fixa que rende 13% ao ano.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No momento, o engenheiro estuda a possibilidade de comprar um terreno e alguns equipamentos para montar um negócio de reciclagem de lixo industrial. O investimento requerido será coberto pelos recursos que recebeu do PDV, somados a um empréstimo que pretende levantar em um banco. Esse empréstimo será tomado a juros efetivos de 10% ao ano e amortizado em 8 parcelas iguais de $ 10.000 cada.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aixaDeTexto 3">
            <a:extLst>
              <a:ext uri="{FF2B5EF4-FFF2-40B4-BE49-F238E27FC236}">
                <a16:creationId xmlns:a16="http://schemas.microsoft.com/office/drawing/2014/main" id="{1D56F36C-423F-62F8-BCE1-98C9CEED0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2771" name="CaixaDeTexto 6">
            <a:extLst>
              <a:ext uri="{FF2B5EF4-FFF2-40B4-BE49-F238E27FC236}">
                <a16:creationId xmlns:a16="http://schemas.microsoft.com/office/drawing/2014/main" id="{3A921328-7F5D-568A-BF0F-AB4FFEC78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3CED32-21D4-BC46-4A62-D70C13E4F1BE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2773" name="CaixaDeTexto 10">
            <a:extLst>
              <a:ext uri="{FF2B5EF4-FFF2-40B4-BE49-F238E27FC236}">
                <a16:creationId xmlns:a16="http://schemas.microsoft.com/office/drawing/2014/main" id="{F2DB2691-3421-9A5C-23BF-A48314738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134D65DD-558F-5FC4-4B7B-F236DB608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B7301F5C-78B5-4D56-991F-9081FC713DC4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28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32775" name="CaixaDeTexto 6">
            <a:extLst>
              <a:ext uri="{FF2B5EF4-FFF2-40B4-BE49-F238E27FC236}">
                <a16:creationId xmlns:a16="http://schemas.microsoft.com/office/drawing/2014/main" id="{6CD443DB-D207-107F-9AC0-E738E53F3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81275"/>
            <a:ext cx="6715125" cy="300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Para o transporte e a movimentação do material, o engenheiro pretende usar um caminhão e um trator de esteiras de sua propriedade. Se tivesse de alugar esses equipamentos, deveria pagar, a valores de mercado, $ 12.000/ano. Se o engenheiro não fosse se dedicar ele próprio à administração do negócio, poderia empregar-se no mercado de trabalho por um salário médio de $ 80.000/ano. Considerando as informações anteriores, determine a receita mínima de equilíbrio econômico que torna o empreendimento economicamente viável.</a:t>
            </a:r>
          </a:p>
        </p:txBody>
      </p:sp>
      <p:sp>
        <p:nvSpPr>
          <p:cNvPr id="32776" name="CaixaDeTexto 12">
            <a:extLst>
              <a:ext uri="{FF2B5EF4-FFF2-40B4-BE49-F238E27FC236}">
                <a16:creationId xmlns:a16="http://schemas.microsoft.com/office/drawing/2014/main" id="{100DAC77-669B-CEF5-354A-AF2E9E9CA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aixaDeTexto 3">
            <a:extLst>
              <a:ext uri="{FF2B5EF4-FFF2-40B4-BE49-F238E27FC236}">
                <a16:creationId xmlns:a16="http://schemas.microsoft.com/office/drawing/2014/main" id="{5161265B-F966-4F9F-90D9-4A250434A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3795" name="CaixaDeTexto 6">
            <a:extLst>
              <a:ext uri="{FF2B5EF4-FFF2-40B4-BE49-F238E27FC236}">
                <a16:creationId xmlns:a16="http://schemas.microsoft.com/office/drawing/2014/main" id="{0F896C13-60AF-AD92-EEA3-D8EFDFC95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5B5ABA-9F4D-CBF2-9216-1D5714A71FFA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3797" name="CaixaDeTexto 10">
            <a:extLst>
              <a:ext uri="{FF2B5EF4-FFF2-40B4-BE49-F238E27FC236}">
                <a16:creationId xmlns:a16="http://schemas.microsoft.com/office/drawing/2014/main" id="{14052EBC-D1F2-9858-85B2-F71C3B968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E64DD036-232C-F046-6EEB-E18359CA1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BEF5B513-B540-4685-810C-EDFACF0AA89D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29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62A43D0-F56B-2E49-7804-A4C010E4C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8203" t="13125" r="3906" b="15625"/>
          <a:stretch>
            <a:fillRect/>
          </a:stretch>
        </p:blipFill>
        <p:spPr bwMode="auto">
          <a:xfrm>
            <a:off x="2236788" y="3360738"/>
            <a:ext cx="4929187" cy="24971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800" name="CaixaDeTexto 6">
            <a:extLst>
              <a:ext uri="{FF2B5EF4-FFF2-40B4-BE49-F238E27FC236}">
                <a16:creationId xmlns:a16="http://schemas.microsoft.com/office/drawing/2014/main" id="{AE231BB6-5675-6260-D4BF-B04A47146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487613"/>
            <a:ext cx="67151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Dados para a estimativa da receita mínima de equilíbrio econômico inicial do projeto:</a:t>
            </a:r>
          </a:p>
        </p:txBody>
      </p:sp>
      <p:sp>
        <p:nvSpPr>
          <p:cNvPr id="33801" name="CaixaDeTexto 12">
            <a:extLst>
              <a:ext uri="{FF2B5EF4-FFF2-40B4-BE49-F238E27FC236}">
                <a16:creationId xmlns:a16="http://schemas.microsoft.com/office/drawing/2014/main" id="{A3182BDF-3E44-0F0E-BD74-1649E7EE8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aixaDeTexto 3">
            <a:extLst>
              <a:ext uri="{FF2B5EF4-FFF2-40B4-BE49-F238E27FC236}">
                <a16:creationId xmlns:a16="http://schemas.microsoft.com/office/drawing/2014/main" id="{85E52519-274D-204C-3A80-DB4F46EC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4819" name="CaixaDeTexto 6">
            <a:extLst>
              <a:ext uri="{FF2B5EF4-FFF2-40B4-BE49-F238E27FC236}">
                <a16:creationId xmlns:a16="http://schemas.microsoft.com/office/drawing/2014/main" id="{7F973365-2670-136F-B369-86B1614C1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pt-BR" altLang="pt-BR" sz="16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B49EED9-DD2E-2CFB-1309-D60BED469EB3}"/>
              </a:ext>
            </a:extLst>
          </p:cNvPr>
          <p:cNvSpPr txBox="1"/>
          <p:nvPr/>
        </p:nvSpPr>
        <p:spPr>
          <a:xfrm>
            <a:off x="4143375" y="142875"/>
            <a:ext cx="5000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5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Ponto de equilíbrio econômico, alavancagem operacional e financeira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4821" name="CaixaDeTexto 10">
            <a:extLst>
              <a:ext uri="{FF2B5EF4-FFF2-40B4-BE49-F238E27FC236}">
                <a16:creationId xmlns:a16="http://schemas.microsoft.com/office/drawing/2014/main" id="{5C9AD9F1-119F-47B2-6196-20DB1C5A5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232F9D09-6379-12BE-C5B3-87060157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C2691B95-AE46-46DE-8B06-7B851304A47A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30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34823" name="CaixaDeTexto 6">
            <a:extLst>
              <a:ext uri="{FF2B5EF4-FFF2-40B4-BE49-F238E27FC236}">
                <a16:creationId xmlns:a16="http://schemas.microsoft.com/office/drawing/2014/main" id="{55935AEB-1D07-B64C-EEFC-C4E78AC1A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487613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Receita mínima = Custos operacionais e financeiros + Imposto de renda + Custos de oportunidade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Rmín = $ 188.000 + 0,3 x [Rmín – despesas] + Custos de oportunidade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Rmín = $ 188.000 + 0,3 x [Rmín – ($ 188.000 – $ 10.000)] + $ 111.500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 → Rmín = $ 351.571</a:t>
            </a:r>
          </a:p>
        </p:txBody>
      </p:sp>
      <p:sp>
        <p:nvSpPr>
          <p:cNvPr id="34824" name="CaixaDeTexto 12">
            <a:extLst>
              <a:ext uri="{FF2B5EF4-FFF2-40B4-BE49-F238E27FC236}">
                <a16:creationId xmlns:a16="http://schemas.microsoft.com/office/drawing/2014/main" id="{C5A9FA92-724F-AD90-EC7B-31FF47122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a xmlns="f244cccc-9ebe-487b-9f49-451c84d31f5d">2024-12-11T19:18:49+00:00</Data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  <grupo13_x002d_MarceloPassos xmlns="f244cccc-9ebe-487b-9f49-451c84d31f5d" xsi:nil="true"/>
  </documentManagement>
</p:properties>
</file>

<file path=customXml/itemProps1.xml><?xml version="1.0" encoding="utf-8"?>
<ds:datastoreItem xmlns:ds="http://schemas.openxmlformats.org/officeDocument/2006/customXml" ds:itemID="{2ABEAEB0-6B62-4979-A5D2-BFA7E8AA25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B070E6-87B9-478C-824C-01348281B2B6}"/>
</file>

<file path=customXml/itemProps3.xml><?xml version="1.0" encoding="utf-8"?>
<ds:datastoreItem xmlns:ds="http://schemas.openxmlformats.org/officeDocument/2006/customXml" ds:itemID="{34BECF7D-3653-4A79-8C5C-00390C10C93C}"/>
</file>

<file path=docProps/app.xml><?xml version="1.0" encoding="utf-8"?>
<Properties xmlns="http://schemas.openxmlformats.org/officeDocument/2006/extended-properties" xmlns:vt="http://schemas.openxmlformats.org/officeDocument/2006/docPropsVTypes">
  <TotalTime>2073</TotalTime>
  <Words>2241</Words>
  <Application>Microsoft Office PowerPoint</Application>
  <PresentationFormat>Apresentação na tela (4:3)</PresentationFormat>
  <Paragraphs>292</Paragraphs>
  <Slides>30</Slides>
  <Notes>30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Tema do Office</vt:lpstr>
      <vt:lpstr>1_Tema do Office</vt:lpstr>
      <vt:lpstr>2_Tema do Office</vt:lpstr>
      <vt:lpstr>3_Tema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ICONE 4 COMUNICAÇÃO E ARTE LTDA</dc:creator>
  <cp:lastModifiedBy>ProfºJOCA</cp:lastModifiedBy>
  <cp:revision>160</cp:revision>
  <dcterms:created xsi:type="dcterms:W3CDTF">2009-04-20T19:30:33Z</dcterms:created>
  <dcterms:modified xsi:type="dcterms:W3CDTF">2024-12-11T22:18:47Z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</Properties>
</file>
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83" r:id="rId6"/>
    <p:sldMasterId id="2147483695" r:id="rId7"/>
  </p:sldMasterIdLst>
  <p:notesMasterIdLst>
    <p:notesMasterId r:id="rId54"/>
  </p:notesMasterIdLst>
  <p:handoutMasterIdLst>
    <p:handoutMasterId r:id="rId55"/>
  </p:handoutMasterIdLst>
  <p:sldIdLst>
    <p:sldId id="280" r:id="rId8"/>
    <p:sldId id="283" r:id="rId9"/>
    <p:sldId id="315" r:id="rId10"/>
    <p:sldId id="284" r:id="rId11"/>
    <p:sldId id="285" r:id="rId12"/>
    <p:sldId id="288" r:id="rId13"/>
    <p:sldId id="286" r:id="rId14"/>
    <p:sldId id="316" r:id="rId15"/>
    <p:sldId id="325" r:id="rId16"/>
    <p:sldId id="289" r:id="rId17"/>
    <p:sldId id="290" r:id="rId18"/>
    <p:sldId id="291" r:id="rId19"/>
    <p:sldId id="292" r:id="rId20"/>
    <p:sldId id="331" r:id="rId21"/>
    <p:sldId id="332" r:id="rId22"/>
    <p:sldId id="314" r:id="rId23"/>
    <p:sldId id="317" r:id="rId24"/>
    <p:sldId id="318" r:id="rId25"/>
    <p:sldId id="324" r:id="rId26"/>
    <p:sldId id="296" r:id="rId27"/>
    <p:sldId id="297" r:id="rId28"/>
    <p:sldId id="319" r:id="rId29"/>
    <p:sldId id="298" r:id="rId30"/>
    <p:sldId id="320" r:id="rId31"/>
    <p:sldId id="299" r:id="rId32"/>
    <p:sldId id="321" r:id="rId33"/>
    <p:sldId id="300" r:id="rId34"/>
    <p:sldId id="304" r:id="rId35"/>
    <p:sldId id="305" r:id="rId36"/>
    <p:sldId id="303" r:id="rId37"/>
    <p:sldId id="302" r:id="rId38"/>
    <p:sldId id="301" r:id="rId39"/>
    <p:sldId id="322" r:id="rId40"/>
    <p:sldId id="323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26" r:id="rId50"/>
    <p:sldId id="327" r:id="rId51"/>
    <p:sldId id="328" r:id="rId52"/>
    <p:sldId id="329" r:id="rId53"/>
  </p:sldIdLst>
  <p:sldSz cx="9144000" cy="6858000" type="screen4x3"/>
  <p:notesSz cx="7102475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70" autoAdjust="0"/>
    <p:restoredTop sz="94660"/>
  </p:normalViewPr>
  <p:slideViewPr>
    <p:cSldViewPr>
      <p:cViewPr varScale="1">
        <p:scale>
          <a:sx n="74" d="100"/>
          <a:sy n="74" d="100"/>
        </p:scale>
        <p:origin x="15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viewProps" Target="view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5621A81-C932-A008-0ACD-B30A61CAB0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E876DA-78F9-7F37-6223-BB705EDC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C06311A-7CD4-4E6B-8683-7C9139934550}" type="datetimeFigureOut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6173B4-AE9B-5E89-1235-4C88EF12F4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2762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0227A9-E011-F8C3-7E9F-8E6DC30E17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9720263"/>
            <a:ext cx="3078163" cy="512762"/>
          </a:xfrm>
          <a:prstGeom prst="rect">
            <a:avLst/>
          </a:prstGeom>
        </p:spPr>
        <p:txBody>
          <a:bodyPr vert="horz" wrap="square" lIns="94778" tIns="47389" rIns="94778" bIns="473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403903A-E7E6-44CB-8AAC-97BDD7D5A82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E84E447-A1F8-7141-BA57-B0471AF07F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1E76C8-B1EC-E6D6-5727-39FB6B9130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4778" tIns="47389" rIns="94778" bIns="47389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53F2D34-2460-492E-96DC-9CD960987DD3}" type="datetimeFigureOut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DAFBF517-89FA-551D-7512-6B2E0B6E8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9" rIns="94778" bIns="47389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56C67B32-DDC4-863A-F8DB-EB5AB8762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2513"/>
            <a:ext cx="5683250" cy="4605337"/>
          </a:xfrm>
          <a:prstGeom prst="rect">
            <a:avLst/>
          </a:prstGeom>
        </p:spPr>
        <p:txBody>
          <a:bodyPr vert="horz" lIns="94778" tIns="47389" rIns="94778" bIns="47389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90087D-07B9-46E3-78A1-7EB594569B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2762"/>
          </a:xfrm>
          <a:prstGeom prst="rect">
            <a:avLst/>
          </a:prstGeom>
        </p:spPr>
        <p:txBody>
          <a:bodyPr vert="horz" lIns="94778" tIns="47389" rIns="94778" bIns="473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F5632D-8E6C-DF97-A312-09CB01907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2725" y="9720263"/>
            <a:ext cx="3078163" cy="512762"/>
          </a:xfrm>
          <a:prstGeom prst="rect">
            <a:avLst/>
          </a:prstGeom>
        </p:spPr>
        <p:txBody>
          <a:bodyPr vert="horz" wrap="square" lIns="94778" tIns="47389" rIns="94778" bIns="473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F4AEF07E-1E42-4868-9E8D-D45B6EE1239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>
            <a:extLst>
              <a:ext uri="{FF2B5EF4-FFF2-40B4-BE49-F238E27FC236}">
                <a16:creationId xmlns:a16="http://schemas.microsoft.com/office/drawing/2014/main" id="{1E0E8D30-1583-F9D2-DED7-7DB0CAE96D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Espaço Reservado para Anotações 2">
            <a:extLst>
              <a:ext uri="{FF2B5EF4-FFF2-40B4-BE49-F238E27FC236}">
                <a16:creationId xmlns:a16="http://schemas.microsoft.com/office/drawing/2014/main" id="{853060E8-B121-0B14-C085-3D514E4DD7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196" name="Espaço Reservado para Número de Slide 3">
            <a:extLst>
              <a:ext uri="{FF2B5EF4-FFF2-40B4-BE49-F238E27FC236}">
                <a16:creationId xmlns:a16="http://schemas.microsoft.com/office/drawing/2014/main" id="{98787195-5591-84AF-32EE-B97DCA384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6CC601-AE6B-4E95-8EC1-CDDA9B0FFFC2}" type="slidenum">
              <a:rPr lang="pt-BR" altLang="pt-BR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Imagem de Slide 1">
            <a:extLst>
              <a:ext uri="{FF2B5EF4-FFF2-40B4-BE49-F238E27FC236}">
                <a16:creationId xmlns:a16="http://schemas.microsoft.com/office/drawing/2014/main" id="{64C9F75B-E1E6-7BA0-3F0F-A696B9F206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Espaço Reservado para Anotações 2">
            <a:extLst>
              <a:ext uri="{FF2B5EF4-FFF2-40B4-BE49-F238E27FC236}">
                <a16:creationId xmlns:a16="http://schemas.microsoft.com/office/drawing/2014/main" id="{7EC5330E-291F-D093-D671-564B8CF1F8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0244" name="Espaço Reservado para Número de Slide 3">
            <a:extLst>
              <a:ext uri="{FF2B5EF4-FFF2-40B4-BE49-F238E27FC236}">
                <a16:creationId xmlns:a16="http://schemas.microsoft.com/office/drawing/2014/main" id="{65FB99F7-94D8-0BAD-94F9-E463BF6D2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8E8068-CDC7-40C0-89DE-312C67B80D24}" type="slidenum">
              <a:rPr lang="pt-BR" altLang="pt-BR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Imagem de Slide 1">
            <a:extLst>
              <a:ext uri="{FF2B5EF4-FFF2-40B4-BE49-F238E27FC236}">
                <a16:creationId xmlns:a16="http://schemas.microsoft.com/office/drawing/2014/main" id="{EF00079F-9F71-DBED-00AF-DCB4B90A6F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Espaço Reservado para Anotações 2">
            <a:extLst>
              <a:ext uri="{FF2B5EF4-FFF2-40B4-BE49-F238E27FC236}">
                <a16:creationId xmlns:a16="http://schemas.microsoft.com/office/drawing/2014/main" id="{B7051FD0-252D-0F68-BC9A-12F4222DF3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2292" name="Espaço Reservado para Número de Slide 3">
            <a:extLst>
              <a:ext uri="{FF2B5EF4-FFF2-40B4-BE49-F238E27FC236}">
                <a16:creationId xmlns:a16="http://schemas.microsoft.com/office/drawing/2014/main" id="{095C2630-0D9D-8FFF-0943-560F1D863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6463C9-902D-4A56-A3E6-38A110ACD8CF}" type="slidenum">
              <a:rPr lang="pt-BR" altLang="pt-BR"/>
              <a:pPr>
                <a:spcBef>
                  <a:spcPct val="0"/>
                </a:spcBef>
              </a:pPr>
              <a:t>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Imagem de Slide 1">
            <a:extLst>
              <a:ext uri="{FF2B5EF4-FFF2-40B4-BE49-F238E27FC236}">
                <a16:creationId xmlns:a16="http://schemas.microsoft.com/office/drawing/2014/main" id="{BBA3B233-EE43-5137-19C4-4B3C7F402D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Espaço Reservado para Anotações 2">
            <a:extLst>
              <a:ext uri="{FF2B5EF4-FFF2-40B4-BE49-F238E27FC236}">
                <a16:creationId xmlns:a16="http://schemas.microsoft.com/office/drawing/2014/main" id="{602A9475-8281-2FDF-13AA-8DA01DC35A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4340" name="Espaço Reservado para Número de Slide 3">
            <a:extLst>
              <a:ext uri="{FF2B5EF4-FFF2-40B4-BE49-F238E27FC236}">
                <a16:creationId xmlns:a16="http://schemas.microsoft.com/office/drawing/2014/main" id="{99246F85-9302-EDA9-E98E-547669F50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AC657A-676D-43D4-859C-16CB6F4668A0}" type="slidenum">
              <a:rPr lang="pt-BR" altLang="pt-BR"/>
              <a:pPr>
                <a:spcBef>
                  <a:spcPct val="0"/>
                </a:spcBef>
              </a:pPr>
              <a:t>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Imagem de Slide 1">
            <a:extLst>
              <a:ext uri="{FF2B5EF4-FFF2-40B4-BE49-F238E27FC236}">
                <a16:creationId xmlns:a16="http://schemas.microsoft.com/office/drawing/2014/main" id="{34D0208D-948B-8AA8-1EAD-88F2729273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Espaço Reservado para Anotações 2">
            <a:extLst>
              <a:ext uri="{FF2B5EF4-FFF2-40B4-BE49-F238E27FC236}">
                <a16:creationId xmlns:a16="http://schemas.microsoft.com/office/drawing/2014/main" id="{82B5971D-8938-A6F1-0936-6D0AB44FCA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6388" name="Espaço Reservado para Número de Slide 3">
            <a:extLst>
              <a:ext uri="{FF2B5EF4-FFF2-40B4-BE49-F238E27FC236}">
                <a16:creationId xmlns:a16="http://schemas.microsoft.com/office/drawing/2014/main" id="{40EEE4C7-3FFE-325C-D09E-EEE4B6CFE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42D333-6D8F-41F4-ADCB-4477C5EF7430}" type="slidenum">
              <a:rPr lang="pt-BR" altLang="pt-BR"/>
              <a:pPr>
                <a:spcBef>
                  <a:spcPct val="0"/>
                </a:spcBef>
              </a:pPr>
              <a:t>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Imagem de Slide 1">
            <a:extLst>
              <a:ext uri="{FF2B5EF4-FFF2-40B4-BE49-F238E27FC236}">
                <a16:creationId xmlns:a16="http://schemas.microsoft.com/office/drawing/2014/main" id="{A3FD8B1B-0BD5-175E-0EAD-6905674B88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Espaço Reservado para Anotações 2">
            <a:extLst>
              <a:ext uri="{FF2B5EF4-FFF2-40B4-BE49-F238E27FC236}">
                <a16:creationId xmlns:a16="http://schemas.microsoft.com/office/drawing/2014/main" id="{D69AD992-BE15-9B19-9D2D-392E573D4A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8436" name="Espaço Reservado para Número de Slide 3">
            <a:extLst>
              <a:ext uri="{FF2B5EF4-FFF2-40B4-BE49-F238E27FC236}">
                <a16:creationId xmlns:a16="http://schemas.microsoft.com/office/drawing/2014/main" id="{F7AE3FA5-D585-0765-0722-1A8D1103A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689410-4AFD-4A83-853B-E38D356AB913}" type="slidenum">
              <a:rPr lang="pt-BR" altLang="pt-BR"/>
              <a:pPr>
                <a:spcBef>
                  <a:spcPct val="0"/>
                </a:spcBef>
              </a:pPr>
              <a:t>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7BCFD9E5-5008-4510-5174-304B069548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4C4CC875-4CB8-BF38-703F-71DE5D40AD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0484" name="Espaço Reservado para Número de Slide 3">
            <a:extLst>
              <a:ext uri="{FF2B5EF4-FFF2-40B4-BE49-F238E27FC236}">
                <a16:creationId xmlns:a16="http://schemas.microsoft.com/office/drawing/2014/main" id="{CF06B1A9-6264-4817-F2FD-082F6C99F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A53FAC-46A1-44D2-820E-865FC35D3B9B}" type="slidenum">
              <a:rPr lang="pt-BR" altLang="pt-BR"/>
              <a:pPr>
                <a:spcBef>
                  <a:spcPct val="0"/>
                </a:spcBef>
              </a:pPr>
              <a:t>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>
            <a:extLst>
              <a:ext uri="{FF2B5EF4-FFF2-40B4-BE49-F238E27FC236}">
                <a16:creationId xmlns:a16="http://schemas.microsoft.com/office/drawing/2014/main" id="{B6F0BB42-238A-1AF6-0325-84A7E22324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>
            <a:extLst>
              <a:ext uri="{FF2B5EF4-FFF2-40B4-BE49-F238E27FC236}">
                <a16:creationId xmlns:a16="http://schemas.microsoft.com/office/drawing/2014/main" id="{9C2964F8-32D5-2AF0-D09D-6FC4B01B00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2532" name="Espaço Reservado para Número de Slide 3">
            <a:extLst>
              <a:ext uri="{FF2B5EF4-FFF2-40B4-BE49-F238E27FC236}">
                <a16:creationId xmlns:a16="http://schemas.microsoft.com/office/drawing/2014/main" id="{EAEF3287-A20A-8E38-D5D1-9F3757F45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8816FD-700C-4EED-BA8C-189965C54521}" type="slidenum">
              <a:rPr lang="pt-BR" altLang="pt-BR"/>
              <a:pPr>
                <a:spcBef>
                  <a:spcPct val="0"/>
                </a:spcBef>
              </a:pPr>
              <a:t>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Imagem de Slide 1">
            <a:extLst>
              <a:ext uri="{FF2B5EF4-FFF2-40B4-BE49-F238E27FC236}">
                <a16:creationId xmlns:a16="http://schemas.microsoft.com/office/drawing/2014/main" id="{17181FC5-AD9A-41F2-5312-0DA0662BC3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Espaço Reservado para Anotações 2">
            <a:extLst>
              <a:ext uri="{FF2B5EF4-FFF2-40B4-BE49-F238E27FC236}">
                <a16:creationId xmlns:a16="http://schemas.microsoft.com/office/drawing/2014/main" id="{36B2346B-D531-3BDD-C134-5053A4C500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4580" name="Espaço Reservado para Número de Slide 3">
            <a:extLst>
              <a:ext uri="{FF2B5EF4-FFF2-40B4-BE49-F238E27FC236}">
                <a16:creationId xmlns:a16="http://schemas.microsoft.com/office/drawing/2014/main" id="{F5BCED33-89F1-9D79-3343-D29023F8D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8540E7-7511-4D0C-90E0-47EF6F847E4D}" type="slidenum">
              <a:rPr lang="pt-BR" altLang="pt-B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pt-BR" altLang="pt-B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Imagem de Slide 1">
            <a:extLst>
              <a:ext uri="{FF2B5EF4-FFF2-40B4-BE49-F238E27FC236}">
                <a16:creationId xmlns:a16="http://schemas.microsoft.com/office/drawing/2014/main" id="{0C9D823C-D468-4173-B9F7-2E0FC0DBB7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Espaço Reservado para Anotações 2">
            <a:extLst>
              <a:ext uri="{FF2B5EF4-FFF2-40B4-BE49-F238E27FC236}">
                <a16:creationId xmlns:a16="http://schemas.microsoft.com/office/drawing/2014/main" id="{CD5F980B-663B-5FF6-5AE2-30151A2949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6628" name="Espaço Reservado para Número de Slide 3">
            <a:extLst>
              <a:ext uri="{FF2B5EF4-FFF2-40B4-BE49-F238E27FC236}">
                <a16:creationId xmlns:a16="http://schemas.microsoft.com/office/drawing/2014/main" id="{36C81BEA-F3E3-5604-4685-A523C40AF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B1FB44-9A00-4FFD-8B76-A5460DD724A1}" type="slidenum">
              <a:rPr lang="pt-BR" altLang="pt-BR"/>
              <a:pPr>
                <a:spcBef>
                  <a:spcPct val="0"/>
                </a:spcBef>
              </a:pPr>
              <a:t>10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Imagem de Slide 1">
            <a:extLst>
              <a:ext uri="{FF2B5EF4-FFF2-40B4-BE49-F238E27FC236}">
                <a16:creationId xmlns:a16="http://schemas.microsoft.com/office/drawing/2014/main" id="{AD58AE55-CB5E-DC19-4657-860610CCBC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Espaço Reservado para Anotações 2">
            <a:extLst>
              <a:ext uri="{FF2B5EF4-FFF2-40B4-BE49-F238E27FC236}">
                <a16:creationId xmlns:a16="http://schemas.microsoft.com/office/drawing/2014/main" id="{2AD1AB04-DA8A-E912-6D06-98FBC6983B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28676" name="Espaço Reservado para Número de Slide 3">
            <a:extLst>
              <a:ext uri="{FF2B5EF4-FFF2-40B4-BE49-F238E27FC236}">
                <a16:creationId xmlns:a16="http://schemas.microsoft.com/office/drawing/2014/main" id="{7B73C30B-A270-F163-7665-1D52B889D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73643C-280B-4A61-87BA-85A7A8729E08}" type="slidenum">
              <a:rPr lang="pt-BR" altLang="pt-BR"/>
              <a:pPr>
                <a:spcBef>
                  <a:spcPct val="0"/>
                </a:spcBef>
              </a:pPr>
              <a:t>11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>
            <a:extLst>
              <a:ext uri="{FF2B5EF4-FFF2-40B4-BE49-F238E27FC236}">
                <a16:creationId xmlns:a16="http://schemas.microsoft.com/office/drawing/2014/main" id="{6C4421FD-5734-09B4-E2DD-3488132446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ço Reservado para Anotações 2">
            <a:extLst>
              <a:ext uri="{FF2B5EF4-FFF2-40B4-BE49-F238E27FC236}">
                <a16:creationId xmlns:a16="http://schemas.microsoft.com/office/drawing/2014/main" id="{4D10A750-CD23-13C7-F989-225EA276B8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0724" name="Espaço Reservado para Número de Slide 3">
            <a:extLst>
              <a:ext uri="{FF2B5EF4-FFF2-40B4-BE49-F238E27FC236}">
                <a16:creationId xmlns:a16="http://schemas.microsoft.com/office/drawing/2014/main" id="{75E2D0DA-224F-218B-922A-A7618AD69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844AF7-8E9A-4897-AC85-5DC9E9904523}" type="slidenum">
              <a:rPr lang="pt-BR" altLang="pt-BR"/>
              <a:pPr>
                <a:spcBef>
                  <a:spcPct val="0"/>
                </a:spcBef>
              </a:pPr>
              <a:t>12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>
            <a:extLst>
              <a:ext uri="{FF2B5EF4-FFF2-40B4-BE49-F238E27FC236}">
                <a16:creationId xmlns:a16="http://schemas.microsoft.com/office/drawing/2014/main" id="{BAE66C96-70E7-262A-AA95-39AA25BFA6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ço Reservado para Anotações 2">
            <a:extLst>
              <a:ext uri="{FF2B5EF4-FFF2-40B4-BE49-F238E27FC236}">
                <a16:creationId xmlns:a16="http://schemas.microsoft.com/office/drawing/2014/main" id="{CB23168E-6EA2-9C01-C5F4-9D9FAA6BA5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2772" name="Espaço Reservado para Número de Slide 3">
            <a:extLst>
              <a:ext uri="{FF2B5EF4-FFF2-40B4-BE49-F238E27FC236}">
                <a16:creationId xmlns:a16="http://schemas.microsoft.com/office/drawing/2014/main" id="{2A28CD97-35CB-3F70-CF6B-3ECE58D9F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D15D9D-8BBA-4466-BE1D-FB9336D58D84}" type="slidenum">
              <a:rPr lang="pt-BR" altLang="pt-BR"/>
              <a:pPr>
                <a:spcBef>
                  <a:spcPct val="0"/>
                </a:spcBef>
              </a:pPr>
              <a:t>13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>
            <a:extLst>
              <a:ext uri="{FF2B5EF4-FFF2-40B4-BE49-F238E27FC236}">
                <a16:creationId xmlns:a16="http://schemas.microsoft.com/office/drawing/2014/main" id="{0E92CD8E-C11D-C366-1C6C-FA10CF4558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>
            <a:extLst>
              <a:ext uri="{FF2B5EF4-FFF2-40B4-BE49-F238E27FC236}">
                <a16:creationId xmlns:a16="http://schemas.microsoft.com/office/drawing/2014/main" id="{57457D1F-7EAC-8D00-13ED-2897518F09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4820" name="Espaço Reservado para Número de Slide 3">
            <a:extLst>
              <a:ext uri="{FF2B5EF4-FFF2-40B4-BE49-F238E27FC236}">
                <a16:creationId xmlns:a16="http://schemas.microsoft.com/office/drawing/2014/main" id="{C6E0818E-3228-1F42-E047-333D097DE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501AF1-7AD6-43ED-9534-C0E988726804}" type="slidenum">
              <a:rPr lang="pt-BR" altLang="pt-B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14</a:t>
            </a:fld>
            <a:endParaRPr lang="pt-BR" altLang="pt-B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>
            <a:extLst>
              <a:ext uri="{FF2B5EF4-FFF2-40B4-BE49-F238E27FC236}">
                <a16:creationId xmlns:a16="http://schemas.microsoft.com/office/drawing/2014/main" id="{3FBB5F34-1152-6E93-E423-BCB102DB6C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Espaço Reservado para Anotações 2">
            <a:extLst>
              <a:ext uri="{FF2B5EF4-FFF2-40B4-BE49-F238E27FC236}">
                <a16:creationId xmlns:a16="http://schemas.microsoft.com/office/drawing/2014/main" id="{18B58DD8-A7F3-B0E7-D6D1-82340E2D5A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6868" name="Espaço Reservado para Número de Slide 3">
            <a:extLst>
              <a:ext uri="{FF2B5EF4-FFF2-40B4-BE49-F238E27FC236}">
                <a16:creationId xmlns:a16="http://schemas.microsoft.com/office/drawing/2014/main" id="{5EF1BFCE-CAED-39DC-F247-F14B9867A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4FF0E3D-78E2-4DB5-BE81-3D6ADCE60044}" type="slidenum">
              <a:rPr lang="pt-BR" altLang="pt-BR"/>
              <a:pPr>
                <a:spcBef>
                  <a:spcPct val="0"/>
                </a:spcBef>
              </a:pPr>
              <a:t>15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>
            <a:extLst>
              <a:ext uri="{FF2B5EF4-FFF2-40B4-BE49-F238E27FC236}">
                <a16:creationId xmlns:a16="http://schemas.microsoft.com/office/drawing/2014/main" id="{A18D8BAA-1FA2-B913-A6C6-B5A57A5930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Espaço Reservado para Anotações 2">
            <a:extLst>
              <a:ext uri="{FF2B5EF4-FFF2-40B4-BE49-F238E27FC236}">
                <a16:creationId xmlns:a16="http://schemas.microsoft.com/office/drawing/2014/main" id="{A73EB13D-2C3D-7A04-F218-BF9AF101DD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8916" name="Espaço Reservado para Número de Slide 3">
            <a:extLst>
              <a:ext uri="{FF2B5EF4-FFF2-40B4-BE49-F238E27FC236}">
                <a16:creationId xmlns:a16="http://schemas.microsoft.com/office/drawing/2014/main" id="{BF063344-BC35-D170-0E28-394B0C202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BB47F4-2F61-416D-B665-52766CD3B98D}" type="slidenum">
              <a:rPr lang="pt-BR" altLang="pt-BR"/>
              <a:pPr>
                <a:spcBef>
                  <a:spcPct val="0"/>
                </a:spcBef>
              </a:pPr>
              <a:t>16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>
            <a:extLst>
              <a:ext uri="{FF2B5EF4-FFF2-40B4-BE49-F238E27FC236}">
                <a16:creationId xmlns:a16="http://schemas.microsoft.com/office/drawing/2014/main" id="{95FFAC4A-E163-510C-22FA-7806871856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Espaço Reservado para Anotações 2">
            <a:extLst>
              <a:ext uri="{FF2B5EF4-FFF2-40B4-BE49-F238E27FC236}">
                <a16:creationId xmlns:a16="http://schemas.microsoft.com/office/drawing/2014/main" id="{9292BCAD-DDC4-C599-9EC6-A6A6E88D19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0964" name="Espaço Reservado para Número de Slide 3">
            <a:extLst>
              <a:ext uri="{FF2B5EF4-FFF2-40B4-BE49-F238E27FC236}">
                <a16:creationId xmlns:a16="http://schemas.microsoft.com/office/drawing/2014/main" id="{C4AA986C-EFB8-E892-73B3-215ADB98C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DE9E4D-AF27-4CE1-AB01-0A00D0C21A35}" type="slidenum">
              <a:rPr lang="pt-BR" altLang="pt-BR"/>
              <a:pPr>
                <a:spcBef>
                  <a:spcPct val="0"/>
                </a:spcBef>
              </a:pPr>
              <a:t>17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>
            <a:extLst>
              <a:ext uri="{FF2B5EF4-FFF2-40B4-BE49-F238E27FC236}">
                <a16:creationId xmlns:a16="http://schemas.microsoft.com/office/drawing/2014/main" id="{2625E343-3DC0-1B24-819F-896A2A46BF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Espaço Reservado para Anotações 2">
            <a:extLst>
              <a:ext uri="{FF2B5EF4-FFF2-40B4-BE49-F238E27FC236}">
                <a16:creationId xmlns:a16="http://schemas.microsoft.com/office/drawing/2014/main" id="{91A53379-D143-EBF6-8F37-6037BEC149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id="{399743DB-8BDF-CE8A-8B6B-11D9567D3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B6857D-EF26-458C-BFAD-CCB61FE8F828}" type="slidenum">
              <a:rPr lang="pt-BR" altLang="pt-BR"/>
              <a:pPr>
                <a:spcBef>
                  <a:spcPct val="0"/>
                </a:spcBef>
              </a:pPr>
              <a:t>18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83D20932-438D-7E0F-3B57-4B6EE1536E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CBF47BF2-0489-BCAB-86FC-8E3D36132C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5060" name="Espaço Reservado para Número de Slide 3">
            <a:extLst>
              <a:ext uri="{FF2B5EF4-FFF2-40B4-BE49-F238E27FC236}">
                <a16:creationId xmlns:a16="http://schemas.microsoft.com/office/drawing/2014/main" id="{09574F47-DDA7-8BB9-0CAE-ED81C63E5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6AABA4-0307-461A-8CF3-DCB6B2C696CE}" type="slidenum">
              <a:rPr lang="pt-BR" altLang="pt-BR"/>
              <a:pPr>
                <a:spcBef>
                  <a:spcPct val="0"/>
                </a:spcBef>
              </a:pPr>
              <a:t>19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>
            <a:extLst>
              <a:ext uri="{FF2B5EF4-FFF2-40B4-BE49-F238E27FC236}">
                <a16:creationId xmlns:a16="http://schemas.microsoft.com/office/drawing/2014/main" id="{F0A0AEB7-1D83-BFFC-2E89-EA770D44BE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Espaço Reservado para Anotações 2">
            <a:extLst>
              <a:ext uri="{FF2B5EF4-FFF2-40B4-BE49-F238E27FC236}">
                <a16:creationId xmlns:a16="http://schemas.microsoft.com/office/drawing/2014/main" id="{9A864DF5-C30F-B720-FEAC-B1E271940B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7108" name="Espaço Reservado para Número de Slide 3">
            <a:extLst>
              <a:ext uri="{FF2B5EF4-FFF2-40B4-BE49-F238E27FC236}">
                <a16:creationId xmlns:a16="http://schemas.microsoft.com/office/drawing/2014/main" id="{38942684-DE58-233D-5F73-F232F89C2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74D96B-8A78-435C-9857-C2C3EB074026}" type="slidenum">
              <a:rPr lang="pt-BR" altLang="pt-BR"/>
              <a:pPr>
                <a:spcBef>
                  <a:spcPct val="0"/>
                </a:spcBef>
              </a:pPr>
              <a:t>20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>
            <a:extLst>
              <a:ext uri="{FF2B5EF4-FFF2-40B4-BE49-F238E27FC236}">
                <a16:creationId xmlns:a16="http://schemas.microsoft.com/office/drawing/2014/main" id="{33611089-B655-FD66-85A1-DCB2636DE3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Espaço Reservado para Anotações 2">
            <a:extLst>
              <a:ext uri="{FF2B5EF4-FFF2-40B4-BE49-F238E27FC236}">
                <a16:creationId xmlns:a16="http://schemas.microsoft.com/office/drawing/2014/main" id="{EE778779-A8CF-90BD-80B1-B377973A38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9156" name="Espaço Reservado para Número de Slide 3">
            <a:extLst>
              <a:ext uri="{FF2B5EF4-FFF2-40B4-BE49-F238E27FC236}">
                <a16:creationId xmlns:a16="http://schemas.microsoft.com/office/drawing/2014/main" id="{FAA4B0B9-5AC4-3754-475E-F27387475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ED47EB-3395-4CB5-AF79-25052E76FBDA}" type="slidenum">
              <a:rPr lang="pt-BR" altLang="pt-BR"/>
              <a:pPr>
                <a:spcBef>
                  <a:spcPct val="0"/>
                </a:spcBef>
              </a:pPr>
              <a:t>21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>
            <a:extLst>
              <a:ext uri="{FF2B5EF4-FFF2-40B4-BE49-F238E27FC236}">
                <a16:creationId xmlns:a16="http://schemas.microsoft.com/office/drawing/2014/main" id="{ABB6B6D2-577D-306E-3F07-FE328962BC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Espaço Reservado para Anotações 2">
            <a:extLst>
              <a:ext uri="{FF2B5EF4-FFF2-40B4-BE49-F238E27FC236}">
                <a16:creationId xmlns:a16="http://schemas.microsoft.com/office/drawing/2014/main" id="{4BB0CAE7-A68B-7CA4-DC46-34EB1F6FEF8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1204" name="Espaço Reservado para Número de Slide 3">
            <a:extLst>
              <a:ext uri="{FF2B5EF4-FFF2-40B4-BE49-F238E27FC236}">
                <a16:creationId xmlns:a16="http://schemas.microsoft.com/office/drawing/2014/main" id="{5E0DBEA7-9656-BE33-771C-E2093B313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441076-E49E-45CD-A11A-2AC9FBEC82A5}" type="slidenum">
              <a:rPr lang="pt-BR" altLang="pt-BR"/>
              <a:pPr>
                <a:spcBef>
                  <a:spcPct val="0"/>
                </a:spcBef>
              </a:pPr>
              <a:t>22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>
            <a:extLst>
              <a:ext uri="{FF2B5EF4-FFF2-40B4-BE49-F238E27FC236}">
                <a16:creationId xmlns:a16="http://schemas.microsoft.com/office/drawing/2014/main" id="{F58F0733-67F8-E2DE-C5E4-14C0C0B4E2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Espaço Reservado para Anotações 2">
            <a:extLst>
              <a:ext uri="{FF2B5EF4-FFF2-40B4-BE49-F238E27FC236}">
                <a16:creationId xmlns:a16="http://schemas.microsoft.com/office/drawing/2014/main" id="{6782A85B-D44D-BA7F-552D-51E5ED1352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3252" name="Espaço Reservado para Número de Slide 3">
            <a:extLst>
              <a:ext uri="{FF2B5EF4-FFF2-40B4-BE49-F238E27FC236}">
                <a16:creationId xmlns:a16="http://schemas.microsoft.com/office/drawing/2014/main" id="{D3B7EEE8-DB18-6679-0CBB-38136D35C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329633-A6D9-48C6-94C5-FDF6DEA45D2B}" type="slidenum">
              <a:rPr lang="pt-BR" altLang="pt-BR"/>
              <a:pPr>
                <a:spcBef>
                  <a:spcPct val="0"/>
                </a:spcBef>
              </a:pPr>
              <a:t>23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>
            <a:extLst>
              <a:ext uri="{FF2B5EF4-FFF2-40B4-BE49-F238E27FC236}">
                <a16:creationId xmlns:a16="http://schemas.microsoft.com/office/drawing/2014/main" id="{A15AD4E8-EFA1-8F59-B484-56EBE76D0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Espaço Reservado para Anotações 2">
            <a:extLst>
              <a:ext uri="{FF2B5EF4-FFF2-40B4-BE49-F238E27FC236}">
                <a16:creationId xmlns:a16="http://schemas.microsoft.com/office/drawing/2014/main" id="{C17B1938-C6CA-A968-8519-EC272290C3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5300" name="Espaço Reservado para Número de Slide 3">
            <a:extLst>
              <a:ext uri="{FF2B5EF4-FFF2-40B4-BE49-F238E27FC236}">
                <a16:creationId xmlns:a16="http://schemas.microsoft.com/office/drawing/2014/main" id="{2D9FD22C-663F-C236-83F9-2BCD9CC71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D9D27B-5E26-4F03-8398-3176B26D3F6F}" type="slidenum">
              <a:rPr lang="pt-BR" altLang="pt-BR"/>
              <a:pPr>
                <a:spcBef>
                  <a:spcPct val="0"/>
                </a:spcBef>
              </a:pPr>
              <a:t>24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>
            <a:extLst>
              <a:ext uri="{FF2B5EF4-FFF2-40B4-BE49-F238E27FC236}">
                <a16:creationId xmlns:a16="http://schemas.microsoft.com/office/drawing/2014/main" id="{6B4E84FB-F263-F13C-7F16-C7D8BE5ED7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Espaço Reservado para Anotações 2">
            <a:extLst>
              <a:ext uri="{FF2B5EF4-FFF2-40B4-BE49-F238E27FC236}">
                <a16:creationId xmlns:a16="http://schemas.microsoft.com/office/drawing/2014/main" id="{8BCF6698-B242-C26B-E85A-B34EC87856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7348" name="Espaço Reservado para Número de Slide 3">
            <a:extLst>
              <a:ext uri="{FF2B5EF4-FFF2-40B4-BE49-F238E27FC236}">
                <a16:creationId xmlns:a16="http://schemas.microsoft.com/office/drawing/2014/main" id="{493AB363-26A2-A486-20FC-EB825E0B4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592AB8-A0D8-4169-8B16-ACF7B818DAF1}" type="slidenum">
              <a:rPr lang="pt-BR" altLang="pt-BR"/>
              <a:pPr>
                <a:spcBef>
                  <a:spcPct val="0"/>
                </a:spcBef>
              </a:pPr>
              <a:t>25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>
            <a:extLst>
              <a:ext uri="{FF2B5EF4-FFF2-40B4-BE49-F238E27FC236}">
                <a16:creationId xmlns:a16="http://schemas.microsoft.com/office/drawing/2014/main" id="{B8E012D9-65FE-A8C2-B839-BB0F1AF47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Espaço Reservado para Anotações 2">
            <a:extLst>
              <a:ext uri="{FF2B5EF4-FFF2-40B4-BE49-F238E27FC236}">
                <a16:creationId xmlns:a16="http://schemas.microsoft.com/office/drawing/2014/main" id="{075C2E4F-F2B7-A39A-7865-5CD8745758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59396" name="Espaço Reservado para Número de Slide 3">
            <a:extLst>
              <a:ext uri="{FF2B5EF4-FFF2-40B4-BE49-F238E27FC236}">
                <a16:creationId xmlns:a16="http://schemas.microsoft.com/office/drawing/2014/main" id="{028A4D21-089F-F13F-2215-CFE80718D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F36EAF6-E862-4785-9A95-48973D14C2AC}" type="slidenum">
              <a:rPr lang="pt-BR" altLang="pt-BR"/>
              <a:pPr>
                <a:spcBef>
                  <a:spcPct val="0"/>
                </a:spcBef>
              </a:pPr>
              <a:t>26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id="{E2CDEE19-C7F5-0890-530C-4695A6C122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id="{8FCFD12A-4CCA-D753-7953-2E5416C9EF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1444" name="Espaço Reservado para Número de Slide 3">
            <a:extLst>
              <a:ext uri="{FF2B5EF4-FFF2-40B4-BE49-F238E27FC236}">
                <a16:creationId xmlns:a16="http://schemas.microsoft.com/office/drawing/2014/main" id="{E25DC921-E3B9-F0C0-FF8B-5C3815908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B62E5C-F1BB-45BF-8F5B-2A5462351AE5}" type="slidenum">
              <a:rPr lang="pt-BR" altLang="pt-BR"/>
              <a:pPr>
                <a:spcBef>
                  <a:spcPct val="0"/>
                </a:spcBef>
              </a:pPr>
              <a:t>27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>
            <a:extLst>
              <a:ext uri="{FF2B5EF4-FFF2-40B4-BE49-F238E27FC236}">
                <a16:creationId xmlns:a16="http://schemas.microsoft.com/office/drawing/2014/main" id="{5DFDD149-0918-F662-FD08-EFEA8AF3D8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Espaço Reservado para Anotações 2">
            <a:extLst>
              <a:ext uri="{FF2B5EF4-FFF2-40B4-BE49-F238E27FC236}">
                <a16:creationId xmlns:a16="http://schemas.microsoft.com/office/drawing/2014/main" id="{B02380B9-2C1B-9DD9-D41E-3FB3060F07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3492" name="Espaço Reservado para Número de Slide 3">
            <a:extLst>
              <a:ext uri="{FF2B5EF4-FFF2-40B4-BE49-F238E27FC236}">
                <a16:creationId xmlns:a16="http://schemas.microsoft.com/office/drawing/2014/main" id="{793E54D4-C703-17E7-973E-85521D4D7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A103C0-4548-436B-B666-BD70FEF0A80B}" type="slidenum">
              <a:rPr lang="pt-BR" altLang="pt-BR"/>
              <a:pPr>
                <a:spcBef>
                  <a:spcPct val="0"/>
                </a:spcBef>
              </a:pPr>
              <a:t>28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>
            <a:extLst>
              <a:ext uri="{FF2B5EF4-FFF2-40B4-BE49-F238E27FC236}">
                <a16:creationId xmlns:a16="http://schemas.microsoft.com/office/drawing/2014/main" id="{93BFC1A3-A716-06C8-0EC7-9E4FE2E0F4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Espaço Reservado para Anotações 2">
            <a:extLst>
              <a:ext uri="{FF2B5EF4-FFF2-40B4-BE49-F238E27FC236}">
                <a16:creationId xmlns:a16="http://schemas.microsoft.com/office/drawing/2014/main" id="{37504EE7-CD65-E046-D6EF-CB8A79DC15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5540" name="Espaço Reservado para Número de Slide 3">
            <a:extLst>
              <a:ext uri="{FF2B5EF4-FFF2-40B4-BE49-F238E27FC236}">
                <a16:creationId xmlns:a16="http://schemas.microsoft.com/office/drawing/2014/main" id="{E077848B-9E84-B171-7676-180D617AF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F22A02-90AA-4884-8DF9-B8BFBBE008F1}" type="slidenum">
              <a:rPr lang="pt-BR" altLang="pt-BR"/>
              <a:pPr>
                <a:spcBef>
                  <a:spcPct val="0"/>
                </a:spcBef>
              </a:pPr>
              <a:t>29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>
            <a:extLst>
              <a:ext uri="{FF2B5EF4-FFF2-40B4-BE49-F238E27FC236}">
                <a16:creationId xmlns:a16="http://schemas.microsoft.com/office/drawing/2014/main" id="{FDD4C242-6EF3-652F-9CDA-E5F7A958E9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Espaço Reservado para Anotações 2">
            <a:extLst>
              <a:ext uri="{FF2B5EF4-FFF2-40B4-BE49-F238E27FC236}">
                <a16:creationId xmlns:a16="http://schemas.microsoft.com/office/drawing/2014/main" id="{7CB19DF3-7042-597F-D8DE-601F66C2AD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7588" name="Espaço Reservado para Número de Slide 3">
            <a:extLst>
              <a:ext uri="{FF2B5EF4-FFF2-40B4-BE49-F238E27FC236}">
                <a16:creationId xmlns:a16="http://schemas.microsoft.com/office/drawing/2014/main" id="{EECD7242-4A10-6D6A-9763-BE9DAC3B5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66C52E-4EA4-405E-9D16-1F8748195CC7}" type="slidenum">
              <a:rPr lang="pt-BR" altLang="pt-BR"/>
              <a:pPr>
                <a:spcBef>
                  <a:spcPct val="0"/>
                </a:spcBef>
              </a:pPr>
              <a:t>30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>
            <a:extLst>
              <a:ext uri="{FF2B5EF4-FFF2-40B4-BE49-F238E27FC236}">
                <a16:creationId xmlns:a16="http://schemas.microsoft.com/office/drawing/2014/main" id="{E7E8191F-2754-FFDB-A259-E6B62C2861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Espaço Reservado para Anotações 2">
            <a:extLst>
              <a:ext uri="{FF2B5EF4-FFF2-40B4-BE49-F238E27FC236}">
                <a16:creationId xmlns:a16="http://schemas.microsoft.com/office/drawing/2014/main" id="{4DCD1B0E-23B1-C571-8F68-13772F4CDB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9636" name="Espaço Reservado para Número de Slide 3">
            <a:extLst>
              <a:ext uri="{FF2B5EF4-FFF2-40B4-BE49-F238E27FC236}">
                <a16:creationId xmlns:a16="http://schemas.microsoft.com/office/drawing/2014/main" id="{7E332927-F419-8C26-528B-664AD47ED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85C371-DD60-4997-BFA5-98D44D23471F}" type="slidenum">
              <a:rPr lang="pt-BR" altLang="pt-BR"/>
              <a:pPr>
                <a:spcBef>
                  <a:spcPct val="0"/>
                </a:spcBef>
              </a:pPr>
              <a:t>31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Imagem de Slide 1">
            <a:extLst>
              <a:ext uri="{FF2B5EF4-FFF2-40B4-BE49-F238E27FC236}">
                <a16:creationId xmlns:a16="http://schemas.microsoft.com/office/drawing/2014/main" id="{3D88A1DC-0DA6-C7BB-972F-B85C0D6CD3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Espaço Reservado para Anotações 2">
            <a:extLst>
              <a:ext uri="{FF2B5EF4-FFF2-40B4-BE49-F238E27FC236}">
                <a16:creationId xmlns:a16="http://schemas.microsoft.com/office/drawing/2014/main" id="{25C3AC28-0B3E-E087-833C-BDA96307E9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1684" name="Espaço Reservado para Número de Slide 3">
            <a:extLst>
              <a:ext uri="{FF2B5EF4-FFF2-40B4-BE49-F238E27FC236}">
                <a16:creationId xmlns:a16="http://schemas.microsoft.com/office/drawing/2014/main" id="{2C38B6F3-D92C-0440-7CDB-19E7AA39C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F0EC69-9206-4148-B426-FAF40C8DCDDA}" type="slidenum">
              <a:rPr lang="pt-BR" altLang="pt-BR"/>
              <a:pPr>
                <a:spcBef>
                  <a:spcPct val="0"/>
                </a:spcBef>
              </a:pPr>
              <a:t>32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473309AF-793C-301C-00A6-6489AB026D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870421FC-C8FB-CE2B-BD2C-2B136C9C61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D2ABE911-6586-89A9-9BCA-0FFD9B0CD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6F070A-48B2-46BB-A465-D93E272DE9B9}" type="slidenum">
              <a:rPr lang="pt-BR" altLang="pt-BR"/>
              <a:pPr>
                <a:spcBef>
                  <a:spcPct val="0"/>
                </a:spcBef>
              </a:pPr>
              <a:t>33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Imagem de Slide 1">
            <a:extLst>
              <a:ext uri="{FF2B5EF4-FFF2-40B4-BE49-F238E27FC236}">
                <a16:creationId xmlns:a16="http://schemas.microsoft.com/office/drawing/2014/main" id="{81989BDC-C90E-B84C-4BDA-9D713AB6B0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Espaço Reservado para Anotações 2">
            <a:extLst>
              <a:ext uri="{FF2B5EF4-FFF2-40B4-BE49-F238E27FC236}">
                <a16:creationId xmlns:a16="http://schemas.microsoft.com/office/drawing/2014/main" id="{002E83FE-8D50-11F5-F5C8-CB409A0167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5780" name="Espaço Reservado para Número de Slide 3">
            <a:extLst>
              <a:ext uri="{FF2B5EF4-FFF2-40B4-BE49-F238E27FC236}">
                <a16:creationId xmlns:a16="http://schemas.microsoft.com/office/drawing/2014/main" id="{7CA1F439-7AA9-37CB-F57F-937A71B81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E9465E-7E6A-4F42-993E-327A82CCBE39}" type="slidenum">
              <a:rPr lang="pt-BR" altLang="pt-BR"/>
              <a:pPr>
                <a:spcBef>
                  <a:spcPct val="0"/>
                </a:spcBef>
              </a:pPr>
              <a:t>34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>
            <a:extLst>
              <a:ext uri="{FF2B5EF4-FFF2-40B4-BE49-F238E27FC236}">
                <a16:creationId xmlns:a16="http://schemas.microsoft.com/office/drawing/2014/main" id="{224B4660-0C29-4D14-5366-09A891C2BD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Espaço Reservado para Anotações 2">
            <a:extLst>
              <a:ext uri="{FF2B5EF4-FFF2-40B4-BE49-F238E27FC236}">
                <a16:creationId xmlns:a16="http://schemas.microsoft.com/office/drawing/2014/main" id="{E2BCB584-EC5D-66E4-336D-F93C7B6D38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7828" name="Espaço Reservado para Número de Slide 3">
            <a:extLst>
              <a:ext uri="{FF2B5EF4-FFF2-40B4-BE49-F238E27FC236}">
                <a16:creationId xmlns:a16="http://schemas.microsoft.com/office/drawing/2014/main" id="{1F962FB0-9B78-69F4-D6CA-21EDA2CD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4F2AA2-6304-43F1-AA20-09A1352E64E4}" type="slidenum">
              <a:rPr lang="pt-BR" altLang="pt-BR"/>
              <a:pPr>
                <a:spcBef>
                  <a:spcPct val="0"/>
                </a:spcBef>
              </a:pPr>
              <a:t>35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ço Reservado para Imagem de Slide 1">
            <a:extLst>
              <a:ext uri="{FF2B5EF4-FFF2-40B4-BE49-F238E27FC236}">
                <a16:creationId xmlns:a16="http://schemas.microsoft.com/office/drawing/2014/main" id="{25BF0721-2458-5336-29B3-D834FACF78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Espaço Reservado para Anotações 2">
            <a:extLst>
              <a:ext uri="{FF2B5EF4-FFF2-40B4-BE49-F238E27FC236}">
                <a16:creationId xmlns:a16="http://schemas.microsoft.com/office/drawing/2014/main" id="{60F284AA-649D-1CC9-DA68-0FCB246EF7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79876" name="Espaço Reservado para Número de Slide 3">
            <a:extLst>
              <a:ext uri="{FF2B5EF4-FFF2-40B4-BE49-F238E27FC236}">
                <a16:creationId xmlns:a16="http://schemas.microsoft.com/office/drawing/2014/main" id="{5FE499D3-8EE1-9BC4-F528-829B4D9FD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1C12F4-0D88-4216-964C-AA4A5AE99E64}" type="slidenum">
              <a:rPr lang="pt-BR" altLang="pt-BR"/>
              <a:pPr>
                <a:spcBef>
                  <a:spcPct val="0"/>
                </a:spcBef>
              </a:pPr>
              <a:t>36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ço Reservado para Imagem de Slide 1">
            <a:extLst>
              <a:ext uri="{FF2B5EF4-FFF2-40B4-BE49-F238E27FC236}">
                <a16:creationId xmlns:a16="http://schemas.microsoft.com/office/drawing/2014/main" id="{2183C74C-D75F-7D65-2D44-CB340E964C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Espaço Reservado para Anotações 2">
            <a:extLst>
              <a:ext uri="{FF2B5EF4-FFF2-40B4-BE49-F238E27FC236}">
                <a16:creationId xmlns:a16="http://schemas.microsoft.com/office/drawing/2014/main" id="{8D07F538-FC95-D2D1-FEAC-16D8D11299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1924" name="Espaço Reservado para Número de Slide 3">
            <a:extLst>
              <a:ext uri="{FF2B5EF4-FFF2-40B4-BE49-F238E27FC236}">
                <a16:creationId xmlns:a16="http://schemas.microsoft.com/office/drawing/2014/main" id="{9162369E-4143-2A72-60CF-87FE066AD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5908CC-3D88-4470-B9B8-0002CA6F85FA}" type="slidenum">
              <a:rPr lang="pt-BR" altLang="pt-BR"/>
              <a:pPr>
                <a:spcBef>
                  <a:spcPct val="0"/>
                </a:spcBef>
              </a:pPr>
              <a:t>37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ço Reservado para Imagem de Slide 1">
            <a:extLst>
              <a:ext uri="{FF2B5EF4-FFF2-40B4-BE49-F238E27FC236}">
                <a16:creationId xmlns:a16="http://schemas.microsoft.com/office/drawing/2014/main" id="{8108EC35-7B14-B101-218D-C22EDA73EF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Espaço Reservado para Anotações 2">
            <a:extLst>
              <a:ext uri="{FF2B5EF4-FFF2-40B4-BE49-F238E27FC236}">
                <a16:creationId xmlns:a16="http://schemas.microsoft.com/office/drawing/2014/main" id="{3872012D-489E-0C2A-5AAD-07729C5ECC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3972" name="Espaço Reservado para Número de Slide 3">
            <a:extLst>
              <a:ext uri="{FF2B5EF4-FFF2-40B4-BE49-F238E27FC236}">
                <a16:creationId xmlns:a16="http://schemas.microsoft.com/office/drawing/2014/main" id="{6A7E23FA-DCF1-7B80-AA72-B3ED29FFD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09A5CD-0108-4642-8E90-CB7DC4B30D00}" type="slidenum">
              <a:rPr lang="pt-BR" altLang="pt-BR"/>
              <a:pPr>
                <a:spcBef>
                  <a:spcPct val="0"/>
                </a:spcBef>
              </a:pPr>
              <a:t>38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ço Reservado para Imagem de Slide 1">
            <a:extLst>
              <a:ext uri="{FF2B5EF4-FFF2-40B4-BE49-F238E27FC236}">
                <a16:creationId xmlns:a16="http://schemas.microsoft.com/office/drawing/2014/main" id="{665B7899-A93F-1B45-4940-3311F4739D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Espaço Reservado para Anotações 2">
            <a:extLst>
              <a:ext uri="{FF2B5EF4-FFF2-40B4-BE49-F238E27FC236}">
                <a16:creationId xmlns:a16="http://schemas.microsoft.com/office/drawing/2014/main" id="{1FA93023-C20C-91DF-DE54-E6A043FCC4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6020" name="Espaço Reservado para Número de Slide 3">
            <a:extLst>
              <a:ext uri="{FF2B5EF4-FFF2-40B4-BE49-F238E27FC236}">
                <a16:creationId xmlns:a16="http://schemas.microsoft.com/office/drawing/2014/main" id="{39224A2C-1F15-0C63-E272-9C9F3D7C3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E74590-2518-4673-8413-7383B8BBE495}" type="slidenum">
              <a:rPr lang="pt-BR" altLang="pt-BR"/>
              <a:pPr>
                <a:spcBef>
                  <a:spcPct val="0"/>
                </a:spcBef>
              </a:pPr>
              <a:t>39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ço Reservado para Imagem de Slide 1">
            <a:extLst>
              <a:ext uri="{FF2B5EF4-FFF2-40B4-BE49-F238E27FC236}">
                <a16:creationId xmlns:a16="http://schemas.microsoft.com/office/drawing/2014/main" id="{CB8753CB-A8B3-CE03-020E-31D57B2BE5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Espaço Reservado para Anotações 2">
            <a:extLst>
              <a:ext uri="{FF2B5EF4-FFF2-40B4-BE49-F238E27FC236}">
                <a16:creationId xmlns:a16="http://schemas.microsoft.com/office/drawing/2014/main" id="{2D8F36DE-D656-F1BC-F050-22819384CC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8068" name="Espaço Reservado para Número de Slide 3">
            <a:extLst>
              <a:ext uri="{FF2B5EF4-FFF2-40B4-BE49-F238E27FC236}">
                <a16:creationId xmlns:a16="http://schemas.microsoft.com/office/drawing/2014/main" id="{23C2E598-55E6-F4A5-77AF-2F935876F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554C9C-593F-4898-A9DA-E2FCDDB90F54}" type="slidenum">
              <a:rPr lang="pt-BR" altLang="pt-BR"/>
              <a:pPr>
                <a:spcBef>
                  <a:spcPct val="0"/>
                </a:spcBef>
              </a:pPr>
              <a:t>40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ço Reservado para Imagem de Slide 1">
            <a:extLst>
              <a:ext uri="{FF2B5EF4-FFF2-40B4-BE49-F238E27FC236}">
                <a16:creationId xmlns:a16="http://schemas.microsoft.com/office/drawing/2014/main" id="{1F3BDEA3-D82C-A7B0-1E3F-DD024FDAF0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Espaço Reservado para Anotações 2">
            <a:extLst>
              <a:ext uri="{FF2B5EF4-FFF2-40B4-BE49-F238E27FC236}">
                <a16:creationId xmlns:a16="http://schemas.microsoft.com/office/drawing/2014/main" id="{1689877B-4DBE-A5C5-D154-182818B6EF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90116" name="Espaço Reservado para Número de Slide 3">
            <a:extLst>
              <a:ext uri="{FF2B5EF4-FFF2-40B4-BE49-F238E27FC236}">
                <a16:creationId xmlns:a16="http://schemas.microsoft.com/office/drawing/2014/main" id="{0E9F9ABD-71F2-7477-4C4F-FA69D01CB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44B8D80-B843-4F1B-B53E-7D10A736EC9B}" type="slidenum">
              <a:rPr lang="pt-BR" altLang="pt-BR"/>
              <a:pPr>
                <a:spcBef>
                  <a:spcPct val="0"/>
                </a:spcBef>
              </a:pPr>
              <a:t>41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ço Reservado para Imagem de Slide 1">
            <a:extLst>
              <a:ext uri="{FF2B5EF4-FFF2-40B4-BE49-F238E27FC236}">
                <a16:creationId xmlns:a16="http://schemas.microsoft.com/office/drawing/2014/main" id="{DEFDADAF-8626-2011-AA25-4275B94650C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Espaço Reservado para Anotações 2">
            <a:extLst>
              <a:ext uri="{FF2B5EF4-FFF2-40B4-BE49-F238E27FC236}">
                <a16:creationId xmlns:a16="http://schemas.microsoft.com/office/drawing/2014/main" id="{4F44831D-185A-0E81-D0BE-3FBEF190BC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92164" name="Espaço Reservado para Número de Slide 3">
            <a:extLst>
              <a:ext uri="{FF2B5EF4-FFF2-40B4-BE49-F238E27FC236}">
                <a16:creationId xmlns:a16="http://schemas.microsoft.com/office/drawing/2014/main" id="{E78E418F-EC9B-526F-644D-407DDC490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817CEC-494E-4528-AEC3-99C4385A8FC5}" type="slidenum">
              <a:rPr lang="pt-BR" altLang="pt-BR"/>
              <a:pPr>
                <a:spcBef>
                  <a:spcPct val="0"/>
                </a:spcBef>
              </a:pPr>
              <a:t>42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ço Reservado para Imagem de Slide 1">
            <a:extLst>
              <a:ext uri="{FF2B5EF4-FFF2-40B4-BE49-F238E27FC236}">
                <a16:creationId xmlns:a16="http://schemas.microsoft.com/office/drawing/2014/main" id="{D9B8CA17-8AD8-23FF-54C1-84B5D7928E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Espaço Reservado para Anotações 2">
            <a:extLst>
              <a:ext uri="{FF2B5EF4-FFF2-40B4-BE49-F238E27FC236}">
                <a16:creationId xmlns:a16="http://schemas.microsoft.com/office/drawing/2014/main" id="{4EF8F1E5-745E-E7F3-1A37-5A804DB630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94212" name="Espaço Reservado para Número de Slide 3">
            <a:extLst>
              <a:ext uri="{FF2B5EF4-FFF2-40B4-BE49-F238E27FC236}">
                <a16:creationId xmlns:a16="http://schemas.microsoft.com/office/drawing/2014/main" id="{98649B8D-41AB-D70D-93CD-B852D199B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7C7A02B-7DB0-4DAF-8ACA-CB3C9F0A153E}" type="slidenum">
              <a:rPr lang="pt-BR" altLang="pt-B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43</a:t>
            </a:fld>
            <a:endParaRPr lang="pt-BR" altLang="pt-B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ço Reservado para Imagem de Slide 1">
            <a:extLst>
              <a:ext uri="{FF2B5EF4-FFF2-40B4-BE49-F238E27FC236}">
                <a16:creationId xmlns:a16="http://schemas.microsoft.com/office/drawing/2014/main" id="{C556D75E-78FF-7F81-89D5-2AA084E2E8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Espaço Reservado para Anotações 2">
            <a:extLst>
              <a:ext uri="{FF2B5EF4-FFF2-40B4-BE49-F238E27FC236}">
                <a16:creationId xmlns:a16="http://schemas.microsoft.com/office/drawing/2014/main" id="{B14A87C7-F953-447F-5C45-F8775214A8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96260" name="Espaço Reservado para Número de Slide 3">
            <a:extLst>
              <a:ext uri="{FF2B5EF4-FFF2-40B4-BE49-F238E27FC236}">
                <a16:creationId xmlns:a16="http://schemas.microsoft.com/office/drawing/2014/main" id="{D15F538C-F44D-C98F-FAB4-35D4EE805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EBFEDDF-7919-4797-87E9-A421C01F2FD0}" type="slidenum">
              <a:rPr lang="pt-BR" altLang="pt-B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44</a:t>
            </a:fld>
            <a:endParaRPr lang="pt-BR" altLang="pt-B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ço Reservado para Imagem de Slide 1">
            <a:extLst>
              <a:ext uri="{FF2B5EF4-FFF2-40B4-BE49-F238E27FC236}">
                <a16:creationId xmlns:a16="http://schemas.microsoft.com/office/drawing/2014/main" id="{5E411B55-07C3-6B69-B7A9-58E77157DA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Espaço Reservado para Anotações 2">
            <a:extLst>
              <a:ext uri="{FF2B5EF4-FFF2-40B4-BE49-F238E27FC236}">
                <a16:creationId xmlns:a16="http://schemas.microsoft.com/office/drawing/2014/main" id="{8138CCBF-7400-7BBA-13DF-E59CF32CE4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98308" name="Espaço Reservado para Número de Slide 3">
            <a:extLst>
              <a:ext uri="{FF2B5EF4-FFF2-40B4-BE49-F238E27FC236}">
                <a16:creationId xmlns:a16="http://schemas.microsoft.com/office/drawing/2014/main" id="{9064001E-360F-DF99-1788-1EB3A9762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F5715B-FD36-44A4-9A93-6F29E3663A5C}" type="slidenum">
              <a:rPr lang="pt-BR" altLang="pt-B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45</a:t>
            </a:fld>
            <a:endParaRPr lang="pt-BR" altLang="pt-B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ço Reservado para Imagem de Slide 1">
            <a:extLst>
              <a:ext uri="{FF2B5EF4-FFF2-40B4-BE49-F238E27FC236}">
                <a16:creationId xmlns:a16="http://schemas.microsoft.com/office/drawing/2014/main" id="{00FF0100-1DC0-0211-5CE6-510B5F48C7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Espaço Reservado para Anotações 2">
            <a:extLst>
              <a:ext uri="{FF2B5EF4-FFF2-40B4-BE49-F238E27FC236}">
                <a16:creationId xmlns:a16="http://schemas.microsoft.com/office/drawing/2014/main" id="{77E991D5-289F-D63D-A25E-91048E8AB7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00356" name="Espaço Reservado para Número de Slide 3">
            <a:extLst>
              <a:ext uri="{FF2B5EF4-FFF2-40B4-BE49-F238E27FC236}">
                <a16:creationId xmlns:a16="http://schemas.microsoft.com/office/drawing/2014/main" id="{A55C3A4B-6845-337B-77B5-BECBDCA03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624D65-476F-4B31-981A-35D87BB6D797}" type="slidenum">
              <a:rPr lang="pt-BR" altLang="pt-B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46</a:t>
            </a:fld>
            <a:endParaRPr lang="pt-BR" altLang="pt-B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07149D-6AF2-A3B7-FED3-762F8783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211CF-84AB-4963-8661-2E57375AEDC9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E3948A-8A3B-0474-A632-64FE3417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29E2AD-29DA-6095-4C10-D12F8CFD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7237C-4F6F-440F-B9C3-21DBDB0A5C1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859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824CBA-8A2D-E0A7-9CD2-1E7B30593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2FD34-54A5-4555-8F7E-E2961A9E379D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B46F32-7A5B-9768-C9A3-FA610C5F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647A00-77B1-59C2-68DC-3C250E44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114F3F-0ED6-46F2-8B76-5BACD0F6982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2056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7243F6-7BEA-9E2C-05EC-8DE42B9E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38D8F-06AA-4381-A9E6-DA474FCA317C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6648AA-2D4A-4097-FA27-CD8BA709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C01A32-8F06-BD8B-B85B-D1FBF2BD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A3D42-1A8A-4B2A-9AC8-26E9A1A4A32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629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566A72F-D312-E453-A065-752ABC39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56E57-22EA-4F61-8087-4D937AEF546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E0AAB39-078A-5924-AD6D-FC1DEDD7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332240A-4964-5814-049D-9353080C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13A8B6-61D5-4FEC-B19D-F505D9DD36A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6736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D3D1A890-6DCF-5F1E-FD4F-B5F0DF17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CB8C4-F929-4696-A3E0-607EC09E30DE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8F6B0137-65DE-5524-8F44-CAC2D310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5D63FE83-6385-6C59-828E-F7F54D2C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AD884-CA03-40A3-8546-CAADC478029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0623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2BF63179-22FB-2353-C2AA-CA53FBBB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93A6D-BAF7-4AD3-BF3E-69ED1E646DD4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6D4E1EBF-6CD0-8FE9-2711-A484EB4D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09509121-0AED-E6D5-9241-A69405E5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D2E83-43DA-40ED-9A9B-11DFB5557B2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74825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80A4FC15-D22F-CB6C-32ED-2697CCFA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D7D3F-96E2-4563-9BB4-B12A0E7A39F8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324C4993-4838-82E0-A804-C4FB52D21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AB5E897-20A0-9755-3A8F-16943A0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2C15A-AD19-4BE5-8484-6E3E4FC16DA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4672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E668F4F-B08A-E8E2-B882-74891F17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2A6FE-7CD7-4A49-AC76-5F1467958FC4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16472FB-30CA-F74E-4895-AFFC9FFA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454A0DB-771C-1BCA-2865-06D2F5A4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697FC-5E3A-418D-9EF5-E307B861E2C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4143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D3283A4-8561-B0B1-F52F-F70A4187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6A2EC-9A30-4F2B-B19D-998856A570A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D7101AD-FF27-376D-055E-8AFC9FAC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0FB1C4A-D815-7722-C101-81F53231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299EFF-5D84-4583-8A8B-F6DC635C29D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7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521DDE-BBDD-807A-A662-C15FA314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B807F8-944F-455A-82A1-19EA70E5E1B1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FDE8DE-A4C3-6189-6392-67BD77B4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936F97-8223-52A2-0EF2-5B8C3E0F2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3985A3-DF66-4E2B-B0FB-2919DC78339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871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15D79-4723-6C9C-39FB-5BAF17E7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DF3DA-0D30-4AF7-975B-DB70A7E3D5F8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D58A08-4978-9082-A209-D4D833B0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15964F-16DC-4C45-2322-A1ED6102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B7BA1-1279-4B3C-829C-C5C236A6637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13776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BEA10-1170-14C8-40E7-D949D480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701C5-460D-43B9-ADE1-BE3E62C8D418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495456-CF88-F7CF-D418-0FD0CEEF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802CC6-74A5-1522-77E7-E9ABB847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ED11B1-24E1-4C1B-B454-20C567EE646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159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B40887-672A-04E0-159F-26A8F336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3ADDF-9C3A-4DE0-91E6-ACAD4959231F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4C7E78-795B-B31E-33F2-E08114EB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739712-750F-886B-8E9C-95454E5B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EC8A3-D0C3-4920-9DAD-AD760537F32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58653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8B08EF-803B-0EED-54F0-F5C7550E4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56CEA-BEA6-47D0-8CCE-41B40D045048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F7625-BFD9-7BE3-E7A0-05BBAD47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E8DDF2-0D8A-A3CC-17F0-EDF349F1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DBCD2-37FE-41DA-A7FA-7D9E198152A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66529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B7B6C67C-3B6A-CD7E-9C64-12F66AFD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D2E7B-8518-4ED2-B0BC-9097EBA8E0BA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D7DA898C-A8E0-8D04-7310-5F25DB6E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2076C6A7-4AA4-9193-1442-A6DB167B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704FC-D882-487A-B46F-DBF9A8897E2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5624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A31069B6-70C7-C219-3722-5BBF5F89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E7132-A32A-47C7-A109-915E530F7F23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41E48BE-B999-3579-8192-B62DC1AE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C06405D0-23E7-486D-E34D-339DF619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E6E66-1922-4F68-9A8A-258EFD1C23F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774899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24399CF8-A2DE-9DC9-FDEA-BF08BCF6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8B70E-CFF6-406E-BCD0-A3F38430314D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BB56EBD9-8B3D-CC3D-2B1A-50066502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CB0C4CAD-5049-0016-99DA-33268DCD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25F2E1-F59E-4C12-948D-F9D57CBE08C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65852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85F9F33A-CD88-D415-6227-31379E1AE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35C92-B9C8-44C4-AEB4-F0D21D1D421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D0B31A7-DA77-98D3-E016-A4CED101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940E1598-9B0B-349E-F6A8-3BB1FE6D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093CCE-D924-4479-8934-17AF30F086C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81114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7188DDF-D039-CB1A-78AB-6C861EE1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B33CA-7984-47FD-B17E-8BB7349E5C9D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5E1618D7-DB0E-9932-CE22-7BC5A17B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2061DF60-632F-A07B-4FEA-58EF60C1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7EEA3C-2044-4138-81CB-770EBE0FC74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1337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4A720453-3ADA-ED11-FDCA-AD8EC9F6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5D775-D340-4E50-97EB-63A684B0DFDF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9BA9225-C9A2-4F61-F3F7-CF6E536A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4ABAFB9E-8D61-504C-779F-C710904C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D8ADE8-463E-41F1-9559-AD63B058331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26665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478356-2847-94A6-BB9C-A90C57F3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EC51B-DFAC-425F-8AB6-DF0F0F2B640D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A0539-B550-4886-C866-ABD0B66A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6EE7DD-C876-4CCF-3F83-34AD2030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DF51CF-21DA-4151-B7A3-D8F23946EF3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10804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4189B7-3DF0-BE8A-F35C-78F92A45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91BA8-B701-4DDC-B16B-65A565E10F92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C877C9-728D-4569-BEDB-D9CD4D8E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CB9E36-7011-C694-6AC3-C89D637EC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3D898-AFEA-4197-959F-E99A139A3EF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6091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D5DB6F-76BD-26D7-9CA2-330BB9A9D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33332-A71F-485D-8F7E-379398D96308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6CF147-8B62-4D39-5E54-FE52A0E1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048BFD-91F4-09AE-B47C-D21D6FC2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6C2DC-6257-4FDA-B9D5-8CF34DB1BF7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241438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42F577-BA1F-AFFE-870F-4E91FA46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8883C-F7E3-4BE9-85C6-DF3BEF438B9E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B67D70-76E0-7FAC-269B-0CCDEA5C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ED9820-14B5-9C90-8BB4-676DFC8B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28A3A-DEE9-4CDB-A7A7-E883489C55F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443558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3708C4-2EDF-DE5C-A9E4-0D36FC7C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E0736-D6D9-4317-AF3D-3B9D185E50E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78AC9-C524-45FD-AD63-B63C151E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DD84E8-793C-4902-DF6C-D46E8FD2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10D07F-66C3-4DFE-82DF-3656768AEED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79624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46B31963-C94A-3757-CEBA-341A5946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4EC24-BF6F-4618-AE27-67FCBCC07E4F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A3E72A7-4108-6D31-4D52-BDB0D965B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421240C-AE92-6E09-7890-23983B4C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32524A-4C0E-4F41-A96C-C481CAA5488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42053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13150E8A-B35C-1E39-746F-9D26003C1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93693-2D8C-4E7C-A11C-FB59E145EC29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66196803-2306-5232-30C9-9E17C4E1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40D8E261-997F-12AF-E33E-DC0293EA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1FFBA-34AE-4E3B-88F1-9AA6BC03872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701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AC41E85F-F5E9-E8BE-2810-C4650249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EF14B-0955-43D1-B67B-7208F60105B0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030BF3E6-A18B-917E-E16C-077EFEFE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1A5E55A0-A951-184F-1DA6-8E946714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BB73D-854C-40B1-AAF5-7EA8670C530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22309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1A7FFC53-A8B1-7843-4AB3-2B2782E9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66CF4-29A8-40FA-B4EF-CFD88F30E66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2ACE8B39-579A-0DAE-587E-6C59165D9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315AEC6-9E2E-7F31-5B91-2D9BFB07E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DB8C9-ED53-4A9A-AF5C-50495019E7B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109947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19BD9D95-68DD-FA50-F10D-D7238E48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B7E26-09AE-48EF-B88F-1776F82E4B4F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70FA297-6EAD-52C8-E66A-880A4AF1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452ADD0D-4A3D-7DF6-248C-71BD6F88A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39443F-239D-481F-8868-8C11FE13927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034566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9AA3CAE-A933-CDB1-D48D-8EDFFBB3D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EE48D2-41C8-48D9-8635-224626CD0A8A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7A81833-0BC8-880C-E939-B1A71D723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5BF9035-CF53-39C8-699E-C02AB0DB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376C5A-08E9-4D70-A155-CC25218B10C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456267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F498A6-6BE2-DEA9-4637-AC657DFD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C53C2-A832-4A90-B02E-034DF563189E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3ABBE4-63D3-975E-607F-4B02322C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9E574A-96F9-E08D-D1B6-B9EAA565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AE3613-6C49-4F37-B74E-1869293E8E9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455131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880883-7C01-7F65-1476-FAE2B9E6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FFD81-47C7-4C61-99C3-017299B9E3F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61C89F-BCF1-1F2B-2AC0-54D7DD44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C26F61-47DD-D8F1-F34D-FA373024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76F5D-3466-4C53-8B41-B7818A8571C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66980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BA9A3C-29EC-BC06-5521-14FB30E1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78186-CADD-4C4E-8768-D1BB0CEF506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21923E-6ACE-F303-9834-D1F4247C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013A13-88C3-1B3C-72FB-BFEDABD6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6916FC-D10D-4A96-8D8F-4CAF21A33B4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80484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4D8DF8-2F0F-5663-95EA-571D4B7B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2DAE65-8A44-444E-9B8A-41BB46461068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D9F353-E583-7C91-F47F-48D8F8E5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097142-9B9A-C811-E8E1-CBBD84DF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905719-C521-41FF-AEEF-59C8CE3A86E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482471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7B2368-EFEE-E3DD-5F0D-B0D6F131D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99F2E-4013-4DE2-B524-BE33B518AEB5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2F252C-F92E-D27B-D29B-DA2A8F91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A367A4-16BA-9973-72AA-3D1B077F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5F3BA-C3C8-421D-A8C8-B8C3564E92E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783097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74B62F4-2019-B0A5-FC8E-806DB738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71E9A-79D9-467F-A1A5-D298C74A5020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3DEDFF1-E84D-9C92-0EE9-1EE6F3C4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D205D19B-01CF-73C7-C386-0B13189E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F32D66-15FF-4BD6-8097-6F3DB5786FD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595338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C9590FF3-E89D-B254-3863-2627D9BB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490F2-D634-486F-A6C5-81D247AFA4B7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E3D15C68-4762-57CE-5E21-4A626D49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A1A2B9E4-3594-67E1-AFFA-4AA2BB16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4CB77-92E5-4922-AB63-F6E40E28E6B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08045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3A3EC38E-E81A-515B-D2F6-D78C3930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FD3C6-334F-482C-AB41-4D74CA376181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E0D27AA3-E694-0AEB-ACBB-0003A287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6109BDE1-875C-72F4-674C-3E507146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0B070-89FD-40E2-80D0-BA0EF987028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63887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FF939DA2-2774-1562-BC9F-C19A1C67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B6B8-ED8F-4F6D-BF60-0405A31BFC40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1ACB812-36AB-DB4B-6DC8-2A5A764C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3235F43-F403-F24B-5064-576AFD38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F26D1-BCFB-477E-8095-E6B0BF34488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548681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BFFD5BF-5276-D721-3123-B55BCE86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77867-3A68-4898-BE11-C25F21A69F22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A32DC626-FCD6-C2A8-0763-EF0088BE1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4EEF32BE-0891-6728-F933-030A59C7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91D6C-87A5-414B-BCBE-34FA7B26303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3339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FE67685-13B5-4099-AB21-9FBA1A5A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03B74-9BAD-4534-94AC-C2C52274BEDE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AA5381-6770-2A10-4B7E-548E504E2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D766432-6DDF-0313-ED76-04EE4ABA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5D943-997F-4581-8125-F6AE637550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251602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2A4225-DFE1-75D2-63D7-E4AA725A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46BB2-756D-469C-A279-C98AB111C512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FE937A-5CF7-5371-4631-A7F5FBB5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72D8AE-5978-569E-EAD7-D443346E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1AF27-8E35-4DB1-AE78-BFAE971F145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295001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D683D3-95E0-8EAD-AF62-DE698A14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51743-0D35-4028-9E55-0DEAA9B959C3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ACF2BA-63CB-8779-DF2B-3396C9C2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FDB684-DB5F-84BE-DDF9-63D5A790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8D1AA-84BE-45D4-941D-C0E8C5FA43C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759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9F22A99-BB30-EF4B-1891-A5BA3084A5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DABB82A0-6A72-0AE4-800E-1B7AE7C5BF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FB8CCB-7C9F-2758-F2DB-FA654A89B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1D744F3-A024-46BC-8C73-30B562EED173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4D6C5B-F1AB-9BFC-6446-455AF276F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5E7A34-DA0A-0BDF-BA21-B7479E49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3086E12-4E8F-4600-B408-2ABF87741359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EB4F711A-5289-B8A2-C636-E165859F1B6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F17CF5FF-2E45-4A7F-C8BA-4FBAB0AB6D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6DDB25-310E-6229-30AD-C3EFD0A46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FB9E8A2-2B64-4409-B2B3-B83938A276CF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41C701-1AAB-09BC-85A4-049D490D8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CB7295-F5B3-0CF1-D806-2EB4EA990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44AA1FE-BE5A-4DE8-BB50-27EB765900C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7523B940-4F9D-10C3-95EE-4DEE3F9E069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810236C6-9263-F570-2FB9-D3495F4885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20CAD2-3A77-687C-F195-0389F5B8C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17815E-D5C1-45E3-A8CD-32F41EA06144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136416-CFEE-9F43-1DEE-F8D05C596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C37268-221E-882F-835F-EF9CE95F2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93A822FC-6E49-42B1-ADA4-05CF1CF2779A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Título 1">
            <a:extLst>
              <a:ext uri="{FF2B5EF4-FFF2-40B4-BE49-F238E27FC236}">
                <a16:creationId xmlns:a16="http://schemas.microsoft.com/office/drawing/2014/main" id="{AE1A48F4-3158-97F9-A22C-0EBC78064D7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4099" name="Espaço Reservado para Texto 2">
            <a:extLst>
              <a:ext uri="{FF2B5EF4-FFF2-40B4-BE49-F238E27FC236}">
                <a16:creationId xmlns:a16="http://schemas.microsoft.com/office/drawing/2014/main" id="{8000F037-9549-8AD6-6112-B53AED4761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6A2479-847D-09AE-B52C-CC4F96A32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2AD0B4-4CCA-493D-B4E2-3E790E1A11DD}" type="datetime1">
              <a:rPr lang="pt-BR"/>
              <a:pPr>
                <a:defRPr/>
              </a:pPr>
              <a:t>31/03/2026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4FCB4A-331E-B662-17ED-52A9EE98C8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4D73EF-38BC-489D-13F3-FB78BA262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2EB6A88-A13E-477F-9E5E-DF5593F5A96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2.jpe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9">
            <a:extLst>
              <a:ext uri="{FF2B5EF4-FFF2-40B4-BE49-F238E27FC236}">
                <a16:creationId xmlns:a16="http://schemas.microsoft.com/office/drawing/2014/main" id="{583FA4F9-7046-836B-7569-81D44F65A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70138"/>
            <a:ext cx="2662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chemeClr val="bg1"/>
                </a:solidFill>
                <a:latin typeface="Arial" panose="020B0604020202020204" pitchFamily="34" charset="0"/>
              </a:rPr>
              <a:t>Capítulo 1</a:t>
            </a:r>
          </a:p>
        </p:txBody>
      </p:sp>
      <p:sp>
        <p:nvSpPr>
          <p:cNvPr id="7171" name="CaixaDeTexto 4">
            <a:extLst>
              <a:ext uri="{FF2B5EF4-FFF2-40B4-BE49-F238E27FC236}">
                <a16:creationId xmlns:a16="http://schemas.microsoft.com/office/drawing/2014/main" id="{1605C765-0157-4D17-F77C-D0A9C08DD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3078163"/>
            <a:ext cx="3744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" panose="020B0604020202020204" pitchFamily="34" charset="0"/>
              </a:rPr>
              <a:t>O valor do dinheiro no tempo: matemática financeira básica na avaliação econômica de investimentos de capital</a:t>
            </a:r>
          </a:p>
        </p:txBody>
      </p:sp>
      <p:sp>
        <p:nvSpPr>
          <p:cNvPr id="7172" name="CaixaDeTexto 5">
            <a:extLst>
              <a:ext uri="{FF2B5EF4-FFF2-40B4-BE49-F238E27FC236}">
                <a16:creationId xmlns:a16="http://schemas.microsoft.com/office/drawing/2014/main" id="{F5A63462-0CE5-09FE-5211-04420D267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57438"/>
            <a:ext cx="26622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000" b="1">
                <a:solidFill>
                  <a:srgbClr val="2C5DAA"/>
                </a:solidFill>
                <a:latin typeface="Arial" panose="020B0604020202020204" pitchFamily="34" charset="0"/>
              </a:rPr>
              <a:t>Capítulo 1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BE4F4B4-8F2D-623B-EC61-7F27D69D89DE}"/>
              </a:ext>
            </a:extLst>
          </p:cNvPr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>
            <a:extLst>
              <a:ext uri="{FF2B5EF4-FFF2-40B4-BE49-F238E27FC236}">
                <a16:creationId xmlns:a16="http://schemas.microsoft.com/office/drawing/2014/main" id="{94729F82-6947-B053-C9A4-125D4F992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9219" name="CaixaDeTexto 6">
            <a:extLst>
              <a:ext uri="{FF2B5EF4-FFF2-40B4-BE49-F238E27FC236}">
                <a16:creationId xmlns:a16="http://schemas.microsoft.com/office/drawing/2014/main" id="{66665C81-0EC9-2646-8CA1-C71AF7A1B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Nesse regime, os juros gerados a cada período são incorporados ao principal para o cálculo dos juros do período seguinte, ou seja, o rendimento gerado pela aplicação será incorporado a ela, passando a participar da geração do rendimento no período seguinte; dizemos, então, que os juros são capitalizados.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87CE6E-4467-1FF5-C8B2-F304B5034C18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9221" name="CaixaDeTexto 10">
            <a:extLst>
              <a:ext uri="{FF2B5EF4-FFF2-40B4-BE49-F238E27FC236}">
                <a16:creationId xmlns:a16="http://schemas.microsoft.com/office/drawing/2014/main" id="{98CE6834-3FF5-1FD0-6A26-110365BE4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222" name="CaixaDeTexto 12">
            <a:extLst>
              <a:ext uri="{FF2B5EF4-FFF2-40B4-BE49-F238E27FC236}">
                <a16:creationId xmlns:a16="http://schemas.microsoft.com/office/drawing/2014/main" id="{7F1F9EF7-A108-F8D8-FC40-49511ABCD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32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 Regime de capitalização composta ou exponencial</a:t>
            </a:r>
          </a:p>
        </p:txBody>
      </p:sp>
      <p:sp>
        <p:nvSpPr>
          <p:cNvPr id="9223" name="Espaço Reservado para Número de Slide 7">
            <a:extLst>
              <a:ext uri="{FF2B5EF4-FFF2-40B4-BE49-F238E27FC236}">
                <a16:creationId xmlns:a16="http://schemas.microsoft.com/office/drawing/2014/main" id="{F7D718B1-1C73-AB8A-2EB6-6AD53BCF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0FF7EA3-C56D-4516-B139-F426A797A76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5CB8475B-1C64-F0B1-AFBB-AB114F5818B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/>
          <a:srcRect l="58752" t="67538" r="26262" b="24191"/>
          <a:stretch>
            <a:fillRect/>
          </a:stretch>
        </p:blipFill>
        <p:spPr>
          <a:xfrm>
            <a:off x="3714750" y="4857750"/>
            <a:ext cx="2071688" cy="71437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>
            <a:extLst>
              <a:ext uri="{FF2B5EF4-FFF2-40B4-BE49-F238E27FC236}">
                <a16:creationId xmlns:a16="http://schemas.microsoft.com/office/drawing/2014/main" id="{2E119489-A20C-54F0-F36C-943A4933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1267" name="CaixaDeTexto 6">
            <a:extLst>
              <a:ext uri="{FF2B5EF4-FFF2-40B4-BE49-F238E27FC236}">
                <a16:creationId xmlns:a16="http://schemas.microsoft.com/office/drawing/2014/main" id="{1AD79350-D76B-0B7D-69F9-D7ABF3428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que taxa de juros um capital de $ 13.200 pode transformar-se em $ 35.112,26; considerando um período de aplicação de 7 meses?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Dados: P = $ 13.200, S = $ 35.112,26, n = 7, i = ?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F8D2A9B-2BFF-28DB-51AC-88D21C6A229C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1269" name="CaixaDeTexto 10">
            <a:extLst>
              <a:ext uri="{FF2B5EF4-FFF2-40B4-BE49-F238E27FC236}">
                <a16:creationId xmlns:a16="http://schemas.microsoft.com/office/drawing/2014/main" id="{D0C36D82-D93B-D37E-97AB-CF7A78167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1270" name="CaixaDeTexto 12">
            <a:extLst>
              <a:ext uri="{FF2B5EF4-FFF2-40B4-BE49-F238E27FC236}">
                <a16:creationId xmlns:a16="http://schemas.microsoft.com/office/drawing/2014/main" id="{BDD30B2F-EFD4-B420-8E5A-625024954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Exemplo</a:t>
            </a:r>
          </a:p>
        </p:txBody>
      </p:sp>
      <p:sp>
        <p:nvSpPr>
          <p:cNvPr id="11271" name="Espaço Reservado para Número de Slide 7">
            <a:extLst>
              <a:ext uri="{FF2B5EF4-FFF2-40B4-BE49-F238E27FC236}">
                <a16:creationId xmlns:a16="http://schemas.microsoft.com/office/drawing/2014/main" id="{2E7D1344-23AF-931C-EA03-45FA5A6C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A5DD1E4-65F1-49C9-AC7E-A30134106AE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B7727E3-7B56-2B79-B2D3-378EAD13C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6250" t="63334" r="20833" b="16666"/>
          <a:stretch>
            <a:fillRect/>
          </a:stretch>
        </p:blipFill>
        <p:spPr bwMode="auto">
          <a:xfrm>
            <a:off x="1643063" y="4286250"/>
            <a:ext cx="5929312" cy="101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>
            <a:extLst>
              <a:ext uri="{FF2B5EF4-FFF2-40B4-BE49-F238E27FC236}">
                <a16:creationId xmlns:a16="http://schemas.microsoft.com/office/drawing/2014/main" id="{457E37EB-17A9-F044-7199-66E1D23E6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3315" name="CaixaDeTexto 6">
            <a:extLst>
              <a:ext uri="{FF2B5EF4-FFF2-40B4-BE49-F238E27FC236}">
                <a16:creationId xmlns:a16="http://schemas.microsoft.com/office/drawing/2014/main" id="{0138A695-93C2-08B8-C8F6-B9DB36FC6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Diz-se que dois capitais com datas de vencimento determinadas serão equivalentes quando, levados para uma mesma data à mesma taxa de juros, tiverem valores iguais.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7EBF325-03B7-46C1-143B-652930E5D441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3317" name="CaixaDeTexto 10">
            <a:extLst>
              <a:ext uri="{FF2B5EF4-FFF2-40B4-BE49-F238E27FC236}">
                <a16:creationId xmlns:a16="http://schemas.microsoft.com/office/drawing/2014/main" id="{DDCB88C6-2255-C175-3A86-946B72EBB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3318" name="CaixaDeTexto 12">
            <a:extLst>
              <a:ext uri="{FF2B5EF4-FFF2-40B4-BE49-F238E27FC236}">
                <a16:creationId xmlns:a16="http://schemas.microsoft.com/office/drawing/2014/main" id="{C6E778C8-222E-5C69-8C72-760C6CBBA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23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1.2 Equivalência de capitais</a:t>
            </a:r>
          </a:p>
        </p:txBody>
      </p:sp>
      <p:sp>
        <p:nvSpPr>
          <p:cNvPr id="13319" name="Espaço Reservado para Número de Slide 7">
            <a:extLst>
              <a:ext uri="{FF2B5EF4-FFF2-40B4-BE49-F238E27FC236}">
                <a16:creationId xmlns:a16="http://schemas.microsoft.com/office/drawing/2014/main" id="{4DB9777D-AA0F-474D-31F0-5E84E00C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AB518F41-53B3-4EE8-A4B4-518EF11B104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BR" altLang="pt-BR" sz="120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>
            <a:extLst>
              <a:ext uri="{FF2B5EF4-FFF2-40B4-BE49-F238E27FC236}">
                <a16:creationId xmlns:a16="http://schemas.microsoft.com/office/drawing/2014/main" id="{C06BB7F6-A15E-E291-D84A-5DEFBD9A2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421621-3B48-8756-4F6D-E5F4E0A26891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5364" name="CaixaDeTexto 10">
            <a:extLst>
              <a:ext uri="{FF2B5EF4-FFF2-40B4-BE49-F238E27FC236}">
                <a16:creationId xmlns:a16="http://schemas.microsoft.com/office/drawing/2014/main" id="{FA608D3A-C1A5-D450-FFAA-14E1DFB4D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5365" name="CaixaDeTexto 12">
            <a:extLst>
              <a:ext uri="{FF2B5EF4-FFF2-40B4-BE49-F238E27FC236}">
                <a16:creationId xmlns:a16="http://schemas.microsoft.com/office/drawing/2014/main" id="{CF4A1D7C-3FEA-6582-DB2E-5E07D97E9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23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1.2 Equivalência de capitais</a:t>
            </a:r>
          </a:p>
        </p:txBody>
      </p:sp>
      <p:sp>
        <p:nvSpPr>
          <p:cNvPr id="15366" name="Espaço Reservado para Número de Slide 7">
            <a:extLst>
              <a:ext uri="{FF2B5EF4-FFF2-40B4-BE49-F238E27FC236}">
                <a16:creationId xmlns:a16="http://schemas.microsoft.com/office/drawing/2014/main" id="{B9360A50-BFFB-5311-43EA-4CE030AB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3856A781-E4D0-4FD2-8C08-A1AAB9D1E5B2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9690131-CAF0-3628-E176-5CA6F4BA5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8298" t="20145" r="34166" b="58535"/>
          <a:stretch>
            <a:fillRect/>
          </a:stretch>
        </p:blipFill>
        <p:spPr bwMode="auto">
          <a:xfrm>
            <a:off x="2857500" y="3449638"/>
            <a:ext cx="3500438" cy="1693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368" name="CaixaDeTexto 6">
            <a:extLst>
              <a:ext uri="{FF2B5EF4-FFF2-40B4-BE49-F238E27FC236}">
                <a16:creationId xmlns:a16="http://schemas.microsoft.com/office/drawing/2014/main" id="{4F6F90B1-8E48-AB53-D2A4-2D2093705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Capitais com diferentes datas de vencimento: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aixaDeTexto 3">
            <a:extLst>
              <a:ext uri="{FF2B5EF4-FFF2-40B4-BE49-F238E27FC236}">
                <a16:creationId xmlns:a16="http://schemas.microsoft.com/office/drawing/2014/main" id="{A43EC957-DFBC-C655-FB7A-2E108F41D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57563D5-032E-34AF-F283-DA1BBC1E6805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7412" name="CaixaDeTexto 10">
            <a:extLst>
              <a:ext uri="{FF2B5EF4-FFF2-40B4-BE49-F238E27FC236}">
                <a16:creationId xmlns:a16="http://schemas.microsoft.com/office/drawing/2014/main" id="{F27986BE-C092-1EED-86FA-A9701A405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7413" name="CaixaDeTexto 12">
            <a:extLst>
              <a:ext uri="{FF2B5EF4-FFF2-40B4-BE49-F238E27FC236}">
                <a16:creationId xmlns:a16="http://schemas.microsoft.com/office/drawing/2014/main" id="{64ED5F99-038D-F37D-6B4E-17D86830E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23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1.2 Equivalência de capitais</a:t>
            </a:r>
          </a:p>
        </p:txBody>
      </p:sp>
      <p:sp>
        <p:nvSpPr>
          <p:cNvPr id="17414" name="Espaço Reservado para Número de Slide 7">
            <a:extLst>
              <a:ext uri="{FF2B5EF4-FFF2-40B4-BE49-F238E27FC236}">
                <a16:creationId xmlns:a16="http://schemas.microsoft.com/office/drawing/2014/main" id="{AD53CC27-F082-0347-869B-91C1D7CD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2FF232D8-31EA-40EE-A236-41A5888D12E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87BBA0C-C708-0F9D-6B48-B35A9390F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781" t="16875" r="21484" b="31561"/>
          <a:stretch>
            <a:fillRect/>
          </a:stretch>
        </p:blipFill>
        <p:spPr bwMode="auto">
          <a:xfrm>
            <a:off x="1944688" y="2751138"/>
            <a:ext cx="5199062" cy="3178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3">
            <a:extLst>
              <a:ext uri="{FF2B5EF4-FFF2-40B4-BE49-F238E27FC236}">
                <a16:creationId xmlns:a16="http://schemas.microsoft.com/office/drawing/2014/main" id="{465D5939-5881-5C40-B7B1-8EC4E647E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9459" name="CaixaDeTexto 6">
            <a:extLst>
              <a:ext uri="{FF2B5EF4-FFF2-40B4-BE49-F238E27FC236}">
                <a16:creationId xmlns:a16="http://schemas.microsoft.com/office/drawing/2014/main" id="{87B58D58-15B4-4FA7-E49D-CCF844CE4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As taxas de juros podem ser classificadas como nominais ou efetivas, conforme o capital tomado como base de cálculo. Desse modo, a taxa nominal é aquela calculada com base no valor nominal, e a efetiva, com base no valor efetivamente aplicado ou emprestado.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E59D2CC-E19D-1562-CBF9-66DAE5A4BD48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9461" name="CaixaDeTexto 10">
            <a:extLst>
              <a:ext uri="{FF2B5EF4-FFF2-40B4-BE49-F238E27FC236}">
                <a16:creationId xmlns:a16="http://schemas.microsoft.com/office/drawing/2014/main" id="{84304ED7-6F22-AC44-7E0E-FD8EB9767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19462" name="CaixaDeTexto 12">
            <a:extLst>
              <a:ext uri="{FF2B5EF4-FFF2-40B4-BE49-F238E27FC236}">
                <a16:creationId xmlns:a16="http://schemas.microsoft.com/office/drawing/2014/main" id="{747A3309-FD6F-EE93-6B7E-B18719F16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989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1.3 Taxa de juros nominal</a:t>
            </a:r>
          </a:p>
        </p:txBody>
      </p:sp>
      <p:sp>
        <p:nvSpPr>
          <p:cNvPr id="19463" name="Espaço Reservado para Número de Slide 7">
            <a:extLst>
              <a:ext uri="{FF2B5EF4-FFF2-40B4-BE49-F238E27FC236}">
                <a16:creationId xmlns:a16="http://schemas.microsoft.com/office/drawing/2014/main" id="{5E81BF3F-04EC-68DD-3578-31274D9B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C43CB267-4CCA-40F8-9C31-C4516E49607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FE8EE9F-0B89-ED22-2053-7E948029D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011" t="23045" r="50153" b="69373"/>
          <a:stretch>
            <a:fillRect/>
          </a:stretch>
        </p:blipFill>
        <p:spPr bwMode="auto">
          <a:xfrm>
            <a:off x="2857500" y="4357688"/>
            <a:ext cx="3357563" cy="57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6E356244-9F12-805D-C076-A7DFAC2CA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23550" t="43362" r="43471" b="47540"/>
          <a:stretch>
            <a:fillRect/>
          </a:stretch>
        </p:blipFill>
        <p:spPr bwMode="auto">
          <a:xfrm>
            <a:off x="2500313" y="5143500"/>
            <a:ext cx="4143375" cy="714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3">
            <a:extLst>
              <a:ext uri="{FF2B5EF4-FFF2-40B4-BE49-F238E27FC236}">
                <a16:creationId xmlns:a16="http://schemas.microsoft.com/office/drawing/2014/main" id="{6FBC515E-721E-D69C-7A82-08C8DF223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1507" name="CaixaDeTexto 6">
            <a:extLst>
              <a:ext uri="{FF2B5EF4-FFF2-40B4-BE49-F238E27FC236}">
                <a16:creationId xmlns:a16="http://schemas.microsoft.com/office/drawing/2014/main" id="{84657433-35A2-9AF9-217B-B5C6F87E0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74938"/>
            <a:ext cx="671512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 montante </a:t>
            </a:r>
            <a:r>
              <a:rPr lang="pt-BR" altLang="pt-BR" sz="1600" i="1">
                <a:latin typeface="Arial" panose="020B0604020202020204" pitchFamily="34" charset="0"/>
              </a:rPr>
              <a:t>S</a:t>
            </a:r>
            <a:r>
              <a:rPr lang="pt-BR" altLang="pt-BR" sz="1600">
                <a:latin typeface="Arial" panose="020B0604020202020204" pitchFamily="34" charset="0"/>
              </a:rPr>
              <a:t> do capital </a:t>
            </a:r>
            <a:r>
              <a:rPr lang="pt-BR" altLang="pt-BR" sz="1600" i="1">
                <a:latin typeface="Arial" panose="020B0604020202020204" pitchFamily="34" charset="0"/>
              </a:rPr>
              <a:t>P</a:t>
            </a:r>
            <a:r>
              <a:rPr lang="pt-BR" altLang="pt-BR" sz="1600">
                <a:latin typeface="Arial" panose="020B0604020202020204" pitchFamily="34" charset="0"/>
              </a:rPr>
              <a:t> aplicado por determinado prazo </a:t>
            </a:r>
            <a:r>
              <a:rPr lang="pt-BR" altLang="pt-BR" sz="1600" i="1">
                <a:latin typeface="Arial" panose="020B0604020202020204" pitchFamily="34" charset="0"/>
              </a:rPr>
              <a:t>m</a:t>
            </a:r>
            <a:r>
              <a:rPr lang="pt-BR" altLang="pt-BR" sz="1600">
                <a:latin typeface="Arial" panose="020B0604020202020204" pitchFamily="34" charset="0"/>
              </a:rPr>
              <a:t>, a determinada taxa nominal  </a:t>
            </a:r>
            <a:r>
              <a:rPr lang="pt-BR" altLang="pt-BR" sz="1600" i="1">
                <a:latin typeface="Arial" panose="020B0604020202020204" pitchFamily="34" charset="0"/>
              </a:rPr>
              <a:t>j</a:t>
            </a:r>
            <a:r>
              <a:rPr lang="pt-BR" altLang="pt-BR" sz="1600">
                <a:latin typeface="Arial" panose="020B0604020202020204" pitchFamily="34" charset="0"/>
              </a:rPr>
              <a:t> e com juros capitalizados certo número de vezes no período referencial </a:t>
            </a:r>
            <a:r>
              <a:rPr lang="pt-BR" altLang="pt-BR" sz="1600" i="1">
                <a:latin typeface="Arial" panose="020B0604020202020204" pitchFamily="34" charset="0"/>
              </a:rPr>
              <a:t>k</a:t>
            </a:r>
            <a:r>
              <a:rPr lang="pt-BR" altLang="pt-BR" sz="1600">
                <a:latin typeface="Arial" panose="020B0604020202020204" pitchFamily="34" charset="0"/>
              </a:rPr>
              <a:t> da taxa nominal pode, em geral, ser calculado do seguinte modo: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3A68AA5-86FA-D8A9-EE96-8649C3E4EBEE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1509" name="CaixaDeTexto 10">
            <a:extLst>
              <a:ext uri="{FF2B5EF4-FFF2-40B4-BE49-F238E27FC236}">
                <a16:creationId xmlns:a16="http://schemas.microsoft.com/office/drawing/2014/main" id="{A36C1F06-C2E6-FA6E-C087-38A39440D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6613525"/>
            <a:ext cx="18954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1510" name="Espaço Reservado para Número de Slide 7">
            <a:extLst>
              <a:ext uri="{FF2B5EF4-FFF2-40B4-BE49-F238E27FC236}">
                <a16:creationId xmlns:a16="http://schemas.microsoft.com/office/drawing/2014/main" id="{CD2FD4CB-3206-41FD-3106-C52FFB74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31013" y="652462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E3130FF-82C8-4F03-88C7-5B5C454203F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1511" name="CaixaDeTexto 12">
            <a:extLst>
              <a:ext uri="{FF2B5EF4-FFF2-40B4-BE49-F238E27FC236}">
                <a16:creationId xmlns:a16="http://schemas.microsoft.com/office/drawing/2014/main" id="{957A4434-530C-EBAB-15A2-106B19451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989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1.3 Taxa de juros nominal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B91422B-2760-F3C7-3A42-222958951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3542" t="45834" r="51562" b="34166"/>
          <a:stretch>
            <a:fillRect/>
          </a:stretch>
        </p:blipFill>
        <p:spPr bwMode="auto">
          <a:xfrm>
            <a:off x="3357563" y="4451350"/>
            <a:ext cx="2714625" cy="973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3">
            <a:extLst>
              <a:ext uri="{FF2B5EF4-FFF2-40B4-BE49-F238E27FC236}">
                <a16:creationId xmlns:a16="http://schemas.microsoft.com/office/drawing/2014/main" id="{4E6F45CF-93DC-372C-BB38-A6E78A6EC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23555" name="CaixaDeTexto 6">
            <a:extLst>
              <a:ext uri="{FF2B5EF4-FFF2-40B4-BE49-F238E27FC236}">
                <a16:creationId xmlns:a16="http://schemas.microsoft.com/office/drawing/2014/main" id="{96FAAB46-2B1F-2925-A738-E79A8DC3D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7493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Um CDB prefixado rende 95% do CDI. Qual o valor de resgate do CDB, considerando que em 60 dias de prazo da operação houve 48 dias úteis, que a taxa média do CDI no período é de 4,4% ao mês e que o valor aplicado foi de R$ 4.500,00? Suponha o IR de 20%. A taxa </a:t>
            </a:r>
            <a:r>
              <a:rPr lang="pt-BR" altLang="pt-BR" sz="1600" i="1">
                <a:solidFill>
                  <a:srgbClr val="000000"/>
                </a:solidFill>
                <a:latin typeface="Arial" panose="020B0604020202020204" pitchFamily="34" charset="0"/>
              </a:rPr>
              <a:t>over </a:t>
            </a: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tem capitalização diária (k=30), mas rende somente por dia útil.   </a:t>
            </a:r>
          </a:p>
        </p:txBody>
      </p:sp>
      <p:sp>
        <p:nvSpPr>
          <p:cNvPr id="23556" name="CaixaDeTexto 9">
            <a:extLst>
              <a:ext uri="{FF2B5EF4-FFF2-40B4-BE49-F238E27FC236}">
                <a16:creationId xmlns:a16="http://schemas.microsoft.com/office/drawing/2014/main" id="{AD7EBDF4-C5BB-62DC-38E1-C91E0BD05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142875"/>
            <a:ext cx="4462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Capítulo 1</a:t>
            </a:r>
            <a:r>
              <a:rPr lang="pt-BR" altLang="pt-BR" sz="1800">
                <a:solidFill>
                  <a:srgbClr val="F2F2F2"/>
                </a:solidFill>
                <a:latin typeface="Arial" panose="020B0604020202020204" pitchFamily="34" charset="0"/>
              </a:rPr>
              <a:t> | O valor do dinheiro no tempo</a:t>
            </a:r>
            <a:endParaRPr lang="pt-BR" altLang="pt-BR" sz="1800">
              <a:solidFill>
                <a:srgbClr val="F12130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CaixaDeTexto 10">
            <a:extLst>
              <a:ext uri="{FF2B5EF4-FFF2-40B4-BE49-F238E27FC236}">
                <a16:creationId xmlns:a16="http://schemas.microsoft.com/office/drawing/2014/main" id="{3950D028-C4C5-FBAA-2160-D93C86FA5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6613525"/>
            <a:ext cx="18954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3558" name="Espaço Reservado para Número de Slide 7">
            <a:extLst>
              <a:ext uri="{FF2B5EF4-FFF2-40B4-BE49-F238E27FC236}">
                <a16:creationId xmlns:a16="http://schemas.microsoft.com/office/drawing/2014/main" id="{4B7B69CE-EF62-AEB8-8BA1-4FDC5937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31013" y="652462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15121E7-6D4A-4B30-9BF2-31C4E5972F7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3559" name="CaixaDeTexto 12">
            <a:extLst>
              <a:ext uri="{FF2B5EF4-FFF2-40B4-BE49-F238E27FC236}">
                <a16:creationId xmlns:a16="http://schemas.microsoft.com/office/drawing/2014/main" id="{517A975B-EF30-7066-0E5F-30B2F8F1D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83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Exemplo: Taxa de juros nominal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2543A08-7A7A-A40F-ED33-A12855ADB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3542" t="45834" r="51562" b="34166"/>
          <a:stretch>
            <a:fillRect/>
          </a:stretch>
        </p:blipFill>
        <p:spPr bwMode="auto">
          <a:xfrm>
            <a:off x="1643063" y="4714875"/>
            <a:ext cx="2714625" cy="973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23561" name="Object 3">
            <a:extLst>
              <a:ext uri="{FF2B5EF4-FFF2-40B4-BE49-F238E27FC236}">
                <a16:creationId xmlns:a16="http://schemas.microsoft.com/office/drawing/2014/main" id="{DFE6CF82-B1FA-111C-092C-B7FDA17E02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9188" y="4643438"/>
          <a:ext cx="24288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082800" imgH="533400" progId="Equation.3">
                  <p:embed/>
                </p:oleObj>
              </mc:Choice>
              <mc:Fallback>
                <p:oleObj name="Equação" r:id="rId5" imgW="2082800" imgH="533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4643438"/>
                        <a:ext cx="24288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5">
            <a:extLst>
              <a:ext uri="{FF2B5EF4-FFF2-40B4-BE49-F238E27FC236}">
                <a16:creationId xmlns:a16="http://schemas.microsoft.com/office/drawing/2014/main" id="{A2971DC3-D656-A597-E587-34FC628D2C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286375"/>
          <a:ext cx="2933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2933700" imgH="203200" progId="Equation.3">
                  <p:embed/>
                </p:oleObj>
              </mc:Choice>
              <mc:Fallback>
                <p:oleObj name="Equação" r:id="rId7" imgW="29337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286375"/>
                        <a:ext cx="29337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aixaDeTexto 3">
            <a:extLst>
              <a:ext uri="{FF2B5EF4-FFF2-40B4-BE49-F238E27FC236}">
                <a16:creationId xmlns:a16="http://schemas.microsoft.com/office/drawing/2014/main" id="{2C05715E-0140-E8CC-2C1C-ED2410B4F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B889F7-457D-D312-1BBF-8F851C2AAA04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5604" name="CaixaDeTexto 10">
            <a:extLst>
              <a:ext uri="{FF2B5EF4-FFF2-40B4-BE49-F238E27FC236}">
                <a16:creationId xmlns:a16="http://schemas.microsoft.com/office/drawing/2014/main" id="{9880C852-F513-D864-65E0-58A1164E3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5605" name="CaixaDeTexto 12">
            <a:extLst>
              <a:ext uri="{FF2B5EF4-FFF2-40B4-BE49-F238E27FC236}">
                <a16:creationId xmlns:a16="http://schemas.microsoft.com/office/drawing/2014/main" id="{C0C4127B-BEB2-7775-1E07-CE4AC2E72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83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1.3 Taxa de juros efetiva</a:t>
            </a:r>
          </a:p>
        </p:txBody>
      </p:sp>
      <p:sp>
        <p:nvSpPr>
          <p:cNvPr id="25606" name="Espaço Reservado para Número de Slide 7">
            <a:extLst>
              <a:ext uri="{FF2B5EF4-FFF2-40B4-BE49-F238E27FC236}">
                <a16:creationId xmlns:a16="http://schemas.microsoft.com/office/drawing/2014/main" id="{3DC6EFF6-2917-50C8-EF7E-F2FAD6A0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978F64D-479C-4A47-8754-0DB9CE752C9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5607" name="CaixaDeTexto 6">
            <a:extLst>
              <a:ext uri="{FF2B5EF4-FFF2-40B4-BE49-F238E27FC236}">
                <a16:creationId xmlns:a16="http://schemas.microsoft.com/office/drawing/2014/main" id="{FC14C3F2-B030-A58F-E3E1-4D7B74C01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taxa efetiva pressupõe a incidência de juros uma única vez em cada período a que se refere; isto é, a unidade de referência de seu tempo coincide com a unidade de tempo dos períodos de capitalização. A freqüência das capitalizações de uma taxa nominal afeta o montante de uma aplicação, pois, quanto maior for essa freqüência, maior será o montante final e maior será também a taxa efetiva ganha na operação.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aixaDeTexto 3">
            <a:extLst>
              <a:ext uri="{FF2B5EF4-FFF2-40B4-BE49-F238E27FC236}">
                <a16:creationId xmlns:a16="http://schemas.microsoft.com/office/drawing/2014/main" id="{7FC9D2A5-FB3D-A1AE-042E-3B2B529F3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7D79028-25AF-B0F9-507E-49C31E771315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7652" name="CaixaDeTexto 10">
            <a:extLst>
              <a:ext uri="{FF2B5EF4-FFF2-40B4-BE49-F238E27FC236}">
                <a16:creationId xmlns:a16="http://schemas.microsoft.com/office/drawing/2014/main" id="{6BB00BF4-6B6A-B2A6-BC09-60978DACB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7653" name="CaixaDeTexto 12">
            <a:extLst>
              <a:ext uri="{FF2B5EF4-FFF2-40B4-BE49-F238E27FC236}">
                <a16:creationId xmlns:a16="http://schemas.microsoft.com/office/drawing/2014/main" id="{D3E3A587-8792-4C48-FFDC-61B131709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83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1.4 Taxa de juros efetiva</a:t>
            </a:r>
          </a:p>
        </p:txBody>
      </p:sp>
      <p:sp>
        <p:nvSpPr>
          <p:cNvPr id="27654" name="Espaço Reservado para Número de Slide 7">
            <a:extLst>
              <a:ext uri="{FF2B5EF4-FFF2-40B4-BE49-F238E27FC236}">
                <a16:creationId xmlns:a16="http://schemas.microsoft.com/office/drawing/2014/main" id="{606A5DCD-B9CC-356B-36DD-A14025CCB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C680056-A1EE-495A-92CA-60749584BA1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2CD9208-5A36-B520-DC3C-3BE43F813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6501" t="51875" r="16088" b="22922"/>
          <a:stretch>
            <a:fillRect/>
          </a:stretch>
        </p:blipFill>
        <p:spPr bwMode="auto">
          <a:xfrm>
            <a:off x="1000125" y="3143250"/>
            <a:ext cx="7000875" cy="1635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aixaDeTexto 3">
            <a:extLst>
              <a:ext uri="{FF2B5EF4-FFF2-40B4-BE49-F238E27FC236}">
                <a16:creationId xmlns:a16="http://schemas.microsoft.com/office/drawing/2014/main" id="{33317D22-464A-D40D-702F-7F972AA48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73C807E-0CDB-8D24-1C6C-433C5FFFAD92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9700" name="CaixaDeTexto 10">
            <a:extLst>
              <a:ext uri="{FF2B5EF4-FFF2-40B4-BE49-F238E27FC236}">
                <a16:creationId xmlns:a16="http://schemas.microsoft.com/office/drawing/2014/main" id="{A5608739-D1BF-E759-7FCD-DC0E056B5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29701" name="CaixaDeTexto 12">
            <a:extLst>
              <a:ext uri="{FF2B5EF4-FFF2-40B4-BE49-F238E27FC236}">
                <a16:creationId xmlns:a16="http://schemas.microsoft.com/office/drawing/2014/main" id="{BAB88A2F-545E-4E9F-AA45-70FA4B1A3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224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1.5 Equivalência entre taxas de juros</a:t>
            </a:r>
          </a:p>
        </p:txBody>
      </p:sp>
      <p:sp>
        <p:nvSpPr>
          <p:cNvPr id="29702" name="Espaço Reservado para Número de Slide 7">
            <a:extLst>
              <a:ext uri="{FF2B5EF4-FFF2-40B4-BE49-F238E27FC236}">
                <a16:creationId xmlns:a16="http://schemas.microsoft.com/office/drawing/2014/main" id="{5413B0B1-9E63-C946-00EE-259EAC60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DC09CAD-CCB6-48B4-838A-52718C1AD5F7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9703" name="CaixaDeTexto 6">
            <a:extLst>
              <a:ext uri="{FF2B5EF4-FFF2-40B4-BE49-F238E27FC236}">
                <a16:creationId xmlns:a16="http://schemas.microsoft.com/office/drawing/2014/main" id="{08DA9EF3-9BEA-234F-C55A-AF1AAF58E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Duas taxas são ditas equivalentes quando, incidindo sobre um mesmo capital durante o mesmo prazo, produzem montantes iguais. Consideremos uma aplicação de $ 1.000 pelo prazo de 1 ano. Se o capital for aplicado à taxa efetiva de 42,5761% ao ano ou de 3% ao mês, o montante será o mesmo, dado que essas duas taxas são equivalentes.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3">
            <a:extLst>
              <a:ext uri="{FF2B5EF4-FFF2-40B4-BE49-F238E27FC236}">
                <a16:creationId xmlns:a16="http://schemas.microsoft.com/office/drawing/2014/main" id="{51C0EDE1-52AC-6681-7193-4B50AFADE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77B039-EC75-A8C1-FA1D-D226A305C69A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1748" name="CaixaDeTexto 10">
            <a:extLst>
              <a:ext uri="{FF2B5EF4-FFF2-40B4-BE49-F238E27FC236}">
                <a16:creationId xmlns:a16="http://schemas.microsoft.com/office/drawing/2014/main" id="{4BC55685-6AD3-F9CD-37E6-059881D60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1749" name="CaixaDeTexto 12">
            <a:extLst>
              <a:ext uri="{FF2B5EF4-FFF2-40B4-BE49-F238E27FC236}">
                <a16:creationId xmlns:a16="http://schemas.microsoft.com/office/drawing/2014/main" id="{B9E04741-5F76-DBA8-6580-005561BA0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224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1.5 Equivalência entre taxas de juros</a:t>
            </a:r>
          </a:p>
        </p:txBody>
      </p:sp>
      <p:sp>
        <p:nvSpPr>
          <p:cNvPr id="31750" name="Espaço Reservado para Número de Slide 7">
            <a:extLst>
              <a:ext uri="{FF2B5EF4-FFF2-40B4-BE49-F238E27FC236}">
                <a16:creationId xmlns:a16="http://schemas.microsoft.com/office/drawing/2014/main" id="{174E7A58-FF0E-E726-504E-8AEF4E66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56271C0-7202-4C9F-AD63-8783C575150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31751" name="CaixaDeTexto 6">
            <a:extLst>
              <a:ext uri="{FF2B5EF4-FFF2-40B4-BE49-F238E27FC236}">
                <a16:creationId xmlns:a16="http://schemas.microsoft.com/office/drawing/2014/main" id="{8B770668-2222-691C-BC17-2CF1040E0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Montante à taxa efetiva de 42,5761% a.a.: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	$ 1.000 × (1,4257661)</a:t>
            </a:r>
            <a:r>
              <a:rPr lang="pt-BR" altLang="pt-BR" sz="1600" baseline="30000">
                <a:latin typeface="Arial" panose="020B0604020202020204" pitchFamily="34" charset="0"/>
              </a:rPr>
              <a:t>1</a:t>
            </a:r>
            <a:r>
              <a:rPr lang="pt-BR" altLang="pt-BR" sz="1600">
                <a:latin typeface="Arial" panose="020B0604020202020204" pitchFamily="34" charset="0"/>
              </a:rPr>
              <a:t> = $ 1.425,76.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>
                <a:latin typeface="Arial" panose="020B0604020202020204" pitchFamily="34" charset="0"/>
              </a:rPr>
              <a:t> Montante à taxa efetiva de 3% a.m.: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	$ 1.000 × (1,03)</a:t>
            </a:r>
            <a:r>
              <a:rPr lang="pt-BR" altLang="pt-BR" sz="1600" baseline="30000">
                <a:latin typeface="Arial" panose="020B0604020202020204" pitchFamily="34" charset="0"/>
              </a:rPr>
              <a:t>12</a:t>
            </a:r>
            <a:r>
              <a:rPr lang="pt-BR" altLang="pt-BR" sz="1600">
                <a:latin typeface="Arial" panose="020B0604020202020204" pitchFamily="34" charset="0"/>
              </a:rPr>
              <a:t> = $ 1.425,76.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3">
            <a:extLst>
              <a:ext uri="{FF2B5EF4-FFF2-40B4-BE49-F238E27FC236}">
                <a16:creationId xmlns:a16="http://schemas.microsoft.com/office/drawing/2014/main" id="{ADF2610D-CDF7-376C-008F-D6B6C9E71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33795" name="CaixaDeTexto 9">
            <a:extLst>
              <a:ext uri="{FF2B5EF4-FFF2-40B4-BE49-F238E27FC236}">
                <a16:creationId xmlns:a16="http://schemas.microsoft.com/office/drawing/2014/main" id="{61608296-A2DC-B21A-5431-598854840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142875"/>
            <a:ext cx="4462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Capítulo 1</a:t>
            </a:r>
            <a:r>
              <a:rPr lang="pt-BR" altLang="pt-BR">
                <a:solidFill>
                  <a:srgbClr val="F2F2F2"/>
                </a:solidFill>
              </a:rPr>
              <a:t> | O valor do dinheiro no tempo</a:t>
            </a:r>
            <a:endParaRPr lang="pt-BR" altLang="pt-BR">
              <a:solidFill>
                <a:srgbClr val="F12130"/>
              </a:solidFill>
            </a:endParaRPr>
          </a:p>
        </p:txBody>
      </p:sp>
      <p:sp>
        <p:nvSpPr>
          <p:cNvPr id="33796" name="CaixaDeTexto 10">
            <a:extLst>
              <a:ext uri="{FF2B5EF4-FFF2-40B4-BE49-F238E27FC236}">
                <a16:creationId xmlns:a16="http://schemas.microsoft.com/office/drawing/2014/main" id="{8EC0E757-6761-5816-8402-54E9E2268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3797" name="CaixaDeTexto 12">
            <a:extLst>
              <a:ext uri="{FF2B5EF4-FFF2-40B4-BE49-F238E27FC236}">
                <a16:creationId xmlns:a16="http://schemas.microsoft.com/office/drawing/2014/main" id="{5DE238F2-5563-2941-864B-6770EB78E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95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1.6 Cálculo financeiro com séries de pagamentos</a:t>
            </a:r>
            <a:b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</a:b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periódicos uniformes</a:t>
            </a:r>
          </a:p>
        </p:txBody>
      </p:sp>
      <p:sp>
        <p:nvSpPr>
          <p:cNvPr id="33798" name="Espaço Reservado para Número de Slide 7">
            <a:extLst>
              <a:ext uri="{FF2B5EF4-FFF2-40B4-BE49-F238E27FC236}">
                <a16:creationId xmlns:a16="http://schemas.microsoft.com/office/drawing/2014/main" id="{78200427-825B-8BEA-4C3B-E6BEC3F5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C8ACEEB2-B047-4ACA-A814-8AD0D661F86A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19463" name="CaixaDeTexto 6">
            <a:extLst>
              <a:ext uri="{FF2B5EF4-FFF2-40B4-BE49-F238E27FC236}">
                <a16:creationId xmlns:a16="http://schemas.microsoft.com/office/drawing/2014/main" id="{DE009335-5A0E-18ED-65DB-3489A164BEA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83569" y="3071813"/>
            <a:ext cx="7674620" cy="3737498"/>
          </a:xfrm>
          <a:prstGeom prst="rect">
            <a:avLst/>
          </a:prstGeom>
          <a:blipFill rotWithShape="0">
            <a:blip r:embed="rId4"/>
            <a:stretch>
              <a:fillRect l="-397" r="-31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3">
            <a:extLst>
              <a:ext uri="{FF2B5EF4-FFF2-40B4-BE49-F238E27FC236}">
                <a16:creationId xmlns:a16="http://schemas.microsoft.com/office/drawing/2014/main" id="{39A739A4-2934-C06E-CA0D-9C0C87A28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DADC94D-88D3-B3F0-9A51-635D4545131A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5844" name="CaixaDeTexto 10">
            <a:extLst>
              <a:ext uri="{FF2B5EF4-FFF2-40B4-BE49-F238E27FC236}">
                <a16:creationId xmlns:a16="http://schemas.microsoft.com/office/drawing/2014/main" id="{3005E050-0213-B750-2099-416798585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5845" name="CaixaDeTexto 12">
            <a:extLst>
              <a:ext uri="{FF2B5EF4-FFF2-40B4-BE49-F238E27FC236}">
                <a16:creationId xmlns:a16="http://schemas.microsoft.com/office/drawing/2014/main" id="{2588145B-EF4D-3EB8-0E70-94B236AA8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95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1.6 Cálculo financeiro com séries de pagamentos</a:t>
            </a:r>
            <a:b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</a:b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periódicos uniformes</a:t>
            </a:r>
          </a:p>
        </p:txBody>
      </p:sp>
      <p:sp>
        <p:nvSpPr>
          <p:cNvPr id="35846" name="Espaço Reservado para Número de Slide 7">
            <a:extLst>
              <a:ext uri="{FF2B5EF4-FFF2-40B4-BE49-F238E27FC236}">
                <a16:creationId xmlns:a16="http://schemas.microsoft.com/office/drawing/2014/main" id="{B9762E0F-D3D1-8523-E6A0-44400FEF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D4BA3931-5E8F-4BF4-B332-D4C29C8E8A38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2057" name="CaixaDeTexto 6">
            <a:extLst>
              <a:ext uri="{FF2B5EF4-FFF2-40B4-BE49-F238E27FC236}">
                <a16:creationId xmlns:a16="http://schemas.microsoft.com/office/drawing/2014/main" id="{8703D770-7161-DDD2-09F5-061E6B85624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643063" y="2643188"/>
            <a:ext cx="6715125" cy="3844258"/>
          </a:xfrm>
          <a:prstGeom prst="rect">
            <a:avLst/>
          </a:prstGeom>
          <a:blipFill rotWithShape="0">
            <a:blip r:embed="rId4"/>
            <a:stretch>
              <a:fillRect l="-54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  <p:graphicFrame>
        <p:nvGraphicFramePr>
          <p:cNvPr id="35848" name="Object 3">
            <a:extLst>
              <a:ext uri="{FF2B5EF4-FFF2-40B4-BE49-F238E27FC236}">
                <a16:creationId xmlns:a16="http://schemas.microsoft.com/office/drawing/2014/main" id="{54ED2AE8-FD29-E16D-B576-90BEEE7A08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3429000"/>
          <a:ext cx="1143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850531" imgH="418918" progId="Equation.3">
                  <p:embed/>
                </p:oleObj>
              </mc:Choice>
              <mc:Fallback>
                <p:oleObj name="Equação" r:id="rId5" imgW="850531" imgH="41891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429000"/>
                        <a:ext cx="11430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1A497910-3D6D-44F6-6BB4-22C415E7F2B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78761" y="5373216"/>
            <a:ext cx="391133" cy="276999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pt-BR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aixaDeTexto 3">
            <a:extLst>
              <a:ext uri="{FF2B5EF4-FFF2-40B4-BE49-F238E27FC236}">
                <a16:creationId xmlns:a16="http://schemas.microsoft.com/office/drawing/2014/main" id="{1F9217F2-0412-EF9F-CAF7-800BA46A7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41D37A-6627-6E10-83A9-D2382D1E8D35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7892" name="CaixaDeTexto 10">
            <a:extLst>
              <a:ext uri="{FF2B5EF4-FFF2-40B4-BE49-F238E27FC236}">
                <a16:creationId xmlns:a16="http://schemas.microsoft.com/office/drawing/2014/main" id="{CC0862F0-BEEF-32A8-C864-3E6867789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7893" name="CaixaDeTexto 12">
            <a:extLst>
              <a:ext uri="{FF2B5EF4-FFF2-40B4-BE49-F238E27FC236}">
                <a16:creationId xmlns:a16="http://schemas.microsoft.com/office/drawing/2014/main" id="{B0E27050-9253-6DFA-72D5-8F327856A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078038"/>
            <a:ext cx="55959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1.6 Cálculo financeiro com séries de pagamentos</a:t>
            </a:r>
            <a:b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</a:b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periódicos uniformes</a:t>
            </a:r>
          </a:p>
        </p:txBody>
      </p:sp>
      <p:sp>
        <p:nvSpPr>
          <p:cNvPr id="37894" name="Espaço Reservado para Número de Slide 7">
            <a:extLst>
              <a:ext uri="{FF2B5EF4-FFF2-40B4-BE49-F238E27FC236}">
                <a16:creationId xmlns:a16="http://schemas.microsoft.com/office/drawing/2014/main" id="{7BDCF5FC-5441-7A06-1736-60BFC5D7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BB1DFEA-A3D1-45C0-B1F0-D9860C398A1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4984866-6B4B-9990-E368-0DEBFC452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3247" t="41664" r="34275" b="27918"/>
          <a:stretch>
            <a:fillRect/>
          </a:stretch>
        </p:blipFill>
        <p:spPr bwMode="auto">
          <a:xfrm>
            <a:off x="3074988" y="4324350"/>
            <a:ext cx="3297237" cy="1816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896" name="CaixaDeTexto 6">
            <a:extLst>
              <a:ext uri="{FF2B5EF4-FFF2-40B4-BE49-F238E27FC236}">
                <a16:creationId xmlns:a16="http://schemas.microsoft.com/office/drawing/2014/main" id="{A0886FDA-FD9C-8D42-5DDC-FCB5743CC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2714625"/>
            <a:ext cx="6715125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 valor futuro ou montante da série é a soma dos montantes de cada termo.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Uma expressão para o montante pode ser obtida capitalizando-se por </a:t>
            </a:r>
            <a:r>
              <a:rPr lang="pt-BR" altLang="pt-BR" sz="1600" i="1">
                <a:latin typeface="Arial" panose="020B0604020202020204" pitchFamily="34" charset="0"/>
              </a:rPr>
              <a:t>n </a:t>
            </a:r>
            <a:r>
              <a:rPr lang="pt-BR" altLang="pt-BR" sz="1600">
                <a:latin typeface="Arial" panose="020B0604020202020204" pitchFamily="34" charset="0"/>
              </a:rPr>
              <a:t>períodos o valor presente da série: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aixaDeTexto 3">
            <a:extLst>
              <a:ext uri="{FF2B5EF4-FFF2-40B4-BE49-F238E27FC236}">
                <a16:creationId xmlns:a16="http://schemas.microsoft.com/office/drawing/2014/main" id="{A8361D02-369A-4B29-BF18-CB6A39764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4CB73C8-D341-C85A-6F21-2AE5E76EC61B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9940" name="CaixaDeTexto 10">
            <a:extLst>
              <a:ext uri="{FF2B5EF4-FFF2-40B4-BE49-F238E27FC236}">
                <a16:creationId xmlns:a16="http://schemas.microsoft.com/office/drawing/2014/main" id="{5F4E6151-ACBB-D7C4-E119-A47843081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39941" name="CaixaDeTexto 12">
            <a:extLst>
              <a:ext uri="{FF2B5EF4-FFF2-40B4-BE49-F238E27FC236}">
                <a16:creationId xmlns:a16="http://schemas.microsoft.com/office/drawing/2014/main" id="{994EBD26-5FA7-DC0D-73B1-6B1AD0BA2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Exemplo</a:t>
            </a:r>
          </a:p>
        </p:txBody>
      </p:sp>
      <p:sp>
        <p:nvSpPr>
          <p:cNvPr id="39942" name="Espaço Reservado para Número de Slide 7">
            <a:extLst>
              <a:ext uri="{FF2B5EF4-FFF2-40B4-BE49-F238E27FC236}">
                <a16:creationId xmlns:a16="http://schemas.microsoft.com/office/drawing/2014/main" id="{9B899FD1-1C49-192B-36BF-FF6B52DF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2C1E0A67-BC0B-4FEF-B700-F0B5DCE7B96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39943" name="CaixaDeTexto 6">
            <a:extLst>
              <a:ext uri="{FF2B5EF4-FFF2-40B4-BE49-F238E27FC236}">
                <a16:creationId xmlns:a16="http://schemas.microsoft.com/office/drawing/2014/main" id="{A8FECF77-A833-E7F5-657C-D0C3AAB2B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06675"/>
            <a:ext cx="67151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1.Qual o número de prestações necessárias para liquidar um financiamento de $ 842,36 a juros efetivos de 3% ao mês, com prestações mensais, iguais e consecutivas no valor de $ 120 cada?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2. Quanto uma pessoa acumularia ao fim de 15 meses se, todo fim de mês, depositasse R$ 350,00 em uma aplicação que paga juros efetivos de 5% ao mês?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aixaDeTexto 3">
            <a:extLst>
              <a:ext uri="{FF2B5EF4-FFF2-40B4-BE49-F238E27FC236}">
                <a16:creationId xmlns:a16="http://schemas.microsoft.com/office/drawing/2014/main" id="{D78E2338-ABA4-BF5D-965B-B8BA1ED2F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A21277-8773-9221-C36F-DA73E5BB474E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1988" name="CaixaDeTexto 10">
            <a:extLst>
              <a:ext uri="{FF2B5EF4-FFF2-40B4-BE49-F238E27FC236}">
                <a16:creationId xmlns:a16="http://schemas.microsoft.com/office/drawing/2014/main" id="{D4763736-B8D5-09D0-C1DE-6BFB7AABC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1989" name="CaixaDeTexto 12">
            <a:extLst>
              <a:ext uri="{FF2B5EF4-FFF2-40B4-BE49-F238E27FC236}">
                <a16:creationId xmlns:a16="http://schemas.microsoft.com/office/drawing/2014/main" id="{ECB0A9ED-E5B2-DC58-61B7-14144EC87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Exemplo</a:t>
            </a:r>
          </a:p>
        </p:txBody>
      </p:sp>
      <p:sp>
        <p:nvSpPr>
          <p:cNvPr id="41990" name="Espaço Reservado para Número de Slide 7">
            <a:extLst>
              <a:ext uri="{FF2B5EF4-FFF2-40B4-BE49-F238E27FC236}">
                <a16:creationId xmlns:a16="http://schemas.microsoft.com/office/drawing/2014/main" id="{2BB9F30C-0D9C-7999-733D-D50E96B6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732FFBB-3C88-436A-8ABF-A4444916331A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41991" name="CaixaDeTexto 6">
            <a:extLst>
              <a:ext uri="{FF2B5EF4-FFF2-40B4-BE49-F238E27FC236}">
                <a16:creationId xmlns:a16="http://schemas.microsoft.com/office/drawing/2014/main" id="{26C42DDE-1806-8BB5-7B8C-B40E38255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66988"/>
            <a:ext cx="67151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1. Dados: i = 3% a.m., R = $ 120, P = $ 842,36, n = 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b="1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b="1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b="1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b="1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800" b="1">
              <a:latin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9211297-4BD7-B3C7-4008-67C25B17D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1458" t="18333" r="29166" b="40944"/>
          <a:stretch>
            <a:fillRect/>
          </a:stretch>
        </p:blipFill>
        <p:spPr bwMode="auto">
          <a:xfrm>
            <a:off x="2071688" y="3143250"/>
            <a:ext cx="4667250" cy="2000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aixaDeTexto 3">
            <a:extLst>
              <a:ext uri="{FF2B5EF4-FFF2-40B4-BE49-F238E27FC236}">
                <a16:creationId xmlns:a16="http://schemas.microsoft.com/office/drawing/2014/main" id="{742864D7-7FAF-D97D-9B19-EE42174E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C93595-5898-21C2-73B6-688F3C70E492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4036" name="CaixaDeTexto 10">
            <a:extLst>
              <a:ext uri="{FF2B5EF4-FFF2-40B4-BE49-F238E27FC236}">
                <a16:creationId xmlns:a16="http://schemas.microsoft.com/office/drawing/2014/main" id="{67540F1E-282A-5FE4-1602-06B652531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4037" name="CaixaDeTexto 12">
            <a:extLst>
              <a:ext uri="{FF2B5EF4-FFF2-40B4-BE49-F238E27FC236}">
                <a16:creationId xmlns:a16="http://schemas.microsoft.com/office/drawing/2014/main" id="{03006628-DB34-D4E2-4C3E-AE9AF4FB7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Exemplo</a:t>
            </a:r>
          </a:p>
        </p:txBody>
      </p:sp>
      <p:sp>
        <p:nvSpPr>
          <p:cNvPr id="44038" name="Espaço Reservado para Número de Slide 7">
            <a:extLst>
              <a:ext uri="{FF2B5EF4-FFF2-40B4-BE49-F238E27FC236}">
                <a16:creationId xmlns:a16="http://schemas.microsoft.com/office/drawing/2014/main" id="{0FCCFC60-9B2F-4CE7-E821-BB315837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D8C83C4-A69E-458E-A9D7-F21A7284399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44039" name="CaixaDeTexto 6">
            <a:extLst>
              <a:ext uri="{FF2B5EF4-FFF2-40B4-BE49-F238E27FC236}">
                <a16:creationId xmlns:a16="http://schemas.microsoft.com/office/drawing/2014/main" id="{3545939B-8A7C-8824-6B93-4EB2740A0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59050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2. Dados: n = 15 meses, R = $ 350, i = 5% a.m., S = ?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BBD63AB-AFAE-3EE8-17B9-C20B55841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6666" t="71667" r="33333" b="6666"/>
          <a:stretch>
            <a:fillRect/>
          </a:stretch>
        </p:blipFill>
        <p:spPr bwMode="auto">
          <a:xfrm>
            <a:off x="1954213" y="3228975"/>
            <a:ext cx="5222875" cy="1414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aixaDeTexto 3">
            <a:extLst>
              <a:ext uri="{FF2B5EF4-FFF2-40B4-BE49-F238E27FC236}">
                <a16:creationId xmlns:a16="http://schemas.microsoft.com/office/drawing/2014/main" id="{21D28156-029A-8049-3642-B521CCE2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77939C5-25D9-0155-8D82-E3A949A77AFD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6084" name="CaixaDeTexto 10">
            <a:extLst>
              <a:ext uri="{FF2B5EF4-FFF2-40B4-BE49-F238E27FC236}">
                <a16:creationId xmlns:a16="http://schemas.microsoft.com/office/drawing/2014/main" id="{15985B83-4DEF-B827-3EDB-0C50310C8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6085" name="CaixaDeTexto 12">
            <a:extLst>
              <a:ext uri="{FF2B5EF4-FFF2-40B4-BE49-F238E27FC236}">
                <a16:creationId xmlns:a16="http://schemas.microsoft.com/office/drawing/2014/main" id="{B4C133DD-4125-FA74-3B23-F5BBEDAF3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1.7 Cálculo da taxa de juros em séries periódicas</a:t>
            </a:r>
            <a:b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</a:b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uniformes</a:t>
            </a:r>
          </a:p>
        </p:txBody>
      </p:sp>
      <p:sp>
        <p:nvSpPr>
          <p:cNvPr id="46086" name="Espaço Reservado para Número de Slide 7">
            <a:extLst>
              <a:ext uri="{FF2B5EF4-FFF2-40B4-BE49-F238E27FC236}">
                <a16:creationId xmlns:a16="http://schemas.microsoft.com/office/drawing/2014/main" id="{11BE1E99-057E-8E70-8E72-A723B29A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E7BB58F-2D86-4CEC-AF4D-60B5C459AF3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46087" name="CaixaDeTexto 6">
            <a:extLst>
              <a:ext uri="{FF2B5EF4-FFF2-40B4-BE49-F238E27FC236}">
                <a16:creationId xmlns:a16="http://schemas.microsoft.com/office/drawing/2014/main" id="{68B62A42-4F85-E388-2B49-56A62FCB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3060700"/>
            <a:ext cx="6715125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taxa de juros (taxa interna de retorno — TIR) de um fluxo uniforme de pagamentos ou recebimentos é aquela que capitaliza os termos da série. Para calculá-la, é preciso resolver a seguinte equação para a TIR: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6B720E2-0A21-3613-A9BF-E206AB278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4886" t="35726" r="25665" b="51731"/>
          <a:stretch>
            <a:fillRect/>
          </a:stretch>
        </p:blipFill>
        <p:spPr bwMode="auto">
          <a:xfrm>
            <a:off x="1857375" y="4500563"/>
            <a:ext cx="5857875" cy="928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aixaDeTexto 3">
            <a:extLst>
              <a:ext uri="{FF2B5EF4-FFF2-40B4-BE49-F238E27FC236}">
                <a16:creationId xmlns:a16="http://schemas.microsoft.com/office/drawing/2014/main" id="{E7DAF6AF-F5C4-C6A9-8A02-A5227696A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FD30549-4930-0C9F-995C-87217D0BAB20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8132" name="CaixaDeTexto 10">
            <a:extLst>
              <a:ext uri="{FF2B5EF4-FFF2-40B4-BE49-F238E27FC236}">
                <a16:creationId xmlns:a16="http://schemas.microsoft.com/office/drawing/2014/main" id="{52CE76FD-CB9D-055B-1D7C-E02AD39F7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48133" name="CaixaDeTexto 12">
            <a:extLst>
              <a:ext uri="{FF2B5EF4-FFF2-40B4-BE49-F238E27FC236}">
                <a16:creationId xmlns:a16="http://schemas.microsoft.com/office/drawing/2014/main" id="{12BABBF0-9B79-EA78-CAE3-216404EB5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1.7 Cálculo da taxa de juros em séries periódicas</a:t>
            </a:r>
            <a:b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</a:b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uniformes</a:t>
            </a:r>
          </a:p>
        </p:txBody>
      </p:sp>
      <p:sp>
        <p:nvSpPr>
          <p:cNvPr id="48134" name="Espaço Reservado para Número de Slide 7">
            <a:extLst>
              <a:ext uri="{FF2B5EF4-FFF2-40B4-BE49-F238E27FC236}">
                <a16:creationId xmlns:a16="http://schemas.microsoft.com/office/drawing/2014/main" id="{1B920A21-1497-52D0-418D-37544745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BBE8B37-8A27-4320-98CE-B2FDA757431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48135" name="CaixaDeTexto 6">
            <a:extLst>
              <a:ext uri="{FF2B5EF4-FFF2-40B4-BE49-F238E27FC236}">
                <a16:creationId xmlns:a16="http://schemas.microsoft.com/office/drawing/2014/main" id="{5CAC6D70-19C4-830B-EADE-DCC3B13A2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28938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O método de Baily-Lenzi é simples de ser usado e dá resultados surpreendentemente exatos. Dependendo do número de termos da série uniforme postecipada, calcula-se a taxa de juros usando as seguintes equações: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8C14FC-8298-8B23-AC7B-03F01DB0A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1250" t="35833" r="17187" b="45000"/>
          <a:stretch>
            <a:fillRect/>
          </a:stretch>
        </p:blipFill>
        <p:spPr bwMode="auto">
          <a:xfrm>
            <a:off x="2205038" y="4572000"/>
            <a:ext cx="5162550" cy="120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aixaDeTexto 3">
            <a:extLst>
              <a:ext uri="{FF2B5EF4-FFF2-40B4-BE49-F238E27FC236}">
                <a16:creationId xmlns:a16="http://schemas.microsoft.com/office/drawing/2014/main" id="{E0B985D8-38B5-ACC0-14A9-EDFDB60EB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BF6CD56-CE1A-A100-0435-C7E7062D6AC3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0180" name="CaixaDeTexto 10">
            <a:extLst>
              <a:ext uri="{FF2B5EF4-FFF2-40B4-BE49-F238E27FC236}">
                <a16:creationId xmlns:a16="http://schemas.microsoft.com/office/drawing/2014/main" id="{65A0D840-F3CC-B0CE-D557-EE49B229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0181" name="CaixaDeTexto 12">
            <a:extLst>
              <a:ext uri="{FF2B5EF4-FFF2-40B4-BE49-F238E27FC236}">
                <a16:creationId xmlns:a16="http://schemas.microsoft.com/office/drawing/2014/main" id="{5AE15AB9-1432-9358-16FD-8D079CDE4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5705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1.7 Cálculo da taxa de juros em séries periódicas</a:t>
            </a:r>
            <a:b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</a:b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uniformes</a:t>
            </a:r>
          </a:p>
        </p:txBody>
      </p:sp>
      <p:sp>
        <p:nvSpPr>
          <p:cNvPr id="50182" name="Espaço Reservado para Número de Slide 7">
            <a:extLst>
              <a:ext uri="{FF2B5EF4-FFF2-40B4-BE49-F238E27FC236}">
                <a16:creationId xmlns:a16="http://schemas.microsoft.com/office/drawing/2014/main" id="{6BDF3FEB-DCC4-0E5E-DA51-33B0A510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0594865-CEFB-4AF6-A427-506E6F24C75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0183" name="Retângulo 10">
            <a:extLst>
              <a:ext uri="{FF2B5EF4-FFF2-40B4-BE49-F238E27FC236}">
                <a16:creationId xmlns:a16="http://schemas.microsoft.com/office/drawing/2014/main" id="{953B9BBA-A339-2602-D327-0DE934319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4500563"/>
            <a:ext cx="4572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P = principal (financiamento efetivo);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R = valor da prestação postecipada;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n = número de prestações.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E81644F-C9B0-6900-2D90-7B081CC9D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7812" t="40000" r="25521" b="36667"/>
          <a:stretch>
            <a:fillRect/>
          </a:stretch>
        </p:blipFill>
        <p:spPr bwMode="auto">
          <a:xfrm>
            <a:off x="2071688" y="3071813"/>
            <a:ext cx="4899025" cy="1071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aixaDeTexto 3">
            <a:extLst>
              <a:ext uri="{FF2B5EF4-FFF2-40B4-BE49-F238E27FC236}">
                <a16:creationId xmlns:a16="http://schemas.microsoft.com/office/drawing/2014/main" id="{B37979C9-A961-7DCA-9E34-C564B16E7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324B350-57BB-8A25-F11A-BDA29B79C03E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2228" name="CaixaDeTexto 10">
            <a:extLst>
              <a:ext uri="{FF2B5EF4-FFF2-40B4-BE49-F238E27FC236}">
                <a16:creationId xmlns:a16="http://schemas.microsoft.com/office/drawing/2014/main" id="{4B1DFDE0-CED2-9A59-C2BD-B95FD2572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2229" name="CaixaDeTexto 12">
            <a:extLst>
              <a:ext uri="{FF2B5EF4-FFF2-40B4-BE49-F238E27FC236}">
                <a16:creationId xmlns:a16="http://schemas.microsoft.com/office/drawing/2014/main" id="{EAB3DF41-53B5-3D1A-E0E2-FC8291EE5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715125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1.7 Cálculo da taxa de juros em séries periódicas</a:t>
            </a:r>
            <a:b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</a:b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uniformes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 b="1">
              <a:solidFill>
                <a:srgbClr val="2C5DAA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500" b="1">
                <a:solidFill>
                  <a:srgbClr val="2C5DAA"/>
                </a:solidFill>
                <a:latin typeface="Arial" panose="020B0604020202020204" pitchFamily="34" charset="0"/>
              </a:rPr>
              <a:t>Taxa aproximada: interpolação linear</a:t>
            </a:r>
          </a:p>
        </p:txBody>
      </p:sp>
      <p:sp>
        <p:nvSpPr>
          <p:cNvPr id="52230" name="Espaço Reservado para Número de Slide 7">
            <a:extLst>
              <a:ext uri="{FF2B5EF4-FFF2-40B4-BE49-F238E27FC236}">
                <a16:creationId xmlns:a16="http://schemas.microsoft.com/office/drawing/2014/main" id="{D324F096-8391-ECE8-13B0-B08C7B79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1CFC08EF-54E0-4C21-8F23-070E0A20C2E6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2231" name="CaixaDeTexto 6">
            <a:extLst>
              <a:ext uri="{FF2B5EF4-FFF2-40B4-BE49-F238E27FC236}">
                <a16:creationId xmlns:a16="http://schemas.microsoft.com/office/drawing/2014/main" id="{C8D81A3E-F384-8074-A36F-35F95A802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43225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 taxa pode ser aproximada com o uso de um processo de interpolação linear que fornece um valor aproximado. Veja o cálculo de </a:t>
            </a:r>
            <a:r>
              <a:rPr lang="pt-BR" altLang="pt-BR" sz="1600" b="1" i="1">
                <a:latin typeface="Arial" panose="020B0604020202020204" pitchFamily="34" charset="0"/>
              </a:rPr>
              <a:t>i</a:t>
            </a:r>
            <a:r>
              <a:rPr lang="pt-BR" altLang="pt-BR" sz="1600">
                <a:latin typeface="Arial" panose="020B0604020202020204" pitchFamily="34" charset="0"/>
              </a:rPr>
              <a:t> pelo método de interpolação linear: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8CE8619-5B6B-7AEE-32A7-7C4532B16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6407" t="10323" r="37188" b="65672"/>
          <a:stretch>
            <a:fillRect/>
          </a:stretch>
        </p:blipFill>
        <p:spPr bwMode="auto">
          <a:xfrm>
            <a:off x="3429000" y="4427538"/>
            <a:ext cx="2928938" cy="1663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aixaDeTexto 3">
            <a:extLst>
              <a:ext uri="{FF2B5EF4-FFF2-40B4-BE49-F238E27FC236}">
                <a16:creationId xmlns:a16="http://schemas.microsoft.com/office/drawing/2014/main" id="{17023227-304A-2841-44E8-2BEF6CDED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CDE62F-5549-54C9-38FF-68D0E278D3D0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4276" name="CaixaDeTexto 10">
            <a:extLst>
              <a:ext uri="{FF2B5EF4-FFF2-40B4-BE49-F238E27FC236}">
                <a16:creationId xmlns:a16="http://schemas.microsoft.com/office/drawing/2014/main" id="{D469ED2F-FF16-7316-97F2-E1BA524CB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4277" name="Espaço Reservado para Número de Slide 7">
            <a:extLst>
              <a:ext uri="{FF2B5EF4-FFF2-40B4-BE49-F238E27FC236}">
                <a16:creationId xmlns:a16="http://schemas.microsoft.com/office/drawing/2014/main" id="{C5CACEEA-34B0-3B14-2531-8E004907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9BDC0C9-C236-4B1D-AAF1-DB9B2E1DE3E5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4278" name="CaixaDeTexto 6">
            <a:extLst>
              <a:ext uri="{FF2B5EF4-FFF2-40B4-BE49-F238E27FC236}">
                <a16:creationId xmlns:a16="http://schemas.microsoft.com/office/drawing/2014/main" id="{B6A0C39C-38DB-7D07-C3D3-610B13DFB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03513"/>
            <a:ext cx="6715125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Calcular a taxa de juros mensal efetiva à qual foi tomado um financiamento de $ 300.000,00 que será liquidado em 18 prestações mensais postecipadas de $ 37.758,88 cada.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7547CEA-E41E-140C-B40B-37D1C5944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1979" t="23333" r="16667" b="35833"/>
          <a:stretch>
            <a:fillRect/>
          </a:stretch>
        </p:blipFill>
        <p:spPr bwMode="auto">
          <a:xfrm>
            <a:off x="2214563" y="4000500"/>
            <a:ext cx="5072062" cy="1814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4280" name="CaixaDeTexto 12">
            <a:extLst>
              <a:ext uri="{FF2B5EF4-FFF2-40B4-BE49-F238E27FC236}">
                <a16:creationId xmlns:a16="http://schemas.microsoft.com/office/drawing/2014/main" id="{8D8348A4-5C3F-D1F4-D8FB-62AE8453D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822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1.7.1 Taxa aproximada: interpolação linear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aixaDeTexto 3">
            <a:extLst>
              <a:ext uri="{FF2B5EF4-FFF2-40B4-BE49-F238E27FC236}">
                <a16:creationId xmlns:a16="http://schemas.microsoft.com/office/drawing/2014/main" id="{05E499D2-886F-5F34-D93D-80B00BC24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56323" name="CaixaDeTexto 10">
            <a:extLst>
              <a:ext uri="{FF2B5EF4-FFF2-40B4-BE49-F238E27FC236}">
                <a16:creationId xmlns:a16="http://schemas.microsoft.com/office/drawing/2014/main" id="{6F2B2378-85E2-4983-36F4-93D74144B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6324" name="CaixaDeTexto 12">
            <a:extLst>
              <a:ext uri="{FF2B5EF4-FFF2-40B4-BE49-F238E27FC236}">
                <a16:creationId xmlns:a16="http://schemas.microsoft.com/office/drawing/2014/main" id="{C038F6AB-15B1-7681-DD10-CC1305728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822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1.7.1 Taxa aproximada: interpolação linear</a:t>
            </a:r>
          </a:p>
        </p:txBody>
      </p:sp>
      <p:sp>
        <p:nvSpPr>
          <p:cNvPr id="56325" name="Espaço Reservado para Número de Slide 7">
            <a:extLst>
              <a:ext uri="{FF2B5EF4-FFF2-40B4-BE49-F238E27FC236}">
                <a16:creationId xmlns:a16="http://schemas.microsoft.com/office/drawing/2014/main" id="{2C495494-241F-3AE0-D9D4-9D5ED142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A7F33373-FCE9-4AD3-8EA2-DB833BECB85E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7F01510-FA0B-DD24-A39E-9A4562D68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3550" t="38207" r="25899" b="13747"/>
          <a:stretch>
            <a:fillRect/>
          </a:stretch>
        </p:blipFill>
        <p:spPr bwMode="auto">
          <a:xfrm>
            <a:off x="2035175" y="2879725"/>
            <a:ext cx="4894263" cy="2906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DE74B44-F9F7-C3A4-C4B9-22855E599CBA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aixaDeTexto 3">
            <a:extLst>
              <a:ext uri="{FF2B5EF4-FFF2-40B4-BE49-F238E27FC236}">
                <a16:creationId xmlns:a16="http://schemas.microsoft.com/office/drawing/2014/main" id="{FD4834C9-818E-C02A-ACC6-96DD79457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7A6DA56-1804-8C1A-2173-422CDBEB2785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8372" name="CaixaDeTexto 10">
            <a:extLst>
              <a:ext uri="{FF2B5EF4-FFF2-40B4-BE49-F238E27FC236}">
                <a16:creationId xmlns:a16="http://schemas.microsoft.com/office/drawing/2014/main" id="{C023183D-4482-DF7D-0EBC-CA1A450EC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58373" name="CaixaDeTexto 12">
            <a:extLst>
              <a:ext uri="{FF2B5EF4-FFF2-40B4-BE49-F238E27FC236}">
                <a16:creationId xmlns:a16="http://schemas.microsoft.com/office/drawing/2014/main" id="{6E6BCB1D-E072-803A-313F-80A8B441A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822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1.7.1 Taxa aproximada: interpolação linear</a:t>
            </a:r>
          </a:p>
        </p:txBody>
      </p:sp>
      <p:sp>
        <p:nvSpPr>
          <p:cNvPr id="58374" name="Espaço Reservado para Número de Slide 7">
            <a:extLst>
              <a:ext uri="{FF2B5EF4-FFF2-40B4-BE49-F238E27FC236}">
                <a16:creationId xmlns:a16="http://schemas.microsoft.com/office/drawing/2014/main" id="{A77E226D-A4AF-D35F-FDA9-5A7056B3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E5929572-B193-4CB0-8583-4D251B8BAD77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58375" name="CaixaDeTexto 6">
            <a:extLst>
              <a:ext uri="{FF2B5EF4-FFF2-40B4-BE49-F238E27FC236}">
                <a16:creationId xmlns:a16="http://schemas.microsoft.com/office/drawing/2014/main" id="{0CCABB7A-AC70-0C97-80B4-86F0AFD36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03513"/>
            <a:ext cx="6715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Relação de proporcionalidade de triângulos: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1C43706-2869-E526-2BD5-400C8598A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9375" t="39167" r="4687" b="15000"/>
          <a:stretch>
            <a:fillRect/>
          </a:stretch>
        </p:blipFill>
        <p:spPr bwMode="auto">
          <a:xfrm>
            <a:off x="1857375" y="3429000"/>
            <a:ext cx="5357813" cy="1785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aixaDeTexto 3">
            <a:extLst>
              <a:ext uri="{FF2B5EF4-FFF2-40B4-BE49-F238E27FC236}">
                <a16:creationId xmlns:a16="http://schemas.microsoft.com/office/drawing/2014/main" id="{0779DE7A-3CB6-5DE7-3CAC-BA284EA69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7A5D072-059F-9ACA-AD46-E116114B1F67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0420" name="CaixaDeTexto 10">
            <a:extLst>
              <a:ext uri="{FF2B5EF4-FFF2-40B4-BE49-F238E27FC236}">
                <a16:creationId xmlns:a16="http://schemas.microsoft.com/office/drawing/2014/main" id="{BF109076-BEE9-6BC6-8F6F-16885487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0421" name="CaixaDeTexto 12">
            <a:extLst>
              <a:ext uri="{FF2B5EF4-FFF2-40B4-BE49-F238E27FC236}">
                <a16:creationId xmlns:a16="http://schemas.microsoft.com/office/drawing/2014/main" id="{180BCC6C-3D1A-BCCB-799F-2761523AB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7715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1.8 Cálculo financeiro com fluxos de duração indeterminada: perpetuidades</a:t>
            </a:r>
          </a:p>
        </p:txBody>
      </p:sp>
      <p:sp>
        <p:nvSpPr>
          <p:cNvPr id="60422" name="Espaço Reservado para Número de Slide 7">
            <a:extLst>
              <a:ext uri="{FF2B5EF4-FFF2-40B4-BE49-F238E27FC236}">
                <a16:creationId xmlns:a16="http://schemas.microsoft.com/office/drawing/2014/main" id="{6B812E16-D0C3-CA3A-10D2-E5636D16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69C7BE48-42A5-4544-BCDD-9E1B463F66EE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60423" name="CaixaDeTexto 6">
            <a:extLst>
              <a:ext uri="{FF2B5EF4-FFF2-40B4-BE49-F238E27FC236}">
                <a16:creationId xmlns:a16="http://schemas.microsoft.com/office/drawing/2014/main" id="{8566F7C2-2036-4392-B2F0-8E406CF7F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86063"/>
            <a:ext cx="6715125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Uma perpetuidade está constituída por um conjunto de rendas cujo número não pode ser determinado exatamente, uma vez que é muito grande e tende ao infinito. Considerando-se que </a:t>
            </a:r>
            <a:r>
              <a:rPr lang="pt-BR" altLang="pt-BR" sz="1600" b="1" i="1">
                <a:latin typeface="Arial" panose="020B0604020202020204" pitchFamily="34" charset="0"/>
              </a:rPr>
              <a:t>n</a:t>
            </a:r>
            <a:r>
              <a:rPr lang="pt-BR" altLang="pt-BR" sz="1600">
                <a:latin typeface="Arial" panose="020B0604020202020204" pitchFamily="34" charset="0"/>
              </a:rPr>
              <a:t> é indeterminado ou tende ao infinito, uma equação que nos permita calcular o valor presente de uma perpetuidade pode ser obtida do seguinte modo: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8C310E3-7CA9-0789-71EB-A4EFBDB3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4448" t="33659" r="37124" b="52695"/>
          <a:stretch>
            <a:fillRect/>
          </a:stretch>
        </p:blipFill>
        <p:spPr bwMode="auto">
          <a:xfrm>
            <a:off x="3071813" y="4800600"/>
            <a:ext cx="3286125" cy="985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aixaDeTexto 3">
            <a:extLst>
              <a:ext uri="{FF2B5EF4-FFF2-40B4-BE49-F238E27FC236}">
                <a16:creationId xmlns:a16="http://schemas.microsoft.com/office/drawing/2014/main" id="{B6605C13-607E-050B-2FDD-D18516AAB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6DDF46-DDBB-CB71-7C6B-D310F0FA2970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2468" name="CaixaDeTexto 10">
            <a:extLst>
              <a:ext uri="{FF2B5EF4-FFF2-40B4-BE49-F238E27FC236}">
                <a16:creationId xmlns:a16="http://schemas.microsoft.com/office/drawing/2014/main" id="{4A161B1F-AC01-2AAE-C1EC-BA090D0DD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2469" name="Espaço Reservado para Número de Slide 7">
            <a:extLst>
              <a:ext uri="{FF2B5EF4-FFF2-40B4-BE49-F238E27FC236}">
                <a16:creationId xmlns:a16="http://schemas.microsoft.com/office/drawing/2014/main" id="{4E7BEB4C-7137-D08F-5147-CA3795A3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DCB42BD6-4A64-4C70-8D27-97BA48AA871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62470" name="CaixaDeTexto 6">
            <a:extLst>
              <a:ext uri="{FF2B5EF4-FFF2-40B4-BE49-F238E27FC236}">
                <a16:creationId xmlns:a16="http://schemas.microsoft.com/office/drawing/2014/main" id="{A5045AD7-299C-ECC3-2C6D-8996FFD74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28938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Onde </a:t>
            </a:r>
            <a:r>
              <a:rPr lang="pt-BR" altLang="pt-BR" sz="1600" b="1" i="1">
                <a:latin typeface="Arial" panose="020B0604020202020204" pitchFamily="34" charset="0"/>
              </a:rPr>
              <a:t>R</a:t>
            </a:r>
            <a:r>
              <a:rPr lang="pt-BR" altLang="pt-BR" sz="1600">
                <a:latin typeface="Arial" panose="020B0604020202020204" pitchFamily="34" charset="0"/>
              </a:rPr>
              <a:t> é o valor dos termos da perpetuidade constante postecipada (termos vencidos) e </a:t>
            </a:r>
            <a:r>
              <a:rPr lang="pt-BR" altLang="pt-BR" sz="1600" b="1" i="1">
                <a:latin typeface="Arial" panose="020B0604020202020204" pitchFamily="34" charset="0"/>
              </a:rPr>
              <a:t>i</a:t>
            </a:r>
            <a:r>
              <a:rPr lang="pt-BR" altLang="pt-BR" sz="1600">
                <a:latin typeface="Arial" panose="020B0604020202020204" pitchFamily="34" charset="0"/>
              </a:rPr>
              <a:t> refere-se à taxa de juros que capitaliza a perpetuidade. Caso esta cresça a uma taxa constante </a:t>
            </a:r>
            <a:r>
              <a:rPr lang="pt-BR" altLang="pt-BR" sz="1600" b="1" i="1">
                <a:latin typeface="Arial" panose="020B0604020202020204" pitchFamily="34" charset="0"/>
              </a:rPr>
              <a:t>c</a:t>
            </a:r>
            <a:r>
              <a:rPr lang="pt-BR" altLang="pt-BR" sz="1600">
                <a:latin typeface="Arial" panose="020B0604020202020204" pitchFamily="34" charset="0"/>
              </a:rPr>
              <a:t>, seu valor presente será dado por: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048A64B8-16F7-4035-706D-89EDAD7EE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603" t="60950" r="22435" b="28436"/>
          <a:stretch>
            <a:fillRect/>
          </a:stretch>
        </p:blipFill>
        <p:spPr bwMode="auto">
          <a:xfrm>
            <a:off x="1673225" y="4683125"/>
            <a:ext cx="6184900" cy="746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2472" name="CaixaDeTexto 12">
            <a:extLst>
              <a:ext uri="{FF2B5EF4-FFF2-40B4-BE49-F238E27FC236}">
                <a16:creationId xmlns:a16="http://schemas.microsoft.com/office/drawing/2014/main" id="{5F33D8B9-C43F-B44D-C8A3-D2E8635CF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7715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1.8 Cálculo financeiro com fluxos de duração indeterminada: perpetuidades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aixaDeTexto 3">
            <a:extLst>
              <a:ext uri="{FF2B5EF4-FFF2-40B4-BE49-F238E27FC236}">
                <a16:creationId xmlns:a16="http://schemas.microsoft.com/office/drawing/2014/main" id="{398CAEB7-782A-1A71-D832-B2A3158B8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51BC59-2D6D-4976-E556-E4C0EB6C8E5F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4516" name="CaixaDeTexto 10">
            <a:extLst>
              <a:ext uri="{FF2B5EF4-FFF2-40B4-BE49-F238E27FC236}">
                <a16:creationId xmlns:a16="http://schemas.microsoft.com/office/drawing/2014/main" id="{141D83A6-6F4C-B816-1425-C4F920326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4517" name="CaixaDeTexto 12">
            <a:extLst>
              <a:ext uri="{FF2B5EF4-FFF2-40B4-BE49-F238E27FC236}">
                <a16:creationId xmlns:a16="http://schemas.microsoft.com/office/drawing/2014/main" id="{658D53EF-658C-707D-B394-597345FC7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0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1.9 Custo capitalizado</a:t>
            </a:r>
          </a:p>
        </p:txBody>
      </p:sp>
      <p:sp>
        <p:nvSpPr>
          <p:cNvPr id="64518" name="Espaço Reservado para Número de Slide 7">
            <a:extLst>
              <a:ext uri="{FF2B5EF4-FFF2-40B4-BE49-F238E27FC236}">
                <a16:creationId xmlns:a16="http://schemas.microsoft.com/office/drawing/2014/main" id="{45685404-3B36-24CA-82BA-EB4BD729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D74A131-FCCB-4DB7-922D-9D383FFF0429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64519" name="CaixaDeTexto 6">
            <a:extLst>
              <a:ext uri="{FF2B5EF4-FFF2-40B4-BE49-F238E27FC236}">
                <a16:creationId xmlns:a16="http://schemas.microsoft.com/office/drawing/2014/main" id="{DA3961EB-F579-C99A-24DB-8CE3A9035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43188"/>
            <a:ext cx="671512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Durante sua vida útil, o ativo produz rendas que devem acumular um fundo (S) que servirá para amortizar os gastos de sua manutenção e para pagar a sua substituição ou reforma a cada k anos. Observando o primeiro intervalo de substituição, percebe-se que o problema corresponde ao cálculo da aplicação (R) que permitirá acumular um montante (S) que se repete indefinidamente.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aixaDeTexto 3">
            <a:extLst>
              <a:ext uri="{FF2B5EF4-FFF2-40B4-BE49-F238E27FC236}">
                <a16:creationId xmlns:a16="http://schemas.microsoft.com/office/drawing/2014/main" id="{4B5D7B9B-70C0-E77B-75FF-75EED5905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801880-6D20-83FD-3599-43C9F22F3896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6564" name="CaixaDeTexto 10">
            <a:extLst>
              <a:ext uri="{FF2B5EF4-FFF2-40B4-BE49-F238E27FC236}">
                <a16:creationId xmlns:a16="http://schemas.microsoft.com/office/drawing/2014/main" id="{7862D0C8-CE2B-3ECE-56E0-4428638D5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6565" name="CaixaDeTexto 12">
            <a:extLst>
              <a:ext uri="{FF2B5EF4-FFF2-40B4-BE49-F238E27FC236}">
                <a16:creationId xmlns:a16="http://schemas.microsoft.com/office/drawing/2014/main" id="{9D8A06A4-6662-1EBF-05C8-73D705146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0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1.9 Custo capitalizado</a:t>
            </a:r>
          </a:p>
        </p:txBody>
      </p:sp>
      <p:sp>
        <p:nvSpPr>
          <p:cNvPr id="66566" name="Espaço Reservado para Número de Slide 7">
            <a:extLst>
              <a:ext uri="{FF2B5EF4-FFF2-40B4-BE49-F238E27FC236}">
                <a16:creationId xmlns:a16="http://schemas.microsoft.com/office/drawing/2014/main" id="{3A0FDC2F-7EA0-D3C3-2B33-0456D003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6955B56-9CEB-4EAB-974C-45F4E7D89134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499AFB3-7B31-9AD5-673B-5D4328A6CC0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/>
          <a:srcRect l="15148" t="12431" r="15802" b="59693"/>
          <a:stretch>
            <a:fillRect/>
          </a:stretch>
        </p:blipFill>
        <p:spPr>
          <a:xfrm>
            <a:off x="1428750" y="2700338"/>
            <a:ext cx="6000750" cy="151447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6568" name="CaixaDeTexto 6">
            <a:extLst>
              <a:ext uri="{FF2B5EF4-FFF2-40B4-BE49-F238E27FC236}">
                <a16:creationId xmlns:a16="http://schemas.microsoft.com/office/drawing/2014/main" id="{26821AF1-8DFC-69D7-06F3-E56400F8E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4572000"/>
            <a:ext cx="714375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R = renda proporcionada pelo ativo durante a sua vida útil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k = número de anos entre cada reforma ou substituição de equipamentos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C = custo inicial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S = custo de substituição ou reforma do ativo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aixaDeTexto 3">
            <a:extLst>
              <a:ext uri="{FF2B5EF4-FFF2-40B4-BE49-F238E27FC236}">
                <a16:creationId xmlns:a16="http://schemas.microsoft.com/office/drawing/2014/main" id="{1C25D9E2-0391-0136-E30C-9244FF816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27502C4-2047-C596-41A9-B48D166AC94F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8612" name="CaixaDeTexto 10">
            <a:extLst>
              <a:ext uri="{FF2B5EF4-FFF2-40B4-BE49-F238E27FC236}">
                <a16:creationId xmlns:a16="http://schemas.microsoft.com/office/drawing/2014/main" id="{85637B78-6E0B-B3E8-B9A6-A439EED6F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68613" name="CaixaDeTexto 12">
            <a:extLst>
              <a:ext uri="{FF2B5EF4-FFF2-40B4-BE49-F238E27FC236}">
                <a16:creationId xmlns:a16="http://schemas.microsoft.com/office/drawing/2014/main" id="{86F7532D-C2D7-1AAE-4D26-F8C1464DD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0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1.9 Custo capitalizado</a:t>
            </a:r>
          </a:p>
        </p:txBody>
      </p:sp>
      <p:sp>
        <p:nvSpPr>
          <p:cNvPr id="68614" name="Espaço Reservado para Número de Slide 7">
            <a:extLst>
              <a:ext uri="{FF2B5EF4-FFF2-40B4-BE49-F238E27FC236}">
                <a16:creationId xmlns:a16="http://schemas.microsoft.com/office/drawing/2014/main" id="{B90FB7D9-9522-84A7-346D-9409B4BA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D1C024C-BFA7-4135-8BB2-E1643D72C0A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1620E009-55D9-5D01-1E74-B6DF9A39D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1307" t="34359" r="27292" b="36087"/>
          <a:stretch>
            <a:fillRect/>
          </a:stretch>
        </p:blipFill>
        <p:spPr bwMode="auto">
          <a:xfrm>
            <a:off x="2357438" y="3643313"/>
            <a:ext cx="4643437" cy="2071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8616" name="CaixaDeTexto 6">
            <a:extLst>
              <a:ext uri="{FF2B5EF4-FFF2-40B4-BE49-F238E27FC236}">
                <a16:creationId xmlns:a16="http://schemas.microsoft.com/office/drawing/2014/main" id="{CDABBA8E-1CAB-0C67-36FE-8D037F5F1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32075"/>
            <a:ext cx="6715125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Veja como calcular a renda proporcionada pelo ativo durante a sua vida útil: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aixaDeTexto 3">
            <a:extLst>
              <a:ext uri="{FF2B5EF4-FFF2-40B4-BE49-F238E27FC236}">
                <a16:creationId xmlns:a16="http://schemas.microsoft.com/office/drawing/2014/main" id="{27B8321D-951F-A9A0-7DCB-DDCF45CE4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A427D5-0AB1-3CB0-563E-5FD9106707FA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70660" name="CaixaDeTexto 10">
            <a:extLst>
              <a:ext uri="{FF2B5EF4-FFF2-40B4-BE49-F238E27FC236}">
                <a16:creationId xmlns:a16="http://schemas.microsoft.com/office/drawing/2014/main" id="{A03AD38B-AB37-7113-C203-CA51A49B4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0661" name="CaixaDeTexto 12">
            <a:extLst>
              <a:ext uri="{FF2B5EF4-FFF2-40B4-BE49-F238E27FC236}">
                <a16:creationId xmlns:a16="http://schemas.microsoft.com/office/drawing/2014/main" id="{93FC1F7F-540E-F3EA-74CC-311BCE526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0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1.9 Custo capitalizado</a:t>
            </a:r>
          </a:p>
        </p:txBody>
      </p:sp>
      <p:sp>
        <p:nvSpPr>
          <p:cNvPr id="70662" name="Espaço Reservado para Número de Slide 7">
            <a:extLst>
              <a:ext uri="{FF2B5EF4-FFF2-40B4-BE49-F238E27FC236}">
                <a16:creationId xmlns:a16="http://schemas.microsoft.com/office/drawing/2014/main" id="{647DAE78-A593-7B0F-2F71-FB32DDFE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8247EAE9-3F11-417B-83D0-4082A1CED1B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70663" name="CaixaDeTexto 6">
            <a:extLst>
              <a:ext uri="{FF2B5EF4-FFF2-40B4-BE49-F238E27FC236}">
                <a16:creationId xmlns:a16="http://schemas.microsoft.com/office/drawing/2014/main" id="{0F8046B8-6C5E-1F89-408A-AEFCE4F9D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43188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O custo capitalizado (F) de um ativo está constituído pelo seu custo inicial (C) mais o valor presente (P) das infinitas substituições ou reformas a serem feitas, de modo que ele seja mantido em operação indeterminadamente: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70BECAF7-FF8D-F5A2-3032-2E5A2F39A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41084" t="78750" r="36605" b="12325"/>
          <a:stretch>
            <a:fillRect/>
          </a:stretch>
        </p:blipFill>
        <p:spPr bwMode="auto">
          <a:xfrm>
            <a:off x="3071813" y="4286250"/>
            <a:ext cx="2928937" cy="731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aixaDeTexto 3">
            <a:extLst>
              <a:ext uri="{FF2B5EF4-FFF2-40B4-BE49-F238E27FC236}">
                <a16:creationId xmlns:a16="http://schemas.microsoft.com/office/drawing/2014/main" id="{D6D99492-7A92-2064-DA97-9F2239E43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416552-081E-D6B8-9D9B-17ADCD814639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72708" name="CaixaDeTexto 10">
            <a:extLst>
              <a:ext uri="{FF2B5EF4-FFF2-40B4-BE49-F238E27FC236}">
                <a16:creationId xmlns:a16="http://schemas.microsoft.com/office/drawing/2014/main" id="{B1F482D8-92F4-D364-F34C-3181E4E37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2709" name="CaixaDeTexto 12">
            <a:extLst>
              <a:ext uri="{FF2B5EF4-FFF2-40B4-BE49-F238E27FC236}">
                <a16:creationId xmlns:a16="http://schemas.microsoft.com/office/drawing/2014/main" id="{9B18FA5C-C68D-9A1E-D057-FAE1912AA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0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1.9 Custo capitalizado</a:t>
            </a:r>
          </a:p>
        </p:txBody>
      </p:sp>
      <p:sp>
        <p:nvSpPr>
          <p:cNvPr id="72710" name="Espaço Reservado para Número de Slide 7">
            <a:extLst>
              <a:ext uri="{FF2B5EF4-FFF2-40B4-BE49-F238E27FC236}">
                <a16:creationId xmlns:a16="http://schemas.microsoft.com/office/drawing/2014/main" id="{FA386CFE-FC3B-A6A5-E041-650142A5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FA10E504-D984-4009-AAB8-62442E7BD99D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72711" name="CaixaDeTexto 6">
            <a:extLst>
              <a:ext uri="{FF2B5EF4-FFF2-40B4-BE49-F238E27FC236}">
                <a16:creationId xmlns:a16="http://schemas.microsoft.com/office/drawing/2014/main" id="{AD4D7755-DA34-BAB0-4B8F-2B6958842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14625"/>
            <a:ext cx="6715125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Um canal de irrigação teve um custo inicial de $ 500.000. O engenheiro projetista da obra estima que, para manter o canal em condições operacionais, deve-se, a cada três anos, submetê-lo a uma reforma cujo custo aproximado é de $ 150.000. Pede-se: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>
              <a:latin typeface="Arial" panose="020B0604020202020204" pitchFamily="34" charset="0"/>
            </a:endParaRPr>
          </a:p>
        </p:txBody>
      </p:sp>
      <p:sp>
        <p:nvSpPr>
          <p:cNvPr id="72712" name="Retângulo 10">
            <a:extLst>
              <a:ext uri="{FF2B5EF4-FFF2-40B4-BE49-F238E27FC236}">
                <a16:creationId xmlns:a16="http://schemas.microsoft.com/office/drawing/2014/main" id="{9D3E2EC6-B659-21A9-D973-F51F3B11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402138"/>
            <a:ext cx="64293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400" b="1">
                <a:latin typeface="Arial" panose="020B0604020202020204" pitchFamily="34" charset="0"/>
              </a:rPr>
              <a:t>a) </a:t>
            </a:r>
            <a:r>
              <a:rPr lang="pt-BR" altLang="pt-BR" sz="1400">
                <a:latin typeface="Arial" panose="020B0604020202020204" pitchFamily="34" charset="0"/>
              </a:rPr>
              <a:t>calcule a quantia que deve ser aplicada hoje, a juros efetivos de 15% ao ano, de modo que assegure a reforma perpétua do canal;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400" b="1">
                <a:latin typeface="Arial" panose="020B0604020202020204" pitchFamily="34" charset="0"/>
              </a:rPr>
              <a:t>b) </a:t>
            </a:r>
            <a:r>
              <a:rPr lang="pt-BR" altLang="pt-BR" sz="1400">
                <a:latin typeface="Arial" panose="020B0604020202020204" pitchFamily="34" charset="0"/>
              </a:rPr>
              <a:t>calcule o custo capitalizado do canal, admitindo-se um custo do capital de 15% ao ano.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aixaDeTexto 3">
            <a:extLst>
              <a:ext uri="{FF2B5EF4-FFF2-40B4-BE49-F238E27FC236}">
                <a16:creationId xmlns:a16="http://schemas.microsoft.com/office/drawing/2014/main" id="{4BDCB7BB-92AC-6CE6-F8DD-594921CB5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75E835F-1D8B-52B8-102E-64BDB18F23CA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74756" name="CaixaDeTexto 10">
            <a:extLst>
              <a:ext uri="{FF2B5EF4-FFF2-40B4-BE49-F238E27FC236}">
                <a16:creationId xmlns:a16="http://schemas.microsoft.com/office/drawing/2014/main" id="{F6383DED-875F-4598-AFF8-087AD4DEC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4757" name="CaixaDeTexto 12">
            <a:extLst>
              <a:ext uri="{FF2B5EF4-FFF2-40B4-BE49-F238E27FC236}">
                <a16:creationId xmlns:a16="http://schemas.microsoft.com/office/drawing/2014/main" id="{ABF2BE26-3D75-F10D-80ED-10126F3D5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08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1.9 Custo capitalizado</a:t>
            </a:r>
          </a:p>
        </p:txBody>
      </p:sp>
      <p:sp>
        <p:nvSpPr>
          <p:cNvPr id="74758" name="Espaço Reservado para Número de Slide 7">
            <a:extLst>
              <a:ext uri="{FF2B5EF4-FFF2-40B4-BE49-F238E27FC236}">
                <a16:creationId xmlns:a16="http://schemas.microsoft.com/office/drawing/2014/main" id="{89D75813-FFEB-1A19-291D-26380385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AC433C5C-D6A0-4FF8-9B16-DB4D7BAF308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74759" name="CaixaDeTexto 6">
            <a:extLst>
              <a:ext uri="{FF2B5EF4-FFF2-40B4-BE49-F238E27FC236}">
                <a16:creationId xmlns:a16="http://schemas.microsoft.com/office/drawing/2014/main" id="{755A1775-985E-B20D-2FD9-FF6CC2BD8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43188"/>
            <a:ext cx="6715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Arial" panose="020B0604020202020204" pitchFamily="34" charset="0"/>
              </a:rPr>
              <a:t>Dados: C = $ 500.000, S = $ 150.000, i = 15% a.a., k = 3, P = ?, F = ?</a:t>
            </a:r>
            <a:endParaRPr lang="pt-BR" altLang="pt-BR" sz="1600">
              <a:latin typeface="Arial" panose="020B0604020202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B912264-FA13-6458-0624-DC1FC7D6F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5520" t="59167" r="31250" b="28333"/>
          <a:stretch>
            <a:fillRect/>
          </a:stretch>
        </p:blipFill>
        <p:spPr bwMode="auto">
          <a:xfrm>
            <a:off x="2714625" y="5072063"/>
            <a:ext cx="3952875" cy="714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CED7C874-9ACE-6EE2-9130-1E7F24573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7812" t="24167" r="12500" b="53444"/>
          <a:stretch>
            <a:fillRect/>
          </a:stretch>
        </p:blipFill>
        <p:spPr bwMode="auto">
          <a:xfrm>
            <a:off x="1795463" y="3214688"/>
            <a:ext cx="6205537" cy="1089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4762" name="Retângulo 11">
            <a:extLst>
              <a:ext uri="{FF2B5EF4-FFF2-40B4-BE49-F238E27FC236}">
                <a16:creationId xmlns:a16="http://schemas.microsoft.com/office/drawing/2014/main" id="{A7E08273-ADFF-4C63-CBA0-433AD4989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413" y="4519613"/>
            <a:ext cx="2895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Arial" panose="020B0604020202020204" pitchFamily="34" charset="0"/>
              </a:rPr>
              <a:t>a) Capital a ser aplicado hoje: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aixaDeTexto 3">
            <a:extLst>
              <a:ext uri="{FF2B5EF4-FFF2-40B4-BE49-F238E27FC236}">
                <a16:creationId xmlns:a16="http://schemas.microsoft.com/office/drawing/2014/main" id="{E570D020-A471-49A4-A55E-6E345794B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3E4DD5-654C-9A75-D398-83621F3B3727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76804" name="CaixaDeTexto 10">
            <a:extLst>
              <a:ext uri="{FF2B5EF4-FFF2-40B4-BE49-F238E27FC236}">
                <a16:creationId xmlns:a16="http://schemas.microsoft.com/office/drawing/2014/main" id="{174B1124-AD0C-BEAD-1272-B88015D57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6805" name="CaixaDeTexto 12">
            <a:extLst>
              <a:ext uri="{FF2B5EF4-FFF2-40B4-BE49-F238E27FC236}">
                <a16:creationId xmlns:a16="http://schemas.microsoft.com/office/drawing/2014/main" id="{45761259-207E-E4EC-3DC4-018950557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19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1.10 Capitalização contínua</a:t>
            </a:r>
          </a:p>
        </p:txBody>
      </p:sp>
      <p:sp>
        <p:nvSpPr>
          <p:cNvPr id="76806" name="Espaço Reservado para Número de Slide 7">
            <a:extLst>
              <a:ext uri="{FF2B5EF4-FFF2-40B4-BE49-F238E27FC236}">
                <a16:creationId xmlns:a16="http://schemas.microsoft.com/office/drawing/2014/main" id="{F465D384-B1D8-11FA-2DBE-E8CE86E5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F1F0CCF2-ABD9-4EC0-A932-55188F17F95A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76807" name="CaixaDeTexto 6">
            <a:extLst>
              <a:ext uri="{FF2B5EF4-FFF2-40B4-BE49-F238E27FC236}">
                <a16:creationId xmlns:a16="http://schemas.microsoft.com/office/drawing/2014/main" id="{8424F5FF-5BDD-EA1D-55B5-A6E7C41FE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38438"/>
            <a:ext cx="671512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Na prática da avaliação econômica, muitas vezes, os valores monetários fluem contínua e uniformemente pelo tempo, o que exige um cômputo diferente para a atualização de valores: a chamada capitalização contínua. É esse o tipo de cômputo usado nos modelos de apreçamento de derivativos, nos modelos de finanças em tempo contínuo, na avaliação de opções reais etc.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CaixaDeTexto 3">
            <a:extLst>
              <a:ext uri="{FF2B5EF4-FFF2-40B4-BE49-F238E27FC236}">
                <a16:creationId xmlns:a16="http://schemas.microsoft.com/office/drawing/2014/main" id="{737C78FA-EA8D-B6CF-07AB-10BA0C242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F6E924B-439D-D8C0-9170-08FFE2F3EB56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78852" name="CaixaDeTexto 10">
            <a:extLst>
              <a:ext uri="{FF2B5EF4-FFF2-40B4-BE49-F238E27FC236}">
                <a16:creationId xmlns:a16="http://schemas.microsoft.com/office/drawing/2014/main" id="{39E8EA4A-D0CB-BCB6-BD3D-96D4CE37B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78853" name="CaixaDeTexto 12">
            <a:extLst>
              <a:ext uri="{FF2B5EF4-FFF2-40B4-BE49-F238E27FC236}">
                <a16:creationId xmlns:a16="http://schemas.microsoft.com/office/drawing/2014/main" id="{50395D07-A5BC-16F8-6DBE-5C029C369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19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1.10 Capitalização contínua</a:t>
            </a:r>
          </a:p>
        </p:txBody>
      </p:sp>
      <p:sp>
        <p:nvSpPr>
          <p:cNvPr id="78854" name="Espaço Reservado para Número de Slide 7">
            <a:extLst>
              <a:ext uri="{FF2B5EF4-FFF2-40B4-BE49-F238E27FC236}">
                <a16:creationId xmlns:a16="http://schemas.microsoft.com/office/drawing/2014/main" id="{5A25F4A8-2B99-1630-6240-FC6FFCCD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7CF90DAE-0314-4C00-B3FF-7A90710AC0E0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D74D4D0-9FDA-D845-DA79-36760857F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0035" t="56426" r="25380" b="18761"/>
          <a:stretch>
            <a:fillRect/>
          </a:stretch>
        </p:blipFill>
        <p:spPr bwMode="auto">
          <a:xfrm>
            <a:off x="2214563" y="3565525"/>
            <a:ext cx="5357812" cy="1863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8856" name="CaixaDeTexto 6">
            <a:extLst>
              <a:ext uri="{FF2B5EF4-FFF2-40B4-BE49-F238E27FC236}">
                <a16:creationId xmlns:a16="http://schemas.microsoft.com/office/drawing/2014/main" id="{C48271CB-2C34-B471-9E29-36FF08FF8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73363"/>
            <a:ext cx="67151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Montantes que consideram diversas hipóteses de freqüência das capitalizações da taxa nominal: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CaixaDeTexto 3">
            <a:extLst>
              <a:ext uri="{FF2B5EF4-FFF2-40B4-BE49-F238E27FC236}">
                <a16:creationId xmlns:a16="http://schemas.microsoft.com/office/drawing/2014/main" id="{A159A53E-181C-986B-90F5-BC4BCBC05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6C4EC21-0853-5AB9-FD5E-105C3DAA8C35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0900" name="CaixaDeTexto 10">
            <a:extLst>
              <a:ext uri="{FF2B5EF4-FFF2-40B4-BE49-F238E27FC236}">
                <a16:creationId xmlns:a16="http://schemas.microsoft.com/office/drawing/2014/main" id="{D04A56F5-B32B-A64D-BD2E-2A6F4473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80901" name="CaixaDeTexto 12">
            <a:extLst>
              <a:ext uri="{FF2B5EF4-FFF2-40B4-BE49-F238E27FC236}">
                <a16:creationId xmlns:a16="http://schemas.microsoft.com/office/drawing/2014/main" id="{F1D3DA16-BB1B-0634-7C90-6D2896675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319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1.10 Capitalização contínua</a:t>
            </a:r>
          </a:p>
        </p:txBody>
      </p:sp>
      <p:sp>
        <p:nvSpPr>
          <p:cNvPr id="80902" name="Espaço Reservado para Número de Slide 7">
            <a:extLst>
              <a:ext uri="{FF2B5EF4-FFF2-40B4-BE49-F238E27FC236}">
                <a16:creationId xmlns:a16="http://schemas.microsoft.com/office/drawing/2014/main" id="{4C0F71CF-6BC7-F9F8-A544-56173E8B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17A55B34-8F2A-4678-A983-0B23E6B0B52C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80903" name="CaixaDeTexto 6">
            <a:extLst>
              <a:ext uri="{FF2B5EF4-FFF2-40B4-BE49-F238E27FC236}">
                <a16:creationId xmlns:a16="http://schemas.microsoft.com/office/drawing/2014/main" id="{89B185CB-92B6-D1E3-2390-F59B01842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43188"/>
            <a:ext cx="67151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Sabe-se que o montante produzido por duas taxas de juros equivalentes deve ser o mesmo. Assim, igualando os montantes das computações contínua e discreta, é possível obter uma relação de equivalência entre taxas de juros discretas e contínuas: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2C5D24D0-49FF-9058-4D82-74C078BA0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252" t="54355" r="22643" b="35104"/>
          <a:stretch>
            <a:fillRect/>
          </a:stretch>
        </p:blipFill>
        <p:spPr bwMode="auto">
          <a:xfrm>
            <a:off x="2071688" y="4214813"/>
            <a:ext cx="5857875" cy="700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0905" name="CaixaDeTexto 6">
            <a:extLst>
              <a:ext uri="{FF2B5EF4-FFF2-40B4-BE49-F238E27FC236}">
                <a16:creationId xmlns:a16="http://schemas.microsoft.com/office/drawing/2014/main" id="{26489D65-75DF-D17B-FFB4-5010E3D75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4918075"/>
            <a:ext cx="6715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Adotando-se a taxa de juros efetiva i para uma capitalização discreta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de juros, </a:t>
            </a:r>
            <a:r>
              <a:rPr lang="el-GR" altLang="pt-BR" sz="1600">
                <a:latin typeface="Arial" panose="020B0604020202020204" pitchFamily="34" charset="0"/>
              </a:rPr>
              <a:t>δ</a:t>
            </a:r>
            <a:r>
              <a:rPr lang="pt-BR" altLang="pt-BR" sz="1600">
                <a:latin typeface="Arial" panose="020B0604020202020204" pitchFamily="34" charset="0"/>
              </a:rPr>
              <a:t> = ln(1 + i) será a taxa nominal equivalente para uma capitalização contínua.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CaixaDeTexto 3">
            <a:extLst>
              <a:ext uri="{FF2B5EF4-FFF2-40B4-BE49-F238E27FC236}">
                <a16:creationId xmlns:a16="http://schemas.microsoft.com/office/drawing/2014/main" id="{EF1AE60B-2E5A-E726-DA35-7D3FCA8B8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1A9B7C3-CDE8-7DD4-0D38-E014CC9CD874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2948" name="CaixaDeTexto 10">
            <a:extLst>
              <a:ext uri="{FF2B5EF4-FFF2-40B4-BE49-F238E27FC236}">
                <a16:creationId xmlns:a16="http://schemas.microsoft.com/office/drawing/2014/main" id="{A45CD384-C9EE-F905-B428-86AB2E04C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82949" name="CaixaDeTexto 12">
            <a:extLst>
              <a:ext uri="{FF2B5EF4-FFF2-40B4-BE49-F238E27FC236}">
                <a16:creationId xmlns:a16="http://schemas.microsoft.com/office/drawing/2014/main" id="{D7D98025-F591-48B5-F42A-93CA90EA7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21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1.11 Planos de amortização de empréstimos 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financiamentos</a:t>
            </a:r>
          </a:p>
        </p:txBody>
      </p:sp>
      <p:sp>
        <p:nvSpPr>
          <p:cNvPr id="82950" name="Espaço Reservado para Número de Slide 7">
            <a:extLst>
              <a:ext uri="{FF2B5EF4-FFF2-40B4-BE49-F238E27FC236}">
                <a16:creationId xmlns:a16="http://schemas.microsoft.com/office/drawing/2014/main" id="{E52059FA-DC30-4B56-0C5B-30B47D9A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0EAEA7C4-6818-4297-BD85-0F58A96A5EC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82951" name="CaixaDeTexto 6">
            <a:extLst>
              <a:ext uri="{FF2B5EF4-FFF2-40B4-BE49-F238E27FC236}">
                <a16:creationId xmlns:a16="http://schemas.microsoft.com/office/drawing/2014/main" id="{7B272890-4261-9115-5FE2-DC7169BCF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89263"/>
            <a:ext cx="671512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A amortização é um processo financeiro pelo qual uma dívida ou obrigação é paga por meio de parcelas, de modo que, ao término do prazo estipulado, o débito esteja totalmente quitado. Essas parcelas ou prestações são a soma de duas partes: a amortização, que representa a devolução do empréstimo em quotas, e os juros correspondentes ao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saldo do empréstimo ainda não amortizado.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69C7F6F3-CF87-2774-3054-9DE303CC3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9258" t="51563" r="34375" b="44687"/>
          <a:stretch>
            <a:fillRect/>
          </a:stretch>
        </p:blipFill>
        <p:spPr bwMode="auto">
          <a:xfrm>
            <a:off x="2990850" y="5324475"/>
            <a:ext cx="3581400" cy="319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CaixaDeTexto 3">
            <a:extLst>
              <a:ext uri="{FF2B5EF4-FFF2-40B4-BE49-F238E27FC236}">
                <a16:creationId xmlns:a16="http://schemas.microsoft.com/office/drawing/2014/main" id="{EAE358E7-C970-402A-CDDA-97F14BAA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A533040-FD8E-FD50-3E1A-ABFBB7C47415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4996" name="CaixaDeTexto 10">
            <a:extLst>
              <a:ext uri="{FF2B5EF4-FFF2-40B4-BE49-F238E27FC236}">
                <a16:creationId xmlns:a16="http://schemas.microsoft.com/office/drawing/2014/main" id="{0072141F-6A91-D271-E418-39741C9DB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84997" name="CaixaDeTexto 12">
            <a:extLst>
              <a:ext uri="{FF2B5EF4-FFF2-40B4-BE49-F238E27FC236}">
                <a16:creationId xmlns:a16="http://schemas.microsoft.com/office/drawing/2014/main" id="{4CF02CF3-590F-9B5A-E88E-357B6E6BA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21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1.11 Planos de amortização de empréstimos 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financiamentos</a:t>
            </a:r>
          </a:p>
        </p:txBody>
      </p:sp>
      <p:sp>
        <p:nvSpPr>
          <p:cNvPr id="84998" name="Espaço Reservado para Número de Slide 7">
            <a:extLst>
              <a:ext uri="{FF2B5EF4-FFF2-40B4-BE49-F238E27FC236}">
                <a16:creationId xmlns:a16="http://schemas.microsoft.com/office/drawing/2014/main" id="{181664C3-D5CB-6C93-7498-F30C1D87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DFF25B5D-A8F3-44B9-95C6-D7D1A82EB133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84999" name="CaixaDeTexto 6">
            <a:extLst>
              <a:ext uri="{FF2B5EF4-FFF2-40B4-BE49-F238E27FC236}">
                <a16:creationId xmlns:a16="http://schemas.microsoft.com/office/drawing/2014/main" id="{EDD415AF-9839-3BA5-C6BB-2AF80563C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786063"/>
            <a:ext cx="671512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Essa separação permite discriminar o que representa a devolução do principal (amortização) do que representa o serviço da dívida (juros). Ela é importante para as necessidades jurídico-contábeis e na análise de investimentos, em que os juros, por serem dedutíveis para efeitos tributáveis, têm um efeito fiscal diferente da amortização.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Entre os principais e mais utilizados sistemas de amortização de empréstimos, temos os seguintes: sistema ou tabela Price, sistema de amortizações constantes (SAC) e sistema de amortizações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crescentes (Sacre).</a:t>
            </a: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CaixaDeTexto 3">
            <a:extLst>
              <a:ext uri="{FF2B5EF4-FFF2-40B4-BE49-F238E27FC236}">
                <a16:creationId xmlns:a16="http://schemas.microsoft.com/office/drawing/2014/main" id="{D6360C36-AA7E-0133-BA70-F104447BB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212118A-9F39-92A2-4AA5-92B9039E2D3C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7044" name="CaixaDeTexto 10">
            <a:extLst>
              <a:ext uri="{FF2B5EF4-FFF2-40B4-BE49-F238E27FC236}">
                <a16:creationId xmlns:a16="http://schemas.microsoft.com/office/drawing/2014/main" id="{990B1712-5928-AA91-A502-8360EF523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87045" name="CaixaDeTexto 12">
            <a:extLst>
              <a:ext uri="{FF2B5EF4-FFF2-40B4-BE49-F238E27FC236}">
                <a16:creationId xmlns:a16="http://schemas.microsoft.com/office/drawing/2014/main" id="{36BDDDC2-9A82-4432-C00E-DDAF418C0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21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1.11 Planos de amortização de empréstimos 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financiamentos</a:t>
            </a:r>
          </a:p>
        </p:txBody>
      </p:sp>
      <p:sp>
        <p:nvSpPr>
          <p:cNvPr id="87046" name="Espaço Reservado para Número de Slide 7">
            <a:extLst>
              <a:ext uri="{FF2B5EF4-FFF2-40B4-BE49-F238E27FC236}">
                <a16:creationId xmlns:a16="http://schemas.microsoft.com/office/drawing/2014/main" id="{8BBCCD86-0A00-EC02-41D9-A3B585497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FD25EC26-A823-4F3A-B79B-68415ACB8FC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87047" name="CaixaDeTexto 6">
            <a:extLst>
              <a:ext uri="{FF2B5EF4-FFF2-40B4-BE49-F238E27FC236}">
                <a16:creationId xmlns:a16="http://schemas.microsoft.com/office/drawing/2014/main" id="{8B9DF349-D104-CEF8-90FD-6D62584EF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89263"/>
            <a:ext cx="6715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Planilha de amortização pela tabela Price: taxa de 10% ao mês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6746E7B0-1BE6-2178-D503-61934CE6B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558" t="27187" r="20019" b="42813"/>
          <a:stretch>
            <a:fillRect/>
          </a:stretch>
        </p:blipFill>
        <p:spPr bwMode="auto">
          <a:xfrm>
            <a:off x="2214563" y="3711575"/>
            <a:ext cx="5143500" cy="167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CaixaDeTexto 3">
            <a:extLst>
              <a:ext uri="{FF2B5EF4-FFF2-40B4-BE49-F238E27FC236}">
                <a16:creationId xmlns:a16="http://schemas.microsoft.com/office/drawing/2014/main" id="{0A033D31-1D9C-E142-7434-A85FEEAA8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FAB5E8-34D4-5C9B-4391-43132B30074A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9092" name="CaixaDeTexto 10">
            <a:extLst>
              <a:ext uri="{FF2B5EF4-FFF2-40B4-BE49-F238E27FC236}">
                <a16:creationId xmlns:a16="http://schemas.microsoft.com/office/drawing/2014/main" id="{30E1C978-2354-9AB7-1AC6-C58AB5E3F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89093" name="CaixaDeTexto 12">
            <a:extLst>
              <a:ext uri="{FF2B5EF4-FFF2-40B4-BE49-F238E27FC236}">
                <a16:creationId xmlns:a16="http://schemas.microsoft.com/office/drawing/2014/main" id="{F5DE621B-8B5E-6B76-1EBD-F2D36A5B4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21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1.11 Planos de amortização de empréstimos 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financiamentos</a:t>
            </a:r>
          </a:p>
        </p:txBody>
      </p:sp>
      <p:sp>
        <p:nvSpPr>
          <p:cNvPr id="89094" name="Espaço Reservado para Número de Slide 7">
            <a:extLst>
              <a:ext uri="{FF2B5EF4-FFF2-40B4-BE49-F238E27FC236}">
                <a16:creationId xmlns:a16="http://schemas.microsoft.com/office/drawing/2014/main" id="{FFF54272-35DD-2C49-5190-661C6E72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762D403-F7FE-4CD6-986D-F41C40A2832E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89095" name="CaixaDeTexto 6">
            <a:extLst>
              <a:ext uri="{FF2B5EF4-FFF2-40B4-BE49-F238E27FC236}">
                <a16:creationId xmlns:a16="http://schemas.microsoft.com/office/drawing/2014/main" id="{95E75AA7-41E1-93F2-0CC9-1555619DF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16238"/>
            <a:ext cx="6715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Planilha de amortização pelo sistema de amortizações constantes (SAC):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B497092F-6067-A9B2-3065-217B377AC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2558" t="43124" r="20019" b="27812"/>
          <a:stretch>
            <a:fillRect/>
          </a:stretch>
        </p:blipFill>
        <p:spPr bwMode="auto">
          <a:xfrm>
            <a:off x="2214563" y="3714750"/>
            <a:ext cx="5214937" cy="1649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aixaDeTexto 3">
            <a:extLst>
              <a:ext uri="{FF2B5EF4-FFF2-40B4-BE49-F238E27FC236}">
                <a16:creationId xmlns:a16="http://schemas.microsoft.com/office/drawing/2014/main" id="{5C2A4C3D-F7EE-0CE4-D370-DA47688EE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0623D1-7CDA-A9C6-FDCE-A16DD0FE063B}"/>
              </a:ext>
            </a:extLst>
          </p:cNvPr>
          <p:cNvSpPr txBox="1"/>
          <p:nvPr/>
        </p:nvSpPr>
        <p:spPr>
          <a:xfrm>
            <a:off x="4538663" y="142875"/>
            <a:ext cx="446246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1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O valor do dinheiro no tempo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91140" name="CaixaDeTexto 10">
            <a:extLst>
              <a:ext uri="{FF2B5EF4-FFF2-40B4-BE49-F238E27FC236}">
                <a16:creationId xmlns:a16="http://schemas.microsoft.com/office/drawing/2014/main" id="{45A39265-346B-A853-A3FA-37DC87358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1141" name="CaixaDeTexto 12">
            <a:extLst>
              <a:ext uri="{FF2B5EF4-FFF2-40B4-BE49-F238E27FC236}">
                <a16:creationId xmlns:a16="http://schemas.microsoft.com/office/drawing/2014/main" id="{342F3499-3836-FBD8-E626-9CA24CE70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21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1.11 Planos de amortização de empréstimos 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financiamentos</a:t>
            </a:r>
          </a:p>
        </p:txBody>
      </p:sp>
      <p:sp>
        <p:nvSpPr>
          <p:cNvPr id="91142" name="Espaço Reservado para Número de Slide 7">
            <a:extLst>
              <a:ext uri="{FF2B5EF4-FFF2-40B4-BE49-F238E27FC236}">
                <a16:creationId xmlns:a16="http://schemas.microsoft.com/office/drawing/2014/main" id="{8B1429F3-EEEC-7DE4-E2DA-9B112F38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57C6C9D7-873F-46E9-8EFC-1B086FE8E5AD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1143" name="CaixaDeTexto 6">
            <a:extLst>
              <a:ext uri="{FF2B5EF4-FFF2-40B4-BE49-F238E27FC236}">
                <a16:creationId xmlns:a16="http://schemas.microsoft.com/office/drawing/2014/main" id="{EB11BFE5-F677-4FC8-5E74-676470D10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16238"/>
            <a:ext cx="6715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pt-BR" altLang="pt-BR" sz="1600">
                <a:latin typeface="Arial" panose="020B0604020202020204" pitchFamily="34" charset="0"/>
              </a:rPr>
              <a:t>Planilha de amortização pelo sistema de amortizações crescentes (Sacre):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89C17998-46EC-047E-2E1B-3DDCC025C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24977" t="27776" r="17164" b="42652"/>
          <a:stretch>
            <a:fillRect/>
          </a:stretch>
        </p:blipFill>
        <p:spPr bwMode="auto">
          <a:xfrm>
            <a:off x="2286000" y="3714750"/>
            <a:ext cx="5143500" cy="1643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aixaDeTexto 3">
            <a:extLst>
              <a:ext uri="{FF2B5EF4-FFF2-40B4-BE49-F238E27FC236}">
                <a16:creationId xmlns:a16="http://schemas.microsoft.com/office/drawing/2014/main" id="{1AA9BD8D-4044-78BD-EDCC-FBB499D06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93187" name="CaixaDeTexto 9">
            <a:extLst>
              <a:ext uri="{FF2B5EF4-FFF2-40B4-BE49-F238E27FC236}">
                <a16:creationId xmlns:a16="http://schemas.microsoft.com/office/drawing/2014/main" id="{C94DF730-F902-B550-C598-7F91EE33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142875"/>
            <a:ext cx="4462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Capítulo 1</a:t>
            </a:r>
            <a:r>
              <a:rPr lang="pt-BR" altLang="pt-BR" sz="1800">
                <a:solidFill>
                  <a:srgbClr val="F2F2F2"/>
                </a:solidFill>
                <a:latin typeface="Arial" panose="020B0604020202020204" pitchFamily="34" charset="0"/>
              </a:rPr>
              <a:t> | O valor do dinheiro no tempo</a:t>
            </a:r>
            <a:endParaRPr lang="pt-BR" altLang="pt-BR" sz="1800">
              <a:solidFill>
                <a:srgbClr val="F12130"/>
              </a:solidFill>
              <a:latin typeface="Arial" panose="020B0604020202020204" pitchFamily="34" charset="0"/>
            </a:endParaRPr>
          </a:p>
        </p:txBody>
      </p:sp>
      <p:sp>
        <p:nvSpPr>
          <p:cNvPr id="93188" name="CaixaDeTexto 10">
            <a:extLst>
              <a:ext uri="{FF2B5EF4-FFF2-40B4-BE49-F238E27FC236}">
                <a16:creationId xmlns:a16="http://schemas.microsoft.com/office/drawing/2014/main" id="{10EDB4C6-500E-F1BF-B3C7-829E81E54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3189" name="CaixaDeTexto 12">
            <a:extLst>
              <a:ext uri="{FF2B5EF4-FFF2-40B4-BE49-F238E27FC236}">
                <a16:creationId xmlns:a16="http://schemas.microsoft.com/office/drawing/2014/main" id="{4C003D0F-B13D-DBFC-86DD-430589A5C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570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Exercícios 1.3: Qual o valor de resgate para um capital de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R$ 200,00 aplicado pelos prazos e taxas a seguir:</a:t>
            </a:r>
          </a:p>
        </p:txBody>
      </p:sp>
      <p:sp>
        <p:nvSpPr>
          <p:cNvPr id="93190" name="Espaço Reservado para Número de Slide 7">
            <a:extLst>
              <a:ext uri="{FF2B5EF4-FFF2-40B4-BE49-F238E27FC236}">
                <a16:creationId xmlns:a16="http://schemas.microsoft.com/office/drawing/2014/main" id="{7C949717-CCA4-0944-CCE3-AC3B931C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45C72A03-02CC-4445-8A1E-3695DB3CBA39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3191" name="CaixaDeTexto 6">
            <a:extLst>
              <a:ext uri="{FF2B5EF4-FFF2-40B4-BE49-F238E27FC236}">
                <a16:creationId xmlns:a16="http://schemas.microsoft.com/office/drawing/2014/main" id="{8C3EB937-A96C-A2C3-7B60-BBC3964EB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16238"/>
            <a:ext cx="6715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27 dias a 9% a.m. capitalizados diariamente?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6 meses a 28% a.a. capitalizados mensalmente?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7 meses a 28% a.a. capitalizados trimestralmente?</a:t>
            </a: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CaixaDeTexto 3">
            <a:extLst>
              <a:ext uri="{FF2B5EF4-FFF2-40B4-BE49-F238E27FC236}">
                <a16:creationId xmlns:a16="http://schemas.microsoft.com/office/drawing/2014/main" id="{2272A28C-3CD1-DCA9-99AC-E22F3DD29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95235" name="CaixaDeTexto 9">
            <a:extLst>
              <a:ext uri="{FF2B5EF4-FFF2-40B4-BE49-F238E27FC236}">
                <a16:creationId xmlns:a16="http://schemas.microsoft.com/office/drawing/2014/main" id="{CEAE70EF-A0C5-7A5F-88C8-D235C6969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142875"/>
            <a:ext cx="4462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Capítulo 1</a:t>
            </a:r>
            <a:r>
              <a:rPr lang="pt-BR" altLang="pt-BR" sz="1800">
                <a:solidFill>
                  <a:srgbClr val="F2F2F2"/>
                </a:solidFill>
                <a:latin typeface="Arial" panose="020B0604020202020204" pitchFamily="34" charset="0"/>
              </a:rPr>
              <a:t> | O valor do dinheiro no tempo</a:t>
            </a:r>
            <a:endParaRPr lang="pt-BR" altLang="pt-BR" sz="1800">
              <a:solidFill>
                <a:srgbClr val="F12130"/>
              </a:solidFill>
              <a:latin typeface="Arial" panose="020B0604020202020204" pitchFamily="34" charset="0"/>
            </a:endParaRPr>
          </a:p>
        </p:txBody>
      </p:sp>
      <p:sp>
        <p:nvSpPr>
          <p:cNvPr id="95236" name="CaixaDeTexto 10">
            <a:extLst>
              <a:ext uri="{FF2B5EF4-FFF2-40B4-BE49-F238E27FC236}">
                <a16:creationId xmlns:a16="http://schemas.microsoft.com/office/drawing/2014/main" id="{0BB21851-4063-15DB-6DAF-DC4E5177E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5237" name="CaixaDeTexto 12">
            <a:extLst>
              <a:ext uri="{FF2B5EF4-FFF2-40B4-BE49-F238E27FC236}">
                <a16:creationId xmlns:a16="http://schemas.microsoft.com/office/drawing/2014/main" id="{43947CD3-3719-A44A-3283-2774789CF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63404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Exercícios 1.5: Calcule as taxas efetivas ao ano para 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seguintes taxas nominais:</a:t>
            </a:r>
          </a:p>
        </p:txBody>
      </p:sp>
      <p:sp>
        <p:nvSpPr>
          <p:cNvPr id="95238" name="Espaço Reservado para Número de Slide 7">
            <a:extLst>
              <a:ext uri="{FF2B5EF4-FFF2-40B4-BE49-F238E27FC236}">
                <a16:creationId xmlns:a16="http://schemas.microsoft.com/office/drawing/2014/main" id="{436C82EE-1B13-A610-E65F-D7338A9B2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98503722-286E-4922-8CE6-B1724043E811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5239" name="CaixaDeTexto 6">
            <a:extLst>
              <a:ext uri="{FF2B5EF4-FFF2-40B4-BE49-F238E27FC236}">
                <a16:creationId xmlns:a16="http://schemas.microsoft.com/office/drawing/2014/main" id="{BE9AE7B6-F754-AAD4-9B76-D2C353E97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16238"/>
            <a:ext cx="6715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24% ao ano, capitalizada mensalmente?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48% ao semestre capitalizada mensalmente?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60% ao trimestre capitalizada diariamente?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CaixaDeTexto 3">
            <a:extLst>
              <a:ext uri="{FF2B5EF4-FFF2-40B4-BE49-F238E27FC236}">
                <a16:creationId xmlns:a16="http://schemas.microsoft.com/office/drawing/2014/main" id="{2764C19D-C38B-C50F-1A7C-3C422D52C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97283" name="CaixaDeTexto 9">
            <a:extLst>
              <a:ext uri="{FF2B5EF4-FFF2-40B4-BE49-F238E27FC236}">
                <a16:creationId xmlns:a16="http://schemas.microsoft.com/office/drawing/2014/main" id="{4A88D095-7860-7357-EF8B-1E4B28680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142875"/>
            <a:ext cx="4462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Capítulo 1</a:t>
            </a:r>
            <a:r>
              <a:rPr lang="pt-BR" altLang="pt-BR" sz="1800">
                <a:solidFill>
                  <a:srgbClr val="F2F2F2"/>
                </a:solidFill>
                <a:latin typeface="Arial" panose="020B0604020202020204" pitchFamily="34" charset="0"/>
              </a:rPr>
              <a:t> | O valor do dinheiro no tempo</a:t>
            </a:r>
            <a:endParaRPr lang="pt-BR" altLang="pt-BR" sz="1800">
              <a:solidFill>
                <a:srgbClr val="F12130"/>
              </a:solidFill>
              <a:latin typeface="Arial" panose="020B0604020202020204" pitchFamily="34" charset="0"/>
            </a:endParaRPr>
          </a:p>
        </p:txBody>
      </p:sp>
      <p:sp>
        <p:nvSpPr>
          <p:cNvPr id="97284" name="CaixaDeTexto 10">
            <a:extLst>
              <a:ext uri="{FF2B5EF4-FFF2-40B4-BE49-F238E27FC236}">
                <a16:creationId xmlns:a16="http://schemas.microsoft.com/office/drawing/2014/main" id="{24F2367B-1864-15D0-CC16-0C816FC30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7285" name="CaixaDeTexto 12">
            <a:extLst>
              <a:ext uri="{FF2B5EF4-FFF2-40B4-BE49-F238E27FC236}">
                <a16:creationId xmlns:a16="http://schemas.microsoft.com/office/drawing/2014/main" id="{7D303367-C638-BD3C-CA5A-180F9CAF2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80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Exercícios 1.6:</a:t>
            </a:r>
          </a:p>
        </p:txBody>
      </p:sp>
      <p:sp>
        <p:nvSpPr>
          <p:cNvPr id="97286" name="Espaço Reservado para Número de Slide 7">
            <a:extLst>
              <a:ext uri="{FF2B5EF4-FFF2-40B4-BE49-F238E27FC236}">
                <a16:creationId xmlns:a16="http://schemas.microsoft.com/office/drawing/2014/main" id="{4044FB00-145B-5330-E2CA-A47D14DB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BE32C291-EE91-4B42-9B24-7271CCD2EA5F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7287" name="CaixaDeTexto 6">
            <a:extLst>
              <a:ext uri="{FF2B5EF4-FFF2-40B4-BE49-F238E27FC236}">
                <a16:creationId xmlns:a16="http://schemas.microsoft.com/office/drawing/2014/main" id="{8F65C2E1-F74F-6288-8700-0CFE017D1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14625"/>
            <a:ext cx="6715125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Qual o valor das prestações de um empréstimo contratado a juros efetivos de 3% ao mês, que foi liquidado em 20 prestações mensais postecipadas, considerando que os juros pagos no período totalizaram R$ 1.024,51?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Um bem, cujo valor à vista é de R$ 10.000,00, será pago por meio de uma entrada de 20% mais 13 prestações mensais antecipadas de R$ 800,00 cada e um pagamento final com a última prestação. Qual o valor do pagamento final, considerando a aplicação de juros efetivos de 4% ao mês e um período de carência de 3 meses?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Quantos meses são necessários para uma pessoa acumular um capital de R$ 12.000,00 depositando R$560,43 todo fim de mês em uma aplicação financeira que rende juros efetivos de 2% ao mês?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CaixaDeTexto 3">
            <a:extLst>
              <a:ext uri="{FF2B5EF4-FFF2-40B4-BE49-F238E27FC236}">
                <a16:creationId xmlns:a16="http://schemas.microsoft.com/office/drawing/2014/main" id="{3C9FB261-7F27-1D9C-D946-3B9E64A90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Carlos  Patrício Samanez</a:t>
            </a:r>
          </a:p>
        </p:txBody>
      </p:sp>
      <p:sp>
        <p:nvSpPr>
          <p:cNvPr id="99331" name="CaixaDeTexto 9">
            <a:extLst>
              <a:ext uri="{FF2B5EF4-FFF2-40B4-BE49-F238E27FC236}">
                <a16:creationId xmlns:a16="http://schemas.microsoft.com/office/drawing/2014/main" id="{BD62500D-7EFE-8A9F-E605-81A328D84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142875"/>
            <a:ext cx="44624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Capítulo 1</a:t>
            </a:r>
            <a:r>
              <a:rPr lang="pt-BR" altLang="pt-BR" sz="1800">
                <a:solidFill>
                  <a:srgbClr val="F2F2F2"/>
                </a:solidFill>
                <a:latin typeface="Arial" panose="020B0604020202020204" pitchFamily="34" charset="0"/>
              </a:rPr>
              <a:t> | O valor do dinheiro no tempo</a:t>
            </a:r>
            <a:endParaRPr lang="pt-BR" altLang="pt-BR" sz="1800">
              <a:solidFill>
                <a:srgbClr val="F12130"/>
              </a:solidFill>
              <a:latin typeface="Arial" panose="020B0604020202020204" pitchFamily="34" charset="0"/>
            </a:endParaRPr>
          </a:p>
        </p:txBody>
      </p:sp>
      <p:sp>
        <p:nvSpPr>
          <p:cNvPr id="99332" name="CaixaDeTexto 10">
            <a:extLst>
              <a:ext uri="{FF2B5EF4-FFF2-40B4-BE49-F238E27FC236}">
                <a16:creationId xmlns:a16="http://schemas.microsoft.com/office/drawing/2014/main" id="{C15C3750-9C78-E315-5E67-CD55A872C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2C5DAA"/>
                </a:solidFill>
                <a:latin typeface="Arial" panose="020B0604020202020204" pitchFamily="34" charset="0"/>
              </a:rPr>
              <a:t>© 2009 by Pearson Education </a:t>
            </a:r>
          </a:p>
        </p:txBody>
      </p:sp>
      <p:sp>
        <p:nvSpPr>
          <p:cNvPr id="99333" name="CaixaDeTexto 12">
            <a:extLst>
              <a:ext uri="{FF2B5EF4-FFF2-40B4-BE49-F238E27FC236}">
                <a16:creationId xmlns:a16="http://schemas.microsoft.com/office/drawing/2014/main" id="{70B13DAB-445F-0F64-361A-67DB79290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800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2C5DAA"/>
                </a:solidFill>
                <a:latin typeface="Arial" panose="020B0604020202020204" pitchFamily="34" charset="0"/>
              </a:rPr>
              <a:t>Exercícios 1.9:</a:t>
            </a:r>
          </a:p>
        </p:txBody>
      </p:sp>
      <p:sp>
        <p:nvSpPr>
          <p:cNvPr id="99334" name="Espaço Reservado para Número de Slide 7">
            <a:extLst>
              <a:ext uri="{FF2B5EF4-FFF2-40B4-BE49-F238E27FC236}">
                <a16:creationId xmlns:a16="http://schemas.microsoft.com/office/drawing/2014/main" id="{BF06F8BF-DD65-F6D7-DFCE-CD1B82BF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solidFill>
                  <a:srgbClr val="2C5DAA"/>
                </a:solidFill>
              </a:rPr>
              <a:t>Slide </a:t>
            </a:r>
            <a:fld id="{DA808C7A-C263-4C52-9BCF-B92556C4954B}" type="slidenum">
              <a:rPr lang="pt-BR" altLang="pt-BR" sz="1200">
                <a:solidFill>
                  <a:srgbClr val="2C5DAA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pt-BR" altLang="pt-BR" sz="1200">
              <a:solidFill>
                <a:srgbClr val="2C5DAA"/>
              </a:solidFill>
            </a:endParaRPr>
          </a:p>
        </p:txBody>
      </p:sp>
      <p:sp>
        <p:nvSpPr>
          <p:cNvPr id="99335" name="CaixaDeTexto 6">
            <a:extLst>
              <a:ext uri="{FF2B5EF4-FFF2-40B4-BE49-F238E27FC236}">
                <a16:creationId xmlns:a16="http://schemas.microsoft.com/office/drawing/2014/main" id="{04C998E2-F594-E9F5-3223-60AD39E29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714625"/>
            <a:ext cx="67151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Uma empresa promete, no prazo de um ano, pagar dividendo de R$ 3,50 por ação. Estimando que nos anos posteriores os dividendos cresçam a uma taxa constante de 5% ao ano e considerando os dividendos como uma perpetuidade, qual será o valor da ação se o custo de oportunidade do capital for de 14% ao ano?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AutoNum type="arabicPeriod"/>
            </a:pPr>
            <a:r>
              <a:rPr lang="pt-BR" altLang="pt-BR" sz="1600">
                <a:solidFill>
                  <a:srgbClr val="000000"/>
                </a:solidFill>
                <a:latin typeface="Arial" panose="020B0604020202020204" pitchFamily="34" charset="0"/>
              </a:rPr>
              <a:t>Uma Instituição de caridade receberá uma doação mensal perpétua de R$ 50.000,00 de um doador. Se aplicar o valor presente da perpetuidade em um fundo de renda fixa que rende juros efetivos de 2% ao mês, qual será o rendimento ao término de um ano?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Data xmlns="f244cccc-9ebe-487b-9f49-451c84d31f5d">2024-10-23T15:05:44+00:00</Data>
    <grupo13_x002d_MarceloPassos xmlns="f244cccc-9ebe-487b-9f49-451c84d31f5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9CD992-32E8-4A3E-A8D9-29C8A5DA5C75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customXml/itemProps2.xml><?xml version="1.0" encoding="utf-8"?>
<ds:datastoreItem xmlns:ds="http://schemas.openxmlformats.org/officeDocument/2006/customXml" ds:itemID="{F9418DC0-A479-474A-8009-465D84E106CE}"/>
</file>

<file path=customXml/itemProps3.xml><?xml version="1.0" encoding="utf-8"?>
<ds:datastoreItem xmlns:ds="http://schemas.openxmlformats.org/officeDocument/2006/customXml" ds:itemID="{3AA016F4-63B8-463D-B932-212E95C12B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8144</TotalTime>
  <Words>3069</Words>
  <Application>Microsoft Office PowerPoint</Application>
  <PresentationFormat>Apresentação na tela (4:3)</PresentationFormat>
  <Paragraphs>372</Paragraphs>
  <Slides>46</Slides>
  <Notes>46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slides</vt:lpstr>
      </vt:variant>
      <vt:variant>
        <vt:i4>46</vt:i4>
      </vt:variant>
    </vt:vector>
  </HeadingPairs>
  <TitlesOfParts>
    <vt:vector size="50" baseType="lpstr">
      <vt:lpstr>Tema do Office</vt:lpstr>
      <vt:lpstr>1_Tema do Office</vt:lpstr>
      <vt:lpstr>2_Tema do Office</vt:lpstr>
      <vt:lpstr>3_Tema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lastModifiedBy>João Carlos Felix Souza</cp:lastModifiedBy>
  <cp:revision>163</cp:revision>
  <dcterms:created xsi:type="dcterms:W3CDTF">2009-04-20T19:30:33Z</dcterms:created>
  <dcterms:modified xsi:type="dcterms:W3CDTF">2026-03-31T19:58:05Z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
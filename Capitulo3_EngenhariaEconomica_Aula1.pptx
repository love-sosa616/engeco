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1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2.xml" ContentType="application/vnd.openxmlformats-officedocument.drawingml.chart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rts/chart3.xml" ContentType="application/vnd.openxmlformats-officedocument.drawingml.chart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rts/chart4.xml" ContentType="application/vnd.openxmlformats-officedocument.drawingml.chart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F9F2CA-35E0-B74E-7171-9113BE800D17}" v="1" dt="2026-10-07T22:21:44.1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 Andrade Bentes" userId="S::190086092@aluno.unb.br::e9b4ceda-7050-409a-8c73-91c4544f3c95" providerId="AD" clId="Web-{14F9F2CA-35E0-B74E-7171-9113BE800D17}"/>
    <pc:docChg chg="modSld">
      <pc:chgData name="Davi Andrade Bentes" userId="S::190086092@aluno.unb.br::e9b4ceda-7050-409a-8c73-91c4544f3c95" providerId="AD" clId="Web-{14F9F2CA-35E0-B74E-7171-9113BE800D17}" dt="2026-10-07T22:21:44.124" v="0" actId="1076"/>
      <pc:docMkLst>
        <pc:docMk/>
      </pc:docMkLst>
      <pc:sldChg chg="modSp">
        <pc:chgData name="Davi Andrade Bentes" userId="S::190086092@aluno.unb.br::e9b4ceda-7050-409a-8c73-91c4544f3c95" providerId="AD" clId="Web-{14F9F2CA-35E0-B74E-7171-9113BE800D17}" dt="2026-10-07T22:21:44.124" v="0" actId="1076"/>
        <pc:sldMkLst>
          <pc:docMk/>
          <pc:sldMk cId="0" sldId="258"/>
        </pc:sldMkLst>
        <pc:spChg chg="mod">
          <ac:chgData name="Davi Andrade Bentes" userId="S::190086092@aluno.unb.br::e9b4ceda-7050-409a-8c73-91c4544f3c95" providerId="AD" clId="Web-{14F9F2CA-35E0-B74E-7171-9113BE800D17}" dt="2026-10-07T22:21:44.124" v="0" actId="1076"/>
          <ac:spMkLst>
            <pc:docMk/>
            <pc:sldMk cId="0" sldId="258"/>
            <ac:spMk id="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552"/>
                </a:solidFill>
                <a:latin typeface="Calibri"/>
              </a:defRPr>
            </a:pPr>
            <a:r>
              <a:rPr lang="pt-BR" sz="1300" b="0" i="0" u="none" strike="noStrike">
                <a:solidFill>
                  <a:srgbClr val="0B3552"/>
                </a:solidFill>
                <a:latin typeface="Calibri"/>
              </a:rPr>
              <a:t>VPL: FCL × FDA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VPL (R$)</c:v>
                </c:pt>
              </c:strCache>
            </c:strRef>
          </c:tx>
          <c:spPr>
            <a:solidFill>
              <a:srgbClr val="0B355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2FC-41DC-B434-9799A8B16628}"/>
              </c:ext>
            </c:extLst>
          </c:dPt>
          <c:dPt>
            <c:idx val="1"/>
            <c:invertIfNegative val="0"/>
            <c:bubble3D val="0"/>
            <c:spPr>
              <a:solidFill>
                <a:srgbClr val="C99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2FC-41DC-B434-9799A8B1662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FCL (WACC 18%)</c:v>
                </c:pt>
                <c:pt idx="1">
                  <c:v>FDA (Ke 30%)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1695</c:v>
                </c:pt>
                <c:pt idx="1">
                  <c:v>1538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2FC-41DC-B434-9799A8B166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ADCE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A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ADCE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552"/>
                </a:solidFill>
                <a:latin typeface="Calibri"/>
              </a:defRPr>
            </a:pPr>
            <a:r>
              <a:rPr lang="pt-BR" sz="1300" b="0" i="0" u="none" strike="noStrike">
                <a:solidFill>
                  <a:srgbClr val="0B3552"/>
                </a:solidFill>
                <a:latin typeface="Calibri"/>
              </a:rPr>
              <a:t>FCL do Estaleiro por Ano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FCL (US$)</c:v>
                </c:pt>
              </c:strCache>
            </c:strRef>
          </c:tx>
          <c:spPr>
            <a:ln w="31750" cap="flat">
              <a:solidFill>
                <a:srgbClr val="0B355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3552"/>
              </a:solidFill>
              <a:ln w="9525" cap="flat">
                <a:solidFill>
                  <a:srgbClr val="0B3552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-1000000</c:v>
                </c:pt>
                <c:pt idx="1">
                  <c:v>190000</c:v>
                </c:pt>
                <c:pt idx="2">
                  <c:v>190000</c:v>
                </c:pt>
                <c:pt idx="3">
                  <c:v>190000</c:v>
                </c:pt>
                <c:pt idx="4">
                  <c:v>190000</c:v>
                </c:pt>
                <c:pt idx="5">
                  <c:v>190000</c:v>
                </c:pt>
                <c:pt idx="6">
                  <c:v>130000</c:v>
                </c:pt>
                <c:pt idx="7">
                  <c:v>130000</c:v>
                </c:pt>
                <c:pt idx="8">
                  <c:v>130000</c:v>
                </c:pt>
                <c:pt idx="9">
                  <c:v>130000</c:v>
                </c:pt>
                <c:pt idx="10">
                  <c:v>180000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B00-4966-8F1A-4B0EBDCE13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ADCE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A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ADCE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552"/>
                </a:solidFill>
                <a:latin typeface="Calibri"/>
              </a:defRPr>
            </a:pPr>
            <a:r>
              <a:rPr lang="pt-BR" sz="1300" b="0" i="0" u="none" strike="noStrike">
                <a:solidFill>
                  <a:srgbClr val="0B3552"/>
                </a:solidFill>
                <a:latin typeface="Calibri"/>
              </a:rPr>
              <a:t>Comparação de VPL — FCL × FDA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VPL (US$)</c:v>
                </c:pt>
              </c:strCache>
            </c:strRef>
          </c:tx>
          <c:spPr>
            <a:solidFill>
              <a:srgbClr val="0B355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7F1-46C6-8EDE-B9D339228E1D}"/>
              </c:ext>
            </c:extLst>
          </c:dPt>
          <c:dPt>
            <c:idx val="1"/>
            <c:invertIfNegative val="0"/>
            <c:bubble3D val="0"/>
            <c:spPr>
              <a:solidFill>
                <a:srgbClr val="C99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7F1-46C6-8EDE-B9D339228E1D}"/>
              </c:ext>
            </c:extLst>
          </c:dPt>
          <c:dPt>
            <c:idx val="2"/>
            <c:invertIfNegative val="0"/>
            <c:bubble3D val="0"/>
            <c:spPr>
              <a:solidFill>
                <a:srgbClr val="2D58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7F1-46C6-8EDE-B9D339228E1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VPL(FCL) WACC 8,92%</c:v>
                </c:pt>
                <c:pt idx="1">
                  <c:v>VPL(FDA) WACC 8,92%</c:v>
                </c:pt>
                <c:pt idx="2">
                  <c:v>VPL(FDA) Ke 14,8%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86559</c:v>
                </c:pt>
                <c:pt idx="1">
                  <c:v>139926</c:v>
                </c:pt>
                <c:pt idx="2">
                  <c:v>3169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7F1-46C6-8EDE-B9D339228E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ADCE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A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ADCE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552"/>
                </a:solidFill>
                <a:latin typeface="Calibri"/>
              </a:defRPr>
            </a:pPr>
            <a:r>
              <a:rPr lang="pt-BR" sz="1300" b="0" i="0" u="none" strike="noStrike">
                <a:solidFill>
                  <a:srgbClr val="0B3552"/>
                </a:solidFill>
                <a:latin typeface="Calibri"/>
              </a:rPr>
              <a:t>Sensibilidade do VPL ao WACC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VPL(FCL) US$</c:v>
                </c:pt>
              </c:strCache>
            </c:strRef>
          </c:tx>
          <c:spPr>
            <a:ln w="31750" cap="flat">
              <a:solidFill>
                <a:srgbClr val="0B355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3552"/>
              </a:solidFill>
              <a:ln w="9525" cap="flat">
                <a:solidFill>
                  <a:srgbClr val="0B3552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5%</c:v>
                </c:pt>
                <c:pt idx="1">
                  <c:v>8,92%</c:v>
                </c:pt>
                <c:pt idx="2">
                  <c:v>10%</c:v>
                </c:pt>
                <c:pt idx="3">
                  <c:v>12%</c:v>
                </c:pt>
                <c:pt idx="4">
                  <c:v>14%</c:v>
                </c:pt>
                <c:pt idx="5">
                  <c:v>15%</c:v>
                </c:pt>
                <c:pt idx="6">
                  <c:v>16%</c:v>
                </c:pt>
                <c:pt idx="7">
                  <c:v>18%</c:v>
                </c:pt>
                <c:pt idx="8">
                  <c:v>20%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294290</c:v>
                </c:pt>
                <c:pt idx="1">
                  <c:v>92382</c:v>
                </c:pt>
                <c:pt idx="2">
                  <c:v>45518</c:v>
                </c:pt>
                <c:pt idx="3">
                  <c:v>-33086</c:v>
                </c:pt>
                <c:pt idx="4">
                  <c:v>-102433</c:v>
                </c:pt>
                <c:pt idx="5">
                  <c:v>-134072</c:v>
                </c:pt>
                <c:pt idx="6">
                  <c:v>-163889</c:v>
                </c:pt>
                <c:pt idx="7">
                  <c:v>-218585</c:v>
                </c:pt>
                <c:pt idx="8">
                  <c:v>-267467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60-4100-9F50-24D07BAA99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ADCE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A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ADCE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9520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926080"/>
            <a:ext cx="7315200" cy="73152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029200" cy="50292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5120640"/>
            <a:ext cx="1737360" cy="173736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94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 ·  UNIVERSIDADE DE BRASÍLIA — UnB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515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Engenharia de </a:t>
            </a:r>
            <a:r>
              <a:rPr lang="en-US" sz="1300" dirty="0" err="1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300" dirty="0">
              <a:solidFill>
                <a:srgbClr val="CADC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João Carlos Félix Souza</a:t>
            </a:r>
          </a:p>
          <a:p>
            <a:pPr marL="0" indent="0">
              <a:buNone/>
            </a:pPr>
            <a:endParaRPr lang="en-US" sz="1300" dirty="0">
              <a:solidFill>
                <a:srgbClr val="CADC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6E8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CAPÍTULO 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26060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Econômica e Fluxo de Caixa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658368" y="3611880"/>
            <a:ext cx="1005840" cy="4572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947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Avaliação das Decisões Econômicas e Financeiras — do Fluxo Incremental ao Estudo de Caso do Estaleiro de Iates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512064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51846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68680" y="56967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Seções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977640" y="512064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06240" y="51846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206240" y="56967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Considerações do FC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0" y="512064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43800" y="51846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543800" y="56967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de 1h30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92640" y="63825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Brasília,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Fluxo Incremental ao Estudo de Caso Completo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0B355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03120"/>
            <a:ext cx="5349240" cy="228600"/>
          </a:xfrm>
          <a:prstGeom prst="rect">
            <a:avLst/>
          </a:prstGeom>
          <a:solidFill>
            <a:srgbClr val="0B355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1  ·  Fundamentos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25603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Caixa Incremental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5204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502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34747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Dez Considerações Fundamentais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91072" y="169164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91072" y="169164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2D5878"/>
          </a:solidFill>
          <a:ln/>
        </p:spPr>
      </p:sp>
      <p:sp>
        <p:nvSpPr>
          <p:cNvPr id="16" name="Shape 14"/>
          <p:cNvSpPr/>
          <p:nvPr/>
        </p:nvSpPr>
        <p:spPr>
          <a:xfrm>
            <a:off x="6291072" y="2103120"/>
            <a:ext cx="5349240" cy="228600"/>
          </a:xfrm>
          <a:prstGeom prst="rect">
            <a:avLst/>
          </a:prstGeom>
          <a:solidFill>
            <a:srgbClr val="2D5878"/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16916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2  ·  Aplicação Prática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65392" y="2606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565392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05472" y="25603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Caixa Livre (FCL) × Fluxo do Acionista (FDA)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65392" y="35204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565392" y="3502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05472" y="34747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— Estaleiro de Iates de Luxo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65392" y="44348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565392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05472" y="43891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 Capítulo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E OBJETIVOS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Fluxo de Caixa é a Matéria-Prima da Decisão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126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de caixa é a principal matéria-prima para estimar o valor de uma empresa, medir a rentabilidade de um projeto, planejar operações ou avaliar a capacidade de pagamento de uma dívida.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fluxos incrementais formam a base para o cálculo dos índices de avaliação econômica — VPL, TIR e demais indicadores do Capítulo 2.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capítulo estrutura os fundamentos teóricos e práticos necessários para montar, analisar e interpretar fluxos de caixa considerando aspectos fiscais, operacionais, de financiamento e inflacionários.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959737" y="1828800"/>
            <a:ext cx="4709160" cy="4114800"/>
          </a:xfrm>
          <a:prstGeom prst="roundRect">
            <a:avLst>
              <a:gd name="adj" fmla="val 1778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0" y="2011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APRENDIZAGEM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23760" y="2514600"/>
            <a:ext cx="365760" cy="36576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0" y="2496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26680" y="24688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Estruturar o Fluxo de Caixa Incremental de um projeto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23760" y="3172968"/>
            <a:ext cx="365760" cy="36576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26680" y="312724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as dez considerações fundamentais na montagem do fluxo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23760" y="3831336"/>
            <a:ext cx="365760" cy="36576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3813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26680" y="378561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o FCL do FDA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23760" y="4489704"/>
            <a:ext cx="365760" cy="36576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4471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26680" y="444398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a decisão econômica da decisão financeira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60" y="5148072"/>
            <a:ext cx="365760" cy="36576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5129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26680" y="510235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os conceitos em um estudo de caso real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B0E2E763-569F-A6C5-8F9B-10D9C3F4293A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840480" cy="38404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2D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de Caixa Incremental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21792" y="4224528"/>
            <a:ext cx="82296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37083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princípio central da Engenharia Econômica: apenas variações de caixa decorrentes do projeto contam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5166360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474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e importância do fluxo incremental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5495544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37667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básica em três fases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" y="5824728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705856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fórmula geral do FCL (</a:t>
            </a:r>
            <a:r>
              <a:rPr lang="en-US" sz="135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25">
            <a:extLst>
              <a:ext uri="{FF2B5EF4-FFF2-40B4-BE49-F238E27FC236}">
                <a16:creationId xmlns:a16="http://schemas.microsoft.com/office/drawing/2014/main" id="{4B1C05E0-49B3-F546-3898-8F51F59892DD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3.1.1 — CONCEITO E IMPORTÂNCIA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Fluxo de Caixa Incremental?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as variações de caixa que ocorrem em decorrência da aceitação do projeto devem ser consideradas na análise.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analista não deve incorporar valores que existiriam de qualquer forma, independentemente do projeto ser ou não executado.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diretamente ligado ao princípio da oportunidade: toda decisão envolve escolha entre alternativas, e apenas os efeitos diferenciais devem ser analisados.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03720" y="182880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0" y="182880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FCI = Fluxo COM o projeto − Fluxo SEM o projeto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03720" y="310896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32644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78040" y="353872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 = Fluxo de Caixa Incremental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todos os índices do Capítulo 2 (VPL, TIR, etc.)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2" name="Text 25">
            <a:extLst>
              <a:ext uri="{FF2B5EF4-FFF2-40B4-BE49-F238E27FC236}">
                <a16:creationId xmlns:a16="http://schemas.microsoft.com/office/drawing/2014/main" id="{BF8F35C7-A04D-81D4-059B-89BE8137E5FE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3.1.2 — ESTRUTURA BÁSICA DO FLUXO DE CAIXA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Fases de um Projeto de Investimento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766060" cy="2834640"/>
          </a:xfrm>
          <a:prstGeom prst="roundRect">
            <a:avLst>
              <a:gd name="adj" fmla="val 2581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47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9933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Investimento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24460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inicial, capital de giro, custos de instalação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4700" y="1737360"/>
            <a:ext cx="5340096" cy="2834640"/>
          </a:xfrm>
          <a:prstGeom prst="roundRect">
            <a:avLst>
              <a:gd name="adj" fmla="val 2581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35424" y="1965960"/>
            <a:ext cx="548640" cy="548640"/>
          </a:xfrm>
          <a:prstGeom prst="ellipse">
            <a:avLst/>
          </a:prstGeom>
          <a:solidFill>
            <a:srgbClr val="2D5878"/>
          </a:solidFill>
          <a:ln/>
        </p:spPr>
      </p:sp>
      <p:sp>
        <p:nvSpPr>
          <p:cNvPr id="12" name="Text 10"/>
          <p:cNvSpPr/>
          <p:nvPr/>
        </p:nvSpPr>
        <p:spPr>
          <a:xfrm>
            <a:off x="4535424" y="1947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1…N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66944" y="19933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Operação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35424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1 a 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35424" y="30632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Receitas, custos variáveis, custos fixos, IR, depreciação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63940" y="1737360"/>
            <a:ext cx="2811780" cy="2834640"/>
          </a:xfrm>
          <a:prstGeom prst="roundRect">
            <a:avLst>
              <a:gd name="adj" fmla="val 2581"/>
            </a:avLst>
          </a:prstGeom>
          <a:solidFill>
            <a:srgbClr val="0B3552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42248" y="2016318"/>
            <a:ext cx="548640" cy="54864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8" name="Text 16"/>
          <p:cNvSpPr/>
          <p:nvPr/>
        </p:nvSpPr>
        <p:spPr>
          <a:xfrm>
            <a:off x="8851392" y="2037787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33204" y="20299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Liquidação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25128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N (final)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33688" y="30632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residual, recuperação do capital de giro, IR sobre ganho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10881360" cy="0"/>
          </a:xfrm>
          <a:prstGeom prst="line">
            <a:avLst/>
          </a:prstGeom>
          <a:noFill/>
          <a:ln w="25400">
            <a:solidFill>
              <a:srgbClr val="CADCE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02920" y="4846320"/>
            <a:ext cx="91440" cy="9144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24" name="Text 22"/>
          <p:cNvSpPr/>
          <p:nvPr/>
        </p:nvSpPr>
        <p:spPr>
          <a:xfrm>
            <a:off x="0" y="4983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23260" y="4846320"/>
            <a:ext cx="91440" cy="9144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26" name="Text 24"/>
          <p:cNvSpPr/>
          <p:nvPr/>
        </p:nvSpPr>
        <p:spPr>
          <a:xfrm>
            <a:off x="2720340" y="4983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1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0" y="4846320"/>
            <a:ext cx="91440" cy="9144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28" name="Text 26"/>
          <p:cNvSpPr/>
          <p:nvPr/>
        </p:nvSpPr>
        <p:spPr>
          <a:xfrm>
            <a:off x="5440680" y="4983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663940" y="4846320"/>
            <a:ext cx="91440" cy="9144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30" name="Text 28"/>
          <p:cNvSpPr/>
          <p:nvPr/>
        </p:nvSpPr>
        <p:spPr>
          <a:xfrm>
            <a:off x="8161020" y="4983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N-1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1384280" y="4846320"/>
            <a:ext cx="91440" cy="9144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32" name="Text 30"/>
          <p:cNvSpPr/>
          <p:nvPr/>
        </p:nvSpPr>
        <p:spPr>
          <a:xfrm>
            <a:off x="10881360" y="4983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4406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7EEF4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2960" y="544068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fórmula geral do FCL (detalhada na Seção 3.3): FCL = LAJIR × (1 − T) + Depreciação − CAPEX ± ΔNCG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7" name="Text 25">
            <a:extLst>
              <a:ext uri="{FF2B5EF4-FFF2-40B4-BE49-F238E27FC236}">
                <a16:creationId xmlns:a16="http://schemas.microsoft.com/office/drawing/2014/main" id="{1BBBD4A0-BEF8-2B2F-7254-955CD39B7F8A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 3.1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Incremental Simples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empresa fabrica 10.000 unidades/ano com receita de R$ 50/unidade e custo variável de R$ 20/unidade. Um novo projeto acrescentará 3.000 unidades/ano sem alterar os custos fixos. Qual é o fluxo de caixa incremental anual, desconsiderando impostos?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2743200"/>
          <a:ext cx="9262872" cy="1554480"/>
        </p:xfrm>
        <a:graphic>
          <a:graphicData uri="http://schemas.openxmlformats.org/drawingml/2006/table">
            <a:tbl>
              <a:tblPr/>
              <a:tblGrid>
                <a:gridCol w="2313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 Atual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Projeto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Incremento (FCI)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Receita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R$ 500.000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R$ 650.000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R$ 150.000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 Variável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(R$ 200.000)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(R$ 260.000)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(R$ 60.000)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Lucro Bruto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R$ 300.000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R$ 390.000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R$ 90.000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57200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5"/>
          <p:cNvSpPr/>
          <p:nvPr/>
        </p:nvSpPr>
        <p:spPr>
          <a:xfrm>
            <a:off x="822960" y="457200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de caixa incremental anual é R$ 90.000. Apenas esse valor deve ser usado como base para avaliar a viabilidade do novo projeto.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1" name="Text 25">
            <a:extLst>
              <a:ext uri="{FF2B5EF4-FFF2-40B4-BE49-F238E27FC236}">
                <a16:creationId xmlns:a16="http://schemas.microsoft.com/office/drawing/2014/main" id="{0B922C83-BC80-CD1B-F6ED-2C6BF25705C3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840480" cy="38404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2D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Dez Considerações Fundamentais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21792" y="2103120"/>
            <a:ext cx="822960" cy="36576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240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qualquer uma delas pode levar a análises distorcidas e decisões equivocadas.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880360"/>
            <a:ext cx="292608" cy="29260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8620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8408" y="2852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Fluxos com base incremental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2880360"/>
            <a:ext cx="292608" cy="29260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28620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19088" y="2852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Custos de oportunidade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319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78408" y="33101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Variação da NCG (capital de giro)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3337560"/>
            <a:ext cx="292608" cy="29260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3319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19088" y="33101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Efeitos fiscais (economia de imposto)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3794760"/>
            <a:ext cx="292608" cy="29260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7764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78408" y="37673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Efeitos derivados (sinergia/canibalização)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35040" y="3794760"/>
            <a:ext cx="292608" cy="29260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37764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19088" y="37673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 Custos afundados (sunk costs)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94360" y="4251960"/>
            <a:ext cx="292608" cy="29260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233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78408" y="42245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g) Custos diretamente atribuídos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035040" y="4251960"/>
            <a:ext cx="292608" cy="29260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0" y="4233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19088" y="42245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h) Custos de financiamento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4360" y="4709160"/>
            <a:ext cx="292608" cy="29260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4690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8408" y="46817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i) Efeitos da inflação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035040" y="4709160"/>
            <a:ext cx="292608" cy="29260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36" name="Text 34"/>
          <p:cNvSpPr/>
          <p:nvPr/>
        </p:nvSpPr>
        <p:spPr>
          <a:xfrm>
            <a:off x="6035040" y="4690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19088" y="46817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j) Valor residual e horizonte de tempo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40" name="Text 25">
            <a:extLst>
              <a:ext uri="{FF2B5EF4-FFF2-40B4-BE49-F238E27FC236}">
                <a16:creationId xmlns:a16="http://schemas.microsoft.com/office/drawing/2014/main" id="{455FF354-FED9-CDF5-B304-5BD70DF43B42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FLUXOS COM BASE INCREMENTAL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Apenas Fluxos Decorrentes da Aceitação do Projeto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126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receita, custo, imposto ou benefício que existiria mesmo sem o projeto é irrelevante para a decisão de investimento.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de receita incremental: vendas adicionais geradas pelo projeto, incluindo novos mercados.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de custo incremental: custos adicionais (materiais, mão de obra, energia) que ocorrem exclusivamente por causa do projeto.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903720" y="178308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F5E6E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920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ATENÇÃO — Custos Conjuntos (</a:t>
            </a:r>
            <a:r>
              <a:rPr lang="en-US" sz="1300" b="1" i="1" dirty="0">
                <a:solidFill>
                  <a:srgbClr val="B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  <a:r>
              <a:rPr lang="en-US" sz="1300" b="1" dirty="0">
                <a:solidFill>
                  <a:srgbClr val="B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0" y="242316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de </a:t>
            </a: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(administração central, infraestrutura compartilhada) só devem ser alocados ao projeto se houver aumento efetivo desses custos em decorrência do projeto.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0" y="37033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8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Rateios arbitrários de custos existentes distorcem a análise incremental.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70916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470916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se o custo/receita não muda com a decisão de investir, ele NÃO pertence ao fluxo de caixa incremental do projeto.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13" name="Text 25">
            <a:extLst>
              <a:ext uri="{FF2B5EF4-FFF2-40B4-BE49-F238E27FC236}">
                <a16:creationId xmlns:a16="http://schemas.microsoft.com/office/drawing/2014/main" id="{F4E228E4-E463-7828-39C1-F53F30BCA821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CUSTOS DE OPORTUNIDADE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Valor que se Deixa de Ganhar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o valor que se deixa de ganhar ao escolher uma alternativa em detrimento de outra de risco similar — um dos conceitos mais importantes, e mais mal aplicados, da análise econômica.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331720"/>
            <a:ext cx="10817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Oportunidade = Melhor Retorno da Alternativa Preterida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52044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Oportunidade do Capital</a:t>
            </a:r>
          </a:p>
          <a:p>
            <a:pPr marL="0" indent="0">
              <a:buNone/>
            </a:pP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4334256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taxa de retorno mínima exigida para o investimento, geralmente representada pelo WACC. Se o capital fosse aplicado em outra alternativa de risco similar, qual seria o retorno?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08192" y="333756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36792" y="35204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Oportunidade de Ativos Existentes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36792" y="3931920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projeto utiliza um ativo que a empresa já possui (terreno, equipamento, imóvel), o valor que esse ativo poderia gerar em seu melhor uso alternativo deve ser incluído como custo do projeto.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15" name="Text 25">
            <a:extLst>
              <a:ext uri="{FF2B5EF4-FFF2-40B4-BE49-F238E27FC236}">
                <a16:creationId xmlns:a16="http://schemas.microsoft.com/office/drawing/2014/main" id="{CBB2793E-EFC5-75BB-564F-990389443A4C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 3.2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Oportunidade de um Ativo Existente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92224"/>
            <a:ext cx="438912" cy="438912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739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10012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empresa possui um galpão próprio avaliado em R$ 500.000, que poderia ser alugado por R$ 60.000/ano. A empresa estuda usar esse galpão para instalar uma nova linha de produção. Qual é o custo de oportunidade anual a ser incluído no fluxo de caixa do projeto?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91672" cy="1920240"/>
          </a:xfrm>
          <a:prstGeom prst="roundRect">
            <a:avLst>
              <a:gd name="adj" fmla="val 3810"/>
            </a:avLst>
          </a:prstGeom>
          <a:solidFill>
            <a:srgbClr val="0B3552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8620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264408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oportunidade é o aluguel que deixará de ser recebido: R$ 60.000/ano.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Esse valor deve ser tratado como um custo do projeto, mesmo sem desembolso efetivo de caixa.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Princípio: recursos escassos têm custo, independentemente de sua forma de utilização.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80060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E7EEF4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4901184"/>
            <a:ext cx="438912" cy="438912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8828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800600"/>
            <a:ext cx="10012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  </a:t>
            </a: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Oportunidade do Galpão = R$ 60.000/ano.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18" name="Text 25">
            <a:extLst>
              <a:ext uri="{FF2B5EF4-FFF2-40B4-BE49-F238E27FC236}">
                <a16:creationId xmlns:a16="http://schemas.microsoft.com/office/drawing/2014/main" id="{51F7FEED-EC12-51A0-8BFC-BEAABE40CCD8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VARIAÇÃO DA NECESSIDADE DE CAPITAL DE GIRO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ΔNCG — Recursos para Financiar as Operações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capital de giro (CG) é o conjunto de recursos necessários para financiar as operações correntes enquanto os recebimentos de clientes ainda não ocorreram. A expansão ou criação de uma atividade normalmente exige um incremento </a:t>
            </a:r>
            <a:r>
              <a:rPr lang="en-US" sz="125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NCG (</a:t>
            </a:r>
            <a:r>
              <a:rPr lang="en-US" sz="125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Necessidades</a:t>
            </a: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Capital de Giro).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1672" cy="219456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Efeito no FCL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(+) Estoques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Materiais e produtos acabados em estoque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Saída de caixa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(+) Contas a Receber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Vendas realizadas ainda não recebidas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Saída de caixa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(−) Contas a Pagar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Compras realizadas ainda não pagas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 de caixa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NCG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Necessidade líquida de capital de giro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ΔNCG = NCG(t) − NCG(t−1)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091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470916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ΔNCG = NCG(ano t) − NCG(ano t−1)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80760" y="4709160"/>
            <a:ext cx="5559552" cy="868680"/>
          </a:xfrm>
          <a:prstGeom prst="roundRect">
            <a:avLst>
              <a:gd name="adj" fmla="val 8421"/>
            </a:avLst>
          </a:prstGeom>
          <a:solidFill>
            <a:srgbClr val="E7EEF4"/>
          </a:solidFill>
          <a:ln/>
        </p:spPr>
      </p:sp>
      <p:sp>
        <p:nvSpPr>
          <p:cNvPr id="9" name="Text 6"/>
          <p:cNvSpPr/>
          <p:nvPr/>
        </p:nvSpPr>
        <p:spPr>
          <a:xfrm>
            <a:off x="6309360" y="470916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ΔNCG entra com sinal negativo se aumenta (mais recursos imobilizados); com sinal positivo se libera (fim do projeto — o CG retorna).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12" name="Text 25">
            <a:extLst>
              <a:ext uri="{FF2B5EF4-FFF2-40B4-BE49-F238E27FC236}">
                <a16:creationId xmlns:a16="http://schemas.microsoft.com/office/drawing/2014/main" id="{397BE5DD-69E4-D9C6-45BF-6422BB9B0C89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OS EFEITOS FISCAIS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Economia de Imposto — o </a:t>
            </a:r>
            <a:r>
              <a:rPr lang="en-US" sz="2800" b="1" i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 Shield</a:t>
            </a:r>
            <a:r>
              <a:rPr lang="en-US" sz="28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 Depreciação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Trabalha-se com o LAJIR (Lucro Antes de Juros e IR), que representa o resultado operacional antes dos efeitos do financiamento.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depreciação, embora não seja saída de caixa, reduz a base tributável e gera economia de imposto (</a:t>
            </a: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Shield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FCL, a depreciação aparece duas vezes: subtraída (para calcular o LAJIR/imposto) e somada de volta (reversão não-caixa). O efeito líquido é apenas a economia tributária.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03720" y="182880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0" y="182880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Economia de Imposto = Depreciação × 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03720" y="310896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32644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78040" y="353872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alíquota de imposto de renda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Líquido da Depreciação no FCL = Depreciação × 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12" name="Text 25">
            <a:extLst>
              <a:ext uri="{FF2B5EF4-FFF2-40B4-BE49-F238E27FC236}">
                <a16:creationId xmlns:a16="http://schemas.microsoft.com/office/drawing/2014/main" id="{1BDB72EC-59AB-0F23-C370-132A781BCA50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 3.3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Economia de Imposto pela Depreciação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23644"/>
            <a:ext cx="438912" cy="438912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053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10012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equipamento custa R$ 600.000 e é depreciado linearmente em 5 anos (R$ 120.000/ano). A alíquota de IR é 50%. Calcule a economia de imposto anual gerada pela depreciação.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7249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12724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de Imposto = 120.000 × 50% = R$ 60.000/ano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E7EEF4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895344"/>
            <a:ext cx="438912" cy="438912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8770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794760"/>
            <a:ext cx="10012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  </a:t>
            </a: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 depreciação, o LAJIR seria R$ 60.000 maior, gerando R$ 60.000 a mais de imposto a pagar. A depreciação gera economia real de caixa de R$ 60.000/ano nos primeiros 5 anos.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18" name="Text 25">
            <a:extLst>
              <a:ext uri="{FF2B5EF4-FFF2-40B4-BE49-F238E27FC236}">
                <a16:creationId xmlns:a16="http://schemas.microsoft.com/office/drawing/2014/main" id="{75B94AF5-037C-19CE-FE3C-1B87CB7E790A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EFEITOS DERIVADOS DO PROJETO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Sinergia × Canibalização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aceitação de um novo projeto pode afetar os fluxos de caixa de outras áreas ou produtos da empresa — os chamados efeitos colaterais (spillovers).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7EEF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14600"/>
            <a:ext cx="457200" cy="4572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96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4688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Positivo (Sinergia)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9718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novo produto aumenta as vendas de outros produtos existentes (ex.: uma nova linha de acessórios que estimula a venda do produto principal).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08192" y="23317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5E6E6"/>
          </a:solidFill>
          <a:ln/>
        </p:spPr>
      </p:sp>
      <p:sp>
        <p:nvSpPr>
          <p:cNvPr id="11" name="Shape 9"/>
          <p:cNvSpPr/>
          <p:nvPr/>
        </p:nvSpPr>
        <p:spPr>
          <a:xfrm>
            <a:off x="6336792" y="2514600"/>
            <a:ext cx="457200" cy="457200"/>
          </a:xfrm>
          <a:prstGeom prst="ellipse">
            <a:avLst/>
          </a:prstGeom>
          <a:solidFill>
            <a:srgbClr val="B0463E"/>
          </a:solidFill>
          <a:ln/>
        </p:spPr>
      </p:sp>
      <p:sp>
        <p:nvSpPr>
          <p:cNvPr id="12" name="Text 10"/>
          <p:cNvSpPr/>
          <p:nvPr/>
        </p:nvSpPr>
        <p:spPr>
          <a:xfrm>
            <a:off x="6336792" y="2496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31152" y="24688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Negativo (Canibalização)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36792" y="29718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novo produto reduz as vendas de um produto existente (ex.: lançamento de um produto de segunda linha que captura clientes da linha </a:t>
            </a: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70916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FUNDAMENTAL: todo efeito potencial da decisão de investir deve ser considerado. Ignorar canibalização superestima os benefícios; ignorar sinergias subestima.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20" name="Text 25">
            <a:extLst>
              <a:ext uri="{FF2B5EF4-FFF2-40B4-BE49-F238E27FC236}">
                <a16:creationId xmlns:a16="http://schemas.microsoft.com/office/drawing/2014/main" id="{90ADBB28-60E4-64A4-7711-751028E8A285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(F) CUSTOS AFUNDADOS E (G) CUSTOS DIRETOS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Sunk Costs</a:t>
            </a:r>
            <a:r>
              <a:rPr lang="en-US" sz="22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Incrementalidade dos Custos Indiretos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5E6E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(f) Custos Afundados (</a:t>
            </a:r>
            <a:r>
              <a:rPr lang="en-US" sz="1450" b="1" i="1" dirty="0">
                <a:solidFill>
                  <a:srgbClr val="B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Sunk Costs</a:t>
            </a:r>
            <a:r>
              <a:rPr lang="en-US" sz="1450" b="1" dirty="0">
                <a:solidFill>
                  <a:srgbClr val="B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já realizados no passado que não podem ser recuperados, independentemente da decisão presente. Não devem influenciar a decisão de continuar ou abandonar um projeto.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3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 Afundado = custo passado já pago → NÃO incluir no FCL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4251960"/>
            <a:ext cx="4892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389120"/>
            <a:ext cx="4526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clássico: uma empresa investiu R$ 200.000 em P&amp;D. Ao decidir se continua o projeto, só os custos e receitas futuros importam — os R$ 200.000 já gastos são irrelevantes.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08192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36792" y="18745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Custos Diretamente Atribuídos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36792" y="233172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administrativos ou de </a:t>
            </a: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frequentemente são alocados por rateio. O princípio incremental determina que apenas os custos que de fato aumentam por causa do projeto entram no fluxo.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36792" y="3703320"/>
            <a:ext cx="4892040" cy="868680"/>
          </a:xfrm>
          <a:prstGeom prst="roundRect">
            <a:avLst>
              <a:gd name="adj" fmla="val 8421"/>
            </a:avLst>
          </a:prstGeom>
          <a:solidFill>
            <a:srgbClr val="E7EEF4"/>
          </a:solidFill>
          <a:ln/>
        </p:spPr>
      </p:sp>
      <p:sp>
        <p:nvSpPr>
          <p:cNvPr id="14" name="Text 12"/>
          <p:cNvSpPr/>
          <p:nvPr/>
        </p:nvSpPr>
        <p:spPr>
          <a:xfrm>
            <a:off x="6519672" y="370332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contrata funcionário exclusivo para o projeto → INCLUIR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36792" y="4663440"/>
            <a:ext cx="4892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19672" y="46634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existente absorve a demanda sem custo adicional → NÃO incluir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19" name="Text 25">
            <a:extLst>
              <a:ext uri="{FF2B5EF4-FFF2-40B4-BE49-F238E27FC236}">
                <a16:creationId xmlns:a16="http://schemas.microsoft.com/office/drawing/2014/main" id="{0FB41331-3A24-AABA-A975-09DBF10460EE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(H) CUSTOS DE FINANCIAMENTO E O FLUXO DE CAIXA LIVRE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FCL Não Inclui Juros e Amortizações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FCL avalia o projeto como se fosse financiado 100% por capital próprio. O custo do financiamento já está embutido na taxa de desconto (WACC). Incluir os juros no fluxo e também descontar pelo WACC geraria dupla contagem do custo do capital.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11091672" cy="13716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Fluxo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 Juros/Amortização?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Desconto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Perspectiva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FCL — Fluxo de Caixa Livre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WACC (custo médio ponderado)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como um todo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FDA — Fluxo do Acionista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04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 (custo do capital próprio)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Acionistas/proprietários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5196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425196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Adiante (Seção 3.3), veremos que o FDA parte do FCL e acrescenta os efeitos do financiamento — permitindo avaliar o retorno específico dos acionistas.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5" name="Text 25">
            <a:extLst>
              <a:ext uri="{FF2B5EF4-FFF2-40B4-BE49-F238E27FC236}">
                <a16:creationId xmlns:a16="http://schemas.microsoft.com/office/drawing/2014/main" id="{E891F1A9-6105-E878-205F-DD2D7614B1C1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OS EFEITOS DA INFLAÇÃO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Abordagens Internamente Consistentes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13716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Abordagem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Fluxos de Caixa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Desconto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Valores Correntes (Nominais)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Ajustados pela inflação projetada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nominal (kN)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VPL consistente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Valores Constantes (Reais)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preços de hoje (sem inflação)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real (kr)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VPL idêntico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383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relação entre as taxas é dada pela Equação de Fisher: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374904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3749040"/>
            <a:ext cx="10817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 + kN) = (1 + kr) × (1 + i)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461772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C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= [(1+kN)/(1+i)] − 1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489204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E7EEF4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" y="4892040"/>
            <a:ext cx="10424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taxa nominal   </a:t>
            </a: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taxa real   </a:t>
            </a: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inflação projetada
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VPL calculado pelos dois métodos deve ser idêntico quando a inflação afeta igualmente receitas e custos.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4" name="Text 25">
            <a:extLst>
              <a:ext uri="{FF2B5EF4-FFF2-40B4-BE49-F238E27FC236}">
                <a16:creationId xmlns:a16="http://schemas.microsoft.com/office/drawing/2014/main" id="{09EE8CD1-2EAE-E504-D694-F3FBBA3BC5CB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(J) VALOR RESIDUAL E HORIZONTE DE TEMPO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Estimativa Consistente e Definição do Prazo de Análise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(j) Valor Residual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da vida útil, os ativos podem ter valor de mercado (valor de salvamento). Esse valor, líquido de impostos, deve ser incluído como fluxo positivo no último período.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liquidação física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reposição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contábil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mercado de empresas comparáveis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4663440"/>
            <a:ext cx="4892040" cy="1325880"/>
          </a:xfrm>
          <a:prstGeom prst="roundRect">
            <a:avLst>
              <a:gd name="adj" fmla="val 5517"/>
            </a:avLst>
          </a:prstGeom>
          <a:solidFill>
            <a:srgbClr val="F5E6E6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663440"/>
            <a:ext cx="45262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Imposto sobre ganho de capital: </a:t>
            </a:r>
          </a:p>
          <a:p>
            <a:pPr marL="0" indent="0">
              <a:buNone/>
            </a:pPr>
            <a:r>
              <a:rPr lang="en-US" sz="1100" b="1" dirty="0" err="1">
                <a:solidFill>
                  <a:srgbClr val="8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1100" b="1" dirty="0">
                <a:solidFill>
                  <a:srgbClr val="8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Liquidação = Valor de Venda − IR × (Valor de Venda − Valor Contábil)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08192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36792" y="18745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(l) Horizonte de Tempo do Projeto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36792" y="228600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Determinado pela duração econômica do projeto, que pode ou não coincidir com a vida útil física dos ativos: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36792" y="2926080"/>
            <a:ext cx="4892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do projeto: maior risco → menor período de previsão explícita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estabilidade: maior fase de crescimento → maior horizonte necessário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Fatores contratuais e regulatórios: concessões, contratos, licenças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36792" y="50292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0F3F5E"/>
          </a:solidFill>
          <a:ln/>
        </p:spPr>
      </p:sp>
      <p:sp>
        <p:nvSpPr>
          <p:cNvPr id="15" name="Text 13"/>
          <p:cNvSpPr/>
          <p:nvPr/>
        </p:nvSpPr>
        <p:spPr>
          <a:xfrm>
            <a:off x="6519672" y="502920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projeto exceder o horizonte, pode-se calcular um valor terminal (perpetuidade ou liquidação).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18" name="Text 25">
            <a:extLst>
              <a:ext uri="{FF2B5EF4-FFF2-40B4-BE49-F238E27FC236}">
                <a16:creationId xmlns:a16="http://schemas.microsoft.com/office/drawing/2014/main" id="{E1BFA8FA-230A-1627-9155-86420E200270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DA SEÇÃO 3.2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</a:t>
            </a:r>
            <a:r>
              <a:rPr lang="en-US" sz="2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das Dez Considerações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92808"/>
            <a:ext cx="457200" cy="4572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7373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com base incremental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08192" y="173736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72784" y="1892808"/>
            <a:ext cx="457200" cy="4572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0" name="Text 8"/>
          <p:cNvSpPr/>
          <p:nvPr/>
        </p:nvSpPr>
        <p:spPr>
          <a:xfrm>
            <a:off x="6272784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85432" y="17373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de oportunidade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2807208"/>
            <a:ext cx="457200" cy="4572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26517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da NCG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08192" y="265176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2784" y="2807208"/>
            <a:ext cx="457200" cy="4572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8" name="Text 16"/>
          <p:cNvSpPr/>
          <p:nvPr/>
        </p:nvSpPr>
        <p:spPr>
          <a:xfrm>
            <a:off x="6272784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85432" y="26517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Efeitos fiscais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3721608"/>
            <a:ext cx="457200" cy="4572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Efeitos derivados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08192" y="356616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72784" y="3721608"/>
            <a:ext cx="457200" cy="4572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26" name="Text 24"/>
          <p:cNvSpPr/>
          <p:nvPr/>
        </p:nvSpPr>
        <p:spPr>
          <a:xfrm>
            <a:off x="6272784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85432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afundados (</a:t>
            </a: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sunk costs</a:t>
            </a: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448056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3232" y="4636008"/>
            <a:ext cx="457200" cy="4572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25880" y="44805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diretamente atribuídos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108192" y="448056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72784" y="4636008"/>
            <a:ext cx="457200" cy="4572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34" name="Text 32"/>
          <p:cNvSpPr/>
          <p:nvPr/>
        </p:nvSpPr>
        <p:spPr>
          <a:xfrm>
            <a:off x="6272784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885432" y="44805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de financiamento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48640" y="539496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3232" y="5550408"/>
            <a:ext cx="457200" cy="4572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" y="5532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325880" y="53949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Efeitos da inflação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108192" y="539496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72784" y="5550408"/>
            <a:ext cx="457200" cy="4572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2" name="Text 40"/>
          <p:cNvSpPr/>
          <p:nvPr/>
        </p:nvSpPr>
        <p:spPr>
          <a:xfrm>
            <a:off x="6272784" y="5532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885432" y="53949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residual e horizonte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  <p:sp>
        <p:nvSpPr>
          <p:cNvPr id="46" name="Text 25">
            <a:extLst>
              <a:ext uri="{FF2B5EF4-FFF2-40B4-BE49-F238E27FC236}">
                <a16:creationId xmlns:a16="http://schemas.microsoft.com/office/drawing/2014/main" id="{DCCE69CB-E391-A465-FB67-7D6A055F78A4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37744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572000"/>
            <a:ext cx="4114800" cy="41148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DA AULA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Fluxo Incremental Está Estruturado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58368" y="1691640"/>
            <a:ext cx="91440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sabe montar um fluxo de caixa incremental correto, aplicando as dez considerações fundamentais. Na Aula 2, vamos formalizar o FCL e o FDA, e aplicar tudo em um estudo de caso completo.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B355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718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77440" y="2971800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Caixa Incremental — FCI = Com projeto − Sem projeto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B3552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8862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77440" y="3886200"/>
            <a:ext cx="8961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considerações fundamentais na montagem do fluxo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2: FCL × FDA, decisão econômica × financeira, e o estudo de caso do Estaleiro de Iates de Luxo.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17" name="Text 25">
            <a:extLst>
              <a:ext uri="{FF2B5EF4-FFF2-40B4-BE49-F238E27FC236}">
                <a16:creationId xmlns:a16="http://schemas.microsoft.com/office/drawing/2014/main" id="{B3AAEF3E-9139-4D6A-AEE4-5402AD71F3C8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840480" cy="38404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2D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de Caixa Livre × Fluxo do Acionista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21792" y="4224528"/>
            <a:ext cx="82296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37083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Bem-vindos de volta — Aula 2. Separando a decisão econômica da decisão financeira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5166360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474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FCL — avalia o projeto como um todo (WACC)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5495544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37667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— avalia a ótica do acionista (Ke)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  <p:sp>
        <p:nvSpPr>
          <p:cNvPr id="14" name="Text 25">
            <a:extLst>
              <a:ext uri="{FF2B5EF4-FFF2-40B4-BE49-F238E27FC236}">
                <a16:creationId xmlns:a16="http://schemas.microsoft.com/office/drawing/2014/main" id="{B0B03136-6B04-630A-A5C9-B96F94E1594E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3.3.1 — DECISÃO ECONÔMICA × DECISÃO FINANCEIRA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Avanço da Teoria Financeira Moderna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separação entre a decisão de investimento (econômica) e a decisão de financiamento (financeira) é possível em mercados de capitais eficientes — e permite avaliar a qualidade intrínseca do projeto antes de discutir como ele será financiado.</a:t>
            </a:r>
            <a:endParaRPr lang="en-US" sz="13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91672" cy="1555395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Decisão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 Central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Desconto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Econômica (Investimento)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 a pena fazer o projeto?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FCL — Fluxo de Caixa Livre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Financeira (Financiamento)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financiar? Qual o valor ao acionista?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FDA — Fluxo do Acionista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 (custo do PL)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200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457200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separação das decisões permite avaliar a qualidade intrínseca do projeto antes de discutir o financiamento. Um projeto economicamente viável pode ser ainda mais interessante para os acionistas dependendo da estrutura de financiamento.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5" name="Text 25">
            <a:extLst>
              <a:ext uri="{FF2B5EF4-FFF2-40B4-BE49-F238E27FC236}">
                <a16:creationId xmlns:a16="http://schemas.microsoft.com/office/drawing/2014/main" id="{E37297E2-FB26-8B1E-6C08-C54A34E6004B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3.3.2 — FLUXO DE CAIXA LIVRE (FCL)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Completa do Demonstrativo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o caixa disponível para todos os provedores de capital — credores e acionistas — após todos os investimentos necessários para manter e expandir as operações.</a:t>
            </a:r>
            <a:endParaRPr lang="en-US" sz="12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438066"/>
              </p:ext>
            </p:extLst>
          </p:nvPr>
        </p:nvGraphicFramePr>
        <p:xfrm>
          <a:off x="548640" y="2148840"/>
          <a:ext cx="6858000" cy="42519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(+) Receita Operacional Líquida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Vendas líquidas de devoluções e impostos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(−) Custos e Despesas Operacionais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Custos variáveis + fixos (sem depreciação)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EBITDA (earn before increase, tax, depreciation and amortization)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Lucro antes de juros, IR, depr. e amortização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(−) Depreciação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Alocação do custo dos ativos na vida útil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LAJIR (EBIT)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operacional — base para o 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(−) IR sobre o LAJIR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Imposto sobre o LAJIR (sem benef. fiscal)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(+) Depreciação (de volta)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Reversão do efeito não-caixa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(−) CAPEX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Dispêndios de capital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(±) ΔNCG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Variação da Necessidade de Capital de Giro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FCL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 disponível para credores e acionistas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2194560"/>
            <a:ext cx="4050792" cy="1463040"/>
          </a:xfrm>
          <a:prstGeom prst="roundRect">
            <a:avLst>
              <a:gd name="adj" fmla="val 5000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26680" y="2194560"/>
            <a:ext cx="37764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FCL = LAJIR×(1−T) + Depr. − CAPEX ± ΔNCG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26680" y="3611880"/>
            <a:ext cx="3776472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C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simplificada e equivalente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589520" y="3840480"/>
            <a:ext cx="4050792" cy="2560320"/>
          </a:xfrm>
          <a:prstGeom prst="roundRect">
            <a:avLst>
              <a:gd name="adj" fmla="val 28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818120" y="402336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FCL é descontado ao WACC para calcular o VPL econômico do projeto.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818120" y="484632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VPL(</a:t>
            </a:r>
            <a:r>
              <a:rPr lang="en-US" sz="1350" b="1" dirty="0" err="1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</a:t>
            </a: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350" b="1" baseline="-250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FCL</a:t>
            </a: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0, o projeto cria valor para a empresa como um todo.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  <p:sp>
        <p:nvSpPr>
          <p:cNvPr id="5" name="Text 25">
            <a:extLst>
              <a:ext uri="{FF2B5EF4-FFF2-40B4-BE49-F238E27FC236}">
                <a16:creationId xmlns:a16="http://schemas.microsoft.com/office/drawing/2014/main" id="{332F6EAF-B55E-1C34-43C6-00ADA220C29C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3.3.3 — FLUXO DO ACIONISTA (FDA)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Incorporando os Efeitos do Financiamento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FDA parte do FCL e incorpora: novos empréstimos contraídos, amortizações pagas, juros pagos e o benefício fiscal gerado pelos juros (Tax Shield).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286000"/>
            <a:ext cx="10817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FDA = FCL + Novos Financ. − Amortizações − Juros + Benefício Fiscal dos Juros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85800" y="315468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C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 Fiscal dos Juros = Juros × 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5349240" cy="2468880"/>
          </a:xfrm>
          <a:prstGeom prst="roundRect">
            <a:avLst>
              <a:gd name="adj" fmla="val 2963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6118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Desconto do FDA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393192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FDA é descontado ao custo do capital próprio (Ke) — a taxa de retorno mínima exigida pelos acionistas. Se VPL(Ke)</a:t>
            </a:r>
            <a:r>
              <a:rPr lang="en-US" sz="1250" baseline="-25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0, o projeto cria valor para os acionistas, dada a estrutura de capital proposta.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08192" y="3429000"/>
            <a:ext cx="5349240" cy="2468880"/>
          </a:xfrm>
          <a:prstGeom prst="roundRect">
            <a:avLst>
              <a:gd name="adj" fmla="val 2963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36792" y="36118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entre FCL e FDA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36792" y="393192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= FCL + Efeitos do Financiamento. Em um projeto 100% financiado por capital próprio: FCL = FDA. O FDA é sempre avaliado do ponto de vista dos acionistas; o FCL, do ponto de vista de todos os provedores de capital.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  <p:sp>
        <p:nvSpPr>
          <p:cNvPr id="16" name="Text 25">
            <a:extLst>
              <a:ext uri="{FF2B5EF4-FFF2-40B4-BE49-F238E27FC236}">
                <a16:creationId xmlns:a16="http://schemas.microsoft.com/office/drawing/2014/main" id="{72A31130-3677-8EFC-1DE5-1D5AA4281D09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 3.4  (1/2)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FCL versus FDA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Projeto: Investimento = R$ 100.000; FCL = R$ 120.000 em 1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80% do investimento financiado com empréstimo a 15% a.a. (quitado em 1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 WACC = 18% a.a. Ke = 30% a.a. Calcule o VPL econômico (FCL) e financeiro (FDA).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91672" cy="146304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0 (R$)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1 (R$)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Fluxo de Caixa Livre (FCL)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(100.000)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120.000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20% a.a.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R$ 1.695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(+) Financiamento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+80.000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(92.000)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Fluxo do Acionista (FDA)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(20.000)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28.000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40% a.a.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R$ 1.538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/>
        </p:nvGraphicFramePr>
        <p:xfrm>
          <a:off x="548640" y="4480560"/>
          <a:ext cx="539496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6108192" y="4480560"/>
            <a:ext cx="5532120" cy="1920240"/>
          </a:xfrm>
          <a:prstGeom prst="roundRect">
            <a:avLst>
              <a:gd name="adj" fmla="val 3810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336792" y="4617720"/>
            <a:ext cx="5074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FCL: TIR = 20% &gt; WACC = 18% → VPL &gt; 0 → Projeto economicamente viável.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FDA: TIR = 40% &gt; Ke = 30% → VPL &gt; 0 → Projeto financeiramente viável para os acionistas.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  <p:sp>
        <p:nvSpPr>
          <p:cNvPr id="6" name="Text 25">
            <a:extLst>
              <a:ext uri="{FF2B5EF4-FFF2-40B4-BE49-F238E27FC236}">
                <a16:creationId xmlns:a16="http://schemas.microsoft.com/office/drawing/2014/main" id="{CEFB4DAE-02AA-AFBF-750F-F6A5F4E513F4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 3.4  (2/2)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Efeito da Alavancagem Financeira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alavancagem financeira (uso de dívida mais barata que o retorno do projeto) ampliou o retorno do acionista: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TIR_FCL = 20%   →   TIR_FDA = 40%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11091672" cy="1965960"/>
          </a:xfrm>
          <a:prstGeom prst="roundRect">
            <a:avLst>
              <a:gd name="adj" fmla="val 3721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0233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alavancagem amplia o retorno?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rende 20% (TIR do FCL), mas o custo da dívida é de apenas 15% a.a. Ao financiar 80% do investimento com essa dívida mais barata, o acionista investe menos capital próprio (apenas R$ 20.000) e capta a diferença entre o retorno do projeto e o custo da dívida — ampliando seu retorno percentual para 40%.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  <p:sp>
        <p:nvSpPr>
          <p:cNvPr id="12" name="Text 25">
            <a:extLst>
              <a:ext uri="{FF2B5EF4-FFF2-40B4-BE49-F238E27FC236}">
                <a16:creationId xmlns:a16="http://schemas.microsoft.com/office/drawing/2014/main" id="{6BE99C72-7AC3-9608-00C6-FF903C25A96E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840480" cy="38404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2D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 — Estaleiro de Iates de Luxo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21792" y="4224528"/>
            <a:ext cx="82296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37083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todos os conceitos do capítulo em um projeto real e completo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5166360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474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do projeto e financiamento SAC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5495544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37667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 do FCL e do FDA ao longo de 10 anos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" y="5824728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705856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VPL econômico, VPL financeiro e o WACC via CAPM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  <p:sp>
        <p:nvSpPr>
          <p:cNvPr id="16" name="Text 25">
            <a:extLst>
              <a:ext uri="{FF2B5EF4-FFF2-40B4-BE49-F238E27FC236}">
                <a16:creationId xmlns:a16="http://schemas.microsoft.com/office/drawing/2014/main" id="{BCFF487B-CC13-1642-2CF8-000C3D78674A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3.4.1 — DESCRIÇÃO DO PROJETO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Parâmetros do Estaleiro de Iates de Luxo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que pretende avaliar a viabilidade econômica e financeira de um projeto de construção e venda de iates especiais. Investimento inicial de US$ 1.000.000,00, com prazo de análise de 10 anos.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1672" cy="40233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Parâmetro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Observações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Investimento Inicial Total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US$ 1.000.000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Máq./Equip.: US$ 600.000 + Outros: US$ 400.000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Unitária por Iate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US$ 200.000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de mercado do iate de luxo desta categoria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Variável Unitário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US$ 40.000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Materiais e mão de obra direta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Fixo Anual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US$ 60.000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Administrativo, manutenção, seguros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Produção Anual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iates/ano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Capacidade máxima do estaleiro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Vida Útil do Projeto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anos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Horizonte de análise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Depreciação (Máq./Equip.)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US$ 120.000/ano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 linear, 5 anos (600.000 ÷ 5)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Residual (Ano 10)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US$ 100.000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Venda das máquinas após encerramento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Alíquota de IR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50%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Imposto de Renda total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de Capital (WACC)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8,92%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Médio Ponderado de Capital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  <p:sp>
        <p:nvSpPr>
          <p:cNvPr id="5" name="Text 25">
            <a:extLst>
              <a:ext uri="{FF2B5EF4-FFF2-40B4-BE49-F238E27FC236}">
                <a16:creationId xmlns:a16="http://schemas.microsoft.com/office/drawing/2014/main" id="{A551FDE8-03A6-D900-E86D-8A4D42284288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3.4.1 — ESTRUTURA DE FINANCIAMENTO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Amortização Constante (SAC)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Financiamento de US$ 600.000 (valor das máquinas e equipamentos) a 10% a.a., amortizado pelo SAC em 5 anos.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1672" cy="2743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Período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Devedor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Amortização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Prestação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Benef. Fiscal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600.000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480.000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120.000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180.000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360.000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120.000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48.000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168.000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24.000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240.000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120.000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36.000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156.000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120.000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120.000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24.000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144.000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120.000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132.000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TOTAL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600.000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180.000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780.000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90.000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E7EEF4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512064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em US$. Benefício Fiscal = Juros × 50% (alíquota de IR). No SAC, a amortização é constante (US$ 120.000/ano) e os juros — e o benefício fiscal — decrescem ao longo do tempo.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50" dirty="0"/>
          </a:p>
        </p:txBody>
      </p:sp>
      <p:sp>
        <p:nvSpPr>
          <p:cNvPr id="5" name="Text 25">
            <a:extLst>
              <a:ext uri="{FF2B5EF4-FFF2-40B4-BE49-F238E27FC236}">
                <a16:creationId xmlns:a16="http://schemas.microsoft.com/office/drawing/2014/main" id="{33D394D1-5BF9-781E-9816-40490D7A03B1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3.4.2 — MONTAGEM DO FLUXO DE CAIXA LIVRE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FCL do Estaleiro ao Longo de 10 Anos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depreciação ocorre apenas nos primeiros 5 anos. O valor de liquidação de US$ 100.000 entra no Ano 10, líquido de IR (máquina totalmente depreciada → ganho integral tributado).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644459"/>
              </p:ext>
            </p:extLst>
          </p:nvPr>
        </p:nvGraphicFramePr>
        <p:xfrm>
          <a:off x="548640" y="2194560"/>
          <a:ext cx="11091672" cy="324612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(US$)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Anos 1–5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Anos 6–10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10 (Liquid.)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Investimento Inicial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(1.000.000)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100.000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(+) Receita (2×200K)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400.000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400.000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(−) Custo Variável (2×40K)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(80.000)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(80.000)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(−) Custo Fixo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(60.000)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(60.000)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(−) Depreciação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(120.000)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 LAJIR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140.000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260.000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(−) IR (50%)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(70.000)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(130.000)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(50.000)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(+) Depreciação (volta)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120.000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 FCL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(1.000.000)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190.000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130.000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50.000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7784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55778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FCL Ano 10 = US$ 130.000 (operacional) + US$ 50.000 (líquido da liquidação) = US$ 180.000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  <p:sp>
        <p:nvSpPr>
          <p:cNvPr id="5" name="Text 25">
            <a:extLst>
              <a:ext uri="{FF2B5EF4-FFF2-40B4-BE49-F238E27FC236}">
                <a16:creationId xmlns:a16="http://schemas.microsoft.com/office/drawing/2014/main" id="{D5587DC9-824B-44DF-775E-5F6FFF7D9300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3.4.2 — CÁLCULO DO VPL ECONÔMICO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FCL Descontado ao WACC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177431146"/>
              </p:ext>
            </p:extLst>
          </p:nvPr>
        </p:nvGraphicFramePr>
        <p:xfrm>
          <a:off x="548640" y="1737360"/>
          <a:ext cx="64922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737360"/>
            <a:ext cx="4416552" cy="3017520"/>
          </a:xfrm>
          <a:prstGeom prst="roundRect">
            <a:avLst>
              <a:gd name="adj" fmla="val 2424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52360" y="1920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VPL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52360" y="228600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VPL(8,92%) = −1.000.000 + 190.000×a(8,92%;5) + 130.000×a(8,92%;5)×(1,0892)⁻⁵ + 50.000×(1,0892)⁻¹⁰ 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100" dirty="0">
              <a:solidFill>
                <a:srgbClr val="1E293B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cs typeface="Courier New" pitchFamily="34" charset="-120"/>
              </a:rPr>
              <a:t>VPL(8,92%) =  U$ 86.559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493776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493776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VPL(FCL; 8,92%) ≈ US$ 86.559 &gt; 0  →  Projeto Economicamente VIÁVEL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  <p:sp>
        <p:nvSpPr>
          <p:cNvPr id="12" name="Text 25">
            <a:extLst>
              <a:ext uri="{FF2B5EF4-FFF2-40B4-BE49-F238E27FC236}">
                <a16:creationId xmlns:a16="http://schemas.microsoft.com/office/drawing/2014/main" id="{CCBABD17-94F2-A5CB-3108-80CA16DA4C00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3.4.3 — MONTAGEM DO FLUXO DO ACIONISTA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FDA do Estaleiro (Anos 0–5)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FDA incorpora ao FCL os fluxos de financiamento apenas nos primeiros 5 anos. O capital próprio investido é US$ 400.000 (40%) — os outros US$ 600.000 vieram do empréstimo.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73384" cy="2649934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85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(US$)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5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FCL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(1.000.000)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190.000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190.000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190.000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190.000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190.000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130.000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50.000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5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(+) Financiamento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+600.000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5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(−) Amortização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(120.000)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(120.000)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(120.000)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(120.000)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(120.000)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5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(−) Juros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(60.000)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(48.000)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(36.000)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(24.000)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(12.000)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5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(+) Benef. Fiscal Juros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30.000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24.000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18.000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12.000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5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 FDA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(400.000)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40.000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46.000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52.000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58.000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64.000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130.000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50.000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93776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E7EEF4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493776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 Fiscal dos Juros = Juros × 50%. Note que o FDA é sempre maior que o FCL nos anos com financiamento — a dívida (10% a.a.) é mais barata que o WACC (8,92%) após o benefício fiscal, ampliando o retorno do acionista.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50" dirty="0"/>
          </a:p>
        </p:txBody>
      </p:sp>
      <p:sp>
        <p:nvSpPr>
          <p:cNvPr id="10" name="Text 25">
            <a:extLst>
              <a:ext uri="{FF2B5EF4-FFF2-40B4-BE49-F238E27FC236}">
                <a16:creationId xmlns:a16="http://schemas.microsoft.com/office/drawing/2014/main" id="{126A1F64-A0DF-4830-F994-B99A0AC386AD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3.4.3 — CÁLCULO DO VPL FINANCEIRO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FDA Descontado ao Ke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VPL(FDA) do estudo de caso, calculado à taxa WACC (8,92%) para efeito comparativo, resulta em US$ 139.926 — superior ao VPL(FCL).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194560"/>
          <a:ext cx="6492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2194560"/>
            <a:ext cx="4416552" cy="3108960"/>
          </a:xfrm>
          <a:prstGeom prst="roundRect">
            <a:avLst>
              <a:gd name="adj" fmla="val 2353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52360" y="2377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VPL(FDA, 8,92%) ≈ US$ 139.926 &gt; 0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52360" y="29260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Projeto Financeiramente VIÁVEL para os Acionistas.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52360" y="356616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da alavancagem: o custo do empréstimo (10% a.a.) é maior que o WACC (8,92%), mas o benefício fiscal dos juros gera economia tributária que agrega valor aos acionistas.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7EEF4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548640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VPL(FDA, 8,92%) = US$ 139.926 &gt; VPL(FCL, 8,92%) = US$ 86.559 — a alavancagem financeira positiva amplia o valor criado para os acionistas.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50" dirty="0"/>
          </a:p>
        </p:txBody>
      </p:sp>
      <p:sp>
        <p:nvSpPr>
          <p:cNvPr id="14" name="Text 25">
            <a:extLst>
              <a:ext uri="{FF2B5EF4-FFF2-40B4-BE49-F238E27FC236}">
                <a16:creationId xmlns:a16="http://schemas.microsoft.com/office/drawing/2014/main" id="{EBFE3DFB-3647-2611-DB73-F43CE910128F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3.4.4 — ANÁLISE DO WACC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Médio Ponderado de Capital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 considerando a estrutura de capital do projeto e os custos de cada fonte de financiamento, com o benefício fiscal da dívida: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194560"/>
            <a:ext cx="10817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WACC = Ke × (CP/V) + Kd × (1 − T) × (D/V)</a:t>
            </a:r>
            <a:endParaRPr lang="en-US" sz="1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864952"/>
              </p:ext>
            </p:extLst>
          </p:nvPr>
        </p:nvGraphicFramePr>
        <p:xfrm>
          <a:off x="548640" y="3291840"/>
          <a:ext cx="11091672" cy="2739541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3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Parâmetro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 (custo da dívida)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58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10,0%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juros do financiamento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Parcela D/V (dívida)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58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Participação do empréstimo no capital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 (custo do cap. próprio)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58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14,8%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Estimado </a:t>
                      </a: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pelo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CAPM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sym typeface="Wingdings" panose="05000000000000000000" pitchFamily="2" charset="2"/>
                        </a:rPr>
                        <a:t> 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 = Rf + </a:t>
                      </a:r>
                      <a:r>
                        <a:rPr lang="el-GR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</a:t>
                      </a:r>
                      <a:r>
                        <a:rPr lang="pt-BR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</a:t>
                      </a:r>
                      <a:r>
                        <a:rPr lang="pt-BR" sz="12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</a:t>
                      </a:r>
                      <a:r>
                        <a:rPr lang="pt-BR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– </a:t>
                      </a:r>
                      <a:r>
                        <a:rPr lang="pt-BR" sz="12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r>
                        <a:rPr lang="pt-BR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Parcela CP/V (próprio)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58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Participação dos acionistas no capital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Alíquota IR (T)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58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cálculo do benefício fiscal da dívida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WACC calculado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8,92%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Kd×(1−T)×D/V + Ke×CP/V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50" dirty="0"/>
          </a:p>
        </p:txBody>
      </p:sp>
      <p:sp>
        <p:nvSpPr>
          <p:cNvPr id="7" name="Text 25">
            <a:extLst>
              <a:ext uri="{FF2B5EF4-FFF2-40B4-BE49-F238E27FC236}">
                <a16:creationId xmlns:a16="http://schemas.microsoft.com/office/drawing/2014/main" id="{E58A9467-594C-0FC0-56E4-5A73874F0239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3.4.4 — ESTIMANDO O KE PELO CAPM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Asset Pricing Model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37360"/>
            <a:ext cx="10817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 = Rf + β × (Rm − Rf)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3575304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livre de risco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06824" y="2880360"/>
            <a:ext cx="3575304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9704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89704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89704" y="3886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de mercado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5008" y="2880360"/>
            <a:ext cx="3575304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47888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47888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47888" y="3886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sistemático do projeto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4663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 = 12% + 1,4 × (14% − 12%) = 12% + 1,4 × 2% = 12% + 2,8% = 14,8%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53492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CAPM estima o retorno mínimo exigido pelos acionistas, somando à taxa livre de risco um prêmio proporcional ao risco </a:t>
            </a:r>
            <a:r>
              <a:rPr lang="en-US" sz="1200" i="1" dirty="0" err="1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sistemático</a:t>
            </a:r>
            <a:r>
              <a:rPr lang="en-US" sz="120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 projeto.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50" dirty="0"/>
          </a:p>
        </p:txBody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3B45BDA3-CC18-4A3C-E929-65AD7C5B2760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37744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3.4.5 — SÍNTESE E CONCLUSÃO DO ESTUDO DE CASO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de Investimento: Projeto VIÁVEL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91440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do Estaleiro é viável tanto do ponto de vista econômico quanto financeiro: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0B355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860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VPL(FCL, WACC = 8,92%)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0" y="22860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9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US$ 86.559 &gt; 0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269480" y="2286000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valor para a empresa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127248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0B3552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27248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VPL(FDA, WACC = 8,92%)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0" y="3127248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9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US$ 139.926 &gt; 0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269480" y="3127248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valor para os acionistas (mesma taxa)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968496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0B355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68496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VPL(FDA, Ke = 14,8%)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0" y="3968496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9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US$ 3.169 &gt; 0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269480" y="3968496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positivo, mas menor, à taxa </a:t>
            </a:r>
            <a:r>
              <a:rPr lang="en-US" sz="1150" i="1" dirty="0" err="1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exigida</a:t>
            </a:r>
            <a:r>
              <a:rPr lang="en-US" sz="1150" i="1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   para o </a:t>
            </a:r>
            <a:r>
              <a:rPr lang="en-US" sz="1150" i="1" dirty="0" err="1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r>
              <a:rPr lang="en-US" sz="1150" i="1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capital </a:t>
            </a:r>
            <a:r>
              <a:rPr lang="en-US" sz="1150" i="1" dirty="0" err="1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próprio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946904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alavancagem financeira (60% de dívida a custo menor que o WACC, após benefício fiscal) ampliou o retorno aos acionistas. Benefício fiscal total dos juros: US$ 90.000 em 5 anos. Considerando a taxa de oportunidade do capital próprio (Ke), o retorno permanece positivo, porém menor, devido à majoração da taxa exigida do acionista.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50" dirty="0"/>
          </a:p>
        </p:txBody>
      </p:sp>
      <p:sp>
        <p:nvSpPr>
          <p:cNvPr id="22" name="Text 25">
            <a:extLst>
              <a:ext uri="{FF2B5EF4-FFF2-40B4-BE49-F238E27FC236}">
                <a16:creationId xmlns:a16="http://schemas.microsoft.com/office/drawing/2014/main" id="{EED12C0B-CF4C-DA96-9525-8ABB5885B2F7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SENSIBILIDADE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VPL(FCL) em Função do Custo de Capital</a:t>
            </a:r>
            <a:endParaRPr lang="en-US" sz="2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69494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737360"/>
            <a:ext cx="4005072" cy="3566160"/>
          </a:xfrm>
          <a:prstGeom prst="roundRect">
            <a:avLst>
              <a:gd name="adj" fmla="val 2051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63840" y="1920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 Gráfico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863840" y="233172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VPL do FCL é positivo para taxas de desconto abaixo de ≈ 11% — a TIR do projeto.
</a:t>
            </a:r>
            <a:endParaRPr lang="en-US" sz="120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WACC efetivo de 8,92%, o projeto está confortavelmente na região viável (VPL &gt; 0).
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de ≈ 11%, o projeto deixa de criar valor — útil para avaliar a robustez da decisão frente a mudanças no custo de capital.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7EEF4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548640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de sensibilidade é essencial para avaliar a robustez da decisão de investimento frente a incertezas no custo de capital.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50" dirty="0"/>
          </a:p>
        </p:txBody>
      </p:sp>
      <p:sp>
        <p:nvSpPr>
          <p:cNvPr id="12" name="Text 25">
            <a:extLst>
              <a:ext uri="{FF2B5EF4-FFF2-40B4-BE49-F238E27FC236}">
                <a16:creationId xmlns:a16="http://schemas.microsoft.com/office/drawing/2014/main" id="{4D60A6C1-FE8A-062C-0332-59ADFCEE47D9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— SÍNTESE FINAL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Capítulo — Fórmulas-Chave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916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Caixa Incremental: diferença entre situação com e sem o projeto.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Considerações Essenciais: incrementalidade, custo de oportunidade, capital de giro, efeitos fiscais, efeitos derivados, sunk costs, custos diretos, financiamento, inflação e valor residual.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FCL avalia o projeto como um todo, descontado pelo WACC. FDA avalia sob a ótica dos acionistas, descontado pelo Ke.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entre decisão econômica (investimento) e decisão financeira (financiamento).</a:t>
            </a:r>
            <a:endParaRPr lang="en-US" sz="12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11091672" cy="2605127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1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1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 de Caixa Livre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FCL = LAJIR×(1−T) + Depreciação − CAPEX ± ΔNCG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1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 do Acionista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FDA = FCL + Novos Financ. − Amortiz. − Juros + Benef. Fiscal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1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Médio Ponderado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WACC = Ke×(CP/V) + Kd×(1−T)×(D/V)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1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 = Rf + β×(Rm − Rf)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1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Equação de Fisher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(1+kN) = (1+kr)×(1+i)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1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Economia de imposto (depr.)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Economia = Depreciação × 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50" dirty="0"/>
          </a:p>
        </p:txBody>
      </p:sp>
      <p:sp>
        <p:nvSpPr>
          <p:cNvPr id="5" name="Text 25">
            <a:extLst>
              <a:ext uri="{FF2B5EF4-FFF2-40B4-BE49-F238E27FC236}">
                <a16:creationId xmlns:a16="http://schemas.microsoft.com/office/drawing/2014/main" id="{795CDB86-03ED-3F43-12ED-BED3A2FAAF06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37744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572000"/>
            <a:ext cx="4114800" cy="41148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A PRÓXIMA AULA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1792" y="9144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 Bibliográficas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58368" y="1691640"/>
            <a:ext cx="91440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011680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0B355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SAMANEZ, C. P. Engenharia Econômica. São Paulo: Pearson Prentice Hall, 2009.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779776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0B355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79776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BREALEY, R. A.; MYERS, S. C.; ALLEN, F. Princípios de Finanças Corporativas. 12. ed. Porto Alegre: AMGH, 2018.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547872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0B355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547872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DAMODARAN, A. Avaliação de Investimentos. 2. ed. Rio de Janeiro: Qualitymark, 2010.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315968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0B355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315968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ASSAF NETO, A. Finanças Corporativas e Valor. 7. ed. São Paulo: Atlas, 2014.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5084064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0B355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84064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COPELAND, T.; KOLLER, T.; MURRIN, J. Avaliação de Empresas — Valuation. 3. ed. São Paulo: Pearson, 2002.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595360" y="2011680"/>
            <a:ext cx="3063240" cy="4206240"/>
          </a:xfrm>
          <a:prstGeom prst="roundRect">
            <a:avLst>
              <a:gd name="adj" fmla="val 2388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23960" y="2240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CAPÍTULO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23960" y="260604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Depreciação e Análise de Substituição de Ativos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823960" y="3931920"/>
            <a:ext cx="548640" cy="32004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1" name="Text 19"/>
          <p:cNvSpPr/>
          <p:nvPr/>
        </p:nvSpPr>
        <p:spPr>
          <a:xfrm>
            <a:off x="8823960" y="41148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sobre os exercícios propostos podem ser trazidas para o início da próxima aula.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50" dirty="0"/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65127367-6914-723B-FAEA-93D00C5B7208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3 — Renda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Caixa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A8A4E097220C94CA78F0CF62B1C4486" ma:contentTypeVersion="20" ma:contentTypeDescription="Crie um novo documento." ma:contentTypeScope="" ma:versionID="e274cbce19eccc8f05082042bdbebfe6">
  <xsd:schema xmlns:xsd="http://www.w3.org/2001/XMLSchema" xmlns:xs="http://www.w3.org/2001/XMLSchema" xmlns:p="http://schemas.microsoft.com/office/2006/metadata/properties" xmlns:ns2="f244cccc-9ebe-487b-9f49-451c84d31f5d" xmlns:ns3="6d1e6d4d-286d-4a1d-879b-bd877680a131" targetNamespace="http://schemas.microsoft.com/office/2006/metadata/properties" ma:root="true" ma:fieldsID="8d05ae5ea0c3b3bf75339924b2fa7c23" ns2:_="" ns3:_="">
    <xsd:import namespace="f244cccc-9ebe-487b-9f49-451c84d31f5d"/>
    <xsd:import namespace="6d1e6d4d-286d-4a1d-879b-bd877680a1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Grupo15_x002d_MatheuseLorena" minOccurs="0"/>
                <xsd:element ref="ns2:_x002e_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Data" minOccurs="0"/>
                <xsd:element ref="ns2:MediaServiceOCR" minOccurs="0"/>
                <xsd:element ref="ns2:grupo13_x002d_MarceloPasso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4cccc-9ebe-487b-9f49-451c84d31f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Grupo15_x002d_MatheuseLorena" ma:index="15" nillable="true" ma:displayName="Grupo 15 - Matheus e Lorena" ma:format="Dropdown" ma:internalName="Grupo15_x002d_MatheuseLorena">
      <xsd:simpleType>
        <xsd:restriction base="dms:Text">
          <xsd:maxLength value="255"/>
        </xsd:restriction>
      </xsd:simpleType>
    </xsd:element>
    <xsd:element name="_x002e_" ma:index="16" nillable="true" ma:displayName="." ma:format="Dropdown" ma:internalName="_x002e_">
      <xsd:simpleType>
        <xsd:restriction base="dms:Text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Marcações de imagem" ma:readOnly="false" ma:fieldId="{5cf76f15-5ced-4ddc-b409-7134ff3c332f}" ma:taxonomyMulti="true" ma:sspId="242374f3-4cab-4e95-b6f7-35998408ef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a" ma:index="24" nillable="true" ma:displayName="Data" ma:default="[today]" ma:format="DateTime" ma:internalName="Data">
      <xsd:simpleType>
        <xsd:restriction base="dms:DateTime"/>
      </xsd:simple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grupo13_x002d_MarceloPassos" ma:index="26" nillable="true" ma:displayName="grupo 13 - Marcelo Passos " ma:format="Dropdown" ma:internalName="grupo13_x002d_MarceloPasso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1e6d4d-286d-4a1d-879b-bd877680a13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114cce79-e80e-4214-aac2-dd100738ee36}" ma:internalName="TaxCatchAll" ma:showField="CatchAllData" ma:web="6d1e6d4d-286d-4a1d-879b-bd877680a13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rupo13_x002d_MarceloPassos xmlns="f244cccc-9ebe-487b-9f49-451c84d31f5d" xsi:nil="true"/>
    <Data xmlns="f244cccc-9ebe-487b-9f49-451c84d31f5d">2026-09-02T21:26:27+00:00</Data>
    <Grupo15_x002d_MatheuseLorena xmlns="f244cccc-9ebe-487b-9f49-451c84d31f5d" xsi:nil="true"/>
    <lcf76f155ced4ddcb4097134ff3c332f xmlns="f244cccc-9ebe-487b-9f49-451c84d31f5d">
      <Terms xmlns="http://schemas.microsoft.com/office/infopath/2007/PartnerControls"/>
    </lcf76f155ced4ddcb4097134ff3c332f>
    <_x002e_ xmlns="f244cccc-9ebe-487b-9f49-451c84d31f5d" xsi:nil="true"/>
    <TaxCatchAll xmlns="6d1e6d4d-286d-4a1d-879b-bd877680a13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A96C1ED-E60A-47F1-BD7B-68B06709BA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44cccc-9ebe-487b-9f49-451c84d31f5d"/>
    <ds:schemaRef ds:uri="6d1e6d4d-286d-4a1d-879b-bd877680a1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32837F-B599-4DF2-AC93-FA1A613AAF93}">
  <ds:schemaRefs>
    <ds:schemaRef ds:uri="http://schemas.microsoft.com/office/2006/metadata/properties"/>
    <ds:schemaRef ds:uri="http://schemas.microsoft.com/office/infopath/2007/PartnerControls"/>
    <ds:schemaRef ds:uri="f244cccc-9ebe-487b-9f49-451c84d31f5d"/>
    <ds:schemaRef ds:uri="6d1e6d4d-286d-4a1d-879b-bd877680a131"/>
  </ds:schemaRefs>
</ds:datastoreItem>
</file>

<file path=customXml/itemProps3.xml><?xml version="1.0" encoding="utf-8"?>
<ds:datastoreItem xmlns:ds="http://schemas.openxmlformats.org/officeDocument/2006/customXml" ds:itemID="{52C4A268-8DC1-4E53-A2C5-E50284AC23B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5759</Words>
  <Application>Microsoft Office PowerPoint</Application>
  <PresentationFormat>Widescreen</PresentationFormat>
  <Paragraphs>805</Paragraphs>
  <Slides>40</Slides>
  <Notes>40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Joao Carlos Felix Souza</cp:lastModifiedBy>
  <cp:revision>16</cp:revision>
  <dcterms:created xsi:type="dcterms:W3CDTF">2026-07-13T12:57:36Z</dcterms:created>
  <dcterms:modified xsi:type="dcterms:W3CDTF">2026-10-07T22:21:44Z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0x0101003A8A4E097220C94CA78F0CF62B1C4486</vt:lpwstr>
  </property>
  <property fmtid="{D5CDD505-2E9C-101B-9397-08002B2CF9AE}" pid="3" name="MediaServiceImageTags">
    <vt:lpwstr/>
  </property>
</Properties>
</file>
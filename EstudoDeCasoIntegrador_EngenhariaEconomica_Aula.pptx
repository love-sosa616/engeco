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4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B3552"/>
                </a:solidFill>
                <a:latin typeface="Calibri"/>
              </a:defRPr>
            </a:pPr>
            <a:r>
              <a:rPr lang="pt-BR" sz="1250" b="0" i="0" u="none" strike="noStrike">
                <a:solidFill>
                  <a:srgbClr val="0B3552"/>
                </a:solidFill>
                <a:latin typeface="Calibri"/>
              </a:rPr>
              <a:t>Evolução dos Índices de Liquidez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Liquidez Corrente</c:v>
                </c:pt>
              </c:strCache>
            </c:strRef>
          </c:tx>
          <c:spPr>
            <a:ln w="31750" cap="flat">
              <a:solidFill>
                <a:srgbClr val="0B355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3552"/>
              </a:solidFill>
              <a:ln w="9525" cap="flat">
                <a:solidFill>
                  <a:srgbClr val="0B3552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Ano 1</c:v>
                </c:pt>
                <c:pt idx="1">
                  <c:v>Ano 2</c:v>
                </c:pt>
                <c:pt idx="2">
                  <c:v>Ano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2.4980000000000002</c:v>
                </c:pt>
                <c:pt idx="1">
                  <c:v>2.536</c:v>
                </c:pt>
                <c:pt idx="2">
                  <c:v>2.5920000000000001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91A-443B-A462-9EB29EF1FC1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Liquidez Seca</c:v>
                </c:pt>
              </c:strCache>
            </c:strRef>
          </c:tx>
          <c:spPr>
            <a:ln w="31750" cap="flat">
              <a:solidFill>
                <a:srgbClr val="6E85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E85A0"/>
              </a:solidFill>
              <a:ln w="9525" cap="flat">
                <a:solidFill>
                  <a:srgbClr val="6E85A0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Ano 1</c:v>
                </c:pt>
                <c:pt idx="1">
                  <c:v>Ano 2</c:v>
                </c:pt>
                <c:pt idx="2">
                  <c:v>Ano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2.3319999999999999</c:v>
                </c:pt>
                <c:pt idx="1">
                  <c:v>2.38</c:v>
                </c:pt>
                <c:pt idx="2">
                  <c:v>2.444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91A-443B-A462-9EB29EF1FC1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Liquidez Geral</c:v>
                </c:pt>
              </c:strCache>
            </c:strRef>
          </c:tx>
          <c:spPr>
            <a:ln w="31750" cap="flat">
              <a:solidFill>
                <a:srgbClr val="C99A2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9A2E"/>
              </a:solidFill>
              <a:ln w="9525" cap="flat">
                <a:solidFill>
                  <a:srgbClr val="C99A2E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Ano 1</c:v>
                </c:pt>
                <c:pt idx="1">
                  <c:v>Ano 2</c:v>
                </c:pt>
                <c:pt idx="2">
                  <c:v>Ano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1.002</c:v>
                </c:pt>
                <c:pt idx="1">
                  <c:v>1.18</c:v>
                </c:pt>
                <c:pt idx="2">
                  <c:v>1.371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91A-443B-A462-9EB29EF1FC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E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dTable>
        <c:showHorzBorder val="1"/>
        <c:showVertBorder val="1"/>
        <c:showOutline val="1"/>
        <c:showKeys val="1"/>
      </c:dTable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552"/>
                </a:solidFill>
                <a:latin typeface="Calibri"/>
              </a:defRPr>
            </a:pPr>
            <a:r>
              <a:rPr lang="pt-BR" sz="1200" b="0" i="0" u="none" strike="noStrike">
                <a:solidFill>
                  <a:srgbClr val="0B3552"/>
                </a:solidFill>
                <a:latin typeface="Calibri"/>
              </a:rPr>
              <a:t>Evolução da Estrutura de Capital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Endividamento Geral</c:v>
                </c:pt>
              </c:strCache>
            </c:strRef>
          </c:tx>
          <c:spPr>
            <a:ln w="31750" cap="flat">
              <a:solidFill>
                <a:srgbClr val="0B355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3552"/>
              </a:solidFill>
              <a:ln w="9525" cap="flat">
                <a:solidFill>
                  <a:srgbClr val="0B3552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Ano 1</c:v>
                </c:pt>
                <c:pt idx="1">
                  <c:v>Ano 2</c:v>
                </c:pt>
                <c:pt idx="2">
                  <c:v>Ano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37.590000000000003</c:v>
                </c:pt>
                <c:pt idx="1">
                  <c:v>35.21</c:v>
                </c:pt>
                <c:pt idx="2">
                  <c:v>32.909999999999997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169-46E5-ABEE-176276EECF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Particip. Cap. Terceiros</c:v>
                </c:pt>
              </c:strCache>
            </c:strRef>
          </c:tx>
          <c:spPr>
            <a:ln w="31750" cap="flat">
              <a:solidFill>
                <a:srgbClr val="6E85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E85A0"/>
              </a:solidFill>
              <a:ln w="9525" cap="flat">
                <a:solidFill>
                  <a:srgbClr val="6E85A0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Ano 1</c:v>
                </c:pt>
                <c:pt idx="1">
                  <c:v>Ano 2</c:v>
                </c:pt>
                <c:pt idx="2">
                  <c:v>Ano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60.22</c:v>
                </c:pt>
                <c:pt idx="1">
                  <c:v>54.35</c:v>
                </c:pt>
                <c:pt idx="2">
                  <c:v>49.06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69-46E5-ABEE-176276EECF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Composição Endivid.</c:v>
                </c:pt>
              </c:strCache>
            </c:strRef>
          </c:tx>
          <c:spPr>
            <a:ln w="31750" cap="flat">
              <a:solidFill>
                <a:srgbClr val="C99A2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9A2E"/>
              </a:solidFill>
              <a:ln w="9525" cap="flat">
                <a:solidFill>
                  <a:srgbClr val="C99A2E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Ano 1</c:v>
                </c:pt>
                <c:pt idx="1">
                  <c:v>Ano 2</c:v>
                </c:pt>
                <c:pt idx="2">
                  <c:v>Ano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40.11</c:v>
                </c:pt>
                <c:pt idx="1">
                  <c:v>46.55</c:v>
                </c:pt>
                <c:pt idx="2">
                  <c:v>52.88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169-46E5-ABEE-176276EECF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E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dTable>
        <c:showHorzBorder val="1"/>
        <c:showVertBorder val="1"/>
        <c:showOutline val="1"/>
        <c:showKeys val="1"/>
      </c:dTable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552"/>
                </a:solidFill>
                <a:latin typeface="Calibri"/>
              </a:defRPr>
            </a:pPr>
            <a:r>
              <a:rPr lang="pt-BR" sz="1200" b="0" i="0" u="none" strike="noStrike">
                <a:solidFill>
                  <a:srgbClr val="0B3552"/>
                </a:solidFill>
                <a:latin typeface="Calibri"/>
              </a:rPr>
              <a:t>Valor das Opções: BS × Binomial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Black-Scholes</c:v>
                </c:pt>
              </c:strCache>
            </c:strRef>
          </c:tx>
          <c:spPr>
            <a:solidFill>
              <a:srgbClr val="C99A2E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Expansão (call)</c:v>
                </c:pt>
                <c:pt idx="1">
                  <c:v>Venda (put)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954185</c:v>
                </c:pt>
                <c:pt idx="1">
                  <c:v>56552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BF-46A9-8394-6407533D0D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Binomial (n=3)</c:v>
                </c:pt>
              </c:strCache>
            </c:strRef>
          </c:tx>
          <c:spPr>
            <a:solidFill>
              <a:srgbClr val="6E85A0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Expansão (call)</c:v>
                </c:pt>
                <c:pt idx="1">
                  <c:v>Venda (put)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858153</c:v>
                </c:pt>
                <c:pt idx="1">
                  <c:v>36734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BF-46A9-8394-6407533D0D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E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B3552"/>
                </a:solidFill>
                <a:latin typeface="Calibri"/>
              </a:defRPr>
            </a:pPr>
            <a:r>
              <a:rPr lang="pt-BR" sz="1250" b="0" i="0" u="none" strike="noStrike">
                <a:solidFill>
                  <a:srgbClr val="0B3552"/>
                </a:solidFill>
                <a:latin typeface="Calibri"/>
              </a:rPr>
              <a:t>Do VPL Passivo ao VPL Estratégico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VPL (R$)</c:v>
                </c:pt>
              </c:strCache>
            </c:strRef>
          </c:tx>
          <c:spPr>
            <a:solidFill>
              <a:srgbClr val="C99A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3552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VPL Passivo</c:v>
                </c:pt>
                <c:pt idx="1">
                  <c:v>+ Opção Expansão</c:v>
                </c:pt>
                <c:pt idx="2">
                  <c:v>VPL Estratégico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1123151</c:v>
                </c:pt>
                <c:pt idx="1">
                  <c:v>954185</c:v>
                </c:pt>
                <c:pt idx="2">
                  <c:v>2077336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0D-433F-A6AC-D2C0610FD2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E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4544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 ·  UNIVERSIDADE DE BRASÍLIA — UnB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Engenharia de Produção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1556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João Carlos Félix Souza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 INTEGRADOR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Análise de Balanço à Avaliação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Opções Reais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caso integrado de diagnóstico, decisão de investimento e flexibilidade gerencial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5074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56509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Encadeadas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5074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291840" y="56509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de Resultados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5074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943600" y="56509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de 1h30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6263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Brasília, 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Partes Encadeadas — do Diagnóstico à Recomendação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9050">
            <a:solidFill>
              <a:srgbClr val="E7EE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63040"/>
            <a:ext cx="111556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  <a:effectLst>
            <a:outerShdw blurRad="508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82496"/>
            <a:ext cx="621792" cy="621792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8249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1572768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econômico-financeiro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1975104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5 — índices de liquidez, estrutura de capital e rentabilidade (DuPont)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670048"/>
            <a:ext cx="111556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  <a:effectLst>
            <a:outerShdw blurRad="508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889504"/>
            <a:ext cx="621792" cy="621792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8950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00200" y="2779776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do projeto de investimento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00200" y="3182112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3 — fluxo de caixa livre, VPL, TIR, payback e índice de lucratividade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877056"/>
            <a:ext cx="111556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  <a:effectLst>
            <a:outerShdw blurRad="508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096512"/>
            <a:ext cx="621792" cy="621792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9651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3986784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Flexibilidade gerencial e opções reais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00200" y="438912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8 — opção de expansão e de venda, Black-Scholes e Binomial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5084064"/>
            <a:ext cx="111556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  <a:effectLst>
            <a:outerShdw blurRad="50800" dist="25400" dir="5400000" algn="bl" rotWithShape="0">
              <a:srgbClr val="1E293B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5303520"/>
            <a:ext cx="621792" cy="621792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30352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00200" y="5193792"/>
            <a:ext cx="9784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integrada e recomendação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00200" y="559612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Reunindo diagnóstico, decisão e flexibilidade em uma recomendação final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Elo Final entre Diagnóstico, Decisão e Flexibilidade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9050">
            <a:solidFill>
              <a:srgbClr val="E7EE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6492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estudo de caso encerra o livro reunindo, em um único caso, as três </a:t>
            </a:r>
            <a:r>
              <a:rPr lang="en-US" sz="13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competências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centrais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desenvolvidas ao longo da obra: a leitura crítica de demonstrações contábeis (Cap. 5), a avaliação de projetos pelo fluxo de caixa descontado (Cap. 3) e o tratamento da incerteza e da flexibilidade gerencial pela teoria das opções reais (Cap. 8).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788920"/>
            <a:ext cx="6492240" cy="1920240"/>
          </a:xfrm>
          <a:prstGeom prst="roundRect">
            <a:avLst>
              <a:gd name="adj" fmla="val 3810"/>
            </a:avLst>
          </a:prstGeom>
          <a:solidFill>
            <a:srgbClr val="E7EEF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4436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SUPORTE: PLANILHA COM QUATRO ABAS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273552"/>
            <a:ext cx="6035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3 Anos / Balanço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Balanço Patrimonial
</a:t>
            </a:r>
            <a:r>
              <a:rPr lang="en-US" sz="12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Demonstração do Resultado do Exercício
</a:t>
            </a:r>
            <a:r>
              <a:rPr lang="en-US" sz="12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FCL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Fluxo de Caixa Livre do projeto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4892040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resultados apresentados nesta aula são reproduzíveis na planilha de apoio que acompanha o capítulo.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0" y="1371600"/>
            <a:ext cx="4343400" cy="4937760"/>
          </a:xfrm>
          <a:prstGeom prst="rect">
            <a:avLst/>
          </a:prstGeom>
          <a:solidFill>
            <a:srgbClr val="0B3552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0" y="14996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APRENDIZAGEM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589520" y="1920240"/>
            <a:ext cx="329184" cy="329184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0" y="19202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28432" y="187452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 interpretar índices de liquidez, estrutura e rentabilidade a partir de um balanço de 3 anos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0" y="2761488"/>
            <a:ext cx="329184" cy="329184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27614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28432" y="2715768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o FCL de um projeto e aplicar VPL, TIR, payback e IL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0" y="3602736"/>
            <a:ext cx="329184" cy="329184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36027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28432" y="3557016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a flexibilidade gerencial como fonte de valor (opção de expansão/venda)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0" y="4443984"/>
            <a:ext cx="329184" cy="329184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44439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28432" y="4398264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opções reais por 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Black-Scholes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Binomial, comparando resultados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0" y="5285232"/>
            <a:ext cx="329184" cy="329184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0" y="52852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28432" y="5239512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o VPL estratégico e formular uma recomendação de investimento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A EMPRESA DO ESTUDO DE CASO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Indústria de Transformação de Capital Fechado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9050">
            <a:solidFill>
              <a:srgbClr val="E7EE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5331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análise parte de três exercícios consecutivos do Balanço Patrimonial e da DRE, cujo total do ativo coincide com o do Ano 3 do balanço — o que permite associar a DRE ao exercício mais recente.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57400"/>
          <a:ext cx="11155680" cy="356616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4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4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5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 patrimonial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Circulante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1.990.820,50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2.318.300,75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2.647.304,66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Não Circulante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3.295.000,00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3.260.000,00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3.220.000,00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do Ativo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5.285.820,50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5.578.300,75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5.867.304,66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Circulante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796.820,50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914.300,75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1.021.166,96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Não Circulante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1.190.000,00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1.050.000,00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910.000,00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de Terceiros (PC+PNC)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1.986.820,50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1.964.300,75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1.931.166,96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8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Patrimônio Líquido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8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3.299.000,00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8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3.614.000,00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8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3.936.137,70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6692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1 — Balanço Patrimonial resumido (valores em R$). A identidade Ativo = Passivo + PL é verificada nos três anos.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· CAP.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Econômico-Financeiro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310128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 — índices de liquidez, estrutura de capital e rentabilidade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242816"/>
            <a:ext cx="82296" cy="8229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1148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por série temporal — três exercícios consecutivos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4681728"/>
            <a:ext cx="82296" cy="8229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5537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de liquidez: a folga de curto prazo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5120640"/>
            <a:ext cx="82296" cy="8229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99262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capital: a trajetória de desalavancagem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5559552"/>
            <a:ext cx="82296" cy="8229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43153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Rentabilidade e o modelo DuPont: de onde vem o ROE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— ÍNDICES DE LIQUIDEZ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Fórmulas e Resultados dos Três Exercícios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9050">
            <a:solidFill>
              <a:srgbClr val="E7EEF4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18288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Corrente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Circulante ÷ Passivo Circulante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Seca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(Ativo Circulante − Estoques) ÷ Passivo Circulante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Imediata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Disponível ÷ Passivo Circulante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Geral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Circulante ÷ (Passivo Circulante + Passivo Não Circulante)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337560"/>
          <a:ext cx="11155680" cy="2377440"/>
        </p:xfrm>
        <a:graphic>
          <a:graphicData uri="http://schemas.openxmlformats.org/drawingml/2006/table">
            <a:tbl>
              <a:tblPr/>
              <a:tblGrid>
                <a:gridCol w="2231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Tendência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Corrente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F7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melhora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Seca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F7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melhora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Imediata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F7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melhora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Geral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F7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forte melhora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Circ. Líquido (R$)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1.194.000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1.404.000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1.626.138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F7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folga cresc.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502920" y="57607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2 — Índices de liquidez e capital circulante líquido.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— INTERPRETAÇÃO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Liquidez Confortável e Ascendente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9050">
            <a:solidFill>
              <a:srgbClr val="E7EE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36192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DOS ÍNDICES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49834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corrente: 2,50 → 2,59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há cerca de R$ 2,59 de ativo circulante para cada R$ 1,00 de obrigação de curto prazo.
</a:t>
            </a:r>
            <a:r>
              <a:rPr lang="en-US" sz="12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Corrente ≈ Seca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baixa dependência de estoques; menor risco de iliquidez por obsolescência.
</a:t>
            </a:r>
            <a:r>
              <a:rPr lang="en-US" sz="12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geral: 1,00 → 1,37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indício de que a empresa vem amortizando dívida de longo prazo e reduzindo a alavancagem total, o que se confirma nos índices de estrutura.</a:t>
            </a:r>
            <a:endParaRPr lang="en-US" sz="125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3182363038"/>
              </p:ext>
            </p:extLst>
          </p:nvPr>
        </p:nvGraphicFramePr>
        <p:xfrm>
          <a:off x="6172200" y="1371600"/>
          <a:ext cx="54406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— ÍNDICES DE ESTRUTURA DE CAPITAL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Fórmulas e Resultados dos Três Exercícios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9050">
            <a:solidFill>
              <a:srgbClr val="E7EEF4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18288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Endividamento Geral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de Terceiros ÷ Ativo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Participação de Capital de Terceiros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de Terceiros ÷ Patrimônio Líquido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Composição do Endividamento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Circulante ÷ Capital de Terceiros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Imobilização do Patrimônio Líquido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Não Circulante ÷ Patrimônio Líquido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337560"/>
          <a:ext cx="11155680" cy="1965960"/>
        </p:xfrm>
        <a:graphic>
          <a:graphicData uri="http://schemas.openxmlformats.org/drawingml/2006/table">
            <a:tbl>
              <a:tblPr/>
              <a:tblGrid>
                <a:gridCol w="2231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Endividamento Geral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37,59%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35,21%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7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desalavancagem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Particip. Cap. Terceiros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60,22%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54,35%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49,06%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7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favorável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Composição do Endivid.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40,11%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46,55%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52,88%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99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atenção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Imobilização do PL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99,88%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81,81%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F7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folga p/ giro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53949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3 — Índices de estrutura de capital. Capital de Terceiros = Passivo Circulante + Passivo Não Circulante.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5" name="Text 5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— INTERPRETAÇÃO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Desalavancagem Consistente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9050">
            <a:solidFill>
              <a:srgbClr val="E7EE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36192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DOS ÍNDICES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49834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de terceiros: 60,2% → 49,1% do PL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ao final do Ano 3, recursos próprios já superam os de terceiros: sinal de solidez.
</a:t>
            </a:r>
            <a:r>
              <a:rPr lang="en-US" sz="125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Imobilização do PL: ~100% → 81,8%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libera capital próprio para financiar o giro.
</a:t>
            </a:r>
            <a:r>
              <a:rPr lang="en-US" sz="12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atenção: 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composição do endividamento sobe para 52,9% — a dívida vem se concentrando no curto prazo. Como a liquidez corrente é alta (2,59), esse encurtamento é absorvido sem comprometer a solvência.</a:t>
            </a:r>
            <a:endParaRPr lang="en-US" sz="125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2158427947"/>
              </p:ext>
            </p:extLst>
          </p:nvPr>
        </p:nvGraphicFramePr>
        <p:xfrm>
          <a:off x="6172200" y="1371600"/>
          <a:ext cx="54406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— RENTABILIDADE E MODELO DUPONT (ANO 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Fórmulas e Indicadores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9050">
            <a:solidFill>
              <a:srgbClr val="E7EE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53312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DRE registra Vendas de R$ 36.000.000 e Lucro Líquido de R$ 3.028.013,02, após Contribuição Social (9%) e IR — carga tributária efetiva de aproximadamente 33,6% sobre o lucro antes do imposto.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11155680" cy="594360"/>
          </a:xfrm>
          <a:prstGeom prst="roundRect">
            <a:avLst>
              <a:gd name="adj" fmla="val 9231"/>
            </a:avLst>
          </a:prstGeom>
          <a:solidFill>
            <a:srgbClr val="0B355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01168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DuPont:  ROE = Margem Líquida × Giro do Ativo × (Ativo Total ÷ Patrimônio Líquido)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375374"/>
              </p:ext>
            </p:extLst>
          </p:nvPr>
        </p:nvGraphicFramePr>
        <p:xfrm>
          <a:off x="502920" y="2743200"/>
          <a:ext cx="11155680" cy="31089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Margem Bruta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17,34%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ganho após CPV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Margem Operacional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 operacional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Margem Líquida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8,41%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sobra final sobre vendas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Giro do Ativo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vendas geradas por R$ de ativo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51,61%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retorno sobre o ativo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8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ROE (DuPont)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8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76,93%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8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retorno sobre o capital próprio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Multiplicador (AT/PL)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alavancagem financeira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4 — Indicadores de rentabilidade (Ano 3) e decomposição DuPont. DuPont: 8,41% × 6,136 × 1,491 = 76,93% = ROE (identidade verificada).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8" name="Text 8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— INTERPRETAÇÃO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ROE Elevado Vem do Giro, Não da Margem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9050">
            <a:solidFill>
              <a:srgbClr val="E7EE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11155680" cy="1280160"/>
          </a:xfrm>
          <a:prstGeom prst="roundRect">
            <a:avLst>
              <a:gd name="adj" fmla="val 5714"/>
            </a:avLst>
          </a:prstGeom>
          <a:solidFill>
            <a:srgbClr val="0B355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8,41%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Líquida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94560" y="1691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60320" y="15087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6,136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560320" y="20574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 do Ativo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69080" y="1691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34840" y="15087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1,491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34840" y="205740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Multiplicador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0" y="1691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15087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76,93%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09360" y="2057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880360"/>
            <a:ext cx="1115568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04495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PEDAGÓGICO DO MODELO DUPONT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3364992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rentabilidade é elevada e sua origem é o giro do ativo (6,14x), não a margem (8,41%, modesta). Trata-se de um negócio de margem baixa e alto volume, intensivo em vendas relativamente ao ativo investido.
</a:t>
            </a:r>
            <a:r>
              <a:rPr lang="en-US" sz="13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ROE de 76,9% decompõe-se em: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operacional (giro), eficiência de custos (margem) e alavancagem (multiplicador de 1,49).
</a:t>
            </a:r>
            <a:r>
              <a:rPr lang="en-US" sz="13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Implicação estratégica: 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empresa vem desalavancando (Parte 2.2), o ROE futuro dependerá cada vez mais de manter giro e margem — e não de tomar mais dívida.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3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15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 DO DIAGNÓSTICO (PARTE I)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Empresa Líquida, em Desalavancagem e Altamente Rentável por Giro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0F3F5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9260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39776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corrente confortável e ascendente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7432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0F3F5E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9260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Endividamento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17720" y="32461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49,1%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17720" y="39776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de terceiros em queda — desalavancagem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274320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0F3F5E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292608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366760" y="32461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76,9%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366760" y="39776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Rentabilidade elevada, dirigida pelo giro (6,14x)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9834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C99A2E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98348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folga financeira e capacidade de geração de caixa que justificam analisar um novo projeto de investimento — e, sobretudo, sustentam a credibilidade de uma expansão futura. É esse o elo com as Partes II e III.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 · CAP.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do Projeto de Investimento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310128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 — fluxo de caixa livre e os critérios clássicos de decisão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242816"/>
            <a:ext cx="82296" cy="8229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1148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LAJIR ao Fluxo de Caixa Livre (FCL)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4681728"/>
            <a:ext cx="82296" cy="8229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5537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VPL, TIR, payback simples e descontado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5120640"/>
            <a:ext cx="82296" cy="8229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99262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lucratividade e a decisão de investir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5559552"/>
            <a:ext cx="82296" cy="8229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43153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VPL passivo — hipótese que a Parte III irá relaxar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AVALIAÇÃO DO PROJETO-BASE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Premissas e Fluxo de Caixa Livre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9050">
            <a:solidFill>
              <a:srgbClr val="E7EE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53312"/>
            <a:ext cx="11155680" cy="731520"/>
          </a:xfrm>
          <a:prstGeom prst="roundRect">
            <a:avLst>
              <a:gd name="adj" fmla="val 8750"/>
            </a:avLst>
          </a:prstGeom>
          <a:solidFill>
            <a:srgbClr val="0B355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5331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Premissas: WACC = 15% a.a.; IR = 30%; Investimento inicial = R$ 3.000.000, depreciado linearmente em 5 anos.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240280"/>
          <a:ext cx="11155680" cy="36576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Investimento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(3.000.000)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Custos Variáveis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(2.000.000)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(2.000.000)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(2.000.000)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(2.000.000)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(2.000.000)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Fixo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(500.000)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(500.000)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(500.000)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(500.000)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(500.000)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Depreciação (−)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(600.000)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(600.000)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(600.000)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(600.000)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(600.000)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LAJIR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(30%)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(270.000)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(270.000)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(270.000)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(270.000)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(270.000)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Depreciação (+)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8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8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(3.000.000)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8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8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8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8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8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1.230.000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594360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5 — Fluxo de caixa livre do projeto-base (R$). FCL = (LAJIR − IR) + Depreciação.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CRITÉRIOS DE DECISÃO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VPL, TIR, Payback e Índice de Lucratividade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9050">
            <a:solidFill>
              <a:srgbClr val="E7EE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53312"/>
            <a:ext cx="11155680" cy="594360"/>
          </a:xfrm>
          <a:prstGeom prst="roundRect">
            <a:avLst>
              <a:gd name="adj" fmla="val 9231"/>
            </a:avLst>
          </a:prstGeom>
          <a:solidFill>
            <a:srgbClr val="0B355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5331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VPL = Σ [FCLₜ ÷ (1 + WACC)ᵗ]  para t = 0, 1, ..., 5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886171"/>
              </p:ext>
            </p:extLst>
          </p:nvPr>
        </p:nvGraphicFramePr>
        <p:xfrm>
          <a:off x="502920" y="2148840"/>
          <a:ext cx="11155680" cy="2743200"/>
        </p:xfrm>
        <a:graphic>
          <a:graphicData uri="http://schemas.openxmlformats.org/drawingml/2006/table">
            <a:tbl>
              <a:tblPr/>
              <a:tblGrid>
                <a:gridCol w="3718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VPL (15% a.a.)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F7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R$ 1.123.150,77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F7A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 → aceitar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29,93%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WACC (15%) → aceitar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</a:t>
                      </a: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simples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2,44 anos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recuperação rápida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i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</a:t>
                      </a: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descontado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3,27 anos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 do horizonte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 de Lucratividade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 → cria valor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49834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6 — Critérios de decisão do projeto-base. A TIR (29,9%) supera amplamente o custo de capital, e o VPL positivo confirma a criação de valor.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02920" y="5486400"/>
            <a:ext cx="11155680" cy="960120"/>
          </a:xfrm>
          <a:prstGeom prst="roundRect">
            <a:avLst>
              <a:gd name="adj" fmla="val 6667"/>
            </a:avLst>
          </a:prstGeom>
          <a:solidFill>
            <a:srgbClr val="C99A2E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548640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VIÁVEL: TIR de 29,9% é praticamente o dobro do WACC de 15%.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INTERPRETAÇÃO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Projeto Viável — mas um VPL "Passivo"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9050">
            <a:solidFill>
              <a:srgbClr val="E7EE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36192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PROJETO-BASE É VIÁVEL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VPL positivo de R$ 1.123.150,77, TIR de 29,9% (o dobro do WACC) e recuperação do capital, em valor presente, em pouco mais de três anos. Pelo critério clássico do Cap. 3, a decisão é </a:t>
            </a:r>
            <a:r>
              <a:rPr lang="en-US" sz="130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291840"/>
            <a:ext cx="4937760" cy="2651760"/>
          </a:xfrm>
          <a:prstGeom prst="roundRect">
            <a:avLst>
              <a:gd name="adj" fmla="val 2759"/>
            </a:avLst>
          </a:prstGeom>
          <a:solidFill>
            <a:srgbClr val="F5E6E6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45643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8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ESSE VPL É "PASSIVO"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3767328"/>
            <a:ext cx="44805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8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Supõe que a empresa apenas executa o plano e nada decide ao longo do caminho — nenhuma decisão gerencial futura é considerada. É justamente essa hipótese simplificadora que a Parte III irá relaxar, incorporando a flexibilidade de expandir ou vender o projeto no terceiro ano.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3492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46304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VPL DO PROJETO EM FUNÇÃO DA TAXA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49440" y="1965960"/>
            <a:ext cx="0" cy="31546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5120640"/>
            <a:ext cx="41605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828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VPL (R$)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469880" y="54406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(%)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32650" y="2123694"/>
            <a:ext cx="540868" cy="630936"/>
          </a:xfrm>
          <a:prstGeom prst="line">
            <a:avLst/>
          </a:prstGeom>
          <a:noFill/>
          <a:ln w="31750">
            <a:solidFill>
              <a:srgbClr val="6E85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73518" y="2754630"/>
            <a:ext cx="624078" cy="788670"/>
          </a:xfrm>
          <a:prstGeom prst="line">
            <a:avLst/>
          </a:prstGeom>
          <a:noFill/>
          <a:ln w="31750">
            <a:solidFill>
              <a:srgbClr val="6E85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97596" y="3543300"/>
            <a:ext cx="624078" cy="788670"/>
          </a:xfrm>
          <a:prstGeom prst="line">
            <a:avLst/>
          </a:prstGeom>
          <a:noFill/>
          <a:ln w="31750">
            <a:solidFill>
              <a:srgbClr val="6E85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1674" y="4331970"/>
            <a:ext cx="624078" cy="788670"/>
          </a:xfrm>
          <a:prstGeom prst="line">
            <a:avLst/>
          </a:prstGeom>
          <a:noFill/>
          <a:ln w="31750">
            <a:solidFill>
              <a:srgbClr val="6E85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45752" y="5120640"/>
            <a:ext cx="624078" cy="883310"/>
          </a:xfrm>
          <a:prstGeom prst="line">
            <a:avLst/>
          </a:prstGeom>
          <a:noFill/>
          <a:ln w="31750">
            <a:solidFill>
              <a:srgbClr val="6E85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90888" y="5065776"/>
            <a:ext cx="109728" cy="109728"/>
          </a:xfrm>
          <a:prstGeom prst="ellipse">
            <a:avLst/>
          </a:prstGeom>
          <a:solidFill>
            <a:srgbClr val="3F7A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88552" y="5212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TIR=29,9%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197596" y="1965960"/>
            <a:ext cx="0" cy="3154680"/>
          </a:xfrm>
          <a:prstGeom prst="line">
            <a:avLst/>
          </a:prstGeom>
          <a:noFill/>
          <a:ln w="19050">
            <a:solidFill>
              <a:srgbClr val="C99A2E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694676" y="17830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WACC=15%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3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III · CAP.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Flexibilidade Gerencial e Opções Reais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310128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8 — quando a administração não é passiva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242816"/>
            <a:ext cx="82296" cy="8229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1148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ativo-subjacente: o valor do ganho de 30% no lucro líquido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4681728"/>
            <a:ext cx="82296" cy="8229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5537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Opção de expansão (</a:t>
            </a:r>
            <a:r>
              <a:rPr lang="en-US" sz="145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por </a:t>
            </a:r>
            <a:r>
              <a:rPr lang="en-US" sz="145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Black-Scholes</a:t>
            </a:r>
            <a:endParaRPr lang="en-US" sz="1450" i="1" dirty="0"/>
          </a:p>
        </p:txBody>
      </p:sp>
      <p:sp>
        <p:nvSpPr>
          <p:cNvPr id="10" name="Shape 8"/>
          <p:cNvSpPr/>
          <p:nvPr/>
        </p:nvSpPr>
        <p:spPr>
          <a:xfrm>
            <a:off x="640080" y="5120640"/>
            <a:ext cx="82296" cy="8229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99262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pelo modelo Binomial (Cox-Ross-Rubinstein)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5559552"/>
            <a:ext cx="82296" cy="8229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43153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VPL estratégico: VPL passivo + valor da flexibilidade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— DEFINIÇÃO DO ATIVO-SUBJACENTE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Ganho de 30% no Lucro Líquido ao Valor de S₀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9050">
            <a:solidFill>
              <a:srgbClr val="E7EE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53312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terceiro ano, observando o desempenho real, a administração poderá exercer uma opção de expansão (investir mais para crescer, elevando o lucro líquido em 30%) ou uma opção de venda/abandono (desinvestir e recuperar um valor de “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salvamento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1115568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Incremento de lucro líquido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ΔLucro = 30% × 3.028.013,02 = R$ 908.403,91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3401568"/>
            <a:ext cx="1115568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49300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Valor do negócio expandido em t=3 (perpetuidade ao WACC)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3858768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V₃ = ΔLucro ÷ WACC = 908.403,91 ÷ 0,15 = R$ 6.056.026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4517136"/>
            <a:ext cx="1115568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608576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Valor presente hoje (ativo-subjacente S₀)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497433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S₀ = V₃ ÷ (1+WACC)³ = 6.056.026 ÷ 1,15³ = R$ 3.981.935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5724144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0B355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724144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S₀ = R$ 3.981.935,43  —  o valor de mercado hoje da opcionalidade de expandir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— PARÂMETROS DAS OPÇÕES REAIS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Insumos para Black-Scholes e o Modelo Binomial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9050">
            <a:solidFill>
              <a:srgbClr val="E7EEF4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015248"/>
              </p:ext>
            </p:extLst>
          </p:nvPr>
        </p:nvGraphicFramePr>
        <p:xfrm>
          <a:off x="502920" y="1371600"/>
          <a:ext cx="11155680" cy="3977638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Parâmetro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Símbolo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do ativo-subjacente (hoje)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R$ 3.981.935,43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do ganho de 30%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de exercício — expandir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(</a:t>
                      </a:r>
                      <a:r>
                        <a:rPr lang="en-US" sz="1250" i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</a:t>
                      </a: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R$ 5.000.000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investimento de expansão em t=3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de exercício — vender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(</a:t>
                      </a:r>
                      <a:r>
                        <a:rPr lang="en-US" sz="1250" i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R$ 4.000.000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de venda/salvamento em t=3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 até a decisão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anos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opção em t=3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livre de risco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14,50%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premissa do caso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Volatilidade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premissa do caso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48640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7 — Parâmetros das opções reais.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02920" y="5852160"/>
            <a:ext cx="11155680" cy="685800"/>
          </a:xfrm>
          <a:prstGeom prst="roundRect">
            <a:avLst>
              <a:gd name="adj" fmla="val 9333"/>
            </a:avLst>
          </a:prstGeom>
          <a:solidFill>
            <a:srgbClr val="E7EEF4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85216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subjacente é o valor econômico criado pela expansão; o preço de exercício é o desembolso (call) ou o valor recuperado (put) na data da decisão.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— OPÇÃO DE EXPANSÃO POR BLACK-SCHOLES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Opção de Compra sobre o Valor do Negócio Expandido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9050">
            <a:solidFill>
              <a:srgbClr val="E7EE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53312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opção de expandir é uma opção de compra: a empresa tem o direito, não a obrigação, de </a:t>
            </a:r>
            <a:r>
              <a:rPr lang="en-US" sz="12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 para adquirir um ativo que valerá V na data da decisão.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11155680" cy="777240"/>
          </a:xfrm>
          <a:prstGeom prst="roundRect">
            <a:avLst>
              <a:gd name="adj" fmla="val 8235"/>
            </a:avLst>
          </a:prstGeom>
          <a:solidFill>
            <a:srgbClr val="0B355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92024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d₁ = [ln(S₀/K) + (rf+σ²/2)·T] ÷ (σ·√T) ;     d₂ = d₁ − σ·√T;     C = S₀·N(d₁) − </a:t>
            </a:r>
            <a:r>
              <a:rPr lang="en-US" sz="1250" b="1" dirty="0" err="1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X·e</a:t>
            </a:r>
            <a:r>
              <a:rPr lang="en-US" sz="1250" b="1" baseline="30000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(−rf·T)</a:t>
            </a:r>
            <a:r>
              <a:rPr lang="en-US" sz="125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·N(d₂)</a:t>
            </a:r>
            <a:endParaRPr lang="en-US" sz="12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714810"/>
              </p:ext>
            </p:extLst>
          </p:nvPr>
        </p:nvGraphicFramePr>
        <p:xfrm>
          <a:off x="502920" y="2834640"/>
          <a:ext cx="6400800" cy="30175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N(d₁)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0,7799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N(d₂)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S₀ · N(d₁)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R$ 3.106.210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X· e</a:t>
                      </a:r>
                      <a:r>
                        <a:rPr lang="en-US" sz="1200" baseline="30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(−rf·T)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· N(d₂)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R$ 2.152.025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8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da opção de expansão (C)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8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R$ 954.184,99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5943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8 — Cálculo de Black-Scholes (X = R$ 5.000.000). e</a:t>
            </a:r>
            <a:r>
              <a:rPr lang="en-US" sz="1100" i="1" baseline="30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(−0,145×3)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0,6472.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086600" y="2834640"/>
            <a:ext cx="4572000" cy="3017520"/>
          </a:xfrm>
          <a:prstGeom prst="roundRect">
            <a:avLst>
              <a:gd name="adj" fmla="val 2424"/>
            </a:avLst>
          </a:prstGeom>
          <a:solidFill>
            <a:srgbClr val="0B3552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0" y="3017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PRÊMIO DA OPÇÃO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0" y="34290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R$ 954,2 mil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498080" y="434340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é o valor econômico do direito — não da obrigação — de expandir o negócio no Ano 3.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— VALIDAÇÃO PELO MODELO BINOMIAL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Cox-Ross-Rubinstein, n = 3 Passos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9050">
            <a:solidFill>
              <a:srgbClr val="E7EE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53312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binomial, com um passo por ano (n=3), oferece uma leitura intuitiva e serve de validação ao resultado contínuo de Black-Scholes: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11155680" cy="777240"/>
          </a:xfrm>
          <a:prstGeom prst="roundRect">
            <a:avLst>
              <a:gd name="adj" fmla="val 8235"/>
            </a:avLst>
          </a:prstGeom>
          <a:solidFill>
            <a:srgbClr val="0B355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92024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= e</a:t>
            </a:r>
            <a:r>
              <a:rPr lang="en-US" sz="1500" b="1" baseline="30000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(σ·√Δt)</a:t>
            </a:r>
            <a:r>
              <a:rPr lang="en-US" sz="15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1,2214;     d = 1/u = 0,8187;     p = (e</a:t>
            </a:r>
            <a:r>
              <a:rPr lang="en-US" sz="1500" b="1" baseline="30000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(rf·Δt)</a:t>
            </a:r>
            <a:r>
              <a:rPr lang="en-US" sz="15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d)/(u − d) = 0,8377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111556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12724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BINOMIAL VALIDA O RESULTADO CONTÍNUO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456432"/>
            <a:ext cx="10607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u=1,2214 e d=0,8187, o ativo-subjacente pode subir ou descer a cada ano; a probabilidade neutra ao risco p=0,8377 é usada para calcular o valor esperado do </a:t>
            </a: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payoff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opção em cada nó, descontado à taxa livre de risco.
Assim como no Capítulo 8, propaga-se de trás para frente (</a:t>
            </a: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induction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 partir dos </a:t>
            </a: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payoffs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terminais até chegar ao valor da opção hoje — um procedimento discreto que, com poucos passos, já se aproxima do resultado contínuo de Black-Scholes.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— BLACK-SCHOLES VERSUS BINOMIAL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Convergência dos Dois Modelos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9050">
            <a:solidFill>
              <a:srgbClr val="E7EEF4"/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465664"/>
              </p:ext>
            </p:extLst>
          </p:nvPr>
        </p:nvGraphicFramePr>
        <p:xfrm>
          <a:off x="502920" y="1417320"/>
          <a:ext cx="5943600" cy="1463040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Opção 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Black-Scholes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Binomial (n=3)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Diferença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Expansão (</a:t>
                      </a:r>
                      <a:r>
                        <a:rPr lang="en-US" sz="1200" b="1" i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</a:t>
                      </a: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), K=5,0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R$ 954.185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R$ 858.153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−10,10%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Venda/abandono (</a:t>
                      </a:r>
                      <a:r>
                        <a:rPr lang="en-US" sz="1200" i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), K=4,0 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R$ 56.552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R$ 36.734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−35,00%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30175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9 — Black-Scholes versus Binomial (3 passos). A diferença reflete a discretização; tende a zero com mais passos.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02920" y="3611880"/>
            <a:ext cx="5943600" cy="2606040"/>
          </a:xfrm>
          <a:prstGeom prst="roundRect">
            <a:avLst>
              <a:gd name="adj" fmla="val 2807"/>
            </a:avLst>
          </a:prstGeom>
          <a:solidFill>
            <a:srgbClr val="0B3552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611880"/>
            <a:ext cx="54864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opção de expansão vale MUITO MAIS que a de venda.  </a:t>
            </a: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subjacente (S₀=R$3,98 mi) está próximo do preço de venda (R$4,0 mi), deixando o </a:t>
            </a:r>
            <a:r>
              <a:rPr lang="en-US" sz="125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quase "no dinheiro", mas com pouco tempo/volatilidade para ganhar valor; já o </a:t>
            </a:r>
            <a:r>
              <a:rPr lang="en-US" sz="125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r>
              <a:rPr lang="en-US" sz="12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captura toda a assimetria do crescimento.</a:t>
            </a:r>
            <a:endParaRPr lang="en-US" sz="12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6720840" y="1417320"/>
          <a:ext cx="493776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— INTERPRETAÇÃO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Lógica de Avaliação Neutra ao Risco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9050">
            <a:solidFill>
              <a:srgbClr val="E7EE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63040"/>
            <a:ext cx="11155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459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MODELOS CONCORDAM QUANTO AO ESSENCIAL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106070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convergência entre Black-Scholes e Binomial ilustra um ponto central do Capítulo 8: </a:t>
            </a: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partem da mesma lógica de avaliação neutra ao risco.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diferença observada (−10% no </a:t>
            </a: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−35% no </a:t>
            </a: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decorre exclusivamente da discretização em apenas 3 passos anuais — com mais passos, a convergência seria ainda melhor, tendendo a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zero.
</a:t>
            </a:r>
            <a:r>
              <a:rPr lang="en-US" sz="1400" b="1" dirty="0">
                <a:solidFill>
                  <a:srgbClr val="0B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confiar nos dois modelos? 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Black-Scholes oferece uma fórmula fechada, elegante e rápida de calcular. O modelo binomial, por sua vez, é mais intuitivo — a árvore mostra explicitamente os estados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possíveis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estimados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valor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subjacente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 mais flexível, pois lida melhor com opções americanas (exercício antecipado) e projetos com decisões intermediárias, exatamente como as árvores de decisão do Capítulo 8.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— VPL ESTRATÉGICO (EXPANDIDO)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VPL Passivo + Valor da Flexibilidade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9050">
            <a:solidFill>
              <a:srgbClr val="E7EE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53312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contribuição central da teoria das opções reais é reconhecer que o valor de um projeto com flexibilidade gerencial é maior que o VPL passivo.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Trigeorgis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Coopeland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formaliza como VPL estratégico: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11155680" cy="685800"/>
          </a:xfrm>
          <a:prstGeom prst="roundRect">
            <a:avLst>
              <a:gd name="adj" fmla="val 9333"/>
            </a:avLst>
          </a:prstGeom>
          <a:solidFill>
            <a:srgbClr val="0B355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01168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VPL estratégico = VPL passivo + Valor da flexibilidade (prêmio das opções)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880360"/>
          <a:ext cx="11155680" cy="1508760"/>
        </p:xfrm>
        <a:graphic>
          <a:graphicData uri="http://schemas.openxmlformats.org/drawingml/2006/table">
            <a:tbl>
              <a:tblPr/>
              <a:tblGrid>
                <a:gridCol w="557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(R$)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VPL passivo do projeto-base (Parte II)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1.123.150,77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(+) Valor da opção de expansão (Black-Scholes)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954.184,99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8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(=) VPL estratégico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8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2.077.335,76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9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44805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10 — Composição do VPL estratégico. A opção de expansão acrescenta cerca de 85% ao VPL passivo.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4892040"/>
            <a:ext cx="11155680" cy="1371600"/>
          </a:xfrm>
          <a:prstGeom prst="roundRect">
            <a:avLst>
              <a:gd name="adj" fmla="val 5333"/>
            </a:avLst>
          </a:prstGeom>
          <a:solidFill>
            <a:srgbClr val="C99A2E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489204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flexibilidade quase dobra o valor do projeto: +85% sobre o VPL passivo.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— INTERPRETAÇÃO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Crescer na Alta, Sair na Baixa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9050">
            <a:solidFill>
              <a:srgbClr val="E7EE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36192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2D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IGNORAR A OPÇÃO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4983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flexibilidade de expandir adiciona R$ 954.184,99 ao projeto — um acréscimo de 85% sobre o VPL passivo.
</a:t>
            </a:r>
            <a:r>
              <a:rPr lang="en-US" sz="1250" b="1" dirty="0">
                <a:solidFill>
                  <a:srgbClr val="8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essa opção </a:t>
            </a: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(avaliar o projeto apenas pelo VPL tradicional) subestimaria seu valor em quase metade.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3840480"/>
            <a:ext cx="4937760" cy="2103120"/>
          </a:xfrm>
          <a:prstGeom prst="roundRect">
            <a:avLst>
              <a:gd name="adj" fmla="val 3478"/>
            </a:avLst>
          </a:prstGeom>
          <a:solidFill>
            <a:srgbClr val="E3EFE8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400507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F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OPÇÃO DE VENDA COMO SEGURO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429768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o valor no cenário ruim, garantindo um piso de recuperação ao desinvestir. Em conjunto, as duas opções definem uma estratégia: crescer na alta, sair na baixa.</a:t>
            </a:r>
            <a:endParaRPr lang="en-US" sz="12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6263640" y="1371600"/>
          <a:ext cx="53949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3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Integrada e Recomendação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310128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Reunindo diagnóstico, decisão de investimento e flexibilidade gerencial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242816"/>
            <a:ext cx="82296" cy="8229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1148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percurso completo da cadeia de decisão da Engenharia Econômica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4681728"/>
            <a:ext cx="82296" cy="8229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55371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final fundamentada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5120640"/>
            <a:ext cx="82296" cy="8229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99262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metodológicas e pressupostos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5559552"/>
            <a:ext cx="82296" cy="8229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43153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propostos para aprofundamento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SÍNTESE INTEGRADA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Percurso Completo da Cadeia de Decisão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9050">
            <a:solidFill>
              <a:srgbClr val="E7EE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111556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0B35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0B355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152704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(Cap. 5)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17320" y="192024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é líquida (liquidez corrente 2,59), está desalavancando (capital de terceiros caiu de 60% para 49% do PL) e é altamente rentável por giro (ROE de 76,9%, dirigido por giro de 6,14x). Há base financeira para investir.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044952"/>
            <a:ext cx="111556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2D58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227832"/>
            <a:ext cx="502920" cy="502920"/>
          </a:xfrm>
          <a:prstGeom prst="ellipse">
            <a:avLst/>
          </a:prstGeom>
          <a:solidFill>
            <a:srgbClr val="2D587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27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17320" y="31546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5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 de investimento (Cap. 3)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417320" y="3547872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projeto-base de cinco anos cria valor — VPL de R$ 1.123.150,77 e TIR de 29,9%, bem acima do WACC de 15%. Aprovado pelo critério clássico.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672584"/>
            <a:ext cx="111556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9050">
            <a:solidFill>
              <a:srgbClr val="C99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855464"/>
            <a:ext cx="502920" cy="502920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855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478231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9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Flexibilidade (Cap. 8)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17320" y="5175504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opção de expandir em t=3, ancorada no ganho de 30% no lucro líquido, vale cerca de R$ 954 mil (Black-Scholes), confirmada pelo binomial; a opção de venda oferece proteção de baixa. O VPL estratégico sobe para R$ 2.077.335,76.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3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Aprovar o Projeto e Preservar a Flexibilidade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10881360" cy="2834640"/>
          </a:xfrm>
          <a:prstGeom prst="roundRect">
            <a:avLst>
              <a:gd name="adj" fmla="val 2581"/>
            </a:avLst>
          </a:prstGeom>
          <a:solidFill>
            <a:srgbClr val="0F3F5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834640"/>
            <a:ext cx="1042416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o projeto e, sobretudo, preservar e estruturar contratualmente a flexibilidade de decisão no terceiro ano.
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não está apenas no fluxo de caixa projetado, mas no direito de expandir se o cenário confirmar o crescimento e de vender se não confirmar.
</a:t>
            </a:r>
            <a:r>
              <a:rPr lang="en-US" sz="15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correta não é "expandir ou não" hoje, e sim manter aberta — e exercer no momento certo — a opção que quase dobra o valor do projeto.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VPL passivo: R$ 1.123.150,77   →   VPL estratégico: R$ 2.077.335,76   (+85%)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NOTAS METODOLÓGICAS E PRESSUPOSTOS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Transparência sobre as Simplificações Adotadas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9050">
            <a:solidFill>
              <a:srgbClr val="E7EE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53492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2704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Correspondência DRE–Balanço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total do ativo da DRE (R$ 5.867.304,66) coincide com o do Ano 3 do Balanço; por isso os índices de rentabilidade referem-se ao Ano 3.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02920" y="3044952"/>
            <a:ext cx="53492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15468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Liquidez geral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502152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ausência de realizável a longo prazo, adotou-se AC ÷ (PC + PNC).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02920" y="4672584"/>
            <a:ext cx="53492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78231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Subjacente da opção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5129784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ganho de 30% no lucro líquido foi tratado como fluxo perpétuo capitalizado ao WACC em t=3 — simplificação didática; horizonte finito ou crescimento (Gordon) alterariam S₀ e o prêmio.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53492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527048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Taxas e capitalização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09360" y="187452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fórmulas de opções, rf=14,5% e WACC=15% em capitalização contínua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</a:t>
            </a:r>
            <a:r>
              <a:rPr lang="en-US" sz="1200" baseline="30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(r·t)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σ=20% a.a. é premissa do caso.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126480" y="3044952"/>
            <a:ext cx="53492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15468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opção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09360" y="3502152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Black-Scholes (europeu, contínuo) e Binomial CRR (n=3, um passo/ano). A diferença decorre da discretização e diminui com mais passos.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126480" y="4672584"/>
            <a:ext cx="53492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478231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Reprodutibilidade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09360" y="5129784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</a:t>
            </a:r>
            <a:r>
              <a:rPr lang="en-US" sz="108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8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</a:t>
            </a: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 reproduzíveis na planilha de apoio que acompanha este capítulo.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— EXERCÍCIOS PROPOSTOS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35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Resolução na Planilha de Apoio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11155680" cy="0"/>
          </a:xfrm>
          <a:prstGeom prst="line">
            <a:avLst/>
          </a:prstGeom>
          <a:noFill/>
          <a:ln w="19050">
            <a:solidFill>
              <a:srgbClr val="E7EE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5331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exercícios de número ímpar têm foco conceitual; os pares, computacional.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11680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C99A2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1929384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Recalcule os índices de liquidez supondo que metade do "Disponível" do Ano 3 seja aplicada em ativo não circulante.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090672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C99A2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906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3008376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Refaça a decomposição DuPont separando o efeito "giro" do efeito "margem". Se a margem dobrasse e o giro caísse à metade, o ROE aumentaria?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4032504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169664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C99A2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69664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4087368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 o WACC de 15% para 20% a.a. no projeto-base. Recalcule VPL, payback descontado e IL. A decisão muda?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5111496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5248656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C99A2E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248656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516636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Construa a sensibilidade do VPL ao preço de venda (±10%) e ao custo variável (±10%). Qual variável é mais crítica?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187452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2011680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C99A2E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201168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95160" y="1929384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Mantendo S₀, T, rf e σ, calcule o valor da opção de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para: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4,5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milhões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5,0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milhões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5,5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milhões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respectivamente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2953512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3090672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C99A2E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30906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95160" y="3008376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 a volatilidade de 20% para 35% a.a. e recompute as opções. Por que a maior incerteza aumenta o valor de ambas?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4032504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4169664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C99A2E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4169664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95160" y="4087368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Reavalie a opção de expansão pelo binomial com n = 6 e n = 12 passos. Mostre a convergência a Black-Scholes.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5111496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5248656"/>
            <a:ext cx="594360" cy="365760"/>
          </a:xfrm>
          <a:prstGeom prst="roundRect">
            <a:avLst>
              <a:gd name="adj" fmla="val 12500"/>
            </a:avLst>
          </a:prstGeom>
          <a:solidFill>
            <a:srgbClr val="C99A2E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5248656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E.8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95160" y="516636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Suponha que a expansão gere o ganho de 30% por apenas 5 anos (anuidade). Recalcule S₀, o prêmio e o VPL estratégico.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3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DA OBRA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Leitura de Balanços à Decisão sob Incerteza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estudo de caso percorreu, de ponta a ponta, a cadeia de decisão da Engenharia Econômica: diagnosticar a saúde financeira da empresa, avaliar um projeto pelo fluxo de caixa descontado e reconhecer — e precificar — o valor da flexibilidade gerencial diante da incerteza.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 BIBLIOGRÁFICAS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" y="3607308"/>
            <a:ext cx="82296" cy="8229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38328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SAMANEZ, C. P. Engenharia Econômica. São Paulo: Pearson, 2009.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4174236"/>
            <a:ext cx="82296" cy="8229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005072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TRIGEORGIS, L. Real Options: Managerial Flexibility and Strategy in Resource Allocation. MIT Press, 1996.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4841748"/>
            <a:ext cx="82296" cy="82296"/>
          </a:xfrm>
          <a:prstGeom prst="ellipse">
            <a:avLst/>
          </a:prstGeom>
          <a:solidFill>
            <a:srgbClr val="C99A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626864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BREALEY, R. A.; MYERS, S. C.; ALLEN, F. Principles of Corporate Finance. 13. ed. McGraw-Hill, 2020.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680960" y="306324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0F3F5E"/>
          </a:solidFill>
          <a:ln/>
        </p:spPr>
      </p:sp>
      <p:sp>
        <p:nvSpPr>
          <p:cNvPr id="13" name="Text 11"/>
          <p:cNvSpPr/>
          <p:nvPr/>
        </p:nvSpPr>
        <p:spPr>
          <a:xfrm>
            <a:off x="7909560" y="324612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9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MENSAGEM FINAL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09560" y="356616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Números contam uma história — e a melhor decisão frequentemente é manter opções abertas.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035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8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 — dúvidas sobre os exercícios podem ser trazidas para a próxima aula.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Econômica | Estudo de Caso Integrador — Diagnóstico, Investimento e Opções Reais - UnB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3000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A8A4E097220C94CA78F0CF62B1C4486" ma:contentTypeVersion="20" ma:contentTypeDescription="Crie um novo documento." ma:contentTypeScope="" ma:versionID="e274cbce19eccc8f05082042bdbebfe6">
  <xsd:schema xmlns:xsd="http://www.w3.org/2001/XMLSchema" xmlns:xs="http://www.w3.org/2001/XMLSchema" xmlns:p="http://schemas.microsoft.com/office/2006/metadata/properties" xmlns:ns2="f244cccc-9ebe-487b-9f49-451c84d31f5d" xmlns:ns3="6d1e6d4d-286d-4a1d-879b-bd877680a131" targetNamespace="http://schemas.microsoft.com/office/2006/metadata/properties" ma:root="true" ma:fieldsID="8d05ae5ea0c3b3bf75339924b2fa7c23" ns2:_="" ns3:_="">
    <xsd:import namespace="f244cccc-9ebe-487b-9f49-451c84d31f5d"/>
    <xsd:import namespace="6d1e6d4d-286d-4a1d-879b-bd877680a1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Grupo15_x002d_MatheuseLorena" minOccurs="0"/>
                <xsd:element ref="ns2:_x002e_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Data" minOccurs="0"/>
                <xsd:element ref="ns2:MediaServiceOCR" minOccurs="0"/>
                <xsd:element ref="ns2:grupo13_x002d_MarceloPasso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4cccc-9ebe-487b-9f49-451c84d31f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Grupo15_x002d_MatheuseLorena" ma:index="15" nillable="true" ma:displayName="Grupo 15 - Matheus e Lorena" ma:format="Dropdown" ma:internalName="Grupo15_x002d_MatheuseLorena">
      <xsd:simpleType>
        <xsd:restriction base="dms:Text">
          <xsd:maxLength value="255"/>
        </xsd:restriction>
      </xsd:simpleType>
    </xsd:element>
    <xsd:element name="_x002e_" ma:index="16" nillable="true" ma:displayName="." ma:format="Dropdown" ma:internalName="_x002e_">
      <xsd:simpleType>
        <xsd:restriction base="dms:Text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Marcações de imagem" ma:readOnly="false" ma:fieldId="{5cf76f15-5ced-4ddc-b409-7134ff3c332f}" ma:taxonomyMulti="true" ma:sspId="242374f3-4cab-4e95-b6f7-35998408ef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ata" ma:index="24" nillable="true" ma:displayName="Data" ma:default="[today]" ma:format="DateTime" ma:internalName="Data">
      <xsd:simpleType>
        <xsd:restriction base="dms:DateTime"/>
      </xsd:simple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grupo13_x002d_MarceloPassos" ma:index="26" nillable="true" ma:displayName="grupo 13 - Marcelo Passos " ma:format="Dropdown" ma:internalName="grupo13_x002d_MarceloPasso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1e6d4d-286d-4a1d-879b-bd877680a13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114cce79-e80e-4214-aac2-dd100738ee36}" ma:internalName="TaxCatchAll" ma:showField="CatchAllData" ma:web="6d1e6d4d-286d-4a1d-879b-bd877680a13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rupo13_x002d_MarceloPassos xmlns="f244cccc-9ebe-487b-9f49-451c84d31f5d" xsi:nil="true"/>
    <Data xmlns="f244cccc-9ebe-487b-9f49-451c84d31f5d">2026-08-19T21:45:06+00:00</Data>
    <Grupo15_x002d_MatheuseLorena xmlns="f244cccc-9ebe-487b-9f49-451c84d31f5d" xsi:nil="true"/>
    <lcf76f155ced4ddcb4097134ff3c332f xmlns="f244cccc-9ebe-487b-9f49-451c84d31f5d">
      <Terms xmlns="http://schemas.microsoft.com/office/infopath/2007/PartnerControls"/>
    </lcf76f155ced4ddcb4097134ff3c332f>
    <_x002e_ xmlns="f244cccc-9ebe-487b-9f49-451c84d31f5d" xsi:nil="true"/>
    <TaxCatchAll xmlns="6d1e6d4d-286d-4a1d-879b-bd877680a131" xsi:nil="true"/>
  </documentManagement>
</p:properties>
</file>

<file path=customXml/itemProps1.xml><?xml version="1.0" encoding="utf-8"?>
<ds:datastoreItem xmlns:ds="http://schemas.openxmlformats.org/officeDocument/2006/customXml" ds:itemID="{00EAD095-738A-41B0-956D-CDCDA45B9D28}"/>
</file>

<file path=customXml/itemProps2.xml><?xml version="1.0" encoding="utf-8"?>
<ds:datastoreItem xmlns:ds="http://schemas.openxmlformats.org/officeDocument/2006/customXml" ds:itemID="{03BB366E-99FD-4B32-9657-E545A9B37AF3}"/>
</file>

<file path=customXml/itemProps3.xml><?xml version="1.0" encoding="utf-8"?>
<ds:datastoreItem xmlns:ds="http://schemas.openxmlformats.org/officeDocument/2006/customXml" ds:itemID="{19CAD517-8480-4257-90E3-B6EEB724FC1F}"/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4683</Words>
  <Application>Microsoft Office PowerPoint</Application>
  <PresentationFormat>Widescreen</PresentationFormat>
  <Paragraphs>634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Estudo de Caso Integrador — Diagnóstico, Investimento e Opções Reais</dc:title>
  <dc:subject>PptxGenJS Presentation</dc:subject>
  <dc:creator>Engenharia Econômica - UnB</dc:creator>
  <cp:lastModifiedBy>Joao Carlos Felix Souza</cp:lastModifiedBy>
  <cp:revision>8</cp:revision>
  <dcterms:created xsi:type="dcterms:W3CDTF">2026-07-15T23:27:21Z</dcterms:created>
  <dcterms:modified xsi:type="dcterms:W3CDTF">2026-07-16T00:07:17Z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0x0101003A8A4E097220C94CA78F0CF62B1C4486</vt:lpwstr>
  </property>
</Properties>
</file>
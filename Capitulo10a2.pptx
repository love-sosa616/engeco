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49" r:id="rId5"/>
  </p:sldMasterIdLst>
  <p:notesMasterIdLst>
    <p:notesMasterId r:id="rId36"/>
  </p:notesMasterIdLst>
  <p:sldIdLst>
    <p:sldId id="280" r:id="rId6"/>
    <p:sldId id="282" r:id="rId7"/>
    <p:sldId id="287" r:id="rId8"/>
    <p:sldId id="288" r:id="rId9"/>
    <p:sldId id="292" r:id="rId10"/>
    <p:sldId id="289" r:id="rId11"/>
    <p:sldId id="290" r:id="rId12"/>
    <p:sldId id="291" r:id="rId13"/>
    <p:sldId id="310" r:id="rId14"/>
    <p:sldId id="283" r:id="rId15"/>
    <p:sldId id="284" r:id="rId16"/>
    <p:sldId id="286" r:id="rId17"/>
    <p:sldId id="285" r:id="rId18"/>
    <p:sldId id="293" r:id="rId19"/>
    <p:sldId id="301" r:id="rId20"/>
    <p:sldId id="294" r:id="rId21"/>
    <p:sldId id="295" r:id="rId22"/>
    <p:sldId id="302" r:id="rId23"/>
    <p:sldId id="303" r:id="rId24"/>
    <p:sldId id="304" r:id="rId25"/>
    <p:sldId id="296" r:id="rId26"/>
    <p:sldId id="306" r:id="rId27"/>
    <p:sldId id="307" r:id="rId28"/>
    <p:sldId id="305" r:id="rId29"/>
    <p:sldId id="297" r:id="rId30"/>
    <p:sldId id="298" r:id="rId31"/>
    <p:sldId id="308" r:id="rId32"/>
    <p:sldId id="299" r:id="rId33"/>
    <p:sldId id="300" r:id="rId34"/>
    <p:sldId id="309" r:id="rId35"/>
  </p:sldIdLst>
  <p:sldSz cx="9144000" cy="6858000" type="screen4x3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C5DAA"/>
    <a:srgbClr val="777777"/>
    <a:srgbClr val="0196D8"/>
    <a:srgbClr val="2771A0"/>
    <a:srgbClr val="792612"/>
    <a:srgbClr val="B98357"/>
    <a:srgbClr val="F7FCF5"/>
    <a:srgbClr val="F121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DE84C1-9A68-61D5-724F-3AF92A2637AB}" v="2" dt="2025-11-12T18:58:20.8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870" autoAdjust="0"/>
    <p:restoredTop sz="94660"/>
  </p:normalViewPr>
  <p:slideViewPr>
    <p:cSldViewPr>
      <p:cViewPr varScale="1">
        <p:scale>
          <a:sx n="70" d="100"/>
          <a:sy n="70" d="100"/>
        </p:scale>
        <p:origin x="165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0" d="100"/>
          <a:sy n="60" d="100"/>
        </p:scale>
        <p:origin x="-2490" y="-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theme" Target="theme/theme1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microsoft.com/office/2015/10/relationships/revisionInfo" Target="revisionInfo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nrique freitas de cerqueira" userId="S::251009739@aluno.unb.br::5666b0bd-2b00-4f2b-9d48-677e822a8b30" providerId="AD" clId="Web-{CEDE84C1-9A68-61D5-724F-3AF92A2637AB}"/>
    <pc:docChg chg="modSld">
      <pc:chgData name="henrique freitas de cerqueira" userId="S::251009739@aluno.unb.br::5666b0bd-2b00-4f2b-9d48-677e822a8b30" providerId="AD" clId="Web-{CEDE84C1-9A68-61D5-724F-3AF92A2637AB}" dt="2025-11-12T18:58:20.861" v="1" actId="1076"/>
      <pc:docMkLst>
        <pc:docMk/>
      </pc:docMkLst>
      <pc:sldChg chg="modSp">
        <pc:chgData name="henrique freitas de cerqueira" userId="S::251009739@aluno.unb.br::5666b0bd-2b00-4f2b-9d48-677e822a8b30" providerId="AD" clId="Web-{CEDE84C1-9A68-61D5-724F-3AF92A2637AB}" dt="2025-11-12T18:58:20.861" v="1" actId="1076"/>
        <pc:sldMkLst>
          <pc:docMk/>
          <pc:sldMk cId="0" sldId="289"/>
        </pc:sldMkLst>
        <pc:spChg chg="mod">
          <ac:chgData name="henrique freitas de cerqueira" userId="S::251009739@aluno.unb.br::5666b0bd-2b00-4f2b-9d48-677e822a8b30" providerId="AD" clId="Web-{CEDE84C1-9A68-61D5-724F-3AF92A2637AB}" dt="2025-11-12T18:58:20.861" v="1" actId="1076"/>
          <ac:spMkLst>
            <pc:docMk/>
            <pc:sldMk cId="0" sldId="289"/>
            <ac:spMk id="14344" creationId="{0895A0F7-95BE-F526-4D3C-5AE6336C5E2B}"/>
          </ac:spMkLst>
        </pc:spChg>
        <pc:picChg chg="mod">
          <ac:chgData name="henrique freitas de cerqueira" userId="S::251009739@aluno.unb.br::5666b0bd-2b00-4f2b-9d48-677e822a8b30" providerId="AD" clId="Web-{CEDE84C1-9A68-61D5-724F-3AF92A2637AB}" dt="2025-11-12T18:58:08.548" v="0" actId="1076"/>
          <ac:picMkLst>
            <pc:docMk/>
            <pc:sldMk cId="0" sldId="289"/>
            <ac:picMk id="8" creationId="{F8C082E3-1F1B-E8AC-8649-588CC236A58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7814C19D-FFD6-BC34-557A-1E0C3C0EC70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2B94800-3916-D9F8-06B2-9955FCD724C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D2A86410-CDD4-4924-8A4B-666BB474B2A3}" type="datetimeFigureOut">
              <a:rPr lang="pt-BR"/>
              <a:pPr>
                <a:defRPr/>
              </a:pPr>
              <a:t>12/11/2025</a:t>
            </a:fld>
            <a:endParaRPr lang="pt-BR"/>
          </a:p>
        </p:txBody>
      </p:sp>
      <p:sp>
        <p:nvSpPr>
          <p:cNvPr id="4" name="Espaço Reservado para Imagem de Slide 3">
            <a:extLst>
              <a:ext uri="{FF2B5EF4-FFF2-40B4-BE49-F238E27FC236}">
                <a16:creationId xmlns:a16="http://schemas.microsoft.com/office/drawing/2014/main" id="{4027B742-E2AE-85D3-B538-560B86BFA4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pt-BR" noProof="0"/>
          </a:p>
        </p:txBody>
      </p:sp>
      <p:sp>
        <p:nvSpPr>
          <p:cNvPr id="5" name="Espaço Reservado para Anotações 4">
            <a:extLst>
              <a:ext uri="{FF2B5EF4-FFF2-40B4-BE49-F238E27FC236}">
                <a16:creationId xmlns:a16="http://schemas.microsoft.com/office/drawing/2014/main" id="{E8DA8E4D-B815-8028-BB35-8352B90589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noProof="0"/>
              <a:t>Clique para editar os estilos do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46F6FFD-2BE3-F400-3C6B-1F7AE8F11DF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F79529F-A0A8-42FE-FC40-CF4837D157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fld id="{2F306E89-BA40-40F3-93DC-FEABE443E80F}" type="slidenum">
              <a:rPr lang="pt-BR" altLang="pt-BR"/>
              <a:pPr/>
              <a:t>‹#›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Espaço Reservado para Imagem de Slide 1">
            <a:extLst>
              <a:ext uri="{FF2B5EF4-FFF2-40B4-BE49-F238E27FC236}">
                <a16:creationId xmlns:a16="http://schemas.microsoft.com/office/drawing/2014/main" id="{1C4B3A63-2B34-727B-9400-A5D8261CFE4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Espaço Reservado para Anotações 2">
            <a:extLst>
              <a:ext uri="{FF2B5EF4-FFF2-40B4-BE49-F238E27FC236}">
                <a16:creationId xmlns:a16="http://schemas.microsoft.com/office/drawing/2014/main" id="{2CB249E0-9DB0-631B-15BA-5D37A30877C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5124" name="Espaço Reservado para Número de Slide 3">
            <a:extLst>
              <a:ext uri="{FF2B5EF4-FFF2-40B4-BE49-F238E27FC236}">
                <a16:creationId xmlns:a16="http://schemas.microsoft.com/office/drawing/2014/main" id="{E487F47A-4DA5-3FF8-24B5-AFFA873263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EF8F2B8-778E-4527-A6AA-B409BAC6ED80}" type="slidenum">
              <a:rPr lang="pt-BR" altLang="pt-BR"/>
              <a:pPr>
                <a:spcBef>
                  <a:spcPct val="0"/>
                </a:spcBef>
              </a:pPr>
              <a:t>1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Espaço Reservado para Imagem de Slide 1">
            <a:extLst>
              <a:ext uri="{FF2B5EF4-FFF2-40B4-BE49-F238E27FC236}">
                <a16:creationId xmlns:a16="http://schemas.microsoft.com/office/drawing/2014/main" id="{EBF87C6F-F4B6-0786-8FF7-8A53EB0D8B4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Espaço Reservado para Anotações 2">
            <a:extLst>
              <a:ext uri="{FF2B5EF4-FFF2-40B4-BE49-F238E27FC236}">
                <a16:creationId xmlns:a16="http://schemas.microsoft.com/office/drawing/2014/main" id="{68B84AEF-7BBF-6FA2-266F-D01E881A137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7172" name="Espaço Reservado para Número de Slide 3">
            <a:extLst>
              <a:ext uri="{FF2B5EF4-FFF2-40B4-BE49-F238E27FC236}">
                <a16:creationId xmlns:a16="http://schemas.microsoft.com/office/drawing/2014/main" id="{126F2E27-107D-9EC0-AA24-3E81683345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C4099E3-C0F4-4DC7-BCFC-152E7D117B0B}" type="slidenum">
              <a:rPr lang="pt-BR" altLang="pt-BR"/>
              <a:pPr>
                <a:spcBef>
                  <a:spcPct val="0"/>
                </a:spcBef>
              </a:pPr>
              <a:t>2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Espaço Reservado para Imagem de Slide 1">
            <a:extLst>
              <a:ext uri="{FF2B5EF4-FFF2-40B4-BE49-F238E27FC236}">
                <a16:creationId xmlns:a16="http://schemas.microsoft.com/office/drawing/2014/main" id="{63E0AE9A-2653-F985-9DDD-1A09095A046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Espaço Reservado para Anotações 2">
            <a:extLst>
              <a:ext uri="{FF2B5EF4-FFF2-40B4-BE49-F238E27FC236}">
                <a16:creationId xmlns:a16="http://schemas.microsoft.com/office/drawing/2014/main" id="{C069CA82-7C9B-BC0F-4C0B-09F79D4626B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9220" name="Espaço Reservado para Número de Slide 3">
            <a:extLst>
              <a:ext uri="{FF2B5EF4-FFF2-40B4-BE49-F238E27FC236}">
                <a16:creationId xmlns:a16="http://schemas.microsoft.com/office/drawing/2014/main" id="{B77B7157-8A1B-8037-E224-0A17060058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5C9F80B-005C-4D5E-AE9F-46DB3424E542}" type="slidenum">
              <a:rPr lang="pt-BR" altLang="pt-BR"/>
              <a:pPr>
                <a:spcBef>
                  <a:spcPct val="0"/>
                </a:spcBef>
              </a:pPr>
              <a:t>3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Espaço Reservado para Imagem de Slide 1">
            <a:extLst>
              <a:ext uri="{FF2B5EF4-FFF2-40B4-BE49-F238E27FC236}">
                <a16:creationId xmlns:a16="http://schemas.microsoft.com/office/drawing/2014/main" id="{E4C39F0C-3B1A-0372-658D-9BE2632F8B9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Espaço Reservado para Anotações 2">
            <a:extLst>
              <a:ext uri="{FF2B5EF4-FFF2-40B4-BE49-F238E27FC236}">
                <a16:creationId xmlns:a16="http://schemas.microsoft.com/office/drawing/2014/main" id="{6158ADE7-5CA1-A63F-55C3-27F56B12A69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11268" name="Espaço Reservado para Número de Slide 3">
            <a:extLst>
              <a:ext uri="{FF2B5EF4-FFF2-40B4-BE49-F238E27FC236}">
                <a16:creationId xmlns:a16="http://schemas.microsoft.com/office/drawing/2014/main" id="{5C3065D4-85D4-96F1-0731-364399899A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51C27DA-138F-4FCC-93D1-ACBF53E9F51D}" type="slidenum">
              <a:rPr lang="pt-BR" altLang="pt-BR"/>
              <a:pPr>
                <a:spcBef>
                  <a:spcPct val="0"/>
                </a:spcBef>
              </a:pPr>
              <a:t>4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ço Reservado para Imagem de Slide 1">
            <a:extLst>
              <a:ext uri="{FF2B5EF4-FFF2-40B4-BE49-F238E27FC236}">
                <a16:creationId xmlns:a16="http://schemas.microsoft.com/office/drawing/2014/main" id="{B5CBB567-70EF-DA88-CE0A-D09721EC5F4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Espaço Reservado para Anotações 2">
            <a:extLst>
              <a:ext uri="{FF2B5EF4-FFF2-40B4-BE49-F238E27FC236}">
                <a16:creationId xmlns:a16="http://schemas.microsoft.com/office/drawing/2014/main" id="{9106F2A3-6423-5C3A-BCAF-F8860F5E71F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13316" name="Espaço Reservado para Número de Slide 3">
            <a:extLst>
              <a:ext uri="{FF2B5EF4-FFF2-40B4-BE49-F238E27FC236}">
                <a16:creationId xmlns:a16="http://schemas.microsoft.com/office/drawing/2014/main" id="{29F67196-FE26-F854-2196-92CD79C76A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C818433-B7BD-42AC-B483-D75476C20F1D}" type="slidenum">
              <a:rPr lang="pt-BR" altLang="pt-BR"/>
              <a:pPr>
                <a:spcBef>
                  <a:spcPct val="0"/>
                </a:spcBef>
              </a:pPr>
              <a:t>5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ço Reservado para Imagem de Slide 1">
            <a:extLst>
              <a:ext uri="{FF2B5EF4-FFF2-40B4-BE49-F238E27FC236}">
                <a16:creationId xmlns:a16="http://schemas.microsoft.com/office/drawing/2014/main" id="{75B4C9F3-6580-D5EA-FA1E-0E7298B8618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Espaço Reservado para Anotações 2">
            <a:extLst>
              <a:ext uri="{FF2B5EF4-FFF2-40B4-BE49-F238E27FC236}">
                <a16:creationId xmlns:a16="http://schemas.microsoft.com/office/drawing/2014/main" id="{A955002C-27F8-096F-CFF8-6B9B2C3BB62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15364" name="Espaço Reservado para Número de Slide 3">
            <a:extLst>
              <a:ext uri="{FF2B5EF4-FFF2-40B4-BE49-F238E27FC236}">
                <a16:creationId xmlns:a16="http://schemas.microsoft.com/office/drawing/2014/main" id="{E967009A-1F97-386D-D147-5750157787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9636906-F47C-40F3-8D5C-144FA7CEDD66}" type="slidenum">
              <a:rPr lang="pt-BR" altLang="pt-BR"/>
              <a:pPr>
                <a:spcBef>
                  <a:spcPct val="0"/>
                </a:spcBef>
              </a:pPr>
              <a:t>6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ço Reservado para Imagem de Slide 1">
            <a:extLst>
              <a:ext uri="{FF2B5EF4-FFF2-40B4-BE49-F238E27FC236}">
                <a16:creationId xmlns:a16="http://schemas.microsoft.com/office/drawing/2014/main" id="{2F953051-A2E8-6E40-7371-C02117805F0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Espaço Reservado para Anotações 2">
            <a:extLst>
              <a:ext uri="{FF2B5EF4-FFF2-40B4-BE49-F238E27FC236}">
                <a16:creationId xmlns:a16="http://schemas.microsoft.com/office/drawing/2014/main" id="{2EEB164E-5ABE-AEB5-7D68-FDBE4031F3D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17412" name="Espaço Reservado para Número de Slide 3">
            <a:extLst>
              <a:ext uri="{FF2B5EF4-FFF2-40B4-BE49-F238E27FC236}">
                <a16:creationId xmlns:a16="http://schemas.microsoft.com/office/drawing/2014/main" id="{1B0780B3-2152-2A1E-71C0-06AE945112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4174C2D-F371-4446-9B06-A3350941154F}" type="slidenum">
              <a:rPr lang="pt-BR" altLang="pt-BR"/>
              <a:pPr>
                <a:spcBef>
                  <a:spcPct val="0"/>
                </a:spcBef>
              </a:pPr>
              <a:t>7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ço Reservado para Imagem de Slide 1">
            <a:extLst>
              <a:ext uri="{FF2B5EF4-FFF2-40B4-BE49-F238E27FC236}">
                <a16:creationId xmlns:a16="http://schemas.microsoft.com/office/drawing/2014/main" id="{D9788909-D926-2137-209E-7028AD66EB3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Espaço Reservado para Anotações 2">
            <a:extLst>
              <a:ext uri="{FF2B5EF4-FFF2-40B4-BE49-F238E27FC236}">
                <a16:creationId xmlns:a16="http://schemas.microsoft.com/office/drawing/2014/main" id="{53CD9667-7205-9C2B-5609-76689EA528A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19460" name="Espaço Reservado para Número de Slide 3">
            <a:extLst>
              <a:ext uri="{FF2B5EF4-FFF2-40B4-BE49-F238E27FC236}">
                <a16:creationId xmlns:a16="http://schemas.microsoft.com/office/drawing/2014/main" id="{1F8F1F18-5DDF-135E-FAB4-7352C6A645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0F46CEC-6A4D-4596-82DA-2134B5FFF6A5}" type="slidenum">
              <a:rPr lang="pt-BR" altLang="pt-BR"/>
              <a:pPr>
                <a:spcBef>
                  <a:spcPct val="0"/>
                </a:spcBef>
              </a:pPr>
              <a:t>8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ço Reservado para Imagem de Slide 1">
            <a:extLst>
              <a:ext uri="{FF2B5EF4-FFF2-40B4-BE49-F238E27FC236}">
                <a16:creationId xmlns:a16="http://schemas.microsoft.com/office/drawing/2014/main" id="{0C2D81F1-2202-6F4D-005A-F8DF4221F6F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Espaço Reservado para Anotações 2">
            <a:extLst>
              <a:ext uri="{FF2B5EF4-FFF2-40B4-BE49-F238E27FC236}">
                <a16:creationId xmlns:a16="http://schemas.microsoft.com/office/drawing/2014/main" id="{9F4A9540-B6FC-08CE-5A32-3471C6D19E8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21508" name="Espaço Reservado para Número de Slide 3">
            <a:extLst>
              <a:ext uri="{FF2B5EF4-FFF2-40B4-BE49-F238E27FC236}">
                <a16:creationId xmlns:a16="http://schemas.microsoft.com/office/drawing/2014/main" id="{8C16DDC3-ADCB-EE1E-D3DB-776C7F2AC850}"/>
              </a:ext>
            </a:extLst>
          </p:cNvPr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E7B706CE-8C01-4AF6-99B2-CA30B1B9355F}" type="slidenum">
              <a:rPr lang="pt-BR" altLang="pt-BR"/>
              <a:pPr algn="r" eaLnBrk="1" hangingPunct="1">
                <a:spcBef>
                  <a:spcPct val="0"/>
                </a:spcBef>
              </a:pPr>
              <a:t>9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ço Reservado para Imagem de Slide 1">
            <a:extLst>
              <a:ext uri="{FF2B5EF4-FFF2-40B4-BE49-F238E27FC236}">
                <a16:creationId xmlns:a16="http://schemas.microsoft.com/office/drawing/2014/main" id="{7B62A3B7-1C36-893A-E742-76BDAA2D9C0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5" name="Espaço Reservado para Anotações 2">
            <a:extLst>
              <a:ext uri="{FF2B5EF4-FFF2-40B4-BE49-F238E27FC236}">
                <a16:creationId xmlns:a16="http://schemas.microsoft.com/office/drawing/2014/main" id="{057D19FA-2569-6BB7-A753-39670A73DEA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23556" name="Espaço Reservado para Número de Slide 3">
            <a:extLst>
              <a:ext uri="{FF2B5EF4-FFF2-40B4-BE49-F238E27FC236}">
                <a16:creationId xmlns:a16="http://schemas.microsoft.com/office/drawing/2014/main" id="{6BE96D26-2094-5F92-5ACF-F1773800D8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FD23F62-B747-422B-B80B-54D5E5480FB2}" type="slidenum">
              <a:rPr lang="pt-BR" altLang="pt-BR"/>
              <a:pPr>
                <a:spcBef>
                  <a:spcPct val="0"/>
                </a:spcBef>
              </a:pPr>
              <a:t>10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ço Reservado para Imagem de Slide 1">
            <a:extLst>
              <a:ext uri="{FF2B5EF4-FFF2-40B4-BE49-F238E27FC236}">
                <a16:creationId xmlns:a16="http://schemas.microsoft.com/office/drawing/2014/main" id="{4F89DB0D-4593-E577-9A9E-380D4AFB284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Espaço Reservado para Anotações 2">
            <a:extLst>
              <a:ext uri="{FF2B5EF4-FFF2-40B4-BE49-F238E27FC236}">
                <a16:creationId xmlns:a16="http://schemas.microsoft.com/office/drawing/2014/main" id="{BC7C707C-35C5-346D-6D7F-EBF99D21335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25604" name="Espaço Reservado para Número de Slide 3">
            <a:extLst>
              <a:ext uri="{FF2B5EF4-FFF2-40B4-BE49-F238E27FC236}">
                <a16:creationId xmlns:a16="http://schemas.microsoft.com/office/drawing/2014/main" id="{82C982D1-372D-238E-EDC8-B5D7EEB43A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8D4F763-AEE1-4FC3-82CB-471318E36099}" type="slidenum">
              <a:rPr lang="pt-BR" altLang="pt-BR"/>
              <a:pPr>
                <a:spcBef>
                  <a:spcPct val="0"/>
                </a:spcBef>
              </a:pPr>
              <a:t>11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ço Reservado para Imagem de Slide 1">
            <a:extLst>
              <a:ext uri="{FF2B5EF4-FFF2-40B4-BE49-F238E27FC236}">
                <a16:creationId xmlns:a16="http://schemas.microsoft.com/office/drawing/2014/main" id="{FC079142-E920-C61A-6475-A2CB81AE25B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Espaço Reservado para Anotações 2">
            <a:extLst>
              <a:ext uri="{FF2B5EF4-FFF2-40B4-BE49-F238E27FC236}">
                <a16:creationId xmlns:a16="http://schemas.microsoft.com/office/drawing/2014/main" id="{B343E2B2-9BAD-4BE8-1BAA-1A438BBF73D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27652" name="Espaço Reservado para Número de Slide 3">
            <a:extLst>
              <a:ext uri="{FF2B5EF4-FFF2-40B4-BE49-F238E27FC236}">
                <a16:creationId xmlns:a16="http://schemas.microsoft.com/office/drawing/2014/main" id="{D5187504-0FCC-D2B3-3CA5-4C86103F8F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14D4D3A-404D-4506-9A51-89F31D25EB00}" type="slidenum">
              <a:rPr lang="pt-BR" altLang="pt-BR"/>
              <a:pPr>
                <a:spcBef>
                  <a:spcPct val="0"/>
                </a:spcBef>
              </a:pPr>
              <a:t>12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ço Reservado para Imagem de Slide 1">
            <a:extLst>
              <a:ext uri="{FF2B5EF4-FFF2-40B4-BE49-F238E27FC236}">
                <a16:creationId xmlns:a16="http://schemas.microsoft.com/office/drawing/2014/main" id="{37E174E2-C7CC-9818-5F62-331E3FBDB5D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Espaço Reservado para Anotações 2">
            <a:extLst>
              <a:ext uri="{FF2B5EF4-FFF2-40B4-BE49-F238E27FC236}">
                <a16:creationId xmlns:a16="http://schemas.microsoft.com/office/drawing/2014/main" id="{941A5CEC-D643-2759-A5CE-77D5F475145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29700" name="Espaço Reservado para Número de Slide 3">
            <a:extLst>
              <a:ext uri="{FF2B5EF4-FFF2-40B4-BE49-F238E27FC236}">
                <a16:creationId xmlns:a16="http://schemas.microsoft.com/office/drawing/2014/main" id="{F03822E8-9587-C4D2-F96F-C637D1EF2D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06525F6-12EA-4045-8306-4025BDF85D94}" type="slidenum">
              <a:rPr lang="pt-BR" altLang="pt-BR"/>
              <a:pPr>
                <a:spcBef>
                  <a:spcPct val="0"/>
                </a:spcBef>
              </a:pPr>
              <a:t>13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ço Reservado para Imagem de Slide 1">
            <a:extLst>
              <a:ext uri="{FF2B5EF4-FFF2-40B4-BE49-F238E27FC236}">
                <a16:creationId xmlns:a16="http://schemas.microsoft.com/office/drawing/2014/main" id="{AADABABB-C3F1-590D-4C5E-26755276B71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7" name="Espaço Reservado para Anotações 2">
            <a:extLst>
              <a:ext uri="{FF2B5EF4-FFF2-40B4-BE49-F238E27FC236}">
                <a16:creationId xmlns:a16="http://schemas.microsoft.com/office/drawing/2014/main" id="{C2F85EA9-64CA-28B2-4CFE-E1628D9C1F7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31748" name="Espaço Reservado para Número de Slide 3">
            <a:extLst>
              <a:ext uri="{FF2B5EF4-FFF2-40B4-BE49-F238E27FC236}">
                <a16:creationId xmlns:a16="http://schemas.microsoft.com/office/drawing/2014/main" id="{68A167A9-8543-336C-1A2D-BCF0528C03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8841A4B-109B-43AA-B1F5-6C727BAE7739}" type="slidenum">
              <a:rPr lang="pt-BR" altLang="pt-BR"/>
              <a:pPr>
                <a:spcBef>
                  <a:spcPct val="0"/>
                </a:spcBef>
              </a:pPr>
              <a:t>14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ço Reservado para Imagem de Slide 1">
            <a:extLst>
              <a:ext uri="{FF2B5EF4-FFF2-40B4-BE49-F238E27FC236}">
                <a16:creationId xmlns:a16="http://schemas.microsoft.com/office/drawing/2014/main" id="{861D7C29-83B6-D7E7-BFDF-347ACB42800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Espaço Reservado para Anotações 2">
            <a:extLst>
              <a:ext uri="{FF2B5EF4-FFF2-40B4-BE49-F238E27FC236}">
                <a16:creationId xmlns:a16="http://schemas.microsoft.com/office/drawing/2014/main" id="{61349FC9-269A-8461-7A83-3E49E3544E1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33796" name="Espaço Reservado para Número de Slide 3">
            <a:extLst>
              <a:ext uri="{FF2B5EF4-FFF2-40B4-BE49-F238E27FC236}">
                <a16:creationId xmlns:a16="http://schemas.microsoft.com/office/drawing/2014/main" id="{D61CF891-EBAA-9F3D-2965-C618638702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8D66483-741E-4882-98D2-CC780B41211D}" type="slidenum">
              <a:rPr lang="pt-BR" altLang="pt-BR"/>
              <a:pPr>
                <a:spcBef>
                  <a:spcPct val="0"/>
                </a:spcBef>
              </a:pPr>
              <a:t>15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ço Reservado para Imagem de Slide 1">
            <a:extLst>
              <a:ext uri="{FF2B5EF4-FFF2-40B4-BE49-F238E27FC236}">
                <a16:creationId xmlns:a16="http://schemas.microsoft.com/office/drawing/2014/main" id="{8875F6A8-6B1D-C16A-DA82-DCBED258F3D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Espaço Reservado para Anotações 2">
            <a:extLst>
              <a:ext uri="{FF2B5EF4-FFF2-40B4-BE49-F238E27FC236}">
                <a16:creationId xmlns:a16="http://schemas.microsoft.com/office/drawing/2014/main" id="{C9436E38-DDD6-6D8F-F475-1B179A818F7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35844" name="Espaço Reservado para Número de Slide 3">
            <a:extLst>
              <a:ext uri="{FF2B5EF4-FFF2-40B4-BE49-F238E27FC236}">
                <a16:creationId xmlns:a16="http://schemas.microsoft.com/office/drawing/2014/main" id="{CD836F18-0B99-537F-6FC9-2DF8D1415B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615D774-6CD8-4AB3-9CFF-A24A79063D95}" type="slidenum">
              <a:rPr lang="pt-BR" altLang="pt-BR"/>
              <a:pPr>
                <a:spcBef>
                  <a:spcPct val="0"/>
                </a:spcBef>
              </a:pPr>
              <a:t>16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ço Reservado para Imagem de Slide 1">
            <a:extLst>
              <a:ext uri="{FF2B5EF4-FFF2-40B4-BE49-F238E27FC236}">
                <a16:creationId xmlns:a16="http://schemas.microsoft.com/office/drawing/2014/main" id="{548472FB-EA6D-C1C5-E799-10456E7C0C8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1" name="Espaço Reservado para Anotações 2">
            <a:extLst>
              <a:ext uri="{FF2B5EF4-FFF2-40B4-BE49-F238E27FC236}">
                <a16:creationId xmlns:a16="http://schemas.microsoft.com/office/drawing/2014/main" id="{5961DF8F-BF46-1898-B4C1-3F032936DFD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37892" name="Espaço Reservado para Número de Slide 3">
            <a:extLst>
              <a:ext uri="{FF2B5EF4-FFF2-40B4-BE49-F238E27FC236}">
                <a16:creationId xmlns:a16="http://schemas.microsoft.com/office/drawing/2014/main" id="{3CCDAFCE-FFDE-579B-EBC7-E13F167735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E4BBD5F-92C9-4BF8-9BE9-EE4B8170DD95}" type="slidenum">
              <a:rPr lang="pt-BR" altLang="pt-BR"/>
              <a:pPr>
                <a:spcBef>
                  <a:spcPct val="0"/>
                </a:spcBef>
              </a:pPr>
              <a:t>17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ço Reservado para Imagem de Slide 1">
            <a:extLst>
              <a:ext uri="{FF2B5EF4-FFF2-40B4-BE49-F238E27FC236}">
                <a16:creationId xmlns:a16="http://schemas.microsoft.com/office/drawing/2014/main" id="{AEA06712-8F63-7832-C425-93F287502DB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Espaço Reservado para Anotações 2">
            <a:extLst>
              <a:ext uri="{FF2B5EF4-FFF2-40B4-BE49-F238E27FC236}">
                <a16:creationId xmlns:a16="http://schemas.microsoft.com/office/drawing/2014/main" id="{D4F7F42C-6E0D-94DC-B644-7BFEE2DAF51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39940" name="Espaço Reservado para Número de Slide 3">
            <a:extLst>
              <a:ext uri="{FF2B5EF4-FFF2-40B4-BE49-F238E27FC236}">
                <a16:creationId xmlns:a16="http://schemas.microsoft.com/office/drawing/2014/main" id="{29938FAE-4366-4D3D-0ECF-B368AF6106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84672B-CE58-4ABB-924C-FAA9658646E8}" type="slidenum">
              <a:rPr lang="pt-BR" altLang="pt-BR"/>
              <a:pPr>
                <a:spcBef>
                  <a:spcPct val="0"/>
                </a:spcBef>
              </a:pPr>
              <a:t>18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ço Reservado para Imagem de Slide 1">
            <a:extLst>
              <a:ext uri="{FF2B5EF4-FFF2-40B4-BE49-F238E27FC236}">
                <a16:creationId xmlns:a16="http://schemas.microsoft.com/office/drawing/2014/main" id="{116401DE-79C5-37B1-0B07-DA10D03CBA1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Espaço Reservado para Anotações 2">
            <a:extLst>
              <a:ext uri="{FF2B5EF4-FFF2-40B4-BE49-F238E27FC236}">
                <a16:creationId xmlns:a16="http://schemas.microsoft.com/office/drawing/2014/main" id="{A6EF0099-E87B-8219-2E17-26F514FD4A6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41988" name="Espaço Reservado para Número de Slide 3">
            <a:extLst>
              <a:ext uri="{FF2B5EF4-FFF2-40B4-BE49-F238E27FC236}">
                <a16:creationId xmlns:a16="http://schemas.microsoft.com/office/drawing/2014/main" id="{A543D3C2-8BEF-074A-F953-68DE5EECF3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2E3ECF2-622C-4358-8B29-D804574CEA09}" type="slidenum">
              <a:rPr lang="pt-BR" altLang="pt-BR"/>
              <a:pPr>
                <a:spcBef>
                  <a:spcPct val="0"/>
                </a:spcBef>
              </a:pPr>
              <a:t>19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ço Reservado para Imagem de Slide 1">
            <a:extLst>
              <a:ext uri="{FF2B5EF4-FFF2-40B4-BE49-F238E27FC236}">
                <a16:creationId xmlns:a16="http://schemas.microsoft.com/office/drawing/2014/main" id="{D51C1738-1C5A-6268-1864-4BB4D6FB637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Espaço Reservado para Anotações 2">
            <a:extLst>
              <a:ext uri="{FF2B5EF4-FFF2-40B4-BE49-F238E27FC236}">
                <a16:creationId xmlns:a16="http://schemas.microsoft.com/office/drawing/2014/main" id="{0949C41E-6674-99C5-91E8-ABA14A67838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44036" name="Espaço Reservado para Número de Slide 3">
            <a:extLst>
              <a:ext uri="{FF2B5EF4-FFF2-40B4-BE49-F238E27FC236}">
                <a16:creationId xmlns:a16="http://schemas.microsoft.com/office/drawing/2014/main" id="{021E3D51-2EEC-2F15-BB57-5238B79335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84493DE-CA8E-45C8-9579-7F07F2FBFD45}" type="slidenum">
              <a:rPr lang="pt-BR" altLang="pt-BR"/>
              <a:pPr>
                <a:spcBef>
                  <a:spcPct val="0"/>
                </a:spcBef>
              </a:pPr>
              <a:t>20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ço Reservado para Imagem de Slide 1">
            <a:extLst>
              <a:ext uri="{FF2B5EF4-FFF2-40B4-BE49-F238E27FC236}">
                <a16:creationId xmlns:a16="http://schemas.microsoft.com/office/drawing/2014/main" id="{B4BFE4BC-44F5-7104-FA90-00ED32A6CB5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Espaço Reservado para Anotações 2">
            <a:extLst>
              <a:ext uri="{FF2B5EF4-FFF2-40B4-BE49-F238E27FC236}">
                <a16:creationId xmlns:a16="http://schemas.microsoft.com/office/drawing/2014/main" id="{61ED20D9-AE1C-E390-C990-49ACB724923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46084" name="Espaço Reservado para Número de Slide 3">
            <a:extLst>
              <a:ext uri="{FF2B5EF4-FFF2-40B4-BE49-F238E27FC236}">
                <a16:creationId xmlns:a16="http://schemas.microsoft.com/office/drawing/2014/main" id="{BE24A43C-77DF-7EA4-1E91-2928F7B5DA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4F97C9D-CFBD-4D6A-AFFB-265426DEB6BD}" type="slidenum">
              <a:rPr lang="pt-BR" altLang="pt-BR"/>
              <a:pPr>
                <a:spcBef>
                  <a:spcPct val="0"/>
                </a:spcBef>
              </a:pPr>
              <a:t>21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ço Reservado para Imagem de Slide 1">
            <a:extLst>
              <a:ext uri="{FF2B5EF4-FFF2-40B4-BE49-F238E27FC236}">
                <a16:creationId xmlns:a16="http://schemas.microsoft.com/office/drawing/2014/main" id="{96256B84-6B82-A608-ACCA-35ADDC7A552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Espaço Reservado para Anotações 2">
            <a:extLst>
              <a:ext uri="{FF2B5EF4-FFF2-40B4-BE49-F238E27FC236}">
                <a16:creationId xmlns:a16="http://schemas.microsoft.com/office/drawing/2014/main" id="{311DF5AF-CE37-1B98-185E-59AE079ECB7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48132" name="Espaço Reservado para Número de Slide 3">
            <a:extLst>
              <a:ext uri="{FF2B5EF4-FFF2-40B4-BE49-F238E27FC236}">
                <a16:creationId xmlns:a16="http://schemas.microsoft.com/office/drawing/2014/main" id="{78A74F70-3F2E-DE50-FE41-E7150694EA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AEF641A-3638-4AB6-99CE-0BC0E5DC9A3B}" type="slidenum">
              <a:rPr lang="pt-BR" altLang="pt-BR"/>
              <a:pPr>
                <a:spcBef>
                  <a:spcPct val="0"/>
                </a:spcBef>
              </a:pPr>
              <a:t>22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ço Reservado para Imagem de Slide 1">
            <a:extLst>
              <a:ext uri="{FF2B5EF4-FFF2-40B4-BE49-F238E27FC236}">
                <a16:creationId xmlns:a16="http://schemas.microsoft.com/office/drawing/2014/main" id="{E16BC476-C799-FC1C-7B5E-C6463332F2C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79" name="Espaço Reservado para Anotações 2">
            <a:extLst>
              <a:ext uri="{FF2B5EF4-FFF2-40B4-BE49-F238E27FC236}">
                <a16:creationId xmlns:a16="http://schemas.microsoft.com/office/drawing/2014/main" id="{8B0F38B5-7746-402B-EE96-2EAE7DFCEC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50180" name="Espaço Reservado para Número de Slide 3">
            <a:extLst>
              <a:ext uri="{FF2B5EF4-FFF2-40B4-BE49-F238E27FC236}">
                <a16:creationId xmlns:a16="http://schemas.microsoft.com/office/drawing/2014/main" id="{4FBF7A59-17D9-4E1E-264B-AE5F59F96A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5CBFE6D-8278-4857-AD6D-16E38A540912}" type="slidenum">
              <a:rPr lang="pt-BR" altLang="pt-BR"/>
              <a:pPr>
                <a:spcBef>
                  <a:spcPct val="0"/>
                </a:spcBef>
              </a:pPr>
              <a:t>23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ço Reservado para Imagem de Slide 1">
            <a:extLst>
              <a:ext uri="{FF2B5EF4-FFF2-40B4-BE49-F238E27FC236}">
                <a16:creationId xmlns:a16="http://schemas.microsoft.com/office/drawing/2014/main" id="{8DBC0341-5755-E2B1-02B7-68973F33D04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Espaço Reservado para Anotações 2">
            <a:extLst>
              <a:ext uri="{FF2B5EF4-FFF2-40B4-BE49-F238E27FC236}">
                <a16:creationId xmlns:a16="http://schemas.microsoft.com/office/drawing/2014/main" id="{B8520055-9499-C81D-0C54-0FAF1403027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52228" name="Espaço Reservado para Número de Slide 3">
            <a:extLst>
              <a:ext uri="{FF2B5EF4-FFF2-40B4-BE49-F238E27FC236}">
                <a16:creationId xmlns:a16="http://schemas.microsoft.com/office/drawing/2014/main" id="{2209BEC5-24EE-8FBC-6F12-3095CDCCFA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C14F610-32D4-424A-9304-202493B8075E}" type="slidenum">
              <a:rPr lang="pt-BR" altLang="pt-BR"/>
              <a:pPr>
                <a:spcBef>
                  <a:spcPct val="0"/>
                </a:spcBef>
              </a:pPr>
              <a:t>24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ço Reservado para Imagem de Slide 1">
            <a:extLst>
              <a:ext uri="{FF2B5EF4-FFF2-40B4-BE49-F238E27FC236}">
                <a16:creationId xmlns:a16="http://schemas.microsoft.com/office/drawing/2014/main" id="{0170B265-6AF8-DBBA-E124-2B2DE0F45C4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5" name="Espaço Reservado para Anotações 2">
            <a:extLst>
              <a:ext uri="{FF2B5EF4-FFF2-40B4-BE49-F238E27FC236}">
                <a16:creationId xmlns:a16="http://schemas.microsoft.com/office/drawing/2014/main" id="{9468593E-79FC-C898-8EC7-A5AF9C9C5CE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54276" name="Espaço Reservado para Número de Slide 3">
            <a:extLst>
              <a:ext uri="{FF2B5EF4-FFF2-40B4-BE49-F238E27FC236}">
                <a16:creationId xmlns:a16="http://schemas.microsoft.com/office/drawing/2014/main" id="{4318D955-4106-64A8-123E-4CC6705DFB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246C9A7-3BAF-4D32-BD07-6BA286DA493F}" type="slidenum">
              <a:rPr lang="pt-BR" altLang="pt-BR"/>
              <a:pPr>
                <a:spcBef>
                  <a:spcPct val="0"/>
                </a:spcBef>
              </a:pPr>
              <a:t>25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ço Reservado para Imagem de Slide 1">
            <a:extLst>
              <a:ext uri="{FF2B5EF4-FFF2-40B4-BE49-F238E27FC236}">
                <a16:creationId xmlns:a16="http://schemas.microsoft.com/office/drawing/2014/main" id="{0AF55636-5B82-9C69-72C2-A420600BEF9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3" name="Espaço Reservado para Anotações 2">
            <a:extLst>
              <a:ext uri="{FF2B5EF4-FFF2-40B4-BE49-F238E27FC236}">
                <a16:creationId xmlns:a16="http://schemas.microsoft.com/office/drawing/2014/main" id="{118142D5-480E-6D76-79CB-58FCDC26DD7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56324" name="Espaço Reservado para Número de Slide 3">
            <a:extLst>
              <a:ext uri="{FF2B5EF4-FFF2-40B4-BE49-F238E27FC236}">
                <a16:creationId xmlns:a16="http://schemas.microsoft.com/office/drawing/2014/main" id="{4281A01E-1C7A-5551-E993-DB70E870B4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DAEE281-CC59-45AB-A8FD-855A60E91D40}" type="slidenum">
              <a:rPr lang="pt-BR" altLang="pt-BR"/>
              <a:pPr>
                <a:spcBef>
                  <a:spcPct val="0"/>
                </a:spcBef>
              </a:pPr>
              <a:t>26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ço Reservado para Imagem de Slide 1">
            <a:extLst>
              <a:ext uri="{FF2B5EF4-FFF2-40B4-BE49-F238E27FC236}">
                <a16:creationId xmlns:a16="http://schemas.microsoft.com/office/drawing/2014/main" id="{C2659C61-6521-AA19-B479-D22A564644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1" name="Espaço Reservado para Anotações 2">
            <a:extLst>
              <a:ext uri="{FF2B5EF4-FFF2-40B4-BE49-F238E27FC236}">
                <a16:creationId xmlns:a16="http://schemas.microsoft.com/office/drawing/2014/main" id="{51C0A50A-9C37-3286-6C39-C575147E88D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58372" name="Espaço Reservado para Número de Slide 3">
            <a:extLst>
              <a:ext uri="{FF2B5EF4-FFF2-40B4-BE49-F238E27FC236}">
                <a16:creationId xmlns:a16="http://schemas.microsoft.com/office/drawing/2014/main" id="{D5416DEC-88CC-963D-4713-2F5F8E0D07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B6DDD00-8F33-44E7-8938-9558AAC88A25}" type="slidenum">
              <a:rPr lang="pt-BR" altLang="pt-BR"/>
              <a:pPr>
                <a:spcBef>
                  <a:spcPct val="0"/>
                </a:spcBef>
              </a:pPr>
              <a:t>27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ço Reservado para Imagem de Slide 1">
            <a:extLst>
              <a:ext uri="{FF2B5EF4-FFF2-40B4-BE49-F238E27FC236}">
                <a16:creationId xmlns:a16="http://schemas.microsoft.com/office/drawing/2014/main" id="{C478207D-460F-D42E-AA37-EFA7033EE48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0419" name="Espaço Reservado para Anotações 2">
            <a:extLst>
              <a:ext uri="{FF2B5EF4-FFF2-40B4-BE49-F238E27FC236}">
                <a16:creationId xmlns:a16="http://schemas.microsoft.com/office/drawing/2014/main" id="{4F0A2150-2FB4-5D5F-0FD7-E4F007F28C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60420" name="Espaço Reservado para Número de Slide 3">
            <a:extLst>
              <a:ext uri="{FF2B5EF4-FFF2-40B4-BE49-F238E27FC236}">
                <a16:creationId xmlns:a16="http://schemas.microsoft.com/office/drawing/2014/main" id="{2B53AE6D-68E4-9BC0-2CB1-A826823144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EA90EB2-2E4E-4BEF-870E-046D830D172A}" type="slidenum">
              <a:rPr lang="pt-BR" altLang="pt-BR"/>
              <a:pPr>
                <a:spcBef>
                  <a:spcPct val="0"/>
                </a:spcBef>
              </a:pPr>
              <a:t>28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Espaço Reservado para Imagem de Slide 1">
            <a:extLst>
              <a:ext uri="{FF2B5EF4-FFF2-40B4-BE49-F238E27FC236}">
                <a16:creationId xmlns:a16="http://schemas.microsoft.com/office/drawing/2014/main" id="{209C88F8-0BE3-7E2B-E4D3-6F39A18E3F6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Espaço Reservado para Anotações 2">
            <a:extLst>
              <a:ext uri="{FF2B5EF4-FFF2-40B4-BE49-F238E27FC236}">
                <a16:creationId xmlns:a16="http://schemas.microsoft.com/office/drawing/2014/main" id="{6A20AEE5-71E5-29F8-1028-A29495A56DF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62468" name="Espaço Reservado para Número de Slide 3">
            <a:extLst>
              <a:ext uri="{FF2B5EF4-FFF2-40B4-BE49-F238E27FC236}">
                <a16:creationId xmlns:a16="http://schemas.microsoft.com/office/drawing/2014/main" id="{D305C71B-8136-4CF7-7F89-2CB76DC6FF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5146970-BEAF-4B8D-A173-F61466744789}" type="slidenum">
              <a:rPr lang="pt-BR" altLang="pt-BR"/>
              <a:pPr>
                <a:spcBef>
                  <a:spcPct val="0"/>
                </a:spcBef>
              </a:pPr>
              <a:t>29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Espaço Reservado para Imagem de Slide 1">
            <a:extLst>
              <a:ext uri="{FF2B5EF4-FFF2-40B4-BE49-F238E27FC236}">
                <a16:creationId xmlns:a16="http://schemas.microsoft.com/office/drawing/2014/main" id="{29475E43-3FE3-9C1D-6457-04902445993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Espaço Reservado para Anotações 2">
            <a:extLst>
              <a:ext uri="{FF2B5EF4-FFF2-40B4-BE49-F238E27FC236}">
                <a16:creationId xmlns:a16="http://schemas.microsoft.com/office/drawing/2014/main" id="{A4359AD0-7F55-96DF-E6F8-B1958C2CBE8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64516" name="Espaço Reservado para Número de Slide 3">
            <a:extLst>
              <a:ext uri="{FF2B5EF4-FFF2-40B4-BE49-F238E27FC236}">
                <a16:creationId xmlns:a16="http://schemas.microsoft.com/office/drawing/2014/main" id="{431E74B4-7510-2C74-E35A-8A2FC75CBE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72BA8A3-4F1C-46B5-9B32-38721B53A9BD}" type="slidenum">
              <a:rPr lang="pt-BR" altLang="pt-BR"/>
              <a:pPr>
                <a:spcBef>
                  <a:spcPct val="0"/>
                </a:spcBef>
              </a:pPr>
              <a:t>30</a:t>
            </a:fld>
            <a:endParaRPr lang="pt-BR" alt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69A6A6A-1F9E-A66D-B658-754CEFC54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760701-2F31-4315-AA7D-A0E5F99146F9}" type="datetime1">
              <a:rPr lang="pt-BR"/>
              <a:pPr>
                <a:defRPr/>
              </a:pPr>
              <a:t>12/11/2025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837F385-9776-3690-6BE1-1450EC9E8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461E8F5-59FF-132D-A57B-30E0E1AA6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1B9E4A2-8EBC-4B0D-9446-9C7C0B4C4287}" type="slidenum">
              <a:rPr lang="pt-BR" altLang="pt-BR"/>
              <a:pPr/>
              <a:t>‹#›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61471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0CD7D03-71A1-E2D7-11FE-3594BFB45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1408B6-8AE7-425A-8DFF-114B7A511BDE}" type="datetime1">
              <a:rPr lang="pt-BR"/>
              <a:pPr>
                <a:defRPr/>
              </a:pPr>
              <a:t>12/11/2025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C0F3B79-13DE-FAAD-6DC0-21091E937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0A749D0-0FAB-CA70-4FAE-ECCD6A666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BAE42D-7202-4B75-BCA9-829CE52B7219}" type="slidenum">
              <a:rPr lang="pt-BR" altLang="pt-BR"/>
              <a:pPr/>
              <a:t>‹#›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093362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C5B6A2-221E-82BC-3A1B-F38B553E1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B37F2B-1384-44C6-B2C6-A81C5EE79244}" type="datetime1">
              <a:rPr lang="pt-BR"/>
              <a:pPr>
                <a:defRPr/>
              </a:pPr>
              <a:t>12/11/2025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428326B-101C-D8FF-250C-3EBEBD313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0A3A065-79CF-82F8-F1DC-B1A97E5EE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A9D092-87C1-4700-BF6F-13E74D87C6EF}" type="slidenum">
              <a:rPr lang="pt-BR" altLang="pt-BR"/>
              <a:pPr/>
              <a:t>‹#›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005909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7F5EA78B-6CAF-F348-C404-83FB96CF1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10AA50-05D0-4870-9876-B42FD52A694E}" type="datetime1">
              <a:rPr lang="pt-BR"/>
              <a:pPr>
                <a:defRPr/>
              </a:pPr>
              <a:t>12/11/2025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577057DB-67DE-90CE-96AA-E153B632D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6480F039-C619-5862-4F84-8186453B9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11114B-E336-4CE9-BD42-59070FFEE676}" type="slidenum">
              <a:rPr lang="pt-BR" altLang="pt-BR"/>
              <a:pPr/>
              <a:t>‹#›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271073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3">
            <a:extLst>
              <a:ext uri="{FF2B5EF4-FFF2-40B4-BE49-F238E27FC236}">
                <a16:creationId xmlns:a16="http://schemas.microsoft.com/office/drawing/2014/main" id="{536592D2-B3B1-FF73-3250-0C5A4CF06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BA1779-3835-490F-A1A7-5980CB0307FB}" type="datetime1">
              <a:rPr lang="pt-BR"/>
              <a:pPr>
                <a:defRPr/>
              </a:pPr>
              <a:t>12/11/2025</a:t>
            </a:fld>
            <a:endParaRPr lang="pt-BR"/>
          </a:p>
        </p:txBody>
      </p:sp>
      <p:sp>
        <p:nvSpPr>
          <p:cNvPr id="8" name="Espaço Reservado para Rodapé 4">
            <a:extLst>
              <a:ext uri="{FF2B5EF4-FFF2-40B4-BE49-F238E27FC236}">
                <a16:creationId xmlns:a16="http://schemas.microsoft.com/office/drawing/2014/main" id="{D2B2B6FC-568E-EE1A-FDB6-4BC00B30D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0940D82E-8263-DB1F-8E06-E7F26AB77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E559A1-15BB-43A1-815B-A13E48658BF0}" type="slidenum">
              <a:rPr lang="pt-BR" altLang="pt-BR"/>
              <a:pPr/>
              <a:t>‹#›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485294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3">
            <a:extLst>
              <a:ext uri="{FF2B5EF4-FFF2-40B4-BE49-F238E27FC236}">
                <a16:creationId xmlns:a16="http://schemas.microsoft.com/office/drawing/2014/main" id="{90E463E7-8F79-4920-3B06-24DEA8138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1963B8-6EF6-448C-8832-73C6E23D3CD9}" type="datetime1">
              <a:rPr lang="pt-BR"/>
              <a:pPr>
                <a:defRPr/>
              </a:pPr>
              <a:t>12/11/2025</a:t>
            </a:fld>
            <a:endParaRPr lang="pt-BR"/>
          </a:p>
        </p:txBody>
      </p:sp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id="{01536782-33AE-35B8-16EA-F2CDFEF94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5A2A7E40-4D45-D410-30A1-2AD2C8AF9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B4BE5B-7FDB-405F-94A2-599FAFD34C33}" type="slidenum">
              <a:rPr lang="pt-BR" altLang="pt-BR"/>
              <a:pPr/>
              <a:t>‹#›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471158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3">
            <a:extLst>
              <a:ext uri="{FF2B5EF4-FFF2-40B4-BE49-F238E27FC236}">
                <a16:creationId xmlns:a16="http://schemas.microsoft.com/office/drawing/2014/main" id="{3E29B9E2-6935-B6B1-1B39-2C806ACA8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BE35E7-B117-4F23-9283-EBB235C5B70B}" type="datetime1">
              <a:rPr lang="pt-BR"/>
              <a:pPr>
                <a:defRPr/>
              </a:pPr>
              <a:t>12/11/2025</a:t>
            </a:fld>
            <a:endParaRPr lang="pt-BR"/>
          </a:p>
        </p:txBody>
      </p:sp>
      <p:sp>
        <p:nvSpPr>
          <p:cNvPr id="3" name="Espaço Reservado para Rodapé 4">
            <a:extLst>
              <a:ext uri="{FF2B5EF4-FFF2-40B4-BE49-F238E27FC236}">
                <a16:creationId xmlns:a16="http://schemas.microsoft.com/office/drawing/2014/main" id="{87E4EDCA-809B-2627-0470-3FEA36C7E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4F51D510-6032-BAC7-86F3-3C6AB3578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524F64-2405-468D-8B27-623AAAE804B8}" type="slidenum">
              <a:rPr lang="pt-BR" altLang="pt-BR"/>
              <a:pPr/>
              <a:t>‹#›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787027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3D22009A-0E8E-F1E0-B6C4-47443E9CF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ED941D-5B00-4E52-89A4-F8EF6029AFE3}" type="datetime1">
              <a:rPr lang="pt-BR"/>
              <a:pPr>
                <a:defRPr/>
              </a:pPr>
              <a:t>12/11/2025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80FE4E6A-186A-8E35-6600-32EF795DB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F203FD63-9189-D154-74F8-97A3DAC23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FA99FCF-7474-4372-8269-83D304362C15}" type="slidenum">
              <a:rPr lang="pt-BR" altLang="pt-BR"/>
              <a:pPr/>
              <a:t>‹#›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09121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61ADA3AC-2AF8-682F-B944-D774FFDEE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F9B940-E709-4C7E-918E-06E0FE27E114}" type="datetime1">
              <a:rPr lang="pt-BR"/>
              <a:pPr>
                <a:defRPr/>
              </a:pPr>
              <a:t>12/11/2025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10010390-6269-2FAD-740C-A84DDE946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2B499700-F3F6-F02A-1678-5951285A8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6898BB-1A89-4C4B-8803-FFEC64E89DEF}" type="slidenum">
              <a:rPr lang="pt-BR" altLang="pt-BR"/>
              <a:pPr/>
              <a:t>‹#›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909509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A41BA87-B2B8-6339-2C6B-6696BC75A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F921E1-946B-4D22-83BA-F153C9047E21}" type="datetime1">
              <a:rPr lang="pt-BR"/>
              <a:pPr>
                <a:defRPr/>
              </a:pPr>
              <a:t>12/11/2025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6A15BD4-5F0C-66D6-56E0-CFC6DC8F6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7331099-DF3D-CB1C-28DE-EB7A4E8C1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92890B-558D-4ADE-B3F9-1219485C285A}" type="slidenum">
              <a:rPr lang="pt-BR" altLang="pt-BR"/>
              <a:pPr/>
              <a:t>‹#›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347186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3FD8EAC-1204-5835-61C1-D52EC8AE1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27487C-AA2C-4741-B5B0-2951F0803BA0}" type="datetime1">
              <a:rPr lang="pt-BR"/>
              <a:pPr>
                <a:defRPr/>
              </a:pPr>
              <a:t>12/11/2025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5E5778E-8317-51C7-8EDF-C138975F6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49F378D-9601-4536-5DE7-B4E85EBB2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101DAF0-0508-4E1B-88F1-E6C71E0B6F76}" type="slidenum">
              <a:rPr lang="pt-BR" altLang="pt-BR"/>
              <a:pPr/>
              <a:t>‹#›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749592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33FAC10-DBD6-E144-FB1B-B568875E6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1331E8-BA4C-4BEE-9A08-B63E9C24331E}" type="datetime1">
              <a:rPr lang="pt-BR"/>
              <a:pPr>
                <a:defRPr/>
              </a:pPr>
              <a:t>12/11/2025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E46DA9E-4E2D-C717-AD70-9CE2D0ABD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6ABA055-0CC6-D14A-34AD-733CC8B52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D2F7E0-4A62-4C03-B0C5-59D06181A8C9}" type="slidenum">
              <a:rPr lang="pt-BR" altLang="pt-BR"/>
              <a:pPr/>
              <a:t>‹#›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9545522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FF1C20E-8868-F470-13B2-A4888F860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26825A-F5C0-49C2-99AD-78E404F2531B}" type="datetime1">
              <a:rPr lang="pt-BR"/>
              <a:pPr>
                <a:defRPr/>
              </a:pPr>
              <a:t>12/11/2025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754B942-9DB9-75AE-9BA9-354EA5511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D84F16-0382-E922-9CD9-4DC9EC108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AF78C7-23F1-4BF1-838B-2DBD1BD7911C}" type="slidenum">
              <a:rPr lang="pt-BR" altLang="pt-BR"/>
              <a:pPr/>
              <a:t>‹#›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6373967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F9DC4A4-F21C-4649-2CDF-1A31E4AC3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5068CC-4907-4EEC-9B81-45B1892E56DE}" type="datetime1">
              <a:rPr lang="pt-BR"/>
              <a:pPr>
                <a:defRPr/>
              </a:pPr>
              <a:t>12/11/2025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3E591D2-C1AB-E195-E738-84F97B379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5B4D2A3-44D0-88A6-EDBB-4C3F8D418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DB53DC-F150-4BEE-A326-EEDA068DB17F}" type="slidenum">
              <a:rPr lang="pt-BR" altLang="pt-BR"/>
              <a:pPr/>
              <a:t>‹#›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3255443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BE8C5914-6577-2D72-698C-80CE4FFDC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7A40FE-78C4-4AA1-BFCA-D384BD853D96}" type="datetime1">
              <a:rPr lang="pt-BR"/>
              <a:pPr>
                <a:defRPr/>
              </a:pPr>
              <a:t>12/11/2025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70A8F336-1F46-4A19-092A-7E9AFE2DC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8671B124-8210-F4C6-1FDF-E9BF53DCE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B836A1-5D1C-4C3A-A4ED-34B8F498EA09}" type="slidenum">
              <a:rPr lang="pt-BR" altLang="pt-BR"/>
              <a:pPr/>
              <a:t>‹#›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0633872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3">
            <a:extLst>
              <a:ext uri="{FF2B5EF4-FFF2-40B4-BE49-F238E27FC236}">
                <a16:creationId xmlns:a16="http://schemas.microsoft.com/office/drawing/2014/main" id="{405201E4-F50A-0992-F6DD-334FE297A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893C0F-D96A-45ED-9ABA-9792E20DCC1B}" type="datetime1">
              <a:rPr lang="pt-BR"/>
              <a:pPr>
                <a:defRPr/>
              </a:pPr>
              <a:t>12/11/2025</a:t>
            </a:fld>
            <a:endParaRPr lang="pt-BR"/>
          </a:p>
        </p:txBody>
      </p:sp>
      <p:sp>
        <p:nvSpPr>
          <p:cNvPr id="8" name="Espaço Reservado para Rodapé 4">
            <a:extLst>
              <a:ext uri="{FF2B5EF4-FFF2-40B4-BE49-F238E27FC236}">
                <a16:creationId xmlns:a16="http://schemas.microsoft.com/office/drawing/2014/main" id="{7883D88F-BAEE-AC53-3FC1-1007799A8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7D069919-06A6-B3E5-5BAD-87C6534E7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A57A52B-04E6-424D-BF20-15FA5CEC447A}" type="slidenum">
              <a:rPr lang="pt-BR" altLang="pt-BR"/>
              <a:pPr/>
              <a:t>‹#›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6166008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3">
            <a:extLst>
              <a:ext uri="{FF2B5EF4-FFF2-40B4-BE49-F238E27FC236}">
                <a16:creationId xmlns:a16="http://schemas.microsoft.com/office/drawing/2014/main" id="{68EA0613-30D0-5C32-966C-EBCBD1139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5C5076-6F6E-4F52-87E1-E1917CCCE2F5}" type="datetime1">
              <a:rPr lang="pt-BR"/>
              <a:pPr>
                <a:defRPr/>
              </a:pPr>
              <a:t>12/11/2025</a:t>
            </a:fld>
            <a:endParaRPr lang="pt-BR"/>
          </a:p>
        </p:txBody>
      </p:sp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id="{5C44DE73-E97C-A787-7606-78195DF04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468655CD-0865-5FB7-9D28-1E862854C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B22BD9-EEB5-4CF7-9F45-F677FF691014}" type="slidenum">
              <a:rPr lang="pt-BR" altLang="pt-BR"/>
              <a:pPr/>
              <a:t>‹#›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0353739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3">
            <a:extLst>
              <a:ext uri="{FF2B5EF4-FFF2-40B4-BE49-F238E27FC236}">
                <a16:creationId xmlns:a16="http://schemas.microsoft.com/office/drawing/2014/main" id="{D59D5737-1581-C51E-2014-8343F3BA1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8B2428-949E-4011-8303-CF6AD3BFAF0E}" type="datetime1">
              <a:rPr lang="pt-BR"/>
              <a:pPr>
                <a:defRPr/>
              </a:pPr>
              <a:t>12/11/2025</a:t>
            </a:fld>
            <a:endParaRPr lang="pt-BR"/>
          </a:p>
        </p:txBody>
      </p:sp>
      <p:sp>
        <p:nvSpPr>
          <p:cNvPr id="3" name="Espaço Reservado para Rodapé 4">
            <a:extLst>
              <a:ext uri="{FF2B5EF4-FFF2-40B4-BE49-F238E27FC236}">
                <a16:creationId xmlns:a16="http://schemas.microsoft.com/office/drawing/2014/main" id="{9F81C6D4-9860-0539-A726-F05CB558E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4EB6AA3A-77F3-0D67-4608-480AA9C94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AAA128-CCD9-4E0E-A67A-238811A59D63}" type="slidenum">
              <a:rPr lang="pt-BR" altLang="pt-BR"/>
              <a:pPr/>
              <a:t>‹#›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1143065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B8D38130-8843-A31C-37D0-540ABF33B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43A097-CCF1-4F06-88CD-48385D105D08}" type="datetime1">
              <a:rPr lang="pt-BR"/>
              <a:pPr>
                <a:defRPr/>
              </a:pPr>
              <a:t>12/11/2025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8498EF73-90C3-7DF3-EE7F-212AC5B1C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8303125D-EF1F-59AB-BC5D-2B0D3660B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66DFCF-76A2-454C-B1A7-4D3ED29E07BA}" type="slidenum">
              <a:rPr lang="pt-BR" altLang="pt-BR"/>
              <a:pPr/>
              <a:t>‹#›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5912024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3019308A-11CE-839B-722C-316401A7C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D4F41F-58A4-4C9C-BCCF-579C93E879B7}" type="datetime1">
              <a:rPr lang="pt-BR"/>
              <a:pPr>
                <a:defRPr/>
              </a:pPr>
              <a:t>12/11/2025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A3363D98-0ABA-4628-7FBF-7F6ACC9A1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5BE0EF19-3D87-7883-4E39-AAD6AB136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8CC0E97-7220-4C9C-A9E1-20595AD35CC8}" type="slidenum">
              <a:rPr lang="pt-BR" altLang="pt-BR"/>
              <a:pPr/>
              <a:t>‹#›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6373385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A9A7322-6408-D0B7-19A8-91D2F1B58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30C28B-CC25-446B-B4A5-D43A52D9F126}" type="datetime1">
              <a:rPr lang="pt-BR"/>
              <a:pPr>
                <a:defRPr/>
              </a:pPr>
              <a:t>12/11/2025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EBFEC01-1823-8A2E-9BA6-34A934F32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4F98AEF-0B4F-019E-E520-8FE9C2FA0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5D2937-E654-4F09-A735-104472F926AC}" type="slidenum">
              <a:rPr lang="pt-BR" altLang="pt-BR"/>
              <a:pPr/>
              <a:t>‹#›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7561418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AABD58C-8520-E8B6-B811-AC627D977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2148DB-2517-4691-852F-B5D902CA6EEB}" type="datetime1">
              <a:rPr lang="pt-BR"/>
              <a:pPr>
                <a:defRPr/>
              </a:pPr>
              <a:t>12/11/2025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9E03AAC-39B1-82A5-590A-8643CD91F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7FFA65E-89E1-0E02-B8B7-24BFC1E32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8515448-E546-461A-98AE-596D998B5A30}" type="slidenum">
              <a:rPr lang="pt-BR" altLang="pt-BR"/>
              <a:pPr/>
              <a:t>‹#›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67937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ço Reservado para Título 1">
            <a:extLst>
              <a:ext uri="{FF2B5EF4-FFF2-40B4-BE49-F238E27FC236}">
                <a16:creationId xmlns:a16="http://schemas.microsoft.com/office/drawing/2014/main" id="{ABB62C99-E05B-9C7A-4242-6D3AC12C2F7E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1027" name="Espaço Reservado para Texto 2">
            <a:extLst>
              <a:ext uri="{FF2B5EF4-FFF2-40B4-BE49-F238E27FC236}">
                <a16:creationId xmlns:a16="http://schemas.microsoft.com/office/drawing/2014/main" id="{A97AE173-2E3D-708B-38B6-48702804F32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3198959-AAE3-A526-44BA-06B939A126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DE1DFDAF-2D22-42AD-A1CD-19DED2D10778}" type="datetime1">
              <a:rPr lang="pt-BR"/>
              <a:pPr>
                <a:defRPr/>
              </a:pPr>
              <a:t>12/11/2025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9EEE4D0-3BA8-0CD2-EDE7-62FF2553FC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99C2AD0-0615-4703-0DE2-6D4BB011DB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8860AC2E-5510-4945-9C35-4083379F90D3}" type="slidenum">
              <a:rPr lang="pt-BR" altLang="pt-BR"/>
              <a:pPr/>
              <a:t>‹#›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Espaço Reservado para Título 1">
            <a:extLst>
              <a:ext uri="{FF2B5EF4-FFF2-40B4-BE49-F238E27FC236}">
                <a16:creationId xmlns:a16="http://schemas.microsoft.com/office/drawing/2014/main" id="{D467BFEA-25B8-D5FD-14D3-C2654AB81290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2051" name="Espaço Reservado para Texto 2">
            <a:extLst>
              <a:ext uri="{FF2B5EF4-FFF2-40B4-BE49-F238E27FC236}">
                <a16:creationId xmlns:a16="http://schemas.microsoft.com/office/drawing/2014/main" id="{7CCDA523-2A8B-BD8C-201B-509FC24B2C7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47E7628-1821-E02E-E5BE-5E63B5CB36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869E152-F7F5-4CAB-BEBA-8D3C5F6A4F35}" type="datetime1">
              <a:rPr lang="pt-BR"/>
              <a:pPr>
                <a:defRPr/>
              </a:pPr>
              <a:t>12/11/2025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EF3C6D0-A0A4-58C9-35DD-DE49D3BFB0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46DA4B4-A3B5-FE2B-E6D1-B6BADE9553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05DE0519-E3C0-4B11-B593-ADF0896C8BF2}" type="slidenum">
              <a:rPr lang="pt-BR" altLang="pt-BR"/>
              <a:pPr/>
              <a:t>‹#›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8.wmf"/><Relationship Id="rId4" Type="http://schemas.openxmlformats.org/officeDocument/2006/relationships/oleObject" Target="../embeddings/oleObject1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CaixaDeTexto 9">
            <a:extLst>
              <a:ext uri="{FF2B5EF4-FFF2-40B4-BE49-F238E27FC236}">
                <a16:creationId xmlns:a16="http://schemas.microsoft.com/office/drawing/2014/main" id="{162965B2-5317-3CAD-0AC4-B4A63BB871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1563" y="2370138"/>
            <a:ext cx="294798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4000" b="1">
                <a:solidFill>
                  <a:schemeClr val="bg1"/>
                </a:solidFill>
                <a:latin typeface="Arial" panose="020B0604020202020204" pitchFamily="34" charset="0"/>
              </a:rPr>
              <a:t>Capítulo 10</a:t>
            </a:r>
          </a:p>
        </p:txBody>
      </p:sp>
      <p:sp>
        <p:nvSpPr>
          <p:cNvPr id="4099" name="CaixaDeTexto 4">
            <a:extLst>
              <a:ext uri="{FF2B5EF4-FFF2-40B4-BE49-F238E27FC236}">
                <a16:creationId xmlns:a16="http://schemas.microsoft.com/office/drawing/2014/main" id="{0B384BC4-455E-B84C-462A-51AE342514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4275" y="3078163"/>
            <a:ext cx="3744913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2000">
                <a:latin typeface="Arial" panose="020B0604020202020204" pitchFamily="34" charset="0"/>
              </a:rPr>
              <a:t>Custo de oportunidade do capital e a sua importância na análise e avaliação econômica de projetos de investimento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4F0529EA-5BBE-58DB-2A9D-E3FDF2023E28}"/>
              </a:ext>
            </a:extLst>
          </p:cNvPr>
          <p:cNvCxnSpPr/>
          <p:nvPr/>
        </p:nvCxnSpPr>
        <p:spPr>
          <a:xfrm>
            <a:off x="1071563" y="3071813"/>
            <a:ext cx="3786187" cy="1587"/>
          </a:xfrm>
          <a:prstGeom prst="line">
            <a:avLst/>
          </a:prstGeom>
          <a:ln w="15875" cmpd="sng">
            <a:solidFill>
              <a:schemeClr val="bg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01" name="CaixaDeTexto 5">
            <a:extLst>
              <a:ext uri="{FF2B5EF4-FFF2-40B4-BE49-F238E27FC236}">
                <a16:creationId xmlns:a16="http://schemas.microsoft.com/office/drawing/2014/main" id="{BCA5949D-F5AE-7CCB-CB2E-AA3849BE7E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3950" y="2357438"/>
            <a:ext cx="2947988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4000" b="1">
                <a:solidFill>
                  <a:srgbClr val="2C5DAA"/>
                </a:solidFill>
                <a:latin typeface="Arial" panose="020B0604020202020204" pitchFamily="34" charset="0"/>
              </a:rPr>
              <a:t>Capítulo 10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CaixaDeTexto 3">
            <a:extLst>
              <a:ext uri="{FF2B5EF4-FFF2-40B4-BE49-F238E27FC236}">
                <a16:creationId xmlns:a16="http://schemas.microsoft.com/office/drawing/2014/main" id="{02C688CB-8AF1-23F1-CB86-7706592B2F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6147" name="CaixaDeTexto 6">
            <a:extLst>
              <a:ext uri="{FF2B5EF4-FFF2-40B4-BE49-F238E27FC236}">
                <a16:creationId xmlns:a16="http://schemas.microsoft.com/office/drawing/2014/main" id="{2BBC70F9-5F96-E69D-CDB4-AC2B6D7EB8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681288"/>
            <a:ext cx="6715125" cy="193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pt-BR" altLang="pt-BR" sz="1600">
                <a:latin typeface="Arial" panose="020B0604020202020204" pitchFamily="34" charset="0"/>
              </a:rPr>
              <a:t> O enfoque do CMPC parte da idéia de que o projeto ou a empresa são financiados simultaneamente com capital próprio e capital de terceiros.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pt-BR" altLang="pt-BR" sz="1600">
                <a:latin typeface="Arial" panose="020B0604020202020204" pitchFamily="34" charset="0"/>
              </a:rPr>
              <a:t> O CMPC é igual à soma das rentabilidades médias dessas fontes de recursos, ponderadas pela participação de cada uma no financiamento total.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05E0D25-E2A8-92D8-4466-FCC82B621E58}"/>
              </a:ext>
            </a:extLst>
          </p:cNvPr>
          <p:cNvSpPr txBox="1"/>
          <p:nvPr/>
        </p:nvSpPr>
        <p:spPr>
          <a:xfrm>
            <a:off x="4071938" y="71438"/>
            <a:ext cx="5000625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10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Custo de oportunidade do capital e a sua importância na análise de projetos de investimento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6149" name="CaixaDeTexto 10">
            <a:extLst>
              <a:ext uri="{FF2B5EF4-FFF2-40B4-BE49-F238E27FC236}">
                <a16:creationId xmlns:a16="http://schemas.microsoft.com/office/drawing/2014/main" id="{9CAF248F-F799-711E-AB81-44179F1C53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6150" name="CaixaDeTexto 12">
            <a:extLst>
              <a:ext uri="{FF2B5EF4-FFF2-40B4-BE49-F238E27FC236}">
                <a16:creationId xmlns:a16="http://schemas.microsoft.com/office/drawing/2014/main" id="{A3F95994-9626-F5D9-8D21-2E98FF6E6E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44942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10.1 Custo médio ponderado do capital</a:t>
            </a:r>
          </a:p>
        </p:txBody>
      </p:sp>
      <p:sp>
        <p:nvSpPr>
          <p:cNvPr id="6151" name="Espaço Reservado para Número de Slide 7">
            <a:extLst>
              <a:ext uri="{FF2B5EF4-FFF2-40B4-BE49-F238E27FC236}">
                <a16:creationId xmlns:a16="http://schemas.microsoft.com/office/drawing/2014/main" id="{909A530C-179A-4B9E-5763-FD2D8F416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0F1F0711-B8DC-4560-B906-85D541AD7A78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pt-BR" altLang="pt-BR" sz="1200">
              <a:solidFill>
                <a:srgbClr val="2C5DAA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CaixaDeTexto 3">
            <a:extLst>
              <a:ext uri="{FF2B5EF4-FFF2-40B4-BE49-F238E27FC236}">
                <a16:creationId xmlns:a16="http://schemas.microsoft.com/office/drawing/2014/main" id="{44454CEA-5581-B565-C8D4-18C9CE4ECC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8195" name="CaixaDeTexto 6">
            <a:extLst>
              <a:ext uri="{FF2B5EF4-FFF2-40B4-BE49-F238E27FC236}">
                <a16:creationId xmlns:a16="http://schemas.microsoft.com/office/drawing/2014/main" id="{CA165CB6-F3F6-9242-BA10-0CEFCB63B2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5875" y="4062413"/>
            <a:ext cx="6715125" cy="193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onde K é o custo médio ponderado do capital, K</a:t>
            </a:r>
            <a:r>
              <a:rPr lang="pt-BR" altLang="pt-BR" sz="1600" baseline="-25000">
                <a:latin typeface="Arial" panose="020B0604020202020204" pitchFamily="34" charset="0"/>
              </a:rPr>
              <a:t>cp</a:t>
            </a:r>
            <a:r>
              <a:rPr lang="pt-BR" altLang="pt-BR" sz="1600">
                <a:latin typeface="Arial" panose="020B0604020202020204" pitchFamily="34" charset="0"/>
              </a:rPr>
              <a:t> é o custo do capital próprio, K</a:t>
            </a:r>
            <a:r>
              <a:rPr lang="pt-BR" altLang="pt-BR" sz="1600" baseline="-25000">
                <a:latin typeface="Arial" panose="020B0604020202020204" pitchFamily="34" charset="0"/>
              </a:rPr>
              <a:t>d</a:t>
            </a:r>
            <a:r>
              <a:rPr lang="pt-BR" altLang="pt-BR" sz="1600">
                <a:latin typeface="Arial" panose="020B0604020202020204" pitchFamily="34" charset="0"/>
              </a:rPr>
              <a:t> é o custo marginal da dívida, D é o valor de mercado da dívida, CP é o valor de mercado do capital próprio, V é o valor de mercado da empresa (V = CP + D) e T é a alíquota corporativa de imposto de renda.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6819581-5504-C424-326E-95979F2D31B4}"/>
              </a:ext>
            </a:extLst>
          </p:cNvPr>
          <p:cNvSpPr txBox="1"/>
          <p:nvPr/>
        </p:nvSpPr>
        <p:spPr>
          <a:xfrm>
            <a:off x="4071938" y="71438"/>
            <a:ext cx="5000625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10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Custo de oportunidade do capital e a sua importância na análise de projetos de investimento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8197" name="CaixaDeTexto 10">
            <a:extLst>
              <a:ext uri="{FF2B5EF4-FFF2-40B4-BE49-F238E27FC236}">
                <a16:creationId xmlns:a16="http://schemas.microsoft.com/office/drawing/2014/main" id="{02B537B6-A148-54E0-8561-5E968736CB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8198" name="Espaço Reservado para Número de Slide 7">
            <a:extLst>
              <a:ext uri="{FF2B5EF4-FFF2-40B4-BE49-F238E27FC236}">
                <a16:creationId xmlns:a16="http://schemas.microsoft.com/office/drawing/2014/main" id="{B1E3B3D9-B324-BC62-B225-C012EDB98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C0640153-521D-480D-B678-EA81253FF959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lang="pt-BR" altLang="pt-BR" sz="1200">
              <a:solidFill>
                <a:srgbClr val="2C5DAA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4E8C90C-DD8F-2077-CDEB-6C61CA2416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 l="4687" t="39375" r="6250" b="26875"/>
          <a:stretch>
            <a:fillRect/>
          </a:stretch>
        </p:blipFill>
        <p:spPr bwMode="auto">
          <a:xfrm>
            <a:off x="1500188" y="2571750"/>
            <a:ext cx="5715000" cy="13541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200" name="CaixaDeTexto 12">
            <a:extLst>
              <a:ext uri="{FF2B5EF4-FFF2-40B4-BE49-F238E27FC236}">
                <a16:creationId xmlns:a16="http://schemas.microsoft.com/office/drawing/2014/main" id="{097F1CDB-7620-F852-1BF5-4ED17AA736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44942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10.1 Custo médio ponderado do capital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CaixaDeTexto 3">
            <a:extLst>
              <a:ext uri="{FF2B5EF4-FFF2-40B4-BE49-F238E27FC236}">
                <a16:creationId xmlns:a16="http://schemas.microsoft.com/office/drawing/2014/main" id="{1FBCDC20-06AF-C695-72B4-7F7C87087D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10243" name="CaixaDeTexto 6">
            <a:extLst>
              <a:ext uri="{FF2B5EF4-FFF2-40B4-BE49-F238E27FC236}">
                <a16:creationId xmlns:a16="http://schemas.microsoft.com/office/drawing/2014/main" id="{A27B9CDB-345C-DBEA-5E28-F345D2F0E7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681288"/>
            <a:ext cx="6715125" cy="785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Modigliani e Miller desenvolveram a seguinte fórmula, conhecida como ‘fórmula de bolso’, para o cálculo do custo do capital.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C54A2C1-4E21-F811-391F-8BA5F1AC20A4}"/>
              </a:ext>
            </a:extLst>
          </p:cNvPr>
          <p:cNvSpPr txBox="1"/>
          <p:nvPr/>
        </p:nvSpPr>
        <p:spPr>
          <a:xfrm>
            <a:off x="4071938" y="71438"/>
            <a:ext cx="5000625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10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Custo de oportunidade do capital e a sua importância na análise de projetos de investimento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10245" name="CaixaDeTexto 10">
            <a:extLst>
              <a:ext uri="{FF2B5EF4-FFF2-40B4-BE49-F238E27FC236}">
                <a16:creationId xmlns:a16="http://schemas.microsoft.com/office/drawing/2014/main" id="{A85904C5-033F-A7FF-F7C7-4B658BF754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10246" name="CaixaDeTexto 12">
            <a:extLst>
              <a:ext uri="{FF2B5EF4-FFF2-40B4-BE49-F238E27FC236}">
                <a16:creationId xmlns:a16="http://schemas.microsoft.com/office/drawing/2014/main" id="{A6ACB572-4782-7676-D491-B4675A9723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664368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10.2 Fórmula de bolso de Modigliani-Miller para cálculo do custo do capital</a:t>
            </a:r>
          </a:p>
        </p:txBody>
      </p:sp>
      <p:sp>
        <p:nvSpPr>
          <p:cNvPr id="10247" name="Espaço Reservado para Número de Slide 7">
            <a:extLst>
              <a:ext uri="{FF2B5EF4-FFF2-40B4-BE49-F238E27FC236}">
                <a16:creationId xmlns:a16="http://schemas.microsoft.com/office/drawing/2014/main" id="{C9A21A09-F17C-FDEB-A18D-0CC032461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C7E15F54-AC30-416F-A983-484575236FFF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lang="pt-BR" altLang="pt-BR" sz="1200">
              <a:solidFill>
                <a:srgbClr val="2C5DAA"/>
              </a:solidFill>
            </a:endParaRPr>
          </a:p>
        </p:txBody>
      </p:sp>
      <p:sp>
        <p:nvSpPr>
          <p:cNvPr id="10248" name="CaixaDeTexto 6">
            <a:extLst>
              <a:ext uri="{FF2B5EF4-FFF2-40B4-BE49-F238E27FC236}">
                <a16:creationId xmlns:a16="http://schemas.microsoft.com/office/drawing/2014/main" id="{F7948834-FCE7-7216-6FAC-2FC70CD480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63" y="4214813"/>
            <a:ext cx="6572250" cy="193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T é a alíquota corporativa de imposto de renda, D é o valor de mercado das dívidas permanentes, CP é o valor de mercado do capital próprio e K</a:t>
            </a:r>
            <a:r>
              <a:rPr lang="pt-BR" altLang="pt-BR" sz="1200" baseline="-25000">
                <a:latin typeface="Arial" panose="020B0604020202020204" pitchFamily="34" charset="0"/>
              </a:rPr>
              <a:t>0</a:t>
            </a:r>
            <a:r>
              <a:rPr lang="pt-BR" altLang="pt-BR" sz="1600">
                <a:latin typeface="Arial" panose="020B0604020202020204" pitchFamily="34" charset="0"/>
              </a:rPr>
              <a:t> representa o custo do capital da empresa sem dívida, também conhecido como rentabilidade operacional ou 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poder de ganho dos ativos operacionais líquidos.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A313C0F-7B9C-5089-0895-24CE3BF301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 l="25195" t="31875" r="31445" b="47500"/>
          <a:stretch>
            <a:fillRect/>
          </a:stretch>
        </p:blipFill>
        <p:spPr bwMode="auto">
          <a:xfrm>
            <a:off x="3357563" y="3500438"/>
            <a:ext cx="2428875" cy="7223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CaixaDeTexto 3">
            <a:extLst>
              <a:ext uri="{FF2B5EF4-FFF2-40B4-BE49-F238E27FC236}">
                <a16:creationId xmlns:a16="http://schemas.microsoft.com/office/drawing/2014/main" id="{2D8A9A10-6161-2BAA-124F-8AA900CEEC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12291" name="CaixaDeTexto 6">
            <a:extLst>
              <a:ext uri="{FF2B5EF4-FFF2-40B4-BE49-F238E27FC236}">
                <a16:creationId xmlns:a16="http://schemas.microsoft.com/office/drawing/2014/main" id="{2BAC3271-21F1-AF21-8CEF-F28CC80073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846388"/>
            <a:ext cx="6715125" cy="1154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O custo do capital próprio é a taxa de retorno requerida pelos acionistas ou donos do capital próprio. O endividamento envolve obrigações contratuais de pagamento; o capital próprio, não.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B909207-4AC1-4656-480D-6D3BE9BDFEFC}"/>
              </a:ext>
            </a:extLst>
          </p:cNvPr>
          <p:cNvSpPr txBox="1"/>
          <p:nvPr/>
        </p:nvSpPr>
        <p:spPr>
          <a:xfrm>
            <a:off x="4071938" y="71438"/>
            <a:ext cx="5000625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10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Custo de oportunidade do capital e a sua importância na análise de projetos de investimento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12293" name="CaixaDeTexto 10">
            <a:extLst>
              <a:ext uri="{FF2B5EF4-FFF2-40B4-BE49-F238E27FC236}">
                <a16:creationId xmlns:a16="http://schemas.microsoft.com/office/drawing/2014/main" id="{52B53D11-8C66-842C-F08F-E8B2262282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12294" name="CaixaDeTexto 12">
            <a:extLst>
              <a:ext uri="{FF2B5EF4-FFF2-40B4-BE49-F238E27FC236}">
                <a16:creationId xmlns:a16="http://schemas.microsoft.com/office/drawing/2014/main" id="{6F8BDDB1-B2B3-E9DB-F832-21D69BE8E3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6500813" cy="655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10.3.1 Determinação do custo do capital próprio segundo o modelo CAPM</a:t>
            </a:r>
          </a:p>
        </p:txBody>
      </p:sp>
      <p:sp>
        <p:nvSpPr>
          <p:cNvPr id="12295" name="Espaço Reservado para Número de Slide 7">
            <a:extLst>
              <a:ext uri="{FF2B5EF4-FFF2-40B4-BE49-F238E27FC236}">
                <a16:creationId xmlns:a16="http://schemas.microsoft.com/office/drawing/2014/main" id="{7106BB19-5A4C-5FFB-1F63-7C0ECCF58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50D58B78-6D43-4EED-85E7-C5F0CE228600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5</a:t>
            </a:fld>
            <a:endParaRPr lang="pt-BR" altLang="pt-BR" sz="1200">
              <a:solidFill>
                <a:srgbClr val="2C5DAA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CaixaDeTexto 3">
            <a:extLst>
              <a:ext uri="{FF2B5EF4-FFF2-40B4-BE49-F238E27FC236}">
                <a16:creationId xmlns:a16="http://schemas.microsoft.com/office/drawing/2014/main" id="{A56AAB05-628C-8E8F-CA0F-D9DF6CAB8A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14339" name="CaixaDeTexto 6">
            <a:extLst>
              <a:ext uri="{FF2B5EF4-FFF2-40B4-BE49-F238E27FC236}">
                <a16:creationId xmlns:a16="http://schemas.microsoft.com/office/drawing/2014/main" id="{15580C73-A7AB-B633-ED4E-3805FB6120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276475"/>
            <a:ext cx="6715125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Quando aplicado para quantificar o custo ou a rentabilidade do capital próprio, o CAPM tem a seguinte forma: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48C15B5-A860-BE57-0392-1577FACED922}"/>
              </a:ext>
            </a:extLst>
          </p:cNvPr>
          <p:cNvSpPr txBox="1"/>
          <p:nvPr/>
        </p:nvSpPr>
        <p:spPr>
          <a:xfrm>
            <a:off x="4071938" y="71438"/>
            <a:ext cx="5000625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10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Custo de oportunidade do capital e a sua importância na análise de projetos de investimento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14341" name="CaixaDeTexto 10">
            <a:extLst>
              <a:ext uri="{FF2B5EF4-FFF2-40B4-BE49-F238E27FC236}">
                <a16:creationId xmlns:a16="http://schemas.microsoft.com/office/drawing/2014/main" id="{7D26192D-57F6-C9F1-7B08-D9084607CD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14342" name="Espaço Reservado para Número de Slide 7">
            <a:extLst>
              <a:ext uri="{FF2B5EF4-FFF2-40B4-BE49-F238E27FC236}">
                <a16:creationId xmlns:a16="http://schemas.microsoft.com/office/drawing/2014/main" id="{E919C1D6-5AC6-72A6-3326-8676FD348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942E1B34-BA97-4569-869C-593C2FA742B7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lang="pt-BR" altLang="pt-BR" sz="1200">
              <a:solidFill>
                <a:srgbClr val="2C5DAA"/>
              </a:solidFill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F8C082E3-1F1B-E8AC-8649-588CC236A5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 l="23437" t="69375" r="28516" b="16562"/>
          <a:stretch>
            <a:fillRect/>
          </a:stretch>
        </p:blipFill>
        <p:spPr bwMode="auto">
          <a:xfrm>
            <a:off x="3047176" y="3153413"/>
            <a:ext cx="3000375" cy="5492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4344" name="CaixaDeTexto 6">
            <a:extLst>
              <a:ext uri="{FF2B5EF4-FFF2-40B4-BE49-F238E27FC236}">
                <a16:creationId xmlns:a16="http://schemas.microsoft.com/office/drawing/2014/main" id="{0895A0F7-95BE-F526-4D3C-5AE6336C5E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4970" y="3506415"/>
            <a:ext cx="6715125" cy="2659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Onde: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K</a:t>
            </a:r>
            <a:r>
              <a:rPr lang="pt-BR" altLang="pt-BR" sz="1600" baseline="-25000">
                <a:latin typeface="Arial" panose="020B0604020202020204" pitchFamily="34" charset="0"/>
              </a:rPr>
              <a:t>cp</a:t>
            </a:r>
            <a:r>
              <a:rPr lang="pt-BR" altLang="pt-BR" sz="1600">
                <a:latin typeface="Arial" panose="020B0604020202020204" pitchFamily="34" charset="0"/>
              </a:rPr>
              <a:t> = custo do capital próprio (rentabilidade requerida pelos acionistas);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R</a:t>
            </a:r>
            <a:r>
              <a:rPr lang="pt-BR" altLang="pt-BR" sz="1600" baseline="-25000">
                <a:latin typeface="Arial" panose="020B0604020202020204" pitchFamily="34" charset="0"/>
              </a:rPr>
              <a:t>f</a:t>
            </a:r>
            <a:r>
              <a:rPr lang="pt-BR" altLang="pt-BR" sz="1600">
                <a:latin typeface="Arial" panose="020B0604020202020204" pitchFamily="34" charset="0"/>
              </a:rPr>
              <a:t> = rentabilidade dos ativos sem risco;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R</a:t>
            </a:r>
            <a:r>
              <a:rPr lang="pt-BR" altLang="pt-BR" sz="1600" baseline="-25000">
                <a:latin typeface="Arial" panose="020B0604020202020204" pitchFamily="34" charset="0"/>
              </a:rPr>
              <a:t>m</a:t>
            </a:r>
            <a:r>
              <a:rPr lang="pt-BR" altLang="pt-BR" sz="1600">
                <a:latin typeface="Arial" panose="020B0604020202020204" pitchFamily="34" charset="0"/>
              </a:rPr>
              <a:t> = rentabilidade esperada do índice de mercado;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Symbol" panose="05050102010706020507" pitchFamily="18" charset="2"/>
              <a:buChar char="b"/>
            </a:pPr>
            <a:r>
              <a:rPr lang="pt-BR" altLang="pt-BR" sz="1600">
                <a:latin typeface="Arial" panose="020B0604020202020204" pitchFamily="34" charset="0"/>
              </a:rPr>
              <a:t> = (volatilidade das ações comuns em relação ao índice de mercado);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pt-BR" altLang="pt-BR" sz="1600">
              <a:latin typeface="Arial" panose="020B0604020202020204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pt-BR" altLang="pt-BR" sz="1600">
              <a:latin typeface="Symbol" panose="05050102010706020507" pitchFamily="18" charset="2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79631E57-5AD2-D31B-26EB-EC6C046291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 l="33984" t="53438" r="17383" b="38125"/>
          <a:stretch>
            <a:fillRect/>
          </a:stretch>
        </p:blipFill>
        <p:spPr bwMode="auto">
          <a:xfrm>
            <a:off x="2843213" y="5589588"/>
            <a:ext cx="3429000" cy="3714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CaixaDeTexto 3">
            <a:extLst>
              <a:ext uri="{FF2B5EF4-FFF2-40B4-BE49-F238E27FC236}">
                <a16:creationId xmlns:a16="http://schemas.microsoft.com/office/drawing/2014/main" id="{0E282701-9B8E-22EE-142D-73C571125C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16387" name="CaixaDeTexto 6">
            <a:extLst>
              <a:ext uri="{FF2B5EF4-FFF2-40B4-BE49-F238E27FC236}">
                <a16:creationId xmlns:a16="http://schemas.microsoft.com/office/drawing/2014/main" id="{64064DCB-A208-ED83-92F1-8B75D819FD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681288"/>
            <a:ext cx="6715125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pt-BR" altLang="pt-BR" sz="1600">
                <a:latin typeface="Arial" panose="020B0604020202020204" pitchFamily="34" charset="0"/>
              </a:rPr>
              <a:t> Quando a empresa possui títulos de dívida negociados no mercado, o custo da dívida é dado pela taxa interna de retorno (TIR) do título ou por algum método de estimativa de rating de dívida. 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pt-BR" altLang="pt-BR" sz="1600">
                <a:latin typeface="Arial" panose="020B0604020202020204" pitchFamily="34" charset="0"/>
              </a:rPr>
              <a:t> O custo líquido da dívida é um dos componentes necessários para o cálculo do CMPC. 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pt-BR" altLang="pt-BR" sz="1600">
                <a:latin typeface="Arial" panose="020B0604020202020204" pitchFamily="34" charset="0"/>
              </a:rPr>
              <a:t> Não é necessariamente a taxa à qual a empresa conseguiu tomar dinheiro no passado, mas o custo dos financiamentos e empréstimos contratados para o projeto.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pt-BR" altLang="pt-BR" sz="1600">
              <a:latin typeface="Arial" panose="020B0604020202020204" pitchFamily="34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ED5A6D7-38B0-6103-607F-57455754D907}"/>
              </a:ext>
            </a:extLst>
          </p:cNvPr>
          <p:cNvSpPr txBox="1"/>
          <p:nvPr/>
        </p:nvSpPr>
        <p:spPr>
          <a:xfrm>
            <a:off x="4071938" y="71438"/>
            <a:ext cx="5000625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10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Custo de oportunidade do capital e a sua importância na análise de projetos de investimento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16389" name="CaixaDeTexto 10">
            <a:extLst>
              <a:ext uri="{FF2B5EF4-FFF2-40B4-BE49-F238E27FC236}">
                <a16:creationId xmlns:a16="http://schemas.microsoft.com/office/drawing/2014/main" id="{4F8AFBF6-D5D5-71B9-5108-2AA151807C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16390" name="CaixaDeTexto 12">
            <a:extLst>
              <a:ext uri="{FF2B5EF4-FFF2-40B4-BE49-F238E27FC236}">
                <a16:creationId xmlns:a16="http://schemas.microsoft.com/office/drawing/2014/main" id="{5CCAAB37-9FC8-378B-E089-BE19108F95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24161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10.4 Custo da dívida</a:t>
            </a:r>
          </a:p>
        </p:txBody>
      </p:sp>
      <p:sp>
        <p:nvSpPr>
          <p:cNvPr id="16391" name="Espaço Reservado para Número de Slide 7">
            <a:extLst>
              <a:ext uri="{FF2B5EF4-FFF2-40B4-BE49-F238E27FC236}">
                <a16:creationId xmlns:a16="http://schemas.microsoft.com/office/drawing/2014/main" id="{169C03F3-C76A-4D6B-5A74-8ED84830B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DECAEDAE-B3D0-488D-8612-18BB839114F6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lang="pt-BR" altLang="pt-BR" sz="1200">
              <a:solidFill>
                <a:srgbClr val="2C5DAA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CaixaDeTexto 3">
            <a:extLst>
              <a:ext uri="{FF2B5EF4-FFF2-40B4-BE49-F238E27FC236}">
                <a16:creationId xmlns:a16="http://schemas.microsoft.com/office/drawing/2014/main" id="{7726EBA4-239A-9AA3-F573-82D5C79AAB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18435" name="CaixaDeTexto 6">
            <a:extLst>
              <a:ext uri="{FF2B5EF4-FFF2-40B4-BE49-F238E27FC236}">
                <a16:creationId xmlns:a16="http://schemas.microsoft.com/office/drawing/2014/main" id="{F0430E84-4AD0-63F3-850F-72536F88D4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571750"/>
            <a:ext cx="6715125" cy="785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A TIR de um título de dívida (Bond) é calculada resolvendo-se a seguinte expressão para a TIR: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6B339CF-215A-FF2C-E022-5DD40E1B2700}"/>
              </a:ext>
            </a:extLst>
          </p:cNvPr>
          <p:cNvSpPr txBox="1"/>
          <p:nvPr/>
        </p:nvSpPr>
        <p:spPr>
          <a:xfrm>
            <a:off x="4071938" y="71438"/>
            <a:ext cx="5000625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10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Custo de oportunidade do capital e a sua importância na análise de projetos de investimento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18437" name="CaixaDeTexto 10">
            <a:extLst>
              <a:ext uri="{FF2B5EF4-FFF2-40B4-BE49-F238E27FC236}">
                <a16:creationId xmlns:a16="http://schemas.microsoft.com/office/drawing/2014/main" id="{9715667D-2091-CF34-A08F-BAED9B3881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18438" name="Espaço Reservado para Número de Slide 7">
            <a:extLst>
              <a:ext uri="{FF2B5EF4-FFF2-40B4-BE49-F238E27FC236}">
                <a16:creationId xmlns:a16="http://schemas.microsoft.com/office/drawing/2014/main" id="{6A9D8F4B-6782-D917-908F-D78D3C88A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E69B7D00-FB2F-4612-9678-9DFFA8DAB1B4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lang="pt-BR" altLang="pt-BR" sz="1200">
              <a:solidFill>
                <a:srgbClr val="2C5DAA"/>
              </a:solidFill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BF6F4E20-F437-9E93-878C-E0E31C050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 l="40430" t="65625" r="7421" b="14687"/>
          <a:stretch>
            <a:fillRect/>
          </a:stretch>
        </p:blipFill>
        <p:spPr bwMode="auto">
          <a:xfrm>
            <a:off x="2857500" y="3429000"/>
            <a:ext cx="3071813" cy="7254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8440" name="CaixaDeTexto 6">
            <a:extLst>
              <a:ext uri="{FF2B5EF4-FFF2-40B4-BE49-F238E27FC236}">
                <a16:creationId xmlns:a16="http://schemas.microsoft.com/office/drawing/2014/main" id="{1F037C2B-8E46-5F8D-ADDC-E8A29CF363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63" y="4214813"/>
            <a:ext cx="6715125" cy="1893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onde: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VP = o valor corrente do Bond no mercado;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C</a:t>
            </a:r>
            <a:r>
              <a:rPr lang="pt-BR" altLang="pt-BR" sz="1600" baseline="-25000">
                <a:latin typeface="Arial" panose="020B0604020202020204" pitchFamily="34" charset="0"/>
              </a:rPr>
              <a:t>t</a:t>
            </a:r>
            <a:r>
              <a:rPr lang="pt-BR" altLang="pt-BR" sz="1600">
                <a:latin typeface="Arial" panose="020B0604020202020204" pitchFamily="34" charset="0"/>
              </a:rPr>
              <a:t> = os pagamentos periódicos;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VF = o valor de face do título (valor de resgate);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T = o prazo de vencimento do Bond.</a:t>
            </a:r>
          </a:p>
        </p:txBody>
      </p:sp>
      <p:sp>
        <p:nvSpPr>
          <p:cNvPr id="18441" name="CaixaDeTexto 12">
            <a:extLst>
              <a:ext uri="{FF2B5EF4-FFF2-40B4-BE49-F238E27FC236}">
                <a16:creationId xmlns:a16="http://schemas.microsoft.com/office/drawing/2014/main" id="{9BD22959-1656-5F4B-0FD1-C1E5D57E9F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24161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10.4 Custo da dívida</a:t>
            </a: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CaixaDeTexto 3">
            <a:extLst>
              <a:ext uri="{FF2B5EF4-FFF2-40B4-BE49-F238E27FC236}">
                <a16:creationId xmlns:a16="http://schemas.microsoft.com/office/drawing/2014/main" id="{7C78A8F3-169E-4AD1-A04D-503FA264B1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20483" name="CaixaDeTexto 6">
            <a:extLst>
              <a:ext uri="{FF2B5EF4-FFF2-40B4-BE49-F238E27FC236}">
                <a16:creationId xmlns:a16="http://schemas.microsoft.com/office/drawing/2014/main" id="{51B23179-EBE6-CD26-4818-3BA6A46B42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571750"/>
            <a:ext cx="6715125" cy="155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Suponha um título de dívida com valor corrente no mercado de R$ 997,54 que promete pagar 150 de juros no final de cada ano, ao longo de 3 anos, e, ao término deste prazo, pagar um valor de face de R$ 1000,00. nesse caso a TIR será: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C35866C-9111-DF8B-9549-EB7824B2F9FC}"/>
              </a:ext>
            </a:extLst>
          </p:cNvPr>
          <p:cNvSpPr txBox="1"/>
          <p:nvPr/>
        </p:nvSpPr>
        <p:spPr>
          <a:xfrm>
            <a:off x="4071938" y="71438"/>
            <a:ext cx="5000625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10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Custo de oportunidade do capital e a sua importância na análise de projetos de investimento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20485" name="CaixaDeTexto 10">
            <a:extLst>
              <a:ext uri="{FF2B5EF4-FFF2-40B4-BE49-F238E27FC236}">
                <a16:creationId xmlns:a16="http://schemas.microsoft.com/office/drawing/2014/main" id="{E158DBE5-C626-2607-F6D6-F9C86DCD41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20486" name="Espaço Reservado para Número de Slide 7">
            <a:extLst>
              <a:ext uri="{FF2B5EF4-FFF2-40B4-BE49-F238E27FC236}">
                <a16:creationId xmlns:a16="http://schemas.microsoft.com/office/drawing/2014/main" id="{64F8BC09-F40C-54C2-F191-18A1AFFC5956}"/>
              </a:ext>
            </a:extLst>
          </p:cNvPr>
          <p:cNvSpPr txBox="1">
            <a:spLocks noGrp="1"/>
          </p:cNvSpPr>
          <p:nvPr/>
        </p:nvSpPr>
        <p:spPr bwMode="auto">
          <a:xfrm>
            <a:off x="6867525" y="6564313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3C9FCEF1-09F9-4E6C-AB1F-032FB2DCA301}" type="slidenum">
              <a:rPr lang="pt-BR" altLang="pt-BR" sz="1200">
                <a:solidFill>
                  <a:srgbClr val="2C5DAA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9</a:t>
            </a:fld>
            <a:endParaRPr lang="pt-BR" altLang="pt-BR" sz="1200">
              <a:solidFill>
                <a:srgbClr val="2C5DAA"/>
              </a:solidFill>
            </a:endParaRPr>
          </a:p>
        </p:txBody>
      </p:sp>
      <p:sp>
        <p:nvSpPr>
          <p:cNvPr id="20487" name="CaixaDeTexto 12">
            <a:extLst>
              <a:ext uri="{FF2B5EF4-FFF2-40B4-BE49-F238E27FC236}">
                <a16:creationId xmlns:a16="http://schemas.microsoft.com/office/drawing/2014/main" id="{E80E4668-AEB7-2C09-7BB7-558EE25B2A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24161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10.4 Custo da dívida</a:t>
            </a:r>
          </a:p>
        </p:txBody>
      </p:sp>
      <p:graphicFrame>
        <p:nvGraphicFramePr>
          <p:cNvPr id="20488" name="Object 11">
            <a:extLst>
              <a:ext uri="{FF2B5EF4-FFF2-40B4-BE49-F238E27FC236}">
                <a16:creationId xmlns:a16="http://schemas.microsoft.com/office/drawing/2014/main" id="{325BEC35-7FC5-25A2-AAC5-3ED5863F916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24075" y="4437063"/>
          <a:ext cx="5111750" cy="706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365500" imgH="419100" progId="Equation.3">
                  <p:embed/>
                </p:oleObj>
              </mc:Choice>
              <mc:Fallback>
                <p:oleObj name="Equation" r:id="rId4" imgW="3365500" imgH="4191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4437063"/>
                        <a:ext cx="5111750" cy="706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9" name="CaixaDeTexto 6">
            <a:extLst>
              <a:ext uri="{FF2B5EF4-FFF2-40B4-BE49-F238E27FC236}">
                <a16:creationId xmlns:a16="http://schemas.microsoft.com/office/drawing/2014/main" id="{5DE766B0-F714-C594-639E-505853764E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5157788"/>
            <a:ext cx="6715125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Então a TIR =  16% a.a.</a:t>
            </a: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CaixaDeTexto 3">
            <a:extLst>
              <a:ext uri="{FF2B5EF4-FFF2-40B4-BE49-F238E27FC236}">
                <a16:creationId xmlns:a16="http://schemas.microsoft.com/office/drawing/2014/main" id="{F305EEF3-ECC3-1CA8-2814-C6D21A58E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22531" name="CaixaDeTexto 6">
            <a:extLst>
              <a:ext uri="{FF2B5EF4-FFF2-40B4-BE49-F238E27FC236}">
                <a16:creationId xmlns:a16="http://schemas.microsoft.com/office/drawing/2014/main" id="{FAA90E0D-3EF8-4CAF-DA8D-36781B44BC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681288"/>
            <a:ext cx="6715125" cy="193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pt-BR" altLang="pt-BR" sz="1600">
                <a:latin typeface="Arial" panose="020B0604020202020204" pitchFamily="34" charset="0"/>
              </a:rPr>
              <a:t> Ao contrário dos dividendos, os pagamentos de juros são dedutíveis para efeitos fiscais; portanto, o custo da dívida deve ser sempre apresentado líquido dos efeitos tributários. 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pt-BR" altLang="pt-BR" sz="1600">
                <a:latin typeface="Arial" panose="020B0604020202020204" pitchFamily="34" charset="0"/>
              </a:rPr>
              <a:t> É necessário multiplicar o custo da dívida (K</a:t>
            </a:r>
            <a:r>
              <a:rPr lang="pt-BR" altLang="pt-BR" sz="1600" baseline="-25000">
                <a:latin typeface="Arial" panose="020B0604020202020204" pitchFamily="34" charset="0"/>
              </a:rPr>
              <a:t>d</a:t>
            </a:r>
            <a:r>
              <a:rPr lang="pt-BR" altLang="pt-BR" sz="1600">
                <a:latin typeface="Arial" panose="020B0604020202020204" pitchFamily="34" charset="0"/>
              </a:rPr>
              <a:t>) por (1 − T), onde T é a alíquota de IR: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660DE50-7D47-A6FE-8D40-7BAD25B2AB40}"/>
              </a:ext>
            </a:extLst>
          </p:cNvPr>
          <p:cNvSpPr txBox="1"/>
          <p:nvPr/>
        </p:nvSpPr>
        <p:spPr>
          <a:xfrm>
            <a:off x="4071938" y="71438"/>
            <a:ext cx="5000625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10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Custo de oportunidade do capital e a sua importância na análise de projetos de investimento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22533" name="CaixaDeTexto 10">
            <a:extLst>
              <a:ext uri="{FF2B5EF4-FFF2-40B4-BE49-F238E27FC236}">
                <a16:creationId xmlns:a16="http://schemas.microsoft.com/office/drawing/2014/main" id="{3F6AEE96-57E9-ABDB-D1DC-E585A90D1D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22534" name="Espaço Reservado para Número de Slide 7">
            <a:extLst>
              <a:ext uri="{FF2B5EF4-FFF2-40B4-BE49-F238E27FC236}">
                <a16:creationId xmlns:a16="http://schemas.microsoft.com/office/drawing/2014/main" id="{45F13693-F5ED-9845-92F3-C469B03D0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87DF8D1C-F88F-4886-BCBF-969620D6BBD3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lang="pt-BR" altLang="pt-BR" sz="1200">
              <a:solidFill>
                <a:srgbClr val="2C5DAA"/>
              </a:solidFill>
            </a:endParaRP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3725BB63-9496-46F8-20DA-005ED97AA4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 l="19336" t="57188" r="9179" b="35312"/>
          <a:stretch>
            <a:fillRect/>
          </a:stretch>
        </p:blipFill>
        <p:spPr bwMode="auto">
          <a:xfrm>
            <a:off x="1835150" y="4652963"/>
            <a:ext cx="5448300" cy="3571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2536" name="CaixaDeTexto 12">
            <a:extLst>
              <a:ext uri="{FF2B5EF4-FFF2-40B4-BE49-F238E27FC236}">
                <a16:creationId xmlns:a16="http://schemas.microsoft.com/office/drawing/2014/main" id="{8CC5F56A-BB0E-E39A-CC3C-43502CAD6A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24161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10.4 Custo da dívida</a:t>
            </a:r>
          </a:p>
        </p:txBody>
      </p:sp>
      <p:sp>
        <p:nvSpPr>
          <p:cNvPr id="22537" name="CaixaDeTexto 6">
            <a:extLst>
              <a:ext uri="{FF2B5EF4-FFF2-40B4-BE49-F238E27FC236}">
                <a16:creationId xmlns:a16="http://schemas.microsoft.com/office/drawing/2014/main" id="{D6584617-2350-B447-51B5-6B9A61814F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75" y="5300663"/>
            <a:ext cx="6715125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pt-BR" altLang="pt-BR" sz="1600">
                <a:latin typeface="Arial" panose="020B0604020202020204" pitchFamily="34" charset="0"/>
              </a:rPr>
              <a:t> Para o caso de 34% de IR, temos: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pt-BR" altLang="pt-BR" sz="1600">
                <a:latin typeface="Arial" panose="020B0604020202020204" pitchFamily="34" charset="0"/>
              </a:rPr>
              <a:t>TIR x (1 – T) = 0,16 x (1 – 0,34) = 10,6%</a:t>
            </a: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CaixaDeTexto 3">
            <a:extLst>
              <a:ext uri="{FF2B5EF4-FFF2-40B4-BE49-F238E27FC236}">
                <a16:creationId xmlns:a16="http://schemas.microsoft.com/office/drawing/2014/main" id="{311F0199-BD15-3069-620D-7580C542ED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24579" name="CaixaDeTexto 6">
            <a:extLst>
              <a:ext uri="{FF2B5EF4-FFF2-40B4-BE49-F238E27FC236}">
                <a16:creationId xmlns:a16="http://schemas.microsoft.com/office/drawing/2014/main" id="{5813B33D-E709-0517-2794-0E43D876B1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428875"/>
            <a:ext cx="6715125" cy="1154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Considerando que o ativo da empresa seja financiado por dívida (D) e por capital próprio (CP), logo o beta desse ativo será uma média ponderada dos betas da dívida e do capital próprio: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80CF61C-30B8-B051-1706-5DFCACE02114}"/>
              </a:ext>
            </a:extLst>
          </p:cNvPr>
          <p:cNvSpPr txBox="1"/>
          <p:nvPr/>
        </p:nvSpPr>
        <p:spPr>
          <a:xfrm>
            <a:off x="4071938" y="71438"/>
            <a:ext cx="5000625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10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Custo de oportunidade do capital e a sua importância na análise de projetos de investimento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24581" name="CaixaDeTexto 10">
            <a:extLst>
              <a:ext uri="{FF2B5EF4-FFF2-40B4-BE49-F238E27FC236}">
                <a16:creationId xmlns:a16="http://schemas.microsoft.com/office/drawing/2014/main" id="{D44447DE-88B3-E158-EF98-38812A738B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24582" name="CaixaDeTexto 12">
            <a:extLst>
              <a:ext uri="{FF2B5EF4-FFF2-40B4-BE49-F238E27FC236}">
                <a16:creationId xmlns:a16="http://schemas.microsoft.com/office/drawing/2014/main" id="{C1B62524-BE22-D93D-A563-10BC5CC2ED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59547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10.5 Custo do capital, alavancagem financeira e beta</a:t>
            </a:r>
          </a:p>
        </p:txBody>
      </p:sp>
      <p:sp>
        <p:nvSpPr>
          <p:cNvPr id="24583" name="Espaço Reservado para Número de Slide 7">
            <a:extLst>
              <a:ext uri="{FF2B5EF4-FFF2-40B4-BE49-F238E27FC236}">
                <a16:creationId xmlns:a16="http://schemas.microsoft.com/office/drawing/2014/main" id="{9E831D55-58D3-94CD-4CE6-1EBC23475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874BF1CC-58A6-4EE0-B392-8B363EC95414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pt-BR" altLang="pt-BR" sz="1200">
              <a:solidFill>
                <a:srgbClr val="2C5DAA"/>
              </a:solidFill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2E2B4BB6-A770-B6D4-E827-9571DCD799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 l="21680" t="68438" r="19726" b="14687"/>
          <a:stretch>
            <a:fillRect/>
          </a:stretch>
        </p:blipFill>
        <p:spPr bwMode="auto">
          <a:xfrm>
            <a:off x="2643188" y="3643313"/>
            <a:ext cx="3429000" cy="6175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4585" name="CaixaDeTexto 6">
            <a:extLst>
              <a:ext uri="{FF2B5EF4-FFF2-40B4-BE49-F238E27FC236}">
                <a16:creationId xmlns:a16="http://schemas.microsoft.com/office/drawing/2014/main" id="{BFDB500F-262D-B0FF-8069-D01F800AB3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500" y="4143375"/>
            <a:ext cx="6715125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onde: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 b="1">
                <a:latin typeface="Arial" panose="020B0604020202020204" pitchFamily="34" charset="0"/>
              </a:rPr>
              <a:t>β</a:t>
            </a:r>
            <a:r>
              <a:rPr lang="pt-BR" altLang="pt-BR" sz="1600" b="1" baseline="-25000">
                <a:latin typeface="Arial" panose="020B0604020202020204" pitchFamily="34" charset="0"/>
              </a:rPr>
              <a:t>A</a:t>
            </a:r>
            <a:r>
              <a:rPr lang="pt-BR" altLang="pt-BR" sz="1600" b="1">
                <a:latin typeface="Arial" panose="020B0604020202020204" pitchFamily="34" charset="0"/>
              </a:rPr>
              <a:t> </a:t>
            </a:r>
            <a:r>
              <a:rPr lang="pt-BR" altLang="pt-BR" sz="1600">
                <a:latin typeface="Arial" panose="020B0604020202020204" pitchFamily="34" charset="0"/>
              </a:rPr>
              <a:t>= beta do ativo; </a:t>
            </a:r>
            <a:r>
              <a:rPr lang="pt-BR" altLang="pt-BR" sz="1600" b="1">
                <a:latin typeface="Arial" panose="020B0604020202020204" pitchFamily="34" charset="0"/>
              </a:rPr>
              <a:t>β</a:t>
            </a:r>
            <a:r>
              <a:rPr lang="pt-BR" altLang="pt-BR" sz="1600" b="1" baseline="-25000">
                <a:latin typeface="Arial" panose="020B0604020202020204" pitchFamily="34" charset="0"/>
              </a:rPr>
              <a:t>d</a:t>
            </a:r>
            <a:r>
              <a:rPr lang="pt-BR" altLang="pt-BR" sz="1600">
                <a:latin typeface="Arial" panose="020B0604020202020204" pitchFamily="34" charset="0"/>
              </a:rPr>
              <a:t> = beta da dívida; </a:t>
            </a:r>
            <a:r>
              <a:rPr lang="pt-BR" altLang="pt-BR" sz="1600" b="1">
                <a:latin typeface="Arial" panose="020B0604020202020204" pitchFamily="34" charset="0"/>
              </a:rPr>
              <a:t>β</a:t>
            </a:r>
            <a:r>
              <a:rPr lang="pt-BR" altLang="pt-BR" sz="1600">
                <a:latin typeface="Arial" panose="020B0604020202020204" pitchFamily="34" charset="0"/>
              </a:rPr>
              <a:t> = beta do capital próprio (das ações ordinárias); </a:t>
            </a:r>
            <a:r>
              <a:rPr lang="pt-BR" altLang="pt-BR" sz="1600" b="1">
                <a:latin typeface="Arial" panose="020B0604020202020204" pitchFamily="34" charset="0"/>
              </a:rPr>
              <a:t>D</a:t>
            </a:r>
            <a:r>
              <a:rPr lang="pt-BR" altLang="pt-BR" sz="1600">
                <a:latin typeface="Arial" panose="020B0604020202020204" pitchFamily="34" charset="0"/>
              </a:rPr>
              <a:t> = valor de mercado da dívida; 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 b="1">
                <a:latin typeface="Arial" panose="020B0604020202020204" pitchFamily="34" charset="0"/>
              </a:rPr>
              <a:t>CP</a:t>
            </a:r>
            <a:r>
              <a:rPr lang="pt-BR" altLang="pt-BR" sz="1600">
                <a:latin typeface="Arial" panose="020B0604020202020204" pitchFamily="34" charset="0"/>
              </a:rPr>
              <a:t> = valor de mercado do capital próprio; </a:t>
            </a:r>
            <a:r>
              <a:rPr lang="pt-BR" altLang="pt-BR" sz="1600" b="1">
                <a:latin typeface="Arial" panose="020B0604020202020204" pitchFamily="34" charset="0"/>
              </a:rPr>
              <a:t>T</a:t>
            </a:r>
            <a:r>
              <a:rPr lang="pt-BR" altLang="pt-BR" sz="1600">
                <a:latin typeface="Arial" panose="020B0604020202020204" pitchFamily="34" charset="0"/>
              </a:rPr>
              <a:t> = alíquota de imposto de renda.</a:t>
            </a: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CaixaDeTexto 3">
            <a:extLst>
              <a:ext uri="{FF2B5EF4-FFF2-40B4-BE49-F238E27FC236}">
                <a16:creationId xmlns:a16="http://schemas.microsoft.com/office/drawing/2014/main" id="{91056493-80F0-C796-048E-0636021921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26627" name="CaixaDeTexto 6">
            <a:extLst>
              <a:ext uri="{FF2B5EF4-FFF2-40B4-BE49-F238E27FC236}">
                <a16:creationId xmlns:a16="http://schemas.microsoft.com/office/drawing/2014/main" id="{17291B07-608D-9941-F1EC-EC1254F94C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681288"/>
            <a:ext cx="671512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A ponderação de cada beta é dada pela fração em que cada fonte de recursos participa no financiamento do ativo. Uma segunda maneira para expressar o beta do ativo é: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F2816BE-60F4-27C0-F32D-7C4E75EE0FBD}"/>
              </a:ext>
            </a:extLst>
          </p:cNvPr>
          <p:cNvSpPr txBox="1"/>
          <p:nvPr/>
        </p:nvSpPr>
        <p:spPr>
          <a:xfrm>
            <a:off x="4071938" y="71438"/>
            <a:ext cx="5000625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10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Custo de oportunidade do capital e a sua importância na análise de projetos de investimento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26629" name="CaixaDeTexto 10">
            <a:extLst>
              <a:ext uri="{FF2B5EF4-FFF2-40B4-BE49-F238E27FC236}">
                <a16:creationId xmlns:a16="http://schemas.microsoft.com/office/drawing/2014/main" id="{8F6D247C-4F7F-5F19-98B8-773E909B2E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26630" name="Espaço Reservado para Número de Slide 7">
            <a:extLst>
              <a:ext uri="{FF2B5EF4-FFF2-40B4-BE49-F238E27FC236}">
                <a16:creationId xmlns:a16="http://schemas.microsoft.com/office/drawing/2014/main" id="{70ED8106-0720-16E8-BBFE-8D37601FE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1EAAB7CD-F66E-4834-9C68-5D558B769CDF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pt-BR" altLang="pt-BR" sz="1200">
              <a:solidFill>
                <a:srgbClr val="2C5DAA"/>
              </a:solidFill>
            </a:endParaRP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8CEF5069-448D-3EC1-0334-01B0759102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 l="19922" t="54375" r="37890" b="28750"/>
          <a:stretch>
            <a:fillRect/>
          </a:stretch>
        </p:blipFill>
        <p:spPr bwMode="auto">
          <a:xfrm>
            <a:off x="3392488" y="4375150"/>
            <a:ext cx="2536825" cy="635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6632" name="CaixaDeTexto 12">
            <a:extLst>
              <a:ext uri="{FF2B5EF4-FFF2-40B4-BE49-F238E27FC236}">
                <a16:creationId xmlns:a16="http://schemas.microsoft.com/office/drawing/2014/main" id="{5C1C1595-69F8-4527-DBC0-024F8E116C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59547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10.5 Custo do capital, alavancagem financeira e beta</a:t>
            </a: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CaixaDeTexto 3">
            <a:extLst>
              <a:ext uri="{FF2B5EF4-FFF2-40B4-BE49-F238E27FC236}">
                <a16:creationId xmlns:a16="http://schemas.microsoft.com/office/drawing/2014/main" id="{B12C9503-7112-6BFE-2833-2A8473FCFE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28675" name="CaixaDeTexto 6">
            <a:extLst>
              <a:ext uri="{FF2B5EF4-FFF2-40B4-BE49-F238E27FC236}">
                <a16:creationId xmlns:a16="http://schemas.microsoft.com/office/drawing/2014/main" id="{6F1F42CA-64A0-A92B-7349-254C57D530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681288"/>
            <a:ext cx="6715125" cy="785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Como essas duas expressões para o β</a:t>
            </a:r>
            <a:r>
              <a:rPr lang="pt-BR" altLang="pt-BR" sz="1600" baseline="-25000">
                <a:latin typeface="Arial" panose="020B0604020202020204" pitchFamily="34" charset="0"/>
              </a:rPr>
              <a:t>A</a:t>
            </a:r>
            <a:r>
              <a:rPr lang="pt-BR" altLang="pt-BR" sz="1600">
                <a:latin typeface="Arial" panose="020B0604020202020204" pitchFamily="34" charset="0"/>
              </a:rPr>
              <a:t> são equivalentes, podemos igualá-las e, a seguir, destacar o beta do capital próprio: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FB8F86E-F63C-2F6A-FA0B-17E5C21E1BCA}"/>
              </a:ext>
            </a:extLst>
          </p:cNvPr>
          <p:cNvSpPr txBox="1"/>
          <p:nvPr/>
        </p:nvSpPr>
        <p:spPr>
          <a:xfrm>
            <a:off x="4071938" y="71438"/>
            <a:ext cx="5000625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10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Custo de oportunidade do capital e a sua importância na análise de projetos de investimento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28677" name="CaixaDeTexto 10">
            <a:extLst>
              <a:ext uri="{FF2B5EF4-FFF2-40B4-BE49-F238E27FC236}">
                <a16:creationId xmlns:a16="http://schemas.microsoft.com/office/drawing/2014/main" id="{1A894344-FE8F-79F5-14FA-741D22165B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28678" name="Espaço Reservado para Número de Slide 7">
            <a:extLst>
              <a:ext uri="{FF2B5EF4-FFF2-40B4-BE49-F238E27FC236}">
                <a16:creationId xmlns:a16="http://schemas.microsoft.com/office/drawing/2014/main" id="{49F5F3C3-51C5-CE44-703E-5CDA1B004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BAF21EC3-4821-4228-9E2C-1AE16064C5C8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lang="pt-BR" altLang="pt-BR" sz="1200">
              <a:solidFill>
                <a:srgbClr val="2C5DAA"/>
              </a:solidFill>
            </a:endParaRP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3BA0A614-AA85-FFC4-77E5-4FCA91D0D9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 l="7617" t="42187" r="6250" b="18437"/>
          <a:stretch>
            <a:fillRect/>
          </a:stretch>
        </p:blipFill>
        <p:spPr bwMode="auto">
          <a:xfrm>
            <a:off x="2840038" y="3643313"/>
            <a:ext cx="3732212" cy="1066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8680" name="CaixaDeTexto 12">
            <a:extLst>
              <a:ext uri="{FF2B5EF4-FFF2-40B4-BE49-F238E27FC236}">
                <a16:creationId xmlns:a16="http://schemas.microsoft.com/office/drawing/2014/main" id="{681C10BE-48F7-BB2A-44E7-5BD0695AFD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59547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10.5 Custo do capital, alavancagem financeira e beta</a:t>
            </a: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CaixaDeTexto 3">
            <a:extLst>
              <a:ext uri="{FF2B5EF4-FFF2-40B4-BE49-F238E27FC236}">
                <a16:creationId xmlns:a16="http://schemas.microsoft.com/office/drawing/2014/main" id="{817EDCFE-614D-0964-2C2A-EC8AB3D5D7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30723" name="CaixaDeTexto 6">
            <a:extLst>
              <a:ext uri="{FF2B5EF4-FFF2-40B4-BE49-F238E27FC236}">
                <a16:creationId xmlns:a16="http://schemas.microsoft.com/office/drawing/2014/main" id="{5E55BB70-B74A-871A-256A-4D624736C6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3509963"/>
            <a:ext cx="6715125" cy="193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Essa expressão calcula um beta sem alavancagem financeira. Assim, pode ser usada para calcular o beta desalavancado quando a dívida não apresentar risco de mercado. Uma vez calculado o beta desalavancado, é possível ajustá-lo às novas condições de risco (alavancagem financeira) do seguinte modo: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906F994-A393-5825-90DF-5D64C2660327}"/>
              </a:ext>
            </a:extLst>
          </p:cNvPr>
          <p:cNvSpPr txBox="1"/>
          <p:nvPr/>
        </p:nvSpPr>
        <p:spPr>
          <a:xfrm>
            <a:off x="4071938" y="71438"/>
            <a:ext cx="5000625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10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Custo de oportunidade do capital e a sua importância na análise de projetos de investimento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30725" name="CaixaDeTexto 10">
            <a:extLst>
              <a:ext uri="{FF2B5EF4-FFF2-40B4-BE49-F238E27FC236}">
                <a16:creationId xmlns:a16="http://schemas.microsoft.com/office/drawing/2014/main" id="{59EE00AD-8CD9-956B-E3D8-F04EB001CE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30726" name="Espaço Reservado para Número de Slide 7">
            <a:extLst>
              <a:ext uri="{FF2B5EF4-FFF2-40B4-BE49-F238E27FC236}">
                <a16:creationId xmlns:a16="http://schemas.microsoft.com/office/drawing/2014/main" id="{E60AB964-C4A5-02B1-018A-BBB563096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7BE54B83-E663-4B2D-A21F-353BE9B33D53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endParaRPr lang="pt-BR" altLang="pt-BR" sz="1200">
              <a:solidFill>
                <a:srgbClr val="2C5DAA"/>
              </a:solidFill>
            </a:endParaRP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C68FB21C-39A4-BFA3-1D58-7C909CFF0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 l="25781" t="14062" r="34375" b="58750"/>
          <a:stretch>
            <a:fillRect/>
          </a:stretch>
        </p:blipFill>
        <p:spPr bwMode="auto">
          <a:xfrm>
            <a:off x="3429000" y="2509838"/>
            <a:ext cx="2286000" cy="9747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243" name="Picture 3">
            <a:extLst>
              <a:ext uri="{FF2B5EF4-FFF2-40B4-BE49-F238E27FC236}">
                <a16:creationId xmlns:a16="http://schemas.microsoft.com/office/drawing/2014/main" id="{C48C0DB0-AA91-BD97-3621-94EBBBBF95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 l="22461" t="29375" r="31250" b="48125"/>
          <a:stretch>
            <a:fillRect/>
          </a:stretch>
        </p:blipFill>
        <p:spPr bwMode="auto">
          <a:xfrm>
            <a:off x="3429000" y="5438775"/>
            <a:ext cx="2286000" cy="6937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0729" name="CaixaDeTexto 12">
            <a:extLst>
              <a:ext uri="{FF2B5EF4-FFF2-40B4-BE49-F238E27FC236}">
                <a16:creationId xmlns:a16="http://schemas.microsoft.com/office/drawing/2014/main" id="{B87D44FC-CB4E-0E6F-D7A7-8FF5EAF673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59547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10.5 Custo do capital, alavancagem financeira e beta</a:t>
            </a: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CaixaDeTexto 3">
            <a:extLst>
              <a:ext uri="{FF2B5EF4-FFF2-40B4-BE49-F238E27FC236}">
                <a16:creationId xmlns:a16="http://schemas.microsoft.com/office/drawing/2014/main" id="{5E78BD7A-F888-6B45-500E-2A1725AA2B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32771" name="CaixaDeTexto 6">
            <a:extLst>
              <a:ext uri="{FF2B5EF4-FFF2-40B4-BE49-F238E27FC236}">
                <a16:creationId xmlns:a16="http://schemas.microsoft.com/office/drawing/2014/main" id="{F72AF91D-E495-C97E-DBCF-C0D6B17BE9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690813"/>
            <a:ext cx="6715125" cy="155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A razão dívida-capital próprio deve ser a que vai prevalecer na empresa após o projeto, ou uma proporção-alvo calculada com base em valores de mercado. 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Na prática, muitas vezes são usados valores do setor industrial.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B97B03D-DDE9-E352-C0C0-E0C38C560AA3}"/>
              </a:ext>
            </a:extLst>
          </p:cNvPr>
          <p:cNvSpPr txBox="1"/>
          <p:nvPr/>
        </p:nvSpPr>
        <p:spPr>
          <a:xfrm>
            <a:off x="4071938" y="71438"/>
            <a:ext cx="5000625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10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Custo de oportunidade do capital e a sua importância na análise de projetos de investimento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32773" name="CaixaDeTexto 10">
            <a:extLst>
              <a:ext uri="{FF2B5EF4-FFF2-40B4-BE49-F238E27FC236}">
                <a16:creationId xmlns:a16="http://schemas.microsoft.com/office/drawing/2014/main" id="{1526FBC2-F75C-E930-CD3E-0826341745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32774" name="Espaço Reservado para Número de Slide 7">
            <a:extLst>
              <a:ext uri="{FF2B5EF4-FFF2-40B4-BE49-F238E27FC236}">
                <a16:creationId xmlns:a16="http://schemas.microsoft.com/office/drawing/2014/main" id="{273950FA-5D66-AF4E-E7C8-BFDF7C99F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A1507997-5DD4-43E5-A9E7-B086220C986E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15</a:t>
            </a:fld>
            <a:endParaRPr lang="pt-BR" altLang="pt-BR" sz="1200">
              <a:solidFill>
                <a:srgbClr val="2C5DAA"/>
              </a:solidFill>
            </a:endParaRPr>
          </a:p>
        </p:txBody>
      </p:sp>
      <p:sp>
        <p:nvSpPr>
          <p:cNvPr id="32775" name="CaixaDeTexto 12">
            <a:extLst>
              <a:ext uri="{FF2B5EF4-FFF2-40B4-BE49-F238E27FC236}">
                <a16:creationId xmlns:a16="http://schemas.microsoft.com/office/drawing/2014/main" id="{22108948-BEF6-3B2F-F055-DB30729D25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59547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10.5 Custo do capital, alavancagem financeira e beta</a:t>
            </a: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CaixaDeTexto 3">
            <a:extLst>
              <a:ext uri="{FF2B5EF4-FFF2-40B4-BE49-F238E27FC236}">
                <a16:creationId xmlns:a16="http://schemas.microsoft.com/office/drawing/2014/main" id="{6C325FAF-D4E2-A0F1-33EF-7A843DC696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34819" name="CaixaDeTexto 6">
            <a:extLst>
              <a:ext uri="{FF2B5EF4-FFF2-40B4-BE49-F238E27FC236}">
                <a16:creationId xmlns:a16="http://schemas.microsoft.com/office/drawing/2014/main" id="{B9A26042-5691-F000-78BF-1CC2A20B7D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965450"/>
            <a:ext cx="6715125" cy="267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pt-BR" altLang="pt-BR" sz="1600">
                <a:latin typeface="Arial" panose="020B0604020202020204" pitchFamily="34" charset="0"/>
              </a:rPr>
              <a:t> Caso a empresa seja de capital aberto, utilizar o beta histórico de suas ações ordinárias negociadas em bolsa de valores. Se a empresa for de capital fechado, trabalhar com os dados de um conjunto de empresas semelhantes.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pt-BR" altLang="pt-BR" sz="1600">
                <a:latin typeface="Arial" panose="020B0604020202020204" pitchFamily="34" charset="0"/>
              </a:rPr>
              <a:t> Se forem usados os betas das ações ordinárias de um conjunto de empresas semelhantes, calcular os betas desalavancados e obter sua média.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D8C6826-9815-A9B3-3EB9-A2985F8849AA}"/>
              </a:ext>
            </a:extLst>
          </p:cNvPr>
          <p:cNvSpPr txBox="1"/>
          <p:nvPr/>
        </p:nvSpPr>
        <p:spPr>
          <a:xfrm>
            <a:off x="4071938" y="71438"/>
            <a:ext cx="5000625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10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Custo de oportunidade do capital e a sua importância na análise de projetos de investimento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34821" name="CaixaDeTexto 10">
            <a:extLst>
              <a:ext uri="{FF2B5EF4-FFF2-40B4-BE49-F238E27FC236}">
                <a16:creationId xmlns:a16="http://schemas.microsoft.com/office/drawing/2014/main" id="{93F4F133-9D66-756D-9ED3-7C16D2BD17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34822" name="CaixaDeTexto 12">
            <a:extLst>
              <a:ext uri="{FF2B5EF4-FFF2-40B4-BE49-F238E27FC236}">
                <a16:creationId xmlns:a16="http://schemas.microsoft.com/office/drawing/2014/main" id="{96DBC7DE-E59D-D64F-FEF0-30D25300C3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66865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10.5.1 Passos para o ajuste do custo do capital para análise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de projetos de investimento de capital</a:t>
            </a:r>
          </a:p>
        </p:txBody>
      </p:sp>
      <p:sp>
        <p:nvSpPr>
          <p:cNvPr id="34823" name="Espaço Reservado para Número de Slide 7">
            <a:extLst>
              <a:ext uri="{FF2B5EF4-FFF2-40B4-BE49-F238E27FC236}">
                <a16:creationId xmlns:a16="http://schemas.microsoft.com/office/drawing/2014/main" id="{BA9521F7-5D90-3801-76AB-CC6523929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433AD6AB-1EFF-4BC4-8441-238226B984D5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16</a:t>
            </a:fld>
            <a:endParaRPr lang="pt-BR" altLang="pt-BR" sz="1200">
              <a:solidFill>
                <a:srgbClr val="2C5DAA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CaixaDeTexto 3">
            <a:extLst>
              <a:ext uri="{FF2B5EF4-FFF2-40B4-BE49-F238E27FC236}">
                <a16:creationId xmlns:a16="http://schemas.microsoft.com/office/drawing/2014/main" id="{B0D6F4AE-5C22-D625-D62D-B467559DA4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36867" name="CaixaDeTexto 6">
            <a:extLst>
              <a:ext uri="{FF2B5EF4-FFF2-40B4-BE49-F238E27FC236}">
                <a16:creationId xmlns:a16="http://schemas.microsoft.com/office/drawing/2014/main" id="{EE086E60-3840-E6AB-63AE-FC041A0CE1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3133725"/>
            <a:ext cx="6715125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pt-BR" altLang="pt-BR" sz="1600">
                <a:latin typeface="Arial" panose="020B0604020202020204" pitchFamily="34" charset="0"/>
              </a:rPr>
              <a:t> Calcular o beta ajustado a partir do beta desalavancado.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pt-BR" altLang="pt-BR" sz="1600">
                <a:latin typeface="Arial" panose="020B0604020202020204" pitchFamily="34" charset="0"/>
              </a:rPr>
              <a:t> Por meio do CAPM, e usando como beta o beta ajustado, calcular o custo do capital próprio.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pt-BR" altLang="pt-BR" sz="1600">
                <a:latin typeface="Arial" panose="020B0604020202020204" pitchFamily="34" charset="0"/>
              </a:rPr>
              <a:t> Calcular o CMPC considerando a estrutura-alvo de capital adequada à empresa.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1EF1A99-CC50-B0D4-DC35-C14EAF4B8CD7}"/>
              </a:ext>
            </a:extLst>
          </p:cNvPr>
          <p:cNvSpPr txBox="1"/>
          <p:nvPr/>
        </p:nvSpPr>
        <p:spPr>
          <a:xfrm>
            <a:off x="4071938" y="71438"/>
            <a:ext cx="5000625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10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Custo de oportunidade do capital e a sua importância na análise de projetos de investimento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36869" name="CaixaDeTexto 10">
            <a:extLst>
              <a:ext uri="{FF2B5EF4-FFF2-40B4-BE49-F238E27FC236}">
                <a16:creationId xmlns:a16="http://schemas.microsoft.com/office/drawing/2014/main" id="{9BB10CBA-BBC4-604B-F5E8-C199AE5179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36870" name="Espaço Reservado para Número de Slide 7">
            <a:extLst>
              <a:ext uri="{FF2B5EF4-FFF2-40B4-BE49-F238E27FC236}">
                <a16:creationId xmlns:a16="http://schemas.microsoft.com/office/drawing/2014/main" id="{EEC50CC9-C43E-E165-1E7D-10AAEA937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4AD5AD52-588A-4A44-AFE4-ABCA7FFC6404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17</a:t>
            </a:fld>
            <a:endParaRPr lang="pt-BR" altLang="pt-BR" sz="1200">
              <a:solidFill>
                <a:srgbClr val="2C5DAA"/>
              </a:solidFill>
            </a:endParaRPr>
          </a:p>
        </p:txBody>
      </p:sp>
      <p:sp>
        <p:nvSpPr>
          <p:cNvPr id="36871" name="CaixaDeTexto 12">
            <a:extLst>
              <a:ext uri="{FF2B5EF4-FFF2-40B4-BE49-F238E27FC236}">
                <a16:creationId xmlns:a16="http://schemas.microsoft.com/office/drawing/2014/main" id="{7BA6B32B-D2F7-F407-8BA3-CA342FF4D8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66865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10.5.1 Passos para o ajuste do custo do capital para análise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de projetos de investimento de capital</a:t>
            </a:r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CaixaDeTexto 3">
            <a:extLst>
              <a:ext uri="{FF2B5EF4-FFF2-40B4-BE49-F238E27FC236}">
                <a16:creationId xmlns:a16="http://schemas.microsoft.com/office/drawing/2014/main" id="{2D85E594-2CD5-6DFA-D236-A10D47B734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7B73B91-23DE-0418-1E5F-4DB7382488FB}"/>
              </a:ext>
            </a:extLst>
          </p:cNvPr>
          <p:cNvSpPr txBox="1"/>
          <p:nvPr/>
        </p:nvSpPr>
        <p:spPr>
          <a:xfrm>
            <a:off x="4071938" y="71438"/>
            <a:ext cx="5000625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10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Custo de oportunidade do capital e a sua importância na análise de projetos de investimento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38916" name="CaixaDeTexto 10">
            <a:extLst>
              <a:ext uri="{FF2B5EF4-FFF2-40B4-BE49-F238E27FC236}">
                <a16:creationId xmlns:a16="http://schemas.microsoft.com/office/drawing/2014/main" id="{89340939-EB96-EF11-5301-2C2B0726AA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38917" name="Espaço Reservado para Número de Slide 7">
            <a:extLst>
              <a:ext uri="{FF2B5EF4-FFF2-40B4-BE49-F238E27FC236}">
                <a16:creationId xmlns:a16="http://schemas.microsoft.com/office/drawing/2014/main" id="{10F24237-78F5-D289-568C-490F434B9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8A9CA241-CBFF-4EC0-BFA5-3A219C4456CF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18</a:t>
            </a:fld>
            <a:endParaRPr lang="pt-BR" altLang="pt-BR" sz="1200">
              <a:solidFill>
                <a:srgbClr val="2C5DAA"/>
              </a:solidFill>
            </a:endParaRPr>
          </a:p>
        </p:txBody>
      </p:sp>
      <p:sp>
        <p:nvSpPr>
          <p:cNvPr id="38918" name="CaixaDeTexto 6">
            <a:extLst>
              <a:ext uri="{FF2B5EF4-FFF2-40B4-BE49-F238E27FC236}">
                <a16:creationId xmlns:a16="http://schemas.microsoft.com/office/drawing/2014/main" id="{4D36D9D4-4430-B9A7-26E4-8C8A5B2AB9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379663"/>
            <a:ext cx="6715125" cy="263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Será constituída uma empresa para explorar as reservas de uma jazida de manganês. O projeto representa um investimento de $ 15 milhões, sendo que 60% será financiado a juros de 17% ao ano. Espera-se que o projeto gere um </a:t>
            </a:r>
            <a:r>
              <a:rPr lang="pt-BR" altLang="pt-BR" sz="1600" i="1">
                <a:latin typeface="Arial" panose="020B0604020202020204" pitchFamily="34" charset="0"/>
              </a:rPr>
              <a:t>fluxo de caixa livre de $ 2 milhões/ano </a:t>
            </a:r>
            <a:r>
              <a:rPr lang="pt-BR" altLang="pt-BR" sz="1600">
                <a:latin typeface="Arial" panose="020B0604020202020204" pitchFamily="34" charset="0"/>
              </a:rPr>
              <a:t>durante 16 anos. A rentabilidade dos ativos sem risco é de 7% ao ano, a rentabilidade esperada da carteira de mercado é 10% ao ano e a alíquota de IR do setor é 30%. O projeto não tem valor residual.</a:t>
            </a:r>
          </a:p>
        </p:txBody>
      </p:sp>
      <p:sp>
        <p:nvSpPr>
          <p:cNvPr id="38919" name="CaixaDeTexto 12">
            <a:extLst>
              <a:ext uri="{FF2B5EF4-FFF2-40B4-BE49-F238E27FC236}">
                <a16:creationId xmlns:a16="http://schemas.microsoft.com/office/drawing/2014/main" id="{8F919287-003C-A007-D689-99E9415452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11461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Exemplo</a:t>
            </a:r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CaixaDeTexto 3">
            <a:extLst>
              <a:ext uri="{FF2B5EF4-FFF2-40B4-BE49-F238E27FC236}">
                <a16:creationId xmlns:a16="http://schemas.microsoft.com/office/drawing/2014/main" id="{2D89108D-730A-0A90-9950-6EFDD3B914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CC70B4A-319F-942F-8F44-CC4407BE65D6}"/>
              </a:ext>
            </a:extLst>
          </p:cNvPr>
          <p:cNvSpPr txBox="1"/>
          <p:nvPr/>
        </p:nvSpPr>
        <p:spPr>
          <a:xfrm>
            <a:off x="4071938" y="71438"/>
            <a:ext cx="5000625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10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Custo de oportunidade do capital e a sua importância na análise de projetos de investimento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40964" name="CaixaDeTexto 10">
            <a:extLst>
              <a:ext uri="{FF2B5EF4-FFF2-40B4-BE49-F238E27FC236}">
                <a16:creationId xmlns:a16="http://schemas.microsoft.com/office/drawing/2014/main" id="{41AEDEAA-75DB-561D-36F9-C543182A85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40965" name="Espaço Reservado para Número de Slide 7">
            <a:extLst>
              <a:ext uri="{FF2B5EF4-FFF2-40B4-BE49-F238E27FC236}">
                <a16:creationId xmlns:a16="http://schemas.microsoft.com/office/drawing/2014/main" id="{D9CEAAEE-C42E-DAEA-4CFE-795C5AE2C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1A7C89F6-264E-482A-9B4C-E0A30822BBE0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19</a:t>
            </a:fld>
            <a:endParaRPr lang="pt-BR" altLang="pt-BR" sz="1200">
              <a:solidFill>
                <a:srgbClr val="2C5DAA"/>
              </a:solidFill>
            </a:endParaRPr>
          </a:p>
        </p:txBody>
      </p:sp>
      <p:sp>
        <p:nvSpPr>
          <p:cNvPr id="40966" name="CaixaDeTexto 6">
            <a:extLst>
              <a:ext uri="{FF2B5EF4-FFF2-40B4-BE49-F238E27FC236}">
                <a16:creationId xmlns:a16="http://schemas.microsoft.com/office/drawing/2014/main" id="{54FEEB98-ED4C-2A1A-5127-D4EB31FB47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379663"/>
            <a:ext cx="6715125" cy="192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Considerando que a dívida seja sem risco (</a:t>
            </a:r>
            <a:r>
              <a:rPr lang="el-GR" altLang="pt-BR" sz="1600">
                <a:latin typeface="Arial" panose="020B0604020202020204" pitchFamily="34" charset="0"/>
              </a:rPr>
              <a:t>β</a:t>
            </a:r>
            <a:r>
              <a:rPr lang="pt-BR" altLang="pt-BR" sz="1200">
                <a:latin typeface="Arial" panose="020B0604020202020204" pitchFamily="34" charset="0"/>
              </a:rPr>
              <a:t>d</a:t>
            </a:r>
            <a:r>
              <a:rPr lang="pt-BR" altLang="pt-BR" sz="1600">
                <a:latin typeface="Arial" panose="020B0604020202020204" pitchFamily="34" charset="0"/>
              </a:rPr>
              <a:t> = 0), e com os dados observados e calculados para as empresas representativas do setor de mineração com métodos de produção aproximadamente equivalentes aos do projeto proposto, estime o custo de oportunidade do capital e avalie economicamente o projeto.</a:t>
            </a:r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CaixaDeTexto 3">
            <a:extLst>
              <a:ext uri="{FF2B5EF4-FFF2-40B4-BE49-F238E27FC236}">
                <a16:creationId xmlns:a16="http://schemas.microsoft.com/office/drawing/2014/main" id="{6D2E040B-6042-2327-8CDC-76CCFFA8FB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FE9C3F3-DBC5-4BDC-8314-FCC97E879E2E}"/>
              </a:ext>
            </a:extLst>
          </p:cNvPr>
          <p:cNvSpPr txBox="1"/>
          <p:nvPr/>
        </p:nvSpPr>
        <p:spPr>
          <a:xfrm>
            <a:off x="4071938" y="71438"/>
            <a:ext cx="5000625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10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Custo de oportunidade do capital e a sua importância na análise de projetos de investimento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43012" name="CaixaDeTexto 10">
            <a:extLst>
              <a:ext uri="{FF2B5EF4-FFF2-40B4-BE49-F238E27FC236}">
                <a16:creationId xmlns:a16="http://schemas.microsoft.com/office/drawing/2014/main" id="{AC5ADC67-3D77-7CE4-6724-89DD5B2BE9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43013" name="Espaço Reservado para Número de Slide 7">
            <a:extLst>
              <a:ext uri="{FF2B5EF4-FFF2-40B4-BE49-F238E27FC236}">
                <a16:creationId xmlns:a16="http://schemas.microsoft.com/office/drawing/2014/main" id="{5728F451-AA5C-3986-3A5F-F3947DD7D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49E415FF-865C-40A3-AC33-82FA35F8190C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20</a:t>
            </a:fld>
            <a:endParaRPr lang="pt-BR" altLang="pt-BR" sz="1200">
              <a:solidFill>
                <a:srgbClr val="2C5DAA"/>
              </a:solidFill>
            </a:endParaRPr>
          </a:p>
        </p:txBody>
      </p:sp>
      <p:grpSp>
        <p:nvGrpSpPr>
          <p:cNvPr id="43014" name="Grupo 8">
            <a:extLst>
              <a:ext uri="{FF2B5EF4-FFF2-40B4-BE49-F238E27FC236}">
                <a16:creationId xmlns:a16="http://schemas.microsoft.com/office/drawing/2014/main" id="{35A9C205-00EC-F6B3-77C9-68A331292D7E}"/>
              </a:ext>
            </a:extLst>
          </p:cNvPr>
          <p:cNvGrpSpPr>
            <a:grpSpLocks/>
          </p:cNvGrpSpPr>
          <p:nvPr/>
        </p:nvGrpSpPr>
        <p:grpSpPr bwMode="auto">
          <a:xfrm>
            <a:off x="1714500" y="2286000"/>
            <a:ext cx="5572125" cy="3429000"/>
            <a:chOff x="571472" y="2428868"/>
            <a:chExt cx="7358114" cy="4834034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6EB28967-F158-3692-BC9E-70E208EF3BB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/>
            <a:srcRect l="24023" t="22500" r="15625" b="49375"/>
            <a:stretch>
              <a:fillRect/>
            </a:stretch>
          </p:blipFill>
          <p:spPr bwMode="auto">
            <a:xfrm>
              <a:off x="571472" y="2428868"/>
              <a:ext cx="7358114" cy="2143984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1027" name="Picture 3">
              <a:extLst>
                <a:ext uri="{FF2B5EF4-FFF2-40B4-BE49-F238E27FC236}">
                  <a16:creationId xmlns:a16="http://schemas.microsoft.com/office/drawing/2014/main" id="{5DA35F14-2D37-F111-4E16-20E30567DF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/>
            <a:srcRect l="21484" t="50937" r="18164" b="12500"/>
            <a:stretch>
              <a:fillRect/>
            </a:stretch>
          </p:blipFill>
          <p:spPr bwMode="auto">
            <a:xfrm>
              <a:off x="571472" y="4476619"/>
              <a:ext cx="7358114" cy="2786283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CaixaDeTexto 3">
            <a:extLst>
              <a:ext uri="{FF2B5EF4-FFF2-40B4-BE49-F238E27FC236}">
                <a16:creationId xmlns:a16="http://schemas.microsoft.com/office/drawing/2014/main" id="{402C8DA7-3256-CF49-1B2A-10A8A1E4C7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45059" name="CaixaDeTexto 6">
            <a:extLst>
              <a:ext uri="{FF2B5EF4-FFF2-40B4-BE49-F238E27FC236}">
                <a16:creationId xmlns:a16="http://schemas.microsoft.com/office/drawing/2014/main" id="{47D7721D-AE25-55C4-0BFC-8D1B679553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681288"/>
            <a:ext cx="6715125" cy="3392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Beta desalavancado setorial médio: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pt-BR" altLang="pt-BR" sz="1600">
              <a:latin typeface="Arial" panose="020B0604020202020204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Beta ajustado: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pt-BR" altLang="pt-BR" sz="1600">
              <a:latin typeface="Arial" panose="020B0604020202020204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D' representa a parte do investimento financiada com recursos de terceiros (60% × $ 15 = $ 9 milhões). CP' representa a parcela financiada com recursos próprios (40% × $ 15 = $ 6 milhões). O cálculo anterior considera que D'/CP' é a razão esperada a permanecer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a médio e longo prazos.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D2BF263-EC1F-25A4-0B39-7A276A9B759D}"/>
              </a:ext>
            </a:extLst>
          </p:cNvPr>
          <p:cNvSpPr txBox="1"/>
          <p:nvPr/>
        </p:nvSpPr>
        <p:spPr>
          <a:xfrm>
            <a:off x="4071938" y="71438"/>
            <a:ext cx="5000625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10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Custo de oportunidade do capital e a sua importância na análise de projetos de investimento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45061" name="CaixaDeTexto 10">
            <a:extLst>
              <a:ext uri="{FF2B5EF4-FFF2-40B4-BE49-F238E27FC236}">
                <a16:creationId xmlns:a16="http://schemas.microsoft.com/office/drawing/2014/main" id="{C9AD5912-F55C-6CA8-515A-E2D90C3A6D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45062" name="Espaço Reservado para Número de Slide 7">
            <a:extLst>
              <a:ext uri="{FF2B5EF4-FFF2-40B4-BE49-F238E27FC236}">
                <a16:creationId xmlns:a16="http://schemas.microsoft.com/office/drawing/2014/main" id="{06708A52-AF00-1174-8A70-05DD0510E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97459817-B39E-495B-8411-2E5424C28588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21</a:t>
            </a:fld>
            <a:endParaRPr lang="pt-BR" altLang="pt-BR" sz="1200">
              <a:solidFill>
                <a:srgbClr val="2C5DAA"/>
              </a:solidFill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B9CF669-BF1E-A4A7-4747-68F4E4E930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 l="40430" t="24375" r="40820" b="70000"/>
          <a:stretch>
            <a:fillRect/>
          </a:stretch>
        </p:blipFill>
        <p:spPr bwMode="auto">
          <a:xfrm>
            <a:off x="4929188" y="2738438"/>
            <a:ext cx="1857375" cy="3476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051" name="Picture 3">
            <a:extLst>
              <a:ext uri="{FF2B5EF4-FFF2-40B4-BE49-F238E27FC236}">
                <a16:creationId xmlns:a16="http://schemas.microsoft.com/office/drawing/2014/main" id="{045B2EF8-C998-E53A-7B9F-BD4ACC3773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 l="25782" t="36563" r="26562" b="54062"/>
          <a:stretch>
            <a:fillRect/>
          </a:stretch>
        </p:blipFill>
        <p:spPr bwMode="auto">
          <a:xfrm>
            <a:off x="3024188" y="3429000"/>
            <a:ext cx="4143375" cy="5095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CaixaDeTexto 3">
            <a:extLst>
              <a:ext uri="{FF2B5EF4-FFF2-40B4-BE49-F238E27FC236}">
                <a16:creationId xmlns:a16="http://schemas.microsoft.com/office/drawing/2014/main" id="{B5FFDD16-8457-CC6F-62FB-46C9BA9742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47107" name="CaixaDeTexto 6">
            <a:extLst>
              <a:ext uri="{FF2B5EF4-FFF2-40B4-BE49-F238E27FC236}">
                <a16:creationId xmlns:a16="http://schemas.microsoft.com/office/drawing/2014/main" id="{7234A7E2-5C6F-D6D2-A8F8-EC56D62749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681288"/>
            <a:ext cx="6715125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Custo do capital próprio: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pt-BR" altLang="pt-BR" sz="1600">
              <a:latin typeface="Arial" panose="020B0604020202020204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pt-BR" altLang="pt-BR" sz="1600">
              <a:latin typeface="Arial" panose="020B0604020202020204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Custo médio ponderado do capital: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A876292-557D-E0BB-6E30-16EEBE669D10}"/>
              </a:ext>
            </a:extLst>
          </p:cNvPr>
          <p:cNvSpPr txBox="1"/>
          <p:nvPr/>
        </p:nvSpPr>
        <p:spPr>
          <a:xfrm>
            <a:off x="4071938" y="71438"/>
            <a:ext cx="5000625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10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Custo de oportunidade do capital e a sua importância na análise de projetos de investimento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47109" name="CaixaDeTexto 10">
            <a:extLst>
              <a:ext uri="{FF2B5EF4-FFF2-40B4-BE49-F238E27FC236}">
                <a16:creationId xmlns:a16="http://schemas.microsoft.com/office/drawing/2014/main" id="{B7BCB32B-506A-4335-BAC4-3F6B59F2C7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47110" name="Espaço Reservado para Número de Slide 7">
            <a:extLst>
              <a:ext uri="{FF2B5EF4-FFF2-40B4-BE49-F238E27FC236}">
                <a16:creationId xmlns:a16="http://schemas.microsoft.com/office/drawing/2014/main" id="{98A75BFE-BEC7-92AA-9A23-BAF802631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90D2392D-506E-4AC9-ADAA-5D87D17FC055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22</a:t>
            </a:fld>
            <a:endParaRPr lang="pt-BR" altLang="pt-BR" sz="1200">
              <a:solidFill>
                <a:srgbClr val="2C5DAA"/>
              </a:solidFill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D52F79EF-5DC5-ABE5-8D5A-9FAF339AB7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 l="22851" t="50625" r="22070" b="30625"/>
          <a:stretch>
            <a:fillRect/>
          </a:stretch>
        </p:blipFill>
        <p:spPr bwMode="auto">
          <a:xfrm>
            <a:off x="2428875" y="4343400"/>
            <a:ext cx="4429125" cy="9429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65CD6195-9970-7DFC-1907-1BFBB2F724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 l="22851" t="35625" r="22070" b="57000"/>
          <a:stretch>
            <a:fillRect/>
          </a:stretch>
        </p:blipFill>
        <p:spPr bwMode="auto">
          <a:xfrm>
            <a:off x="2420938" y="3224213"/>
            <a:ext cx="5008562" cy="4191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CaixaDeTexto 3">
            <a:extLst>
              <a:ext uri="{FF2B5EF4-FFF2-40B4-BE49-F238E27FC236}">
                <a16:creationId xmlns:a16="http://schemas.microsoft.com/office/drawing/2014/main" id="{F9B91283-6823-D891-5898-893D814FB1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49155" name="CaixaDeTexto 6">
            <a:extLst>
              <a:ext uri="{FF2B5EF4-FFF2-40B4-BE49-F238E27FC236}">
                <a16:creationId xmlns:a16="http://schemas.microsoft.com/office/drawing/2014/main" id="{D22262A8-73D5-1C25-F802-1F73D13A4F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681288"/>
            <a:ext cx="6715125" cy="193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Cálculo do VPL e avaliação econômica do projeto: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pt-BR" altLang="pt-BR" sz="1600">
              <a:latin typeface="Arial" panose="020B0604020202020204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pt-BR" altLang="pt-BR" sz="1600">
              <a:latin typeface="Arial" panose="020B0604020202020204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pt-BR" altLang="pt-BR" sz="1600">
              <a:latin typeface="Arial" panose="020B0604020202020204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Os valores monetários estão expressos em milhões.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1CF23DA-9902-D833-6FDB-CD1F1F6B9020}"/>
              </a:ext>
            </a:extLst>
          </p:cNvPr>
          <p:cNvSpPr txBox="1"/>
          <p:nvPr/>
        </p:nvSpPr>
        <p:spPr>
          <a:xfrm>
            <a:off x="4071938" y="71438"/>
            <a:ext cx="5000625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10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Custo de oportunidade do capital e a sua importância na análise de projetos de investimento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49157" name="CaixaDeTexto 10">
            <a:extLst>
              <a:ext uri="{FF2B5EF4-FFF2-40B4-BE49-F238E27FC236}">
                <a16:creationId xmlns:a16="http://schemas.microsoft.com/office/drawing/2014/main" id="{5ACE9E6F-464E-D516-8ACC-B41CC07306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49158" name="Espaço Reservado para Número de Slide 7">
            <a:extLst>
              <a:ext uri="{FF2B5EF4-FFF2-40B4-BE49-F238E27FC236}">
                <a16:creationId xmlns:a16="http://schemas.microsoft.com/office/drawing/2014/main" id="{E89B8960-2AA9-5C30-3A0F-F97C95463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5285C570-3255-4238-9F34-970622065335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23</a:t>
            </a:fld>
            <a:endParaRPr lang="pt-BR" altLang="pt-BR" sz="1200">
              <a:solidFill>
                <a:srgbClr val="2C5DAA"/>
              </a:solidFill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A05053B5-1C34-B981-95C3-EF431F88D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 l="21680" t="36562" r="17382" b="49375"/>
          <a:stretch>
            <a:fillRect/>
          </a:stretch>
        </p:blipFill>
        <p:spPr bwMode="auto">
          <a:xfrm>
            <a:off x="1643063" y="3217863"/>
            <a:ext cx="5429250" cy="7826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CaixaDeTexto 3">
            <a:extLst>
              <a:ext uri="{FF2B5EF4-FFF2-40B4-BE49-F238E27FC236}">
                <a16:creationId xmlns:a16="http://schemas.microsoft.com/office/drawing/2014/main" id="{1EC04B17-359D-55A1-B079-F7BA3FE4E9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51203" name="CaixaDeTexto 6">
            <a:extLst>
              <a:ext uri="{FF2B5EF4-FFF2-40B4-BE49-F238E27FC236}">
                <a16:creationId xmlns:a16="http://schemas.microsoft.com/office/drawing/2014/main" id="{64D0C0D1-F164-CFF0-E7EE-D4FAB1D18C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681288"/>
            <a:ext cx="6715125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É necessário distinguir entre lucro operacional tal como determinado pelas legislações societárias brasileira e os fluxos apropriados para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determinar o valor da empresa (fluxo de caixa livre) e para calcular seu valor patrimonial (fluxo do acionista).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5E227C0-1BEA-8789-5D7F-082451E2DBA4}"/>
              </a:ext>
            </a:extLst>
          </p:cNvPr>
          <p:cNvSpPr txBox="1"/>
          <p:nvPr/>
        </p:nvSpPr>
        <p:spPr>
          <a:xfrm>
            <a:off x="4071938" y="71438"/>
            <a:ext cx="5000625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10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Custo de oportunidade do capital e a sua importância na análise de projetos de investimento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51205" name="CaixaDeTexto 10">
            <a:extLst>
              <a:ext uri="{FF2B5EF4-FFF2-40B4-BE49-F238E27FC236}">
                <a16:creationId xmlns:a16="http://schemas.microsoft.com/office/drawing/2014/main" id="{17DE3910-656C-FCBD-A46F-3DE930A0FA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51206" name="CaixaDeTexto 12">
            <a:extLst>
              <a:ext uri="{FF2B5EF4-FFF2-40B4-BE49-F238E27FC236}">
                <a16:creationId xmlns:a16="http://schemas.microsoft.com/office/drawing/2014/main" id="{19BB63E8-A8A4-FCC9-963B-ADFD13C711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66484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10.6 Fluxo de caixa para determinação do valor da empresa</a:t>
            </a:r>
          </a:p>
        </p:txBody>
      </p:sp>
      <p:sp>
        <p:nvSpPr>
          <p:cNvPr id="51207" name="Espaço Reservado para Número de Slide 7">
            <a:extLst>
              <a:ext uri="{FF2B5EF4-FFF2-40B4-BE49-F238E27FC236}">
                <a16:creationId xmlns:a16="http://schemas.microsoft.com/office/drawing/2014/main" id="{03A6A54B-A011-FFB5-F54B-FB556F15F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DADB03D7-63D9-4AE9-A39D-DECF1006F70F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24</a:t>
            </a:fld>
            <a:endParaRPr lang="pt-BR" altLang="pt-BR" sz="1200">
              <a:solidFill>
                <a:srgbClr val="2C5DAA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CaixaDeTexto 3">
            <a:extLst>
              <a:ext uri="{FF2B5EF4-FFF2-40B4-BE49-F238E27FC236}">
                <a16:creationId xmlns:a16="http://schemas.microsoft.com/office/drawing/2014/main" id="{FA539553-0581-7F38-BC0F-0379F0307B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53251" name="CaixaDeTexto 6">
            <a:extLst>
              <a:ext uri="{FF2B5EF4-FFF2-40B4-BE49-F238E27FC236}">
                <a16:creationId xmlns:a16="http://schemas.microsoft.com/office/drawing/2014/main" id="{79635EE2-0C48-6849-6541-8A4488D5E6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530475"/>
            <a:ext cx="6715125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Demonstrativos de apuração de lucros de acordo com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a legislação societária: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F66C9FE-3039-191D-A052-62D9A4E83005}"/>
              </a:ext>
            </a:extLst>
          </p:cNvPr>
          <p:cNvSpPr txBox="1"/>
          <p:nvPr/>
        </p:nvSpPr>
        <p:spPr>
          <a:xfrm>
            <a:off x="4071938" y="71438"/>
            <a:ext cx="5000625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10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Custo de oportunidade do capital e a sua importância na análise de projetos de investimento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53253" name="CaixaDeTexto 10">
            <a:extLst>
              <a:ext uri="{FF2B5EF4-FFF2-40B4-BE49-F238E27FC236}">
                <a16:creationId xmlns:a16="http://schemas.microsoft.com/office/drawing/2014/main" id="{32204758-F98F-DD60-B35F-5D2C352BF1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53254" name="Espaço Reservado para Número de Slide 7">
            <a:extLst>
              <a:ext uri="{FF2B5EF4-FFF2-40B4-BE49-F238E27FC236}">
                <a16:creationId xmlns:a16="http://schemas.microsoft.com/office/drawing/2014/main" id="{97B1B314-33A3-5E94-04E9-47BCAF61C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54E44DCC-17CA-4788-995D-A6A556437236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25</a:t>
            </a:fld>
            <a:endParaRPr lang="pt-BR" altLang="pt-BR" sz="1200">
              <a:solidFill>
                <a:srgbClr val="2C5DAA"/>
              </a:solidFill>
            </a:endParaRPr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1ADEC949-0CF7-2166-C9E7-E55D353AAF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 l="8789" t="16875" r="9179" b="17500"/>
          <a:stretch>
            <a:fillRect/>
          </a:stretch>
        </p:blipFill>
        <p:spPr bwMode="auto">
          <a:xfrm>
            <a:off x="1979613" y="3465513"/>
            <a:ext cx="5216525" cy="26066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3256" name="CaixaDeTexto 12">
            <a:extLst>
              <a:ext uri="{FF2B5EF4-FFF2-40B4-BE49-F238E27FC236}">
                <a16:creationId xmlns:a16="http://schemas.microsoft.com/office/drawing/2014/main" id="{7B3DBB64-8497-94B6-2B28-749CF576C9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66484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10.6 Fluxo de caixa para determinação do valor da empresa</a:t>
            </a:r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CaixaDeTexto 3">
            <a:extLst>
              <a:ext uri="{FF2B5EF4-FFF2-40B4-BE49-F238E27FC236}">
                <a16:creationId xmlns:a16="http://schemas.microsoft.com/office/drawing/2014/main" id="{AC2B2706-D863-15C8-11F4-8FDECA8309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55299" name="CaixaDeTexto 6">
            <a:extLst>
              <a:ext uri="{FF2B5EF4-FFF2-40B4-BE49-F238E27FC236}">
                <a16:creationId xmlns:a16="http://schemas.microsoft.com/office/drawing/2014/main" id="{1EC2B442-F5CD-D024-75D9-53F4B8248E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544763"/>
            <a:ext cx="6715125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Demonstrativo de fluxo de caixa da mesma empresa: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663AEA6-ABA1-F3D5-FB9C-CDDFE5930972}"/>
              </a:ext>
            </a:extLst>
          </p:cNvPr>
          <p:cNvSpPr txBox="1"/>
          <p:nvPr/>
        </p:nvSpPr>
        <p:spPr>
          <a:xfrm>
            <a:off x="4071938" y="71438"/>
            <a:ext cx="5000625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10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Custo de oportunidade do capital e a sua importância na análise de projetos de investimento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55301" name="CaixaDeTexto 10">
            <a:extLst>
              <a:ext uri="{FF2B5EF4-FFF2-40B4-BE49-F238E27FC236}">
                <a16:creationId xmlns:a16="http://schemas.microsoft.com/office/drawing/2014/main" id="{680E1682-B970-D46D-0080-2FE5C08823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55302" name="Espaço Reservado para Número de Slide 7">
            <a:extLst>
              <a:ext uri="{FF2B5EF4-FFF2-40B4-BE49-F238E27FC236}">
                <a16:creationId xmlns:a16="http://schemas.microsoft.com/office/drawing/2014/main" id="{212F0679-67E0-F460-19ED-41ED58260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E797735A-06FC-4588-B16D-9F52F56E9378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26</a:t>
            </a:fld>
            <a:endParaRPr lang="pt-BR" altLang="pt-BR" sz="1200">
              <a:solidFill>
                <a:srgbClr val="2C5DAA"/>
              </a:solidFill>
            </a:endParaRPr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6DA17434-7790-6625-B0ED-419DA131F8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 l="19336" t="14062" r="19726" b="19375"/>
          <a:stretch>
            <a:fillRect/>
          </a:stretch>
        </p:blipFill>
        <p:spPr bwMode="auto">
          <a:xfrm>
            <a:off x="2484438" y="3194050"/>
            <a:ext cx="4216400" cy="28781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5304" name="CaixaDeTexto 12">
            <a:extLst>
              <a:ext uri="{FF2B5EF4-FFF2-40B4-BE49-F238E27FC236}">
                <a16:creationId xmlns:a16="http://schemas.microsoft.com/office/drawing/2014/main" id="{9BD44BB2-F8B3-89B5-83A3-2DB6FA1706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66484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10.6 Fluxo de caixa para determinação do valor da empresa</a:t>
            </a:r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CaixaDeTexto 3">
            <a:extLst>
              <a:ext uri="{FF2B5EF4-FFF2-40B4-BE49-F238E27FC236}">
                <a16:creationId xmlns:a16="http://schemas.microsoft.com/office/drawing/2014/main" id="{EBA5775E-3206-9C6D-0013-DD9A7253BB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57347" name="CaixaDeTexto 6">
            <a:extLst>
              <a:ext uri="{FF2B5EF4-FFF2-40B4-BE49-F238E27FC236}">
                <a16:creationId xmlns:a16="http://schemas.microsoft.com/office/drawing/2014/main" id="{2F8BA4BB-2BB1-A116-33AD-2F44713CF1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681288"/>
            <a:ext cx="6715125" cy="1192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Além do quadro anterior, considerar fluxos perpétuos, uma dívida (D) de $ 200 contratada a uma taxa de juros (Kd) de  5% a.a. e  um  custo do capital próprio (Kcp) de 20% a.a.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EF76C9A-A0EA-91E7-B18E-00F1E3382FA8}"/>
              </a:ext>
            </a:extLst>
          </p:cNvPr>
          <p:cNvSpPr txBox="1"/>
          <p:nvPr/>
        </p:nvSpPr>
        <p:spPr>
          <a:xfrm>
            <a:off x="4071938" y="71438"/>
            <a:ext cx="5000625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10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Custo de oportunidade do capital e a sua importância na análise de projetos de investimento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57349" name="CaixaDeTexto 10">
            <a:extLst>
              <a:ext uri="{FF2B5EF4-FFF2-40B4-BE49-F238E27FC236}">
                <a16:creationId xmlns:a16="http://schemas.microsoft.com/office/drawing/2014/main" id="{5C2D7257-6FAD-1FCB-CCB2-8B74B3904D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57350" name="Espaço Reservado para Número de Slide 7">
            <a:extLst>
              <a:ext uri="{FF2B5EF4-FFF2-40B4-BE49-F238E27FC236}">
                <a16:creationId xmlns:a16="http://schemas.microsoft.com/office/drawing/2014/main" id="{0B9BBC84-3964-A9BE-5452-28C8B5ABF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4BE3394E-D02E-417E-B6D6-989675EF8F6A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27</a:t>
            </a:fld>
            <a:endParaRPr lang="pt-BR" altLang="pt-BR" sz="1200">
              <a:solidFill>
                <a:srgbClr val="2C5DAA"/>
              </a:solidFill>
            </a:endParaRPr>
          </a:p>
        </p:txBody>
      </p:sp>
      <p:sp>
        <p:nvSpPr>
          <p:cNvPr id="57351" name="CaixaDeTexto 12">
            <a:extLst>
              <a:ext uri="{FF2B5EF4-FFF2-40B4-BE49-F238E27FC236}">
                <a16:creationId xmlns:a16="http://schemas.microsoft.com/office/drawing/2014/main" id="{84D0777B-C172-C29A-9D79-8059715306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66484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10.6 Fluxo de caixa para determinação do valor da empresa</a:t>
            </a:r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CaixaDeTexto 3">
            <a:extLst>
              <a:ext uri="{FF2B5EF4-FFF2-40B4-BE49-F238E27FC236}">
                <a16:creationId xmlns:a16="http://schemas.microsoft.com/office/drawing/2014/main" id="{40F06F84-9E5D-9193-64E4-C32F2EA7A7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59395" name="CaixaDeTexto 6">
            <a:extLst>
              <a:ext uri="{FF2B5EF4-FFF2-40B4-BE49-F238E27FC236}">
                <a16:creationId xmlns:a16="http://schemas.microsoft.com/office/drawing/2014/main" id="{DF3C582E-6023-D865-7E32-A6D49E129B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681288"/>
            <a:ext cx="6715125" cy="1192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Primeiro método: cálculo do valor da firma a partir da soma dos valores do capital próprio e da dívida.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pt-BR" altLang="pt-BR" sz="1600">
                <a:latin typeface="Arial" panose="020B0604020202020204" pitchFamily="34" charset="0"/>
              </a:rPr>
              <a:t> Valor da empresa (V) = Valor do capital próprio + Valor da dívida: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6A4B649-7C59-0609-C909-81FA22810DB5}"/>
              </a:ext>
            </a:extLst>
          </p:cNvPr>
          <p:cNvSpPr txBox="1"/>
          <p:nvPr/>
        </p:nvSpPr>
        <p:spPr>
          <a:xfrm>
            <a:off x="4071938" y="71438"/>
            <a:ext cx="5000625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10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Custo de oportunidade do capital e a sua importância na análise de projetos de investimento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59397" name="CaixaDeTexto 10">
            <a:extLst>
              <a:ext uri="{FF2B5EF4-FFF2-40B4-BE49-F238E27FC236}">
                <a16:creationId xmlns:a16="http://schemas.microsoft.com/office/drawing/2014/main" id="{E9003C77-7C9D-5C2C-C49A-97F704CD98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59398" name="CaixaDeTexto 12">
            <a:extLst>
              <a:ext uri="{FF2B5EF4-FFF2-40B4-BE49-F238E27FC236}">
                <a16:creationId xmlns:a16="http://schemas.microsoft.com/office/drawing/2014/main" id="{9DA557AD-3834-8084-3F60-04E2B676E0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6608763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10.6.1 Métodos para estimar o valor intrínseco da empresa</a:t>
            </a:r>
          </a:p>
        </p:txBody>
      </p:sp>
      <p:sp>
        <p:nvSpPr>
          <p:cNvPr id="59399" name="Espaço Reservado para Número de Slide 7">
            <a:extLst>
              <a:ext uri="{FF2B5EF4-FFF2-40B4-BE49-F238E27FC236}">
                <a16:creationId xmlns:a16="http://schemas.microsoft.com/office/drawing/2014/main" id="{6890EDDB-2200-DEF2-CD1A-3692DE6D3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9EFDEAD1-58DD-4E80-97FB-C9278A08BAF3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28</a:t>
            </a:fld>
            <a:endParaRPr lang="pt-BR" altLang="pt-BR" sz="1200">
              <a:solidFill>
                <a:srgbClr val="2C5DAA"/>
              </a:solidFill>
            </a:endParaRPr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A4BC7199-98D3-352E-58FC-9CA78F5471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 l="25195" t="35625" r="13867" b="30625"/>
          <a:stretch>
            <a:fillRect/>
          </a:stretch>
        </p:blipFill>
        <p:spPr bwMode="auto">
          <a:xfrm>
            <a:off x="2392363" y="4357688"/>
            <a:ext cx="4359275" cy="15081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CaixaDeTexto 3">
            <a:extLst>
              <a:ext uri="{FF2B5EF4-FFF2-40B4-BE49-F238E27FC236}">
                <a16:creationId xmlns:a16="http://schemas.microsoft.com/office/drawing/2014/main" id="{E6410306-1870-FC52-396F-169913378B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61443" name="CaixaDeTexto 6">
            <a:extLst>
              <a:ext uri="{FF2B5EF4-FFF2-40B4-BE49-F238E27FC236}">
                <a16:creationId xmlns:a16="http://schemas.microsoft.com/office/drawing/2014/main" id="{89744E7E-961F-EB20-108D-761EDBE260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681288"/>
            <a:ext cx="6715125" cy="1192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Segundo método: cálculo do valor da firma a partir do desconto direto do fluxo de caixa livre.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pt-BR" altLang="pt-BR" sz="1600">
                <a:latin typeface="Arial" panose="020B0604020202020204" pitchFamily="34" charset="0"/>
              </a:rPr>
              <a:t> Cálculo do custo médio ponderado do capital: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7F03ED0-8A46-4B91-B7D7-149C439AF73C}"/>
              </a:ext>
            </a:extLst>
          </p:cNvPr>
          <p:cNvSpPr txBox="1"/>
          <p:nvPr/>
        </p:nvSpPr>
        <p:spPr>
          <a:xfrm>
            <a:off x="4071938" y="71438"/>
            <a:ext cx="5000625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10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Custo de oportunidade do capital e a sua importância na análise de projetos de investimento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61445" name="CaixaDeTexto 10">
            <a:extLst>
              <a:ext uri="{FF2B5EF4-FFF2-40B4-BE49-F238E27FC236}">
                <a16:creationId xmlns:a16="http://schemas.microsoft.com/office/drawing/2014/main" id="{AAB062EF-DCF9-D080-8FF1-097337135D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61446" name="Espaço Reservado para Número de Slide 7">
            <a:extLst>
              <a:ext uri="{FF2B5EF4-FFF2-40B4-BE49-F238E27FC236}">
                <a16:creationId xmlns:a16="http://schemas.microsoft.com/office/drawing/2014/main" id="{458463A2-2BD6-419F-A220-9006127EF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3A7EE2EB-FE6A-458F-9120-F0688B68DA5F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29</a:t>
            </a:fld>
            <a:endParaRPr lang="pt-BR" altLang="pt-BR" sz="1200">
              <a:solidFill>
                <a:srgbClr val="2C5DAA"/>
              </a:solidFill>
            </a:endParaRPr>
          </a:p>
        </p:txBody>
      </p:sp>
      <p:pic>
        <p:nvPicPr>
          <p:cNvPr id="14338" name="Picture 2">
            <a:extLst>
              <a:ext uri="{FF2B5EF4-FFF2-40B4-BE49-F238E27FC236}">
                <a16:creationId xmlns:a16="http://schemas.microsoft.com/office/drawing/2014/main" id="{B5819C7A-FD02-2326-E408-DD7F2AAFD5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 l="5859" t="70313" r="2148" b="17500"/>
          <a:stretch>
            <a:fillRect/>
          </a:stretch>
        </p:blipFill>
        <p:spPr bwMode="auto">
          <a:xfrm>
            <a:off x="1228725" y="3929063"/>
            <a:ext cx="6686550" cy="5540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4339" name="Picture 3">
            <a:extLst>
              <a:ext uri="{FF2B5EF4-FFF2-40B4-BE49-F238E27FC236}">
                <a16:creationId xmlns:a16="http://schemas.microsoft.com/office/drawing/2014/main" id="{2EC8FF3F-F91C-3F7E-CA83-A482420CA7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 l="11133" t="62813" r="6250" b="25000"/>
          <a:stretch>
            <a:fillRect/>
          </a:stretch>
        </p:blipFill>
        <p:spPr bwMode="auto">
          <a:xfrm>
            <a:off x="1214438" y="4676775"/>
            <a:ext cx="6715125" cy="6191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1449" name="CaixaDeTexto 12">
            <a:extLst>
              <a:ext uri="{FF2B5EF4-FFF2-40B4-BE49-F238E27FC236}">
                <a16:creationId xmlns:a16="http://schemas.microsoft.com/office/drawing/2014/main" id="{EA6173AE-34CA-B1C3-2AA9-BB466CBAF3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6608763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10.6.1 Métodos para estimar o valor intrínseco da empresa</a:t>
            </a:r>
          </a:p>
        </p:txBody>
      </p:sp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CaixaDeTexto 3">
            <a:extLst>
              <a:ext uri="{FF2B5EF4-FFF2-40B4-BE49-F238E27FC236}">
                <a16:creationId xmlns:a16="http://schemas.microsoft.com/office/drawing/2014/main" id="{04006590-B261-7443-31A2-9B70BD8006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63491" name="CaixaDeTexto 6">
            <a:extLst>
              <a:ext uri="{FF2B5EF4-FFF2-40B4-BE49-F238E27FC236}">
                <a16:creationId xmlns:a16="http://schemas.microsoft.com/office/drawing/2014/main" id="{2A5F6899-4326-A0DD-B836-3E19BF59AF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681288"/>
            <a:ext cx="6715125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Assume-se que as proporções (CP/V = $275/$475) e (D/V = $200/$475) sejam proporções-alvo da estrutura de capital da empresa. 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8EF7FBC-4C16-6791-999C-62A59879F60C}"/>
              </a:ext>
            </a:extLst>
          </p:cNvPr>
          <p:cNvSpPr txBox="1"/>
          <p:nvPr/>
        </p:nvSpPr>
        <p:spPr>
          <a:xfrm>
            <a:off x="4071938" y="71438"/>
            <a:ext cx="5000625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10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Custo de oportunidade do capital e a sua importância na análise de projetos de investimento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63493" name="CaixaDeTexto 10">
            <a:extLst>
              <a:ext uri="{FF2B5EF4-FFF2-40B4-BE49-F238E27FC236}">
                <a16:creationId xmlns:a16="http://schemas.microsoft.com/office/drawing/2014/main" id="{DCCF6C2B-6D0D-6563-9F51-3DE1A346DE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63494" name="Espaço Reservado para Número de Slide 7">
            <a:extLst>
              <a:ext uri="{FF2B5EF4-FFF2-40B4-BE49-F238E27FC236}">
                <a16:creationId xmlns:a16="http://schemas.microsoft.com/office/drawing/2014/main" id="{D3CBCF75-805A-C90D-F4E2-C363021E0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E92E33BA-A232-4D2D-862D-0D418620759A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30</a:t>
            </a:fld>
            <a:endParaRPr lang="pt-BR" altLang="pt-BR" sz="1200">
              <a:solidFill>
                <a:srgbClr val="2C5DAA"/>
              </a:solidFill>
            </a:endParaRPr>
          </a:p>
        </p:txBody>
      </p:sp>
      <p:sp>
        <p:nvSpPr>
          <p:cNvPr id="63495" name="CaixaDeTexto 12">
            <a:extLst>
              <a:ext uri="{FF2B5EF4-FFF2-40B4-BE49-F238E27FC236}">
                <a16:creationId xmlns:a16="http://schemas.microsoft.com/office/drawing/2014/main" id="{3EC69A1A-15B5-F934-BC5B-1FF2F3A278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6608763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10.6.1 Métodos para estimar o valor intrínseco da empresa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Tema do Office">
  <a:themeElements>
    <a:clrScheme name="1_Tema do Office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_Tema do Office">
      <a:majorFont>
        <a:latin typeface="Calibri"/>
        <a:ea typeface=""/>
        <a:cs typeface="Arial"/>
      </a:majorFont>
      <a:minorFont>
        <a:latin typeface="Calibri"/>
        <a:ea typeface=""/>
        <a:cs typeface="Arial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Tema do Office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A8A4E097220C94CA78F0CF62B1C4486" ma:contentTypeVersion="20" ma:contentTypeDescription="Crie um novo documento." ma:contentTypeScope="" ma:versionID="e274cbce19eccc8f05082042bdbebfe6">
  <xsd:schema xmlns:xsd="http://www.w3.org/2001/XMLSchema" xmlns:xs="http://www.w3.org/2001/XMLSchema" xmlns:p="http://schemas.microsoft.com/office/2006/metadata/properties" xmlns:ns2="f244cccc-9ebe-487b-9f49-451c84d31f5d" xmlns:ns3="6d1e6d4d-286d-4a1d-879b-bd877680a131" targetNamespace="http://schemas.microsoft.com/office/2006/metadata/properties" ma:root="true" ma:fieldsID="8d05ae5ea0c3b3bf75339924b2fa7c23" ns2:_="" ns3:_="">
    <xsd:import namespace="f244cccc-9ebe-487b-9f49-451c84d31f5d"/>
    <xsd:import namespace="6d1e6d4d-286d-4a1d-879b-bd877680a13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3:SharedWithUsers" minOccurs="0"/>
                <xsd:element ref="ns3:SharedWithDetails" minOccurs="0"/>
                <xsd:element ref="ns2:Grupo15_x002d_MatheuseLorena" minOccurs="0"/>
                <xsd:element ref="ns2:_x002e_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ServiceSearchProperties" minOccurs="0"/>
                <xsd:element ref="ns2:Data" minOccurs="0"/>
                <xsd:element ref="ns2:MediaServiceOCR" minOccurs="0"/>
                <xsd:element ref="ns2:grupo13_x002d_MarceloPasso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44cccc-9ebe-487b-9f49-451c84d31f5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Grupo15_x002d_MatheuseLorena" ma:index="15" nillable="true" ma:displayName="Grupo 15 - Matheus e Lorena" ma:format="Dropdown" ma:internalName="Grupo15_x002d_MatheuseLorena">
      <xsd:simpleType>
        <xsd:restriction base="dms:Text">
          <xsd:maxLength value="255"/>
        </xsd:restriction>
      </xsd:simpleType>
    </xsd:element>
    <xsd:element name="_x002e_" ma:index="16" nillable="true" ma:displayName="." ma:format="Dropdown" ma:internalName="_x002e_">
      <xsd:simpleType>
        <xsd:restriction base="dms:Text">
          <xsd:maxLength value="255"/>
        </xsd:restriction>
      </xsd:simpleType>
    </xsd:element>
    <xsd:element name="lcf76f155ced4ddcb4097134ff3c332f" ma:index="18" nillable="true" ma:taxonomy="true" ma:internalName="lcf76f155ced4ddcb4097134ff3c332f" ma:taxonomyFieldName="MediaServiceImageTags" ma:displayName="Marcações de imagem" ma:readOnly="false" ma:fieldId="{5cf76f15-5ced-4ddc-b409-7134ff3c332f}" ma:taxonomyMulti="true" ma:sspId="242374f3-4cab-4e95-b6f7-35998408ef9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Data" ma:index="24" nillable="true" ma:displayName="Data" ma:default="[today]" ma:format="DateTime" ma:internalName="Data">
      <xsd:simpleType>
        <xsd:restriction base="dms:DateTime"/>
      </xsd:simpleType>
    </xsd:element>
    <xsd:element name="MediaServiceOCR" ma:index="2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grupo13_x002d_MarceloPassos" ma:index="26" nillable="true" ma:displayName="grupo 13 - Marcelo Passos " ma:format="Dropdown" ma:internalName="grupo13_x002d_MarceloPassos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1e6d4d-286d-4a1d-879b-bd877680a131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114cce79-e80e-4214-aac2-dd100738ee36}" ma:internalName="TaxCatchAll" ma:showField="CatchAllData" ma:web="6d1e6d4d-286d-4a1d-879b-bd877680a13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ata xmlns="f244cccc-9ebe-487b-9f49-451c84d31f5d">2025-07-07T12:04:27+00:00</Data>
    <Grupo15_x002d_MatheuseLorena xmlns="f244cccc-9ebe-487b-9f49-451c84d31f5d" xsi:nil="true"/>
    <lcf76f155ced4ddcb4097134ff3c332f xmlns="f244cccc-9ebe-487b-9f49-451c84d31f5d">
      <Terms xmlns="http://schemas.microsoft.com/office/infopath/2007/PartnerControls"/>
    </lcf76f155ced4ddcb4097134ff3c332f>
    <_x002e_ xmlns="f244cccc-9ebe-487b-9f49-451c84d31f5d" xsi:nil="true"/>
    <TaxCatchAll xmlns="6d1e6d4d-286d-4a1d-879b-bd877680a131" xsi:nil="true"/>
    <grupo13_x002d_MarceloPassos xmlns="f244cccc-9ebe-487b-9f49-451c84d31f5d" xsi:nil="true"/>
  </documentManagement>
</p:properties>
</file>

<file path=customXml/itemProps1.xml><?xml version="1.0" encoding="utf-8"?>
<ds:datastoreItem xmlns:ds="http://schemas.openxmlformats.org/officeDocument/2006/customXml" ds:itemID="{606E82EC-2884-4ACD-A40B-E922E48D62BD}"/>
</file>

<file path=customXml/itemProps2.xml><?xml version="1.0" encoding="utf-8"?>
<ds:datastoreItem xmlns:ds="http://schemas.openxmlformats.org/officeDocument/2006/customXml" ds:itemID="{0CF7D134-7E80-4828-9DB5-6E9620A1C35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4645CA2-B7A6-4A71-A36B-596E40775A0C}">
  <ds:schemaRefs>
    <ds:schemaRef ds:uri="http://schemas.microsoft.com/office/2006/metadata/properties"/>
    <ds:schemaRef ds:uri="http://schemas.microsoft.com/office/infopath/2007/PartnerControls"/>
    <ds:schemaRef ds:uri="f244cccc-9ebe-487b-9f49-451c84d31f5d"/>
    <ds:schemaRef ds:uri="6d1e6d4d-286d-4a1d-879b-bd877680a13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5095</TotalTime>
  <Words>2451</Words>
  <Application>Microsoft Office PowerPoint</Application>
  <PresentationFormat>On-screen Show (4:3)</PresentationFormat>
  <Paragraphs>244</Paragraphs>
  <Slides>30</Slides>
  <Notes>30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30</vt:i4>
      </vt:variant>
    </vt:vector>
  </HeadingPairs>
  <TitlesOfParts>
    <vt:vector size="32" baseType="lpstr">
      <vt:lpstr>Tema do Office</vt:lpstr>
      <vt:lpstr>1_Tema do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ICONE 4 COMUNICAÇÃO E ARTE LTDA</dc:creator>
  <cp:lastModifiedBy>João Carlos Felix Souza</cp:lastModifiedBy>
  <cp:revision>168</cp:revision>
  <dcterms:created xsi:type="dcterms:W3CDTF">2009-04-20T19:30:33Z</dcterms:created>
  <dcterms:modified xsi:type="dcterms:W3CDTF">2025-11-12T18:58:21Z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0x0101003A8A4E097220C94CA78F0CF62B1C4486</vt:lpwstr>
  </property>
  <property fmtid="{D5CDD505-2E9C-101B-9397-08002B2CF9AE}" pid="3" name="MediaServiceImageTags">
    <vt:lpwstr/>
  </property>
</Properties>
</file>
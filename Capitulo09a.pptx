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23"/>
  </p:notesMasterIdLst>
  <p:sldIdLst>
    <p:sldId id="280" r:id="rId6"/>
    <p:sldId id="282" r:id="rId7"/>
    <p:sldId id="291" r:id="rId8"/>
    <p:sldId id="283" r:id="rId9"/>
    <p:sldId id="289" r:id="rId10"/>
    <p:sldId id="284" r:id="rId11"/>
    <p:sldId id="292" r:id="rId12"/>
    <p:sldId id="286" r:id="rId13"/>
    <p:sldId id="285" r:id="rId14"/>
    <p:sldId id="287" r:id="rId15"/>
    <p:sldId id="293" r:id="rId16"/>
    <p:sldId id="294" r:id="rId17"/>
    <p:sldId id="295" r:id="rId18"/>
    <p:sldId id="290" r:id="rId19"/>
    <p:sldId id="288" r:id="rId20"/>
    <p:sldId id="297" r:id="rId21"/>
    <p:sldId id="298" r:id="rId22"/>
  </p:sldIdLst>
  <p:sldSz cx="9144000" cy="6858000" type="screen4x3"/>
  <p:notesSz cx="7104063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auco Martins Souza" userId="S::190088117@aluno.unb.br::22bbdfc1-e0fb-4b09-9c56-57a145946a17" providerId="AD" clId="Web-{BDD4EC31-3998-9E26-7979-876B3AB19709}"/>
    <pc:docChg chg="modSld">
      <pc:chgData name="Glauco Martins Souza" userId="S::190088117@aluno.unb.br::22bbdfc1-e0fb-4b09-9c56-57a145946a17" providerId="AD" clId="Web-{BDD4EC31-3998-9E26-7979-876B3AB19709}" dt="2022-09-14T14:29:09.384" v="0" actId="1076"/>
      <pc:docMkLst>
        <pc:docMk/>
      </pc:docMkLst>
      <pc:sldChg chg="modSp">
        <pc:chgData name="Glauco Martins Souza" userId="S::190088117@aluno.unb.br::22bbdfc1-e0fb-4b09-9c56-57a145946a17" providerId="AD" clId="Web-{BDD4EC31-3998-9E26-7979-876B3AB19709}" dt="2022-09-14T14:29:09.384" v="0" actId="1076"/>
        <pc:sldMkLst>
          <pc:docMk/>
          <pc:sldMk cId="0" sldId="292"/>
        </pc:sldMkLst>
        <pc:picChg chg="mod">
          <ac:chgData name="Glauco Martins Souza" userId="S::190088117@aluno.unb.br::22bbdfc1-e0fb-4b09-9c56-57a145946a17" providerId="AD" clId="Web-{BDD4EC31-3998-9E26-7979-876B3AB19709}" dt="2022-09-14T14:29:09.384" v="0" actId="1076"/>
          <ac:picMkLst>
            <pc:docMk/>
            <pc:sldMk cId="0" sldId="292"/>
            <ac:picMk id="24578" creationId="{00000000-0000-0000-0000-000000000000}"/>
          </ac:picMkLst>
        </pc:picChg>
      </pc:sldChg>
    </pc:docChg>
  </pc:docChgLst>
  <pc:docChgLst>
    <pc:chgData name="Tales De Padua Grillo Souza" userId="S::200069365@aluno.unb.br::e46dbedc-b331-4b90-96de-db3d48217cea" providerId="AD" clId="Web-{82C4C594-AFE6-4119-B0B6-FFA402CEBDBB}"/>
    <pc:docChg chg="delSld">
      <pc:chgData name="Tales De Padua Grillo Souza" userId="S::200069365@aluno.unb.br::e46dbedc-b331-4b90-96de-db3d48217cea" providerId="AD" clId="Web-{82C4C594-AFE6-4119-B0B6-FFA402CEBDBB}" dt="2022-09-13T03:35:26.768" v="0"/>
      <pc:docMkLst>
        <pc:docMk/>
      </pc:docMkLst>
      <pc:sldChg chg="del">
        <pc:chgData name="Tales De Padua Grillo Souza" userId="S::200069365@aluno.unb.br::e46dbedc-b331-4b90-96de-db3d48217cea" providerId="AD" clId="Web-{82C4C594-AFE6-4119-B0B6-FFA402CEBDBB}" dt="2022-09-13T03:35:26.768" v="0"/>
        <pc:sldMkLst>
          <pc:docMk/>
          <pc:sldMk cId="0" sldId="296"/>
        </pc:sldMkLst>
      </pc:sldChg>
    </pc:docChg>
  </pc:docChgLst>
  <pc:docChgLst>
    <pc:chgData name="Hugo da Rocha Neres" userId="S::140143491@aluno.unb.br::a545e7b1-ea8b-4904-8c59-516a5ddd1fec" providerId="AD" clId="Web-{71979174-2A1D-41CA-956B-E36AC180E6E5}"/>
    <pc:docChg chg="sldOrd">
      <pc:chgData name="Hugo da Rocha Neres" userId="S::140143491@aluno.unb.br::a545e7b1-ea8b-4904-8c59-516a5ddd1fec" providerId="AD" clId="Web-{71979174-2A1D-41CA-956B-E36AC180E6E5}" dt="2023-12-01T23:19:26.928" v="0"/>
      <pc:docMkLst>
        <pc:docMk/>
      </pc:docMkLst>
      <pc:sldChg chg="ord">
        <pc:chgData name="Hugo da Rocha Neres" userId="S::140143491@aluno.unb.br::a545e7b1-ea8b-4904-8c59-516a5ddd1fec" providerId="AD" clId="Web-{71979174-2A1D-41CA-956B-E36AC180E6E5}" dt="2023-12-01T23:19:26.928" v="0"/>
        <pc:sldMkLst>
          <pc:docMk/>
          <pc:sldMk cId="0" sldId="289"/>
        </pc:sldMkLst>
      </pc:sldChg>
    </pc:docChg>
  </pc:docChgLst>
  <pc:docChgLst>
    <pc:chgData name="Matheus Estevam Lima Rocha" userId="S::211026860@aluno.unb.br::6ffa2449-38ad-497e-b150-372a372fa8f1" providerId="AD" clId="Web-{CEFC0365-37E2-461E-85B3-A1F862ED0128}"/>
    <pc:docChg chg="modSld">
      <pc:chgData name="Matheus Estevam Lima Rocha" userId="S::211026860@aluno.unb.br::6ffa2449-38ad-497e-b150-372a372fa8f1" providerId="AD" clId="Web-{CEFC0365-37E2-461E-85B3-A1F862ED0128}" dt="2023-12-03T19:34:18.504" v="1" actId="1076"/>
      <pc:docMkLst>
        <pc:docMk/>
      </pc:docMkLst>
      <pc:sldChg chg="modSp">
        <pc:chgData name="Matheus Estevam Lima Rocha" userId="S::211026860@aluno.unb.br::6ffa2449-38ad-497e-b150-372a372fa8f1" providerId="AD" clId="Web-{CEFC0365-37E2-461E-85B3-A1F862ED0128}" dt="2023-12-03T19:34:18.504" v="1" actId="1076"/>
        <pc:sldMkLst>
          <pc:docMk/>
          <pc:sldMk cId="0" sldId="289"/>
        </pc:sldMkLst>
        <pc:picChg chg="mod">
          <ac:chgData name="Matheus Estevam Lima Rocha" userId="S::211026860@aluno.unb.br::6ffa2449-38ad-497e-b150-372a372fa8f1" providerId="AD" clId="Web-{CEFC0365-37E2-461E-85B3-A1F862ED0128}" dt="2023-12-03T19:34:18.504" v="1" actId="1076"/>
          <ac:picMkLst>
            <pc:docMk/>
            <pc:sldMk cId="0" sldId="289"/>
            <ac:picMk id="4105" creationId="{00000000-0000-0000-0000-000000000000}"/>
          </ac:picMkLst>
        </pc:picChg>
      </pc:sldChg>
    </pc:docChg>
  </pc:docChgLst>
  <pc:docChgLst>
    <pc:chgData name="Hitalo Bruno Pereira Alves" userId="S::160070775@aluno.unb.br::82052842-47db-4050-afe8-359321da34fa" providerId="AD" clId="Web-{1FEE045D-F87B-4BFD-BEE5-23378AD2AF35}"/>
    <pc:docChg chg="modSld">
      <pc:chgData name="Hitalo Bruno Pereira Alves" userId="S::160070775@aluno.unb.br::82052842-47db-4050-afe8-359321da34fa" providerId="AD" clId="Web-{1FEE045D-F87B-4BFD-BEE5-23378AD2AF35}" dt="2022-04-24T15:44:02.591" v="1" actId="1076"/>
      <pc:docMkLst>
        <pc:docMk/>
      </pc:docMkLst>
      <pc:sldChg chg="modSp">
        <pc:chgData name="Hitalo Bruno Pereira Alves" userId="S::160070775@aluno.unb.br::82052842-47db-4050-afe8-359321da34fa" providerId="AD" clId="Web-{1FEE045D-F87B-4BFD-BEE5-23378AD2AF35}" dt="2022-04-24T15:44:02.591" v="1" actId="1076"/>
        <pc:sldMkLst>
          <pc:docMk/>
          <pc:sldMk cId="0" sldId="290"/>
        </pc:sldMkLst>
        <pc:spChg chg="mod">
          <ac:chgData name="Hitalo Bruno Pereira Alves" userId="S::160070775@aluno.unb.br::82052842-47db-4050-afe8-359321da34fa" providerId="AD" clId="Web-{1FEE045D-F87B-4BFD-BEE5-23378AD2AF35}" dt="2022-04-24T15:44:02.591" v="1" actId="1076"/>
          <ac:spMkLst>
            <pc:docMk/>
            <pc:sldMk cId="0" sldId="290"/>
            <ac:spMk id="153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0B516F60-5FD8-4074-ADCB-E570087D5096}" type="datetimeFigureOut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664670B8-9FCC-4265-9B09-E63F8A5738F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0698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DD298-F3E2-4B8D-8EC4-586567EFA745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82D99-1B5A-4603-A0F4-4E3D7B20D96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43A71-D0BE-479C-B989-8E750F651149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CD241-FC9A-4AB5-B874-EFC8AAAE7A9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5AC15-BB5B-4114-94D1-5FE18BA67D45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2AD12-4B19-4E13-A6D5-61012EBF627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D7430-DC67-4FA5-A999-791D865236D0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2F9D9-2278-475F-9EA7-2F0078044D2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ED9CD-EE85-484B-8194-88874918BAE0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EF129-9A5C-4170-BE2A-CA4E02D201D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5894C-37D3-41E5-BDFD-E6F389EF17D4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06221-1354-4488-989C-C912AF5BD6A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33B75-7D15-4FE9-B0FE-B05E1B1F1CB1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7E625-D181-48E7-819F-596AD5C5BAB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16526-D9A0-471A-A05D-CA9B324B5ADE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38420-D7B6-4DC2-B387-44529553803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CC186-7F60-4AFF-B948-6C2781ADA3DA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06DF9-99B0-4BFE-8F03-A3E289CFC3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BF983-A1E5-4657-BB08-1EEA784EDB52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E0CFC-0B74-4FFD-91D8-FEA83CF937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06D6E-6A0E-4486-A03D-B1212000EC22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4D7D5-6BE7-4DDB-870D-170F6CCE4E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DD298-F3E2-4B8D-8EC4-586567EFA745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82D99-1B5A-4603-A0F4-4E3D7B20D964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43A71-D0BE-479C-B989-8E750F651149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CD241-FC9A-4AB5-B874-EFC8AAAE7A91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5AC15-BB5B-4114-94D1-5FE18BA67D45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2AD12-4B19-4E13-A6D5-61012EBF627A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D7430-DC67-4FA5-A999-791D865236D0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2F9D9-2278-475F-9EA7-2F0078044D23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ED9CD-EE85-484B-8194-88874918BAE0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EF129-9A5C-4170-BE2A-CA4E02D201D6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5894C-37D3-41E5-BDFD-E6F389EF17D4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06221-1354-4488-989C-C912AF5BD6A0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33B75-7D15-4FE9-B0FE-B05E1B1F1CB1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7E625-D181-48E7-819F-596AD5C5BABD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16526-D9A0-471A-A05D-CA9B324B5ADE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38420-D7B6-4DC2-B387-44529553803D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CC186-7F60-4AFF-B948-6C2781ADA3DA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06DF9-99B0-4BFE-8F03-A3E289CFC3DA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BF983-A1E5-4657-BB08-1EEA784EDB52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E0CFC-0B74-4FFD-91D8-FEA83CF9375A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06D6E-6A0E-4486-A03D-B1212000EC22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4D7D5-6BE7-4DDB-870D-170F6CCE4EE6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4D0898F-F34B-4F8D-9E2C-71A564B4F717}" type="datetime1">
              <a:rPr lang="pt-BR"/>
              <a:pPr>
                <a:defRPr/>
              </a:pPr>
              <a:t>09/02/2025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0D37AE5-72D5-44A8-AC51-30CE9282D5E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4D0898F-F34B-4F8D-9E2C-71A564B4F717}" type="datetime1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09/02/2025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0D37AE5-72D5-44A8-AC51-30CE9282D5E6}" type="slidenum">
              <a:rPr lang="pt-B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CaixaDeTexto 9"/>
          <p:cNvSpPr txBox="1">
            <a:spLocks noChangeArrowheads="1"/>
          </p:cNvSpPr>
          <p:nvPr/>
        </p:nvSpPr>
        <p:spPr bwMode="auto">
          <a:xfrm>
            <a:off x="1071563" y="2370138"/>
            <a:ext cx="26622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4000" b="1">
                <a:solidFill>
                  <a:schemeClr val="bg1"/>
                </a:solidFill>
                <a:cs typeface="Arial" charset="0"/>
              </a:rPr>
              <a:t>Capítulo 9</a:t>
            </a:r>
          </a:p>
        </p:txBody>
      </p:sp>
      <p:sp>
        <p:nvSpPr>
          <p:cNvPr id="2051" name="CaixaDeTexto 4"/>
          <p:cNvSpPr txBox="1">
            <a:spLocks noChangeArrowheads="1"/>
          </p:cNvSpPr>
          <p:nvPr/>
        </p:nvSpPr>
        <p:spPr bwMode="auto">
          <a:xfrm>
            <a:off x="1184275" y="3078163"/>
            <a:ext cx="374491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000">
                <a:cs typeface="Arial" charset="0"/>
              </a:rPr>
              <a:t>O modelo CAPM e o apreçamento de ativos </a:t>
            </a:r>
          </a:p>
          <a:p>
            <a:r>
              <a:rPr lang="pt-BR" sz="2000">
                <a:cs typeface="Arial" charset="0"/>
              </a:rPr>
              <a:t>com risco</a:t>
            </a:r>
          </a:p>
        </p:txBody>
      </p:sp>
      <p:cxnSp>
        <p:nvCxnSpPr>
          <p:cNvPr id="4" name="Conector reto 3"/>
          <p:cNvCxnSpPr/>
          <p:nvPr/>
        </p:nvCxnSpPr>
        <p:spPr>
          <a:xfrm>
            <a:off x="1071563" y="3071813"/>
            <a:ext cx="3786187" cy="1587"/>
          </a:xfrm>
          <a:prstGeom prst="line">
            <a:avLst/>
          </a:prstGeom>
          <a:ln w="15875" cmpd="sng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CaixaDeTexto 5"/>
          <p:cNvSpPr txBox="1">
            <a:spLocks noChangeArrowheads="1"/>
          </p:cNvSpPr>
          <p:nvPr/>
        </p:nvSpPr>
        <p:spPr bwMode="auto">
          <a:xfrm>
            <a:off x="1123950" y="2357438"/>
            <a:ext cx="28051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4000" b="1">
                <a:solidFill>
                  <a:srgbClr val="2C5DAA"/>
                </a:solidFill>
                <a:cs typeface="Arial" charset="0"/>
              </a:rPr>
              <a:t>Capítulo 9 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3075" name="CaixaDeTexto 6"/>
          <p:cNvSpPr txBox="1">
            <a:spLocks noChangeArrowheads="1"/>
          </p:cNvSpPr>
          <p:nvPr/>
        </p:nvSpPr>
        <p:spPr bwMode="auto">
          <a:xfrm>
            <a:off x="1643063" y="2681288"/>
            <a:ext cx="6286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Exemplo de linha de mercado de capitais (LMC):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307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BCF19290-2330-4F49-81A1-F7BE6628A835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2913" y="3357563"/>
            <a:ext cx="5930900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292100" dist="139700" dir="2700000" algn="ctr" rotWithShape="0">
              <a:srgbClr val="000000">
                <a:alpha val="65000"/>
              </a:srgbClr>
            </a:outerShdw>
          </a:effectLst>
        </p:spPr>
      </p:pic>
      <p:sp>
        <p:nvSpPr>
          <p:cNvPr id="308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2616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9.1 A equação da LMC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4099" name="CaixaDeTexto 6"/>
          <p:cNvSpPr txBox="1">
            <a:spLocks noChangeArrowheads="1"/>
          </p:cNvSpPr>
          <p:nvPr/>
        </p:nvSpPr>
        <p:spPr bwMode="auto">
          <a:xfrm>
            <a:off x="1643063" y="2285992"/>
            <a:ext cx="6572250" cy="412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 dirty="0">
                <a:cs typeface="Arial" charset="0"/>
              </a:rPr>
              <a:t> A combinação mais eficiente possível de ativos com risco é chamada carteira de mercado (ponto M). </a:t>
            </a:r>
            <a:r>
              <a:rPr lang="pt-BR" sz="1600" dirty="0" err="1">
                <a:cs typeface="Arial" charset="0"/>
              </a:rPr>
              <a:t>Rf</a:t>
            </a:r>
            <a:r>
              <a:rPr lang="pt-BR" sz="1600" dirty="0">
                <a:cs typeface="Arial" charset="0"/>
              </a:rPr>
              <a:t> representa a rentabilidade dos ativos sem risco.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endParaRPr lang="pt-BR" sz="1600" dirty="0">
              <a:cs typeface="Arial" charset="0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 dirty="0">
                <a:cs typeface="Arial" charset="0"/>
              </a:rPr>
              <a:t> Menos risco → o investidor situa-se no trecho </a:t>
            </a:r>
            <a:r>
              <a:rPr lang="pt-BR" sz="1600" dirty="0" err="1">
                <a:cs typeface="Arial" charset="0"/>
              </a:rPr>
              <a:t>Rf</a:t>
            </a:r>
            <a:r>
              <a:rPr lang="pt-BR" sz="1600" dirty="0">
                <a:cs typeface="Arial" charset="0"/>
              </a:rPr>
              <a:t>-M da LMC → aplica parte de seus recursos no ativo sem risco e parte na carteira M.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endParaRPr lang="pt-BR" sz="1600" dirty="0">
              <a:cs typeface="Arial" charset="0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 dirty="0">
                <a:cs typeface="Arial" charset="0"/>
              </a:rPr>
              <a:t> Maior risco → o investidor situa-se no ponto superior a M → tomar dinheiro emprestado à taxa livre de risco e aplica na carteira M seus recursos iniciais mais esse empréstimo.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endParaRPr lang="pt-BR" sz="1600" dirty="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4101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52EACAE0-19E9-4EAB-BD1C-D7211F171F8C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 dirty="0">
              <a:solidFill>
                <a:srgbClr val="2C5DAA"/>
              </a:solidFill>
            </a:endParaRPr>
          </a:p>
        </p:txBody>
      </p:sp>
      <p:sp>
        <p:nvSpPr>
          <p:cNvPr id="4103" name="CaixaDeTexto 12"/>
          <p:cNvSpPr txBox="1">
            <a:spLocks noChangeArrowheads="1"/>
          </p:cNvSpPr>
          <p:nvPr/>
        </p:nvSpPr>
        <p:spPr bwMode="auto">
          <a:xfrm>
            <a:off x="1571625" y="1987542"/>
            <a:ext cx="2616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rgbClr val="2C5DAA"/>
                </a:solidFill>
                <a:cs typeface="Arial" charset="0"/>
              </a:rPr>
              <a:t>9.1 A equação da LMC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6147" name="CaixaDeTexto 6"/>
          <p:cNvSpPr txBox="1">
            <a:spLocks noChangeArrowheads="1"/>
          </p:cNvSpPr>
          <p:nvPr/>
        </p:nvSpPr>
        <p:spPr bwMode="auto">
          <a:xfrm>
            <a:off x="1643063" y="2822575"/>
            <a:ext cx="6357937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O trabalho do investidor pode ser separado em duas etapas: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primeira: ele toma a decisão de investimento, ou seja, seleciona a melhor carteira de ações (carteira M);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segunda: ele toma a decisão de financiamento, ou seja, dependendo da decisão anterior, ou ele aplica parte dos recursos em ativos sem risco ou capta recursos adicionais para aplicá-los na carteira M.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6149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615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3579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9.2 Decisões de investimento em incerteza: o teorema da separação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CDA2229D-9371-457C-B15E-7E09F3B67184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 dirty="0">
              <a:solidFill>
                <a:srgbClr val="2C5DAA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5123" name="CaixaDeTexto 6"/>
          <p:cNvSpPr txBox="1">
            <a:spLocks noChangeArrowheads="1"/>
          </p:cNvSpPr>
          <p:nvPr/>
        </p:nvSpPr>
        <p:spPr bwMode="auto">
          <a:xfrm>
            <a:off x="1643063" y="2428875"/>
            <a:ext cx="6286500" cy="375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Ao afirmar que a carteira M contém a combinação mais eficiente de todos os ativos com risco, queremos dizer que ela é uma carteira completamente diversificada, isto é, uma carteira que leva a diversificação ao grau extremo.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endParaRPr lang="pt-BR" sz="1600">
              <a:cs typeface="Arial" charset="0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endParaRPr lang="pt-BR" sz="1600">
              <a:cs typeface="Arial" charset="0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endParaRPr lang="pt-BR" sz="1600">
              <a:cs typeface="Arial" charset="0"/>
            </a:endParaRPr>
          </a:p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A LMC é uma representação do equilíbrio para o risco-retorno de carteiras, em que o retorno esperado da carteira é uma função linear de seu risco (desvio-padrão).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5125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47A669D3-3DA7-47CD-83DE-F9D80715DA79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3" cstate="print"/>
          <a:srcRect l="21680" t="54375" r="58398" b="35312"/>
          <a:stretch>
            <a:fillRect/>
          </a:stretch>
        </p:blipFill>
        <p:spPr bwMode="auto">
          <a:xfrm>
            <a:off x="3190875" y="4071937"/>
            <a:ext cx="2428875" cy="785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128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2616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9.1 A equação da LMC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7171" name="CaixaDeTexto 6"/>
          <p:cNvSpPr txBox="1">
            <a:spLocks noChangeArrowheads="1"/>
          </p:cNvSpPr>
          <p:nvPr/>
        </p:nvSpPr>
        <p:spPr bwMode="auto">
          <a:xfrm>
            <a:off x="1643063" y="2787650"/>
            <a:ext cx="6429375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Modelo baseado em valores esperados (modelo expectacional), em que o retorno esperado do ativo é a soma de dois fatores. O primeiro refere-se à rentabilidade dos ativos ou aplicações sem risco, o segundo, ao chamado </a:t>
            </a:r>
            <a:r>
              <a:rPr lang="pt-BR" sz="1600" i="1">
                <a:cs typeface="Arial" charset="0"/>
              </a:rPr>
              <a:t>prêmio de risco</a:t>
            </a:r>
            <a:r>
              <a:rPr lang="pt-BR" sz="1600">
                <a:cs typeface="Arial" charset="0"/>
              </a:rPr>
              <a:t>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O retorno de um ativo com risco será igual à rentabilidade do ativo sem risco mais um prêmio de risco: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endParaRPr lang="pt-BR" sz="1600">
              <a:cs typeface="Arial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7173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7174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7865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 O modelo de formação de preços de ativos com risco (CAPM)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5265FFD9-6F2E-42FE-AADE-6910B5E4CEB4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7375" y="5175250"/>
            <a:ext cx="54292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292100" dist="139700" dir="2700000" algn="ctr" rotWithShape="0">
              <a:srgbClr val="000000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8196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8A6962C9-DEC4-401D-95F7-626B0E5D3ECC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 l="17578" t="46875" r="13281" b="17500"/>
          <a:stretch>
            <a:fillRect/>
          </a:stretch>
        </p:blipFill>
        <p:spPr bwMode="auto">
          <a:xfrm>
            <a:off x="1357313" y="3163215"/>
            <a:ext cx="6654800" cy="2143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199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678656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 O modelo de formação de preços de ativos com risco (CAPM)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9220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9221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2813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9.3.1 premissas básicas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60C0A635-AFF3-47F5-82E4-CAE4FCA91E0B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 dirty="0">
              <a:solidFill>
                <a:srgbClr val="2C5DAA"/>
              </a:solidFill>
            </a:endParaRPr>
          </a:p>
        </p:txBody>
      </p:sp>
      <p:sp>
        <p:nvSpPr>
          <p:cNvPr id="9223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143625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Todos os investidores possuem as mesmas expectativas quanto aos prêmios e riscos dos ativos.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Os investidores obtêm retornos líquidos idênticos, ou seja, possuem as mesmas taxas de impostos e custos operacionais.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Não há obstáculos para os investimentos, tais como limites de empréstimo, restrições de revenda a curto prazo e limite superior para ações.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Existe um ativo livre de risco que pode ser utilizado para captar ou aplicar recursos a taxas idênticas.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0243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357938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Os investidores maximizam a utilidade esperada e são avessos </a:t>
            </a:r>
          </a:p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ao risco.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 O único risco que os investidores experimentam é o risco sistemático.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 Os mercados são perfeitos: cada investidor é um tomador de preços que não pode influenciar as cotações dos títulos. Não há custos de transação e nenhum custo para obter informações.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10245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E5A0E07A-8029-4BEB-A342-A6EBB94FEE5C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 dirty="0">
              <a:solidFill>
                <a:srgbClr val="2C5DAA"/>
              </a:solidFill>
            </a:endParaRPr>
          </a:p>
        </p:txBody>
      </p:sp>
      <p:sp>
        <p:nvSpPr>
          <p:cNvPr id="10247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2813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9.3.1 premissas básicas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1267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2865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O beta é igual à covariância entre os retornos do título e os retornos da carteira de mercado dividida pela variância dos retornos da carteira de mercado: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11269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1127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345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9.3.2 O beta no modelo CAPM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71D1595A-297A-4D71-B0B2-1B89286C62A8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 cstate="print"/>
          <a:srcRect l="18750" t="38438" r="18554" b="41874"/>
          <a:stretch>
            <a:fillRect/>
          </a:stretch>
        </p:blipFill>
        <p:spPr bwMode="auto">
          <a:xfrm>
            <a:off x="2714625" y="4143375"/>
            <a:ext cx="3500438" cy="687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2291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429375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Determine o retorno esperado de uma carteira diversificada e eficiente, considerando:</a:t>
            </a:r>
          </a:p>
          <a:p>
            <a:pPr>
              <a:lnSpc>
                <a:spcPct val="150000"/>
              </a:lnSpc>
            </a:pPr>
            <a:endParaRPr lang="pt-BR" sz="1600">
              <a:cs typeface="Arial" charset="0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rentabilidade dos ativos sem risco = 6%;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rentabilidade esperada da carteira de mercado = 10%;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risco (desvio-padrão) da carteira de mercado = 4%;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sz="1600">
                <a:cs typeface="Arial" charset="0"/>
              </a:rPr>
              <a:t> risco (desvio-padrão) da carteira = 4,5%.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12293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75715811-73E4-4771-9185-BC14ED8B59EB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 dirty="0">
              <a:solidFill>
                <a:srgbClr val="2C5DAA"/>
              </a:solidFill>
            </a:endParaRPr>
          </a:p>
        </p:txBody>
      </p:sp>
      <p:sp>
        <p:nvSpPr>
          <p:cNvPr id="12295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345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9.3.2 O beta no modelo CAPM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3315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429375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Como se trata de uma carteira diversificada, eficiente e altamente correlacionada com o mercado, seu retorno esperado pode ser estimado pela LMC do seguinte modo: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13317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1AEEE2ED-A3F5-48BC-93EE-402E58840DDF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 l="22266" t="54375" r="22070" b="34375"/>
          <a:stretch>
            <a:fillRect/>
          </a:stretch>
        </p:blipFill>
        <p:spPr bwMode="auto">
          <a:xfrm>
            <a:off x="1643063" y="4000500"/>
            <a:ext cx="5214937" cy="658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32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345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9.3.2 O beta no modelo CAPM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4339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42937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Retornos do título i e do mercado em cinco períodos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14341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3A611673-0FF7-43D8-87C9-B5A8DF654713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 l="19336" t="24375" r="15625" b="27812"/>
          <a:stretch>
            <a:fillRect/>
          </a:stretch>
        </p:blipFill>
        <p:spPr bwMode="auto">
          <a:xfrm>
            <a:off x="1643063" y="3203575"/>
            <a:ext cx="5803900" cy="26654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344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345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9.3.2 O beta no modelo CAPM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3"/>
          <p:cNvSpPr txBox="1">
            <a:spLocks noChangeArrowheads="1"/>
          </p:cNvSpPr>
          <p:nvPr/>
        </p:nvSpPr>
        <p:spPr bwMode="auto">
          <a:xfrm>
            <a:off x="214313" y="6624295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5363" name="CaixaDeTexto 6"/>
          <p:cNvSpPr txBox="1">
            <a:spLocks noChangeArrowheads="1"/>
          </p:cNvSpPr>
          <p:nvPr/>
        </p:nvSpPr>
        <p:spPr bwMode="auto">
          <a:xfrm>
            <a:off x="1571625" y="2681288"/>
            <a:ext cx="6286500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Supondo que o beta não varie ao longo do tempo, podemos estimá-lo relacionando linearmente os retornos históricos do título i com os do índice de mercado, ou seja, podemos estabelecer a relação regredindo linearmente os retornos do título e do índice de mercado.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15365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15366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2686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9.3.3 Estimando o beta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2113AAF3-2228-4000-9212-1B7A413A05CA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7563" y="4572000"/>
            <a:ext cx="2571750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292100" dist="139700" dir="2700000" algn="ctr" rotWithShape="0">
              <a:srgbClr val="000000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aixaDeTexto 3"/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Carlos  Patrício Samanez</a:t>
            </a:r>
          </a:p>
        </p:txBody>
      </p:sp>
      <p:sp>
        <p:nvSpPr>
          <p:cNvPr id="16387" name="CaixaDeTexto 6"/>
          <p:cNvSpPr txBox="1">
            <a:spLocks noChangeArrowheads="1"/>
          </p:cNvSpPr>
          <p:nvPr/>
        </p:nvSpPr>
        <p:spPr bwMode="auto">
          <a:xfrm>
            <a:off x="1643063" y="2571750"/>
            <a:ext cx="62865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>
                <a:cs typeface="Arial" charset="0"/>
              </a:rPr>
              <a:t>Representa a relação de equilíbrio entre o retorno esperado e o beta de determinado ativo com risco.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643438" y="142875"/>
            <a:ext cx="450056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  <a:latin typeface="Arial" pitchFamily="34" charset="0"/>
                <a:cs typeface="Arial" pitchFamily="34" charset="0"/>
              </a:rPr>
              <a:t>Capítulo 9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cs typeface="Arial" pitchFamily="34" charset="0"/>
              </a:rPr>
              <a:t> | O modelo CAPM e o apreçamento de ativos com risco</a:t>
            </a:r>
          </a:p>
        </p:txBody>
      </p:sp>
      <p:sp>
        <p:nvSpPr>
          <p:cNvPr id="16389" name="CaixaDeTexto 10"/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000">
                <a:solidFill>
                  <a:srgbClr val="2C5DAA"/>
                </a:solidFill>
                <a:cs typeface="Arial" charset="0"/>
              </a:rPr>
              <a:t>© 2009 by Pearson Education </a:t>
            </a:r>
          </a:p>
        </p:txBody>
      </p:sp>
      <p:sp>
        <p:nvSpPr>
          <p:cNvPr id="16390" name="CaixaDeTexto 12"/>
          <p:cNvSpPr txBox="1">
            <a:spLocks noChangeArrowheads="1"/>
          </p:cNvSpPr>
          <p:nvPr/>
        </p:nvSpPr>
        <p:spPr bwMode="auto">
          <a:xfrm>
            <a:off x="1571625" y="2130425"/>
            <a:ext cx="58578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b="1">
                <a:solidFill>
                  <a:srgbClr val="2C5DAA"/>
                </a:solidFill>
                <a:cs typeface="Arial" charset="0"/>
              </a:rPr>
              <a:t>9.3.4 A linha de mercado de título (LMT)</a:t>
            </a:r>
          </a:p>
        </p:txBody>
      </p:sp>
      <p:sp>
        <p:nvSpPr>
          <p:cNvPr id="3079" name="Espaço Reservado para Número de Slide 7"/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pt-BR" dirty="0">
                <a:solidFill>
                  <a:srgbClr val="2C5DAA"/>
                </a:solidFill>
              </a:rPr>
              <a:t>Slide </a:t>
            </a:r>
            <a:fld id="{BEA51215-4EBF-4B36-84B7-89F1D296FA1D}" type="slidenum">
              <a:rPr lang="pt-BR" smtClean="0">
                <a:solidFill>
                  <a:srgbClr val="2C5DAA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 dirty="0">
              <a:solidFill>
                <a:srgbClr val="2C5DAA"/>
              </a:solidFill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/>
          <a:srcRect l="30469" t="17812" r="25000" b="30625"/>
          <a:stretch>
            <a:fillRect/>
          </a:stretch>
        </p:blipFill>
        <p:spPr bwMode="auto">
          <a:xfrm>
            <a:off x="3071813" y="3500438"/>
            <a:ext cx="2862262" cy="2071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aixaDeTexto 6"/>
          <p:cNvSpPr txBox="1">
            <a:spLocks noChangeArrowheads="1"/>
          </p:cNvSpPr>
          <p:nvPr/>
        </p:nvSpPr>
        <p:spPr bwMode="auto">
          <a:xfrm>
            <a:off x="1643063" y="980728"/>
            <a:ext cx="6286500" cy="549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arenR"/>
            </a:pPr>
            <a:r>
              <a:rPr lang="pt-BR" dirty="0">
                <a:cs typeface="Arial" charset="0"/>
              </a:rPr>
              <a:t>No quadro abaixo são mostrados os retornos do mercado e das ações da empresa y em 3 períodos:</a:t>
            </a:r>
          </a:p>
          <a:p>
            <a:pPr marL="342900" indent="-342900" algn="just">
              <a:lnSpc>
                <a:spcPct val="150000"/>
              </a:lnSpc>
            </a:pPr>
            <a:endParaRPr lang="pt-BR" dirty="0"/>
          </a:p>
          <a:p>
            <a:pPr marL="342900" indent="-342900" algn="just">
              <a:lnSpc>
                <a:spcPct val="150000"/>
              </a:lnSpc>
            </a:pPr>
            <a:endParaRPr lang="pt-BR" dirty="0">
              <a:cs typeface="Arial" charset="0"/>
            </a:endParaRPr>
          </a:p>
          <a:p>
            <a:pPr marL="342900" indent="-342900" algn="just">
              <a:lnSpc>
                <a:spcPct val="150000"/>
              </a:lnSpc>
            </a:pPr>
            <a:endParaRPr lang="pt-BR" dirty="0"/>
          </a:p>
          <a:p>
            <a:pPr marL="342900" indent="-342900" algn="just">
              <a:lnSpc>
                <a:spcPct val="150000"/>
              </a:lnSpc>
            </a:pPr>
            <a:endParaRPr lang="pt-BR" dirty="0">
              <a:cs typeface="Arial" charset="0"/>
            </a:endParaRPr>
          </a:p>
          <a:p>
            <a:pPr marL="342900" indent="-342900" algn="just">
              <a:lnSpc>
                <a:spcPct val="150000"/>
              </a:lnSpc>
            </a:pPr>
            <a:endParaRPr lang="pt-BR" dirty="0"/>
          </a:p>
          <a:p>
            <a:pPr marL="342900" indent="-342900" algn="just">
              <a:lnSpc>
                <a:spcPct val="150000"/>
              </a:lnSpc>
            </a:pPr>
            <a:endParaRPr lang="pt-BR" dirty="0">
              <a:cs typeface="Arial" charset="0"/>
            </a:endParaRPr>
          </a:p>
          <a:p>
            <a:pPr marL="342900" indent="-342900" algn="just">
              <a:lnSpc>
                <a:spcPct val="150000"/>
              </a:lnSpc>
            </a:pPr>
            <a:endParaRPr lang="pt-BR" dirty="0"/>
          </a:p>
          <a:p>
            <a:pPr marL="342900" indent="-342900" algn="just">
              <a:lnSpc>
                <a:spcPct val="150000"/>
              </a:lnSpc>
            </a:pPr>
            <a:r>
              <a:rPr lang="pt-BR" dirty="0">
                <a:cs typeface="Arial" charset="0"/>
              </a:rPr>
              <a:t>	Supondo que o retorno do mercado seja 15% e a rentabilidade dos ativos sem risco (</a:t>
            </a:r>
            <a:r>
              <a:rPr lang="pt-BR" dirty="0" err="1">
                <a:cs typeface="Arial" charset="0"/>
              </a:rPr>
              <a:t>R</a:t>
            </a:r>
            <a:r>
              <a:rPr lang="pt-BR" baseline="-25000" dirty="0" err="1">
                <a:cs typeface="Arial" charset="0"/>
              </a:rPr>
              <a:t>f</a:t>
            </a:r>
            <a:r>
              <a:rPr lang="pt-BR" dirty="0">
                <a:cs typeface="Arial" charset="0"/>
              </a:rPr>
              <a:t>) 12%, determine a) o beta da empresa y e b) o custo do capital próprio da empresa y.</a:t>
            </a:r>
          </a:p>
        </p:txBody>
      </p:sp>
      <p:sp>
        <p:nvSpPr>
          <p:cNvPr id="16390" name="CaixaDeTexto 12"/>
          <p:cNvSpPr txBox="1">
            <a:spLocks noChangeArrowheads="1"/>
          </p:cNvSpPr>
          <p:nvPr/>
        </p:nvSpPr>
        <p:spPr bwMode="auto">
          <a:xfrm>
            <a:off x="1810469" y="620688"/>
            <a:ext cx="5857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pt-BR" sz="2000" b="1" dirty="0">
                <a:cs typeface="Arial" charset="0"/>
              </a:rPr>
              <a:t>Exerc</a:t>
            </a:r>
            <a:r>
              <a:rPr lang="pt-BR" sz="2000" dirty="0"/>
              <a:t>ícios:</a:t>
            </a:r>
            <a:endParaRPr lang="pt-BR" sz="2000" b="1" dirty="0">
              <a:cs typeface="Arial" charset="0"/>
            </a:endParaRP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6D264C-4EBB-4BD4-B3ED-2E1B2B2DE2DF}" type="slidenum">
              <a:rPr lang="pt-BR" smtClean="0"/>
              <a:pPr>
                <a:defRPr/>
              </a:pPr>
              <a:t>16</a:t>
            </a:fld>
            <a:endParaRPr lang="pt-BR"/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051720" y="2060848"/>
          <a:ext cx="6096000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Retorno mercado % </a:t>
                      </a:r>
                    </a:p>
                    <a:p>
                      <a:r>
                        <a:rPr lang="pt-BR" sz="1400" dirty="0" err="1"/>
                        <a:t>R</a:t>
                      </a:r>
                      <a:r>
                        <a:rPr lang="pt-BR" sz="1400" baseline="-25000" dirty="0" err="1"/>
                        <a:t>m</a:t>
                      </a:r>
                      <a:endParaRPr lang="pt-BR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Retorno da ação % </a:t>
                      </a:r>
                    </a:p>
                    <a:p>
                      <a:r>
                        <a:rPr lang="pt-BR" sz="1400" dirty="0" err="1"/>
                        <a:t>R</a:t>
                      </a:r>
                      <a:r>
                        <a:rPr lang="pt-BR" sz="1400" baseline="-25000" dirty="0" err="1"/>
                        <a:t>y</a:t>
                      </a:r>
                      <a:endParaRPr lang="pt-BR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Covariância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Média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Total = -1/3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aixaDeTexto 6"/>
          <p:cNvSpPr txBox="1">
            <a:spLocks noChangeArrowheads="1"/>
          </p:cNvSpPr>
          <p:nvPr/>
        </p:nvSpPr>
        <p:spPr bwMode="auto">
          <a:xfrm>
            <a:off x="1643063" y="784326"/>
            <a:ext cx="6286500" cy="4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pt-BR" dirty="0">
                <a:cs typeface="Arial" charset="0"/>
              </a:rPr>
              <a:t>2)	Um investidor avesso ao risco deve escolher um entre três títulos com risco. Considerando o retorno dos ativos sem risco igual a 5% e as informações seguintes, a) identifique a melhor alternativa de investimento.</a:t>
            </a:r>
            <a:endParaRPr lang="pt-BR" dirty="0"/>
          </a:p>
          <a:p>
            <a:pPr marL="342900" indent="-342900" algn="just">
              <a:lnSpc>
                <a:spcPct val="150000"/>
              </a:lnSpc>
            </a:pPr>
            <a:endParaRPr lang="pt-BR" dirty="0">
              <a:cs typeface="Arial" charset="0"/>
            </a:endParaRPr>
          </a:p>
          <a:p>
            <a:pPr marL="342900" indent="-342900" algn="just">
              <a:lnSpc>
                <a:spcPct val="150000"/>
              </a:lnSpc>
            </a:pPr>
            <a:endParaRPr lang="pt-BR" dirty="0"/>
          </a:p>
          <a:p>
            <a:pPr marL="342900" indent="-342900" algn="just">
              <a:lnSpc>
                <a:spcPct val="150000"/>
              </a:lnSpc>
            </a:pPr>
            <a:endParaRPr lang="pt-BR" dirty="0">
              <a:cs typeface="Arial" charset="0"/>
            </a:endParaRPr>
          </a:p>
          <a:p>
            <a:pPr marL="342900" indent="-342900" algn="just">
              <a:lnSpc>
                <a:spcPct val="150000"/>
              </a:lnSpc>
            </a:pPr>
            <a:endParaRPr lang="pt-BR" dirty="0"/>
          </a:p>
          <a:p>
            <a:pPr marL="342900" indent="-342900" algn="just">
              <a:lnSpc>
                <a:spcPct val="150000"/>
              </a:lnSpc>
            </a:pPr>
            <a:endParaRPr lang="pt-BR" dirty="0"/>
          </a:p>
          <a:p>
            <a:pPr marL="342900" indent="-342900" algn="just">
              <a:lnSpc>
                <a:spcPct val="150000"/>
              </a:lnSpc>
            </a:pPr>
            <a:r>
              <a:rPr lang="pt-BR" dirty="0">
                <a:cs typeface="Arial" charset="0"/>
              </a:rPr>
              <a:t>	b) Supondo que o investidor queira aplicar nos três ativos e no ativo sem risco (</a:t>
            </a:r>
            <a:r>
              <a:rPr lang="pt-BR" dirty="0" err="1">
                <a:cs typeface="Arial" charset="0"/>
              </a:rPr>
              <a:t>R</a:t>
            </a:r>
            <a:r>
              <a:rPr lang="pt-BR" baseline="-25000" dirty="0" err="1">
                <a:cs typeface="Arial" charset="0"/>
              </a:rPr>
              <a:t>f</a:t>
            </a:r>
            <a:r>
              <a:rPr lang="pt-BR" dirty="0">
                <a:cs typeface="Arial" charset="0"/>
              </a:rPr>
              <a:t>) em proporções iguais, qual o retorno e o risco da carteira sabendo-se que: </a:t>
            </a:r>
            <a:r>
              <a:rPr lang="el-GR" dirty="0">
                <a:cs typeface="Arial" charset="0"/>
              </a:rPr>
              <a:t>ρ</a:t>
            </a:r>
            <a:r>
              <a:rPr lang="pt-BR" baseline="-25000" dirty="0" err="1">
                <a:cs typeface="Arial" charset="0"/>
              </a:rPr>
              <a:t>xy</a:t>
            </a:r>
            <a:r>
              <a:rPr lang="pt-BR" dirty="0">
                <a:cs typeface="Arial" charset="0"/>
              </a:rPr>
              <a:t> = 0,2   </a:t>
            </a:r>
            <a:r>
              <a:rPr lang="el-GR" dirty="0">
                <a:cs typeface="Arial" charset="0"/>
              </a:rPr>
              <a:t>ρ</a:t>
            </a:r>
            <a:r>
              <a:rPr lang="pt-BR" baseline="-25000" dirty="0" err="1">
                <a:cs typeface="Arial" charset="0"/>
              </a:rPr>
              <a:t>xz</a:t>
            </a:r>
            <a:r>
              <a:rPr lang="pt-BR" baseline="-25000" dirty="0">
                <a:cs typeface="Arial" charset="0"/>
              </a:rPr>
              <a:t> </a:t>
            </a:r>
            <a:r>
              <a:rPr lang="pt-BR" dirty="0">
                <a:cs typeface="Arial" charset="0"/>
              </a:rPr>
              <a:t>= - 0,6   </a:t>
            </a:r>
            <a:r>
              <a:rPr lang="el-GR" dirty="0">
                <a:cs typeface="Arial" charset="0"/>
              </a:rPr>
              <a:t>ρ</a:t>
            </a:r>
            <a:r>
              <a:rPr lang="pt-BR" baseline="-25000" dirty="0" err="1">
                <a:cs typeface="Arial" charset="0"/>
              </a:rPr>
              <a:t>yz</a:t>
            </a:r>
            <a:r>
              <a:rPr lang="pt-BR" dirty="0">
                <a:cs typeface="Arial" charset="0"/>
              </a:rPr>
              <a:t> =  - 0,2.</a:t>
            </a:r>
          </a:p>
        </p:txBody>
      </p:sp>
      <p:sp>
        <p:nvSpPr>
          <p:cNvPr id="16390" name="CaixaDeTexto 12"/>
          <p:cNvSpPr txBox="1">
            <a:spLocks noChangeArrowheads="1"/>
          </p:cNvSpPr>
          <p:nvPr/>
        </p:nvSpPr>
        <p:spPr bwMode="auto">
          <a:xfrm>
            <a:off x="1810469" y="260648"/>
            <a:ext cx="5857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pt-BR" sz="2000" b="1" dirty="0">
                <a:cs typeface="Arial" charset="0"/>
              </a:rPr>
              <a:t>Exerc</a:t>
            </a:r>
            <a:r>
              <a:rPr lang="pt-BR" sz="2000" dirty="0"/>
              <a:t>ícios:</a:t>
            </a:r>
            <a:endParaRPr lang="pt-BR" sz="2000" b="1" dirty="0">
              <a:cs typeface="Arial" charset="0"/>
            </a:endParaRP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6D264C-4EBB-4BD4-B3ED-2E1B2B2DE2DF}" type="slidenum">
              <a:rPr lang="pt-BR" smtClean="0"/>
              <a:pPr>
                <a:defRPr/>
              </a:pPr>
              <a:t>17</a:t>
            </a:fld>
            <a:endParaRPr lang="pt-BR"/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051720" y="2636912"/>
          <a:ext cx="4572000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Título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Retorno esperado R %</a:t>
                      </a:r>
                      <a:endParaRPr lang="pt-BR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Risco (</a:t>
                      </a:r>
                      <a:r>
                        <a:rPr lang="el-GR" sz="1400" dirty="0"/>
                        <a:t>σ</a:t>
                      </a:r>
                      <a:r>
                        <a:rPr lang="pt-BR" sz="1400" dirty="0"/>
                        <a:t>) 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Data xmlns="f244cccc-9ebe-487b-9f49-451c84d31f5d">2024-05-27T23:09:37+00:00</Data>
    <grupo13_x002d_MarceloPassos xmlns="f244cccc-9ebe-487b-9f49-451c84d31f5d" xsi:nil="true"/>
  </documentManagement>
</p:properties>
</file>

<file path=customXml/itemProps1.xml><?xml version="1.0" encoding="utf-8"?>
<ds:datastoreItem xmlns:ds="http://schemas.openxmlformats.org/officeDocument/2006/customXml" ds:itemID="{0B44B1B1-94EC-411C-907B-129D29DB2730}"/>
</file>

<file path=customXml/itemProps2.xml><?xml version="1.0" encoding="utf-8"?>
<ds:datastoreItem xmlns:ds="http://schemas.openxmlformats.org/officeDocument/2006/customXml" ds:itemID="{99BDE1D0-5E07-4129-875E-3461C64A74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B27262-090A-4E1D-80D7-5F85B12263CA}">
  <ds:schemaRefs>
    <ds:schemaRef ds:uri="http://schemas.microsoft.com/office/2006/metadata/properties"/>
    <ds:schemaRef ds:uri="http://schemas.microsoft.com/office/infopath/2007/PartnerControls"/>
    <ds:schemaRef ds:uri="f244cccc-9ebe-487b-9f49-451c84d31f5d"/>
    <ds:schemaRef ds:uri="6d1e6d4d-286d-4a1d-879b-bd877680a1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1182</Words>
  <Application>Microsoft Office PowerPoint</Application>
  <PresentationFormat>Apresentação na tela (4:3)</PresentationFormat>
  <Paragraphs>182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19" baseType="lpstr"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lastModifiedBy>João Carlos Felix Souza</cp:lastModifiedBy>
  <cp:revision>141</cp:revision>
  <cp:lastPrinted>2018-09-14T18:44:46Z</cp:lastPrinted>
  <dcterms:created xsi:type="dcterms:W3CDTF">2009-04-20T19:30:33Z</dcterms:created>
  <dcterms:modified xsi:type="dcterms:W3CDTF">2025-02-09T14:11:04Z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  <property fmtid="{D5CDD505-2E9C-101B-9397-08002B2CF9AE}" pid="3" name="MediaServiceImageTags">
    <vt:lpwstr/>
  </property>
</Properties>
</file>
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4"/>
  </p:notesMasterIdLst>
  <p:sldIdLst>
    <p:sldId id="280" r:id="rId5"/>
    <p:sldId id="282" r:id="rId6"/>
    <p:sldId id="283" r:id="rId7"/>
    <p:sldId id="293" r:id="rId8"/>
    <p:sldId id="294" r:id="rId9"/>
    <p:sldId id="295" r:id="rId10"/>
    <p:sldId id="296" r:id="rId11"/>
    <p:sldId id="297" r:id="rId12"/>
    <p:sldId id="298" r:id="rId13"/>
    <p:sldId id="299" r:id="rId14"/>
    <p:sldId id="284" r:id="rId15"/>
    <p:sldId id="285" r:id="rId16"/>
    <p:sldId id="286" r:id="rId17"/>
    <p:sldId id="287" r:id="rId18"/>
    <p:sldId id="292" r:id="rId19"/>
    <p:sldId id="288" r:id="rId20"/>
    <p:sldId id="289" r:id="rId21"/>
    <p:sldId id="290" r:id="rId22"/>
    <p:sldId id="291" r:id="rId23"/>
  </p:sldIdLst>
  <p:sldSz cx="9144000" cy="6858000" type="screen4x3"/>
  <p:notesSz cx="7104063" cy="10234613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5DAA"/>
    <a:srgbClr val="777777"/>
    <a:srgbClr val="0196D8"/>
    <a:srgbClr val="2771A0"/>
    <a:srgbClr val="792612"/>
    <a:srgbClr val="B98357"/>
    <a:srgbClr val="F7FCF5"/>
    <a:srgbClr val="F121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62" autoAdjust="0"/>
    <p:restoredTop sz="94660"/>
  </p:normalViewPr>
  <p:slideViewPr>
    <p:cSldViewPr>
      <p:cViewPr varScale="1">
        <p:scale>
          <a:sx n="70" d="100"/>
          <a:sy n="70" d="100"/>
        </p:scale>
        <p:origin x="13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20918426-F81C-7B03-952A-DF3F35F368B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1175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23FBC42-AEEE-DFDF-6085-3A9BFF3E69A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1175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fld id="{2E5F314F-0890-4ED4-848D-41A036CBED65}" type="datetimeFigureOut">
              <a:rPr lang="pt-BR"/>
              <a:pPr>
                <a:defRPr/>
              </a:pPr>
              <a:t>08/02/2025</a:t>
            </a:fld>
            <a:endParaRPr lang="pt-BR"/>
          </a:p>
        </p:txBody>
      </p:sp>
      <p:sp>
        <p:nvSpPr>
          <p:cNvPr id="4" name="Espaço Reservado para Imagem de Slide 3">
            <a:extLst>
              <a:ext uri="{FF2B5EF4-FFF2-40B4-BE49-F238E27FC236}">
                <a16:creationId xmlns:a16="http://schemas.microsoft.com/office/drawing/2014/main" id="{0B5EB0EF-0C66-4B36-B5B8-AD0524A91C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95363" y="768350"/>
            <a:ext cx="5113337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pPr lvl="0"/>
            <a:endParaRPr lang="pt-BR" noProof="0"/>
          </a:p>
        </p:txBody>
      </p:sp>
      <p:sp>
        <p:nvSpPr>
          <p:cNvPr id="5" name="Espaço Reservado para Anotações 4">
            <a:extLst>
              <a:ext uri="{FF2B5EF4-FFF2-40B4-BE49-F238E27FC236}">
                <a16:creationId xmlns:a16="http://schemas.microsoft.com/office/drawing/2014/main" id="{2E17370F-4972-8A97-673B-3A8763FD83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11200" y="4860925"/>
            <a:ext cx="5683250" cy="4605338"/>
          </a:xfrm>
          <a:prstGeom prst="rect">
            <a:avLst/>
          </a:prstGeom>
        </p:spPr>
        <p:txBody>
          <a:bodyPr vert="horz" lIns="99075" tIns="49538" rIns="99075" bIns="49538" rtlCol="0">
            <a:normAutofit/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3261A04-990C-8336-97FF-98AAB7FB7A6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1175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E333897-3AF0-3E3A-4598-B9537D4349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1175"/>
          </a:xfrm>
          <a:prstGeom prst="rect">
            <a:avLst/>
          </a:prstGeom>
        </p:spPr>
        <p:txBody>
          <a:bodyPr vert="horz" wrap="square" lIns="99075" tIns="49538" rIns="99075" bIns="49538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Calibri" panose="020F0502020204030204" pitchFamily="34" charset="0"/>
              </a:defRPr>
            </a:lvl1pPr>
          </a:lstStyle>
          <a:p>
            <a:fld id="{86EE2B92-ABB7-4671-9BA9-AE848A60B220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2BF821E-90D0-BDD1-36C3-262F62B19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7B5D9A-4AEA-46EB-97B3-19B742CAE3A1}" type="datetime1">
              <a:rPr lang="pt-BR"/>
              <a:pPr>
                <a:defRPr/>
              </a:pPr>
              <a:t>08/02/2025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90812A-014A-D60D-1DFE-B9D2E3799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A319CB2-7077-DB66-D312-DA9709A66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2B0A84-9A3E-4EE8-B39E-D8FE7C850AD7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904133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0C60AC-C83B-9350-E978-933051910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476578-F02C-4FDE-A567-E1CCF270FBBB}" type="datetime1">
              <a:rPr lang="pt-BR"/>
              <a:pPr>
                <a:defRPr/>
              </a:pPr>
              <a:t>08/02/2025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0CA0825-0C6F-8548-8850-229CDBAF6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2CD6FC2-9549-21AB-C6FE-F7F8B39D8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C14775-D897-4BCA-ABFC-764FA2146E4F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249855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8F8B10-379F-17B6-C23A-0930A6C01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83847C-F823-47C2-836A-3F58851C1167}" type="datetime1">
              <a:rPr lang="pt-BR"/>
              <a:pPr>
                <a:defRPr/>
              </a:pPr>
              <a:t>08/02/2025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73C336-4182-A6C3-56EE-05FC052D3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46CA1A1-3BA1-ED9D-05CE-C64960E7F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C2AE03-9EAA-4825-A4D9-CF362EFB6E56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543892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E07875E3-DA1F-B5A2-537B-63729E627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8D09ED-0A7E-49B0-8C23-A0C5E281EB9F}" type="datetime1">
              <a:rPr lang="pt-BR"/>
              <a:pPr>
                <a:defRPr/>
              </a:pPr>
              <a:t>08/02/2025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A7FE8631-5499-6E41-8007-A361A4313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8FDDD4F8-FDF1-8063-4727-96D049522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BB5808-9C90-4954-AB4A-56888094CA2F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655047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CFAE4D97-FF25-D58A-143B-DB5AF9DBC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C166E8-BB7E-4871-B73C-1EAA145624F6}" type="datetime1">
              <a:rPr lang="pt-BR"/>
              <a:pPr>
                <a:defRPr/>
              </a:pPr>
              <a:t>08/02/2025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BAAFB961-9557-EFD9-17B1-7F88C7624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F14DE990-217D-D6D0-C2FE-C95D2D106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B2766D-A99B-4D45-990C-C0142B2D7516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744775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D42214AA-7658-1096-020C-80FEB9348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4AE412-8A6C-4DC5-A19E-183F2055A933}" type="datetime1">
              <a:rPr lang="pt-BR"/>
              <a:pPr>
                <a:defRPr/>
              </a:pPr>
              <a:t>08/02/2025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539531EA-B535-1664-33C3-ED9BD2155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16FA18F8-29CF-18C1-9AA9-4666270B0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96E093-84D0-4AB6-98B3-F9DF755AC047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377988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C4C69201-CE53-2D58-0BEE-EBD73B622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58AEEB-5709-4B42-A0C5-C4F0BE9E0BBD}" type="datetime1">
              <a:rPr lang="pt-BR"/>
              <a:pPr>
                <a:defRPr/>
              </a:pPr>
              <a:t>08/02/2025</a:t>
            </a:fld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0E15967E-A7DF-B700-C3A4-A3F503753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A851FCF5-5438-56B1-BBBB-FD8E270D5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862BC8-4846-421E-B5F0-50DABCB33A33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273565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488FB870-58B2-C886-5843-CD1D9FE07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539160-F076-45BE-AB7D-3471EB31CF1B}" type="datetime1">
              <a:rPr lang="pt-BR"/>
              <a:pPr>
                <a:defRPr/>
              </a:pPr>
              <a:t>08/02/2025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17EC6C2B-59F4-4CBA-D223-B4CDE72AB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E4E8DB1F-94D4-8772-8B91-FF7BB5430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DB7C86-5039-4893-A95D-EABAB68E7554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152805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97622BCE-879A-2470-54A4-24DEC632C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114B2F-3384-4325-AC50-6217BECC31AD}" type="datetime1">
              <a:rPr lang="pt-BR"/>
              <a:pPr>
                <a:defRPr/>
              </a:pPr>
              <a:t>08/02/2025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0106B51A-9C04-B625-70EF-31577F155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96556D64-B9F4-646A-F399-31C08471D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A786FF-56A9-4863-BDF8-EC28B5992639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863311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9D0DE6-EC0A-5472-CD11-CFCB008A7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1CCE13-8F33-4D67-B0F5-567C0AA05609}" type="datetime1">
              <a:rPr lang="pt-BR"/>
              <a:pPr>
                <a:defRPr/>
              </a:pPr>
              <a:t>08/02/2025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6AC2FF9-2F00-7C88-8295-64CA7CED7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9F9D28F-7598-C08E-66AB-547FC0111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265F64-4E82-4841-B6B7-31D695666B79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240205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0A2C811-61A6-2417-A2E0-FB89EB533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8FB3F9-59D2-4FBE-896B-3E36BD6FEC16}" type="datetime1">
              <a:rPr lang="pt-BR"/>
              <a:pPr>
                <a:defRPr/>
              </a:pPr>
              <a:t>08/02/2025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BCFC657-15DA-DDB9-0238-639DBF730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564126A-97BC-6D82-1633-C84CF3EDE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28A09D-A977-4F00-9DFF-61B94059F796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070031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D725457E-6180-4D3B-1D2E-C3610847D30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F1EA78B8-7236-D573-BDBA-107550E189F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D4CD341-A78B-A493-9863-35AC9D1B8A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FC89B7E-A84A-4376-A311-ED2CFBCB6559}" type="datetime1">
              <a:rPr lang="pt-BR"/>
              <a:pPr>
                <a:defRPr/>
              </a:pPr>
              <a:t>08/02/2025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922CC16-81D1-6073-E40C-DE5C191973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A1D54AD-B6BE-A10F-F3EC-4E5F3F28CE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12B1D474-CCBB-408D-A9F6-1D134E1D6B8A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3.bin"/><Relationship Id="rId10" Type="http://schemas.openxmlformats.org/officeDocument/2006/relationships/image" Target="../media/image7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5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9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w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CaixaDeTexto 9">
            <a:extLst>
              <a:ext uri="{FF2B5EF4-FFF2-40B4-BE49-F238E27FC236}">
                <a16:creationId xmlns:a16="http://schemas.microsoft.com/office/drawing/2014/main" id="{3C9E90F2-81C1-8D90-4BA0-84BA58C9B3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1563" y="2370138"/>
            <a:ext cx="266223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4000" b="1">
                <a:solidFill>
                  <a:schemeClr val="bg1"/>
                </a:solidFill>
                <a:latin typeface="Arial" panose="020B0604020202020204" pitchFamily="34" charset="0"/>
              </a:rPr>
              <a:t>Capítulo 6</a:t>
            </a:r>
          </a:p>
        </p:txBody>
      </p:sp>
      <p:sp>
        <p:nvSpPr>
          <p:cNvPr id="3075" name="CaixaDeTexto 4">
            <a:extLst>
              <a:ext uri="{FF2B5EF4-FFF2-40B4-BE49-F238E27FC236}">
                <a16:creationId xmlns:a16="http://schemas.microsoft.com/office/drawing/2014/main" id="{859409BA-1F11-D1A1-CB6F-84CC13F7FC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4275" y="3078163"/>
            <a:ext cx="37449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2000">
                <a:latin typeface="Arial" panose="020B0604020202020204" pitchFamily="34" charset="0"/>
              </a:rPr>
              <a:t>Financiamentos: leasing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2000">
                <a:latin typeface="Arial" panose="020B0604020202020204" pitchFamily="34" charset="0"/>
              </a:rPr>
              <a:t>operacional e financeiro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7991171C-25FB-EF8E-2576-499E717B8247}"/>
              </a:ext>
            </a:extLst>
          </p:cNvPr>
          <p:cNvCxnSpPr/>
          <p:nvPr/>
        </p:nvCxnSpPr>
        <p:spPr>
          <a:xfrm>
            <a:off x="1071563" y="3071813"/>
            <a:ext cx="3786187" cy="1587"/>
          </a:xfrm>
          <a:prstGeom prst="line">
            <a:avLst/>
          </a:prstGeom>
          <a:ln w="15875" cmpd="sng">
            <a:solidFill>
              <a:schemeClr val="bg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7" name="CaixaDeTexto 5">
            <a:extLst>
              <a:ext uri="{FF2B5EF4-FFF2-40B4-BE49-F238E27FC236}">
                <a16:creationId xmlns:a16="http://schemas.microsoft.com/office/drawing/2014/main" id="{290D76DF-C17F-31F7-3660-114D3059FA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3950" y="2357438"/>
            <a:ext cx="28051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4000" b="1">
                <a:solidFill>
                  <a:srgbClr val="2C5DAA"/>
                </a:solidFill>
                <a:latin typeface="Arial" panose="020B0604020202020204" pitchFamily="34" charset="0"/>
              </a:rPr>
              <a:t>Capítulo 6 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CaixaDeTexto 3">
            <a:extLst>
              <a:ext uri="{FF2B5EF4-FFF2-40B4-BE49-F238E27FC236}">
                <a16:creationId xmlns:a16="http://schemas.microsoft.com/office/drawing/2014/main" id="{906F67C7-525F-89B7-9C2E-B98C7ACBE1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4099" name="CaixaDeTexto 6">
            <a:extLst>
              <a:ext uri="{FF2B5EF4-FFF2-40B4-BE49-F238E27FC236}">
                <a16:creationId xmlns:a16="http://schemas.microsoft.com/office/drawing/2014/main" id="{A82B1666-367B-AFC1-FF7A-2B1D9F9B52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0188" y="2681288"/>
            <a:ext cx="6500812" cy="304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 Contrato pelo qual a arrendadora se obriga a proporcionar à arrendatária o uso temporário de determinado bem e a mantê-lo em perfeito estado de funcionamento por um período inferior ao de sua vida economicamente útil.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 A opção de compra não pode ser determinada no contrato, mas no fim do leasing, e deve ser equivalente ao valor de mercado do bem.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 O somatório das prestações pagas deve ser inferior a 75% do valor da opção de compra.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3E9C371-4CC7-5D8F-5A91-8D2C15249CA5}"/>
              </a:ext>
            </a:extLst>
          </p:cNvPr>
          <p:cNvSpPr txBox="1"/>
          <p:nvPr/>
        </p:nvSpPr>
        <p:spPr>
          <a:xfrm>
            <a:off x="4538663" y="142875"/>
            <a:ext cx="4168775" cy="6461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6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Financiamentos: leasing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operacional e financeiro</a:t>
            </a:r>
          </a:p>
        </p:txBody>
      </p:sp>
      <p:sp>
        <p:nvSpPr>
          <p:cNvPr id="4101" name="CaixaDeTexto 10">
            <a:extLst>
              <a:ext uri="{FF2B5EF4-FFF2-40B4-BE49-F238E27FC236}">
                <a16:creationId xmlns:a16="http://schemas.microsoft.com/office/drawing/2014/main" id="{41C14CC7-7A79-7D23-5BE8-A50B9E5F5B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4102" name="CaixaDeTexto 12">
            <a:extLst>
              <a:ext uri="{FF2B5EF4-FFF2-40B4-BE49-F238E27FC236}">
                <a16:creationId xmlns:a16="http://schemas.microsoft.com/office/drawing/2014/main" id="{3DF36A0E-A6B4-BC2C-3C7F-733384A1E7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28003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6.1 Leasing operacional</a:t>
            </a:r>
          </a:p>
        </p:txBody>
      </p:sp>
      <p:sp>
        <p:nvSpPr>
          <p:cNvPr id="4103" name="Espaço Reservado para Número de Slide 7">
            <a:extLst>
              <a:ext uri="{FF2B5EF4-FFF2-40B4-BE49-F238E27FC236}">
                <a16:creationId xmlns:a16="http://schemas.microsoft.com/office/drawing/2014/main" id="{729F2302-E8ED-9C83-A556-B32588F2A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035D8174-8164-463C-9273-F948CE618746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pt-BR" altLang="pt-BR" sz="1200">
              <a:solidFill>
                <a:srgbClr val="2C5DAA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CaixaDeTexto 3">
            <a:extLst>
              <a:ext uri="{FF2B5EF4-FFF2-40B4-BE49-F238E27FC236}">
                <a16:creationId xmlns:a16="http://schemas.microsoft.com/office/drawing/2014/main" id="{E41B067D-E290-23BF-969A-F2F8F91195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5123" name="CaixaDeTexto 6">
            <a:extLst>
              <a:ext uri="{FF2B5EF4-FFF2-40B4-BE49-F238E27FC236}">
                <a16:creationId xmlns:a16="http://schemas.microsoft.com/office/drawing/2014/main" id="{8097C804-86D6-AB57-76FD-7281FE42AC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643188"/>
            <a:ext cx="6357938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Assemelha-se a um financiamento.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No fim do contrato, a empresa pode comprar o bem, revendê-lo e recuperar parte do dinheiro investido, ou renovar o contrato, trocando o bem arrendado por outro tecnologicamente mais atual e financiando o valor adicional desse bem.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Os principais elementos do contrato de leasing financeiro são: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1. Contraprestação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2. Opção de compra; 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3. Valor residual garantido.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ED37B1C-26A4-7332-3D1F-3B2371ECDA53}"/>
              </a:ext>
            </a:extLst>
          </p:cNvPr>
          <p:cNvSpPr txBox="1"/>
          <p:nvPr/>
        </p:nvSpPr>
        <p:spPr>
          <a:xfrm>
            <a:off x="4538663" y="142875"/>
            <a:ext cx="4168775" cy="6461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6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Financiamentos: leasing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operacional e financeiro</a:t>
            </a:r>
          </a:p>
        </p:txBody>
      </p:sp>
      <p:sp>
        <p:nvSpPr>
          <p:cNvPr id="5125" name="CaixaDeTexto 10">
            <a:extLst>
              <a:ext uri="{FF2B5EF4-FFF2-40B4-BE49-F238E27FC236}">
                <a16:creationId xmlns:a16="http://schemas.microsoft.com/office/drawing/2014/main" id="{677BAD28-99ED-6992-A574-60A7DFCE10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5126" name="CaixaDeTexto 12">
            <a:extLst>
              <a:ext uri="{FF2B5EF4-FFF2-40B4-BE49-F238E27FC236}">
                <a16:creationId xmlns:a16="http://schemas.microsoft.com/office/drawing/2014/main" id="{4EC071FA-8165-0571-31F7-4D739B9BF6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26082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6.2 Leasing financeiro</a:t>
            </a:r>
          </a:p>
        </p:txBody>
      </p:sp>
      <p:sp>
        <p:nvSpPr>
          <p:cNvPr id="5127" name="Espaço Reservado para Número de Slide 7">
            <a:extLst>
              <a:ext uri="{FF2B5EF4-FFF2-40B4-BE49-F238E27FC236}">
                <a16:creationId xmlns:a16="http://schemas.microsoft.com/office/drawing/2014/main" id="{8C9E5EA3-E074-6D86-FC0A-CD9B3CF48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CD629424-8F3E-41CB-901C-5E39435401EC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pt-BR" altLang="pt-BR" sz="1200">
              <a:solidFill>
                <a:srgbClr val="2C5DAA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CaixaDeTexto 3">
            <a:extLst>
              <a:ext uri="{FF2B5EF4-FFF2-40B4-BE49-F238E27FC236}">
                <a16:creationId xmlns:a16="http://schemas.microsoft.com/office/drawing/2014/main" id="{E99428B6-1993-1ADC-E59E-2BD7A45DC8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9F828FC-44CF-7CC6-F066-028B57657485}"/>
              </a:ext>
            </a:extLst>
          </p:cNvPr>
          <p:cNvSpPr txBox="1"/>
          <p:nvPr/>
        </p:nvSpPr>
        <p:spPr>
          <a:xfrm>
            <a:off x="4538663" y="142875"/>
            <a:ext cx="4168775" cy="6461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6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Financiamentos: leasing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operacional e financeiro</a:t>
            </a:r>
          </a:p>
        </p:txBody>
      </p:sp>
      <p:sp>
        <p:nvSpPr>
          <p:cNvPr id="6148" name="CaixaDeTexto 10">
            <a:extLst>
              <a:ext uri="{FF2B5EF4-FFF2-40B4-BE49-F238E27FC236}">
                <a16:creationId xmlns:a16="http://schemas.microsoft.com/office/drawing/2014/main" id="{A7264C1B-853E-9F0E-1A53-B41A06A0C8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6149" name="Espaço Reservado para Número de Slide 7">
            <a:extLst>
              <a:ext uri="{FF2B5EF4-FFF2-40B4-BE49-F238E27FC236}">
                <a16:creationId xmlns:a16="http://schemas.microsoft.com/office/drawing/2014/main" id="{A70779F4-E400-D26E-89FF-35262995A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0DA87827-25D3-4EF0-BB91-5748379E047D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sp>
        <p:nvSpPr>
          <p:cNvPr id="6150" name="Retângulo 8">
            <a:extLst>
              <a:ext uri="{FF2B5EF4-FFF2-40B4-BE49-F238E27FC236}">
                <a16:creationId xmlns:a16="http://schemas.microsoft.com/office/drawing/2014/main" id="{5592E8DE-CF1F-97EA-E8D5-93D61841FB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7338" y="2571750"/>
            <a:ext cx="6872287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TimesTen-Roman"/>
              </a:rPr>
              <a:t>Para as seguintes  informações: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TimesTen-Roman"/>
              </a:rPr>
              <a:t>VO = Valor da Operação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TimesTen-Roman"/>
              </a:rPr>
              <a:t>VRG = Valor Residual Garantido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TimesTen-Roman"/>
              </a:rPr>
              <a:t>N = prazo na operação de arrendamento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TimesTen-Roman"/>
              </a:rPr>
              <a:t>Sendo  i</a:t>
            </a:r>
            <a:r>
              <a:rPr lang="pt-BR" altLang="pt-BR" sz="800">
                <a:latin typeface="TimesTen-Roman"/>
              </a:rPr>
              <a:t>A </a:t>
            </a:r>
            <a:r>
              <a:rPr lang="pt-BR" altLang="pt-BR" sz="1600">
                <a:latin typeface="TimesTen-Roman"/>
              </a:rPr>
              <a:t> a taxa de juros efetiva no arrendamento, temos:</a:t>
            </a:r>
            <a:endParaRPr lang="pt-BR" altLang="pt-BR" sz="800">
              <a:latin typeface="Arial" panose="020B0604020202020204" pitchFamily="34" charset="0"/>
            </a:endParaRPr>
          </a:p>
        </p:txBody>
      </p:sp>
      <p:sp>
        <p:nvSpPr>
          <p:cNvPr id="6151" name="CaixaDeTexto 12">
            <a:extLst>
              <a:ext uri="{FF2B5EF4-FFF2-40B4-BE49-F238E27FC236}">
                <a16:creationId xmlns:a16="http://schemas.microsoft.com/office/drawing/2014/main" id="{67D1A325-9B09-1110-6C7F-6F2FDC35D3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6858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Determinação da taxa de Arrendamento</a:t>
            </a:r>
          </a:p>
        </p:txBody>
      </p:sp>
      <p:graphicFrame>
        <p:nvGraphicFramePr>
          <p:cNvPr id="6152" name="Object 2">
            <a:extLst>
              <a:ext uri="{FF2B5EF4-FFF2-40B4-BE49-F238E27FC236}">
                <a16:creationId xmlns:a16="http://schemas.microsoft.com/office/drawing/2014/main" id="{51ED9412-49B5-0851-E237-F26AA5593B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43063" y="4643438"/>
          <a:ext cx="4857750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3" imgW="3467100" imgH="431800" progId="Equation.3">
                  <p:embed/>
                </p:oleObj>
              </mc:Choice>
              <mc:Fallback>
                <p:oleObj name="Equação" r:id="rId3" imgW="3467100" imgH="431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3063" y="4643438"/>
                        <a:ext cx="4857750" cy="642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CaixaDeTexto 3">
            <a:extLst>
              <a:ext uri="{FF2B5EF4-FFF2-40B4-BE49-F238E27FC236}">
                <a16:creationId xmlns:a16="http://schemas.microsoft.com/office/drawing/2014/main" id="{05381C0C-6A99-4676-3716-58401429E5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FC77701-52E4-0B73-7B2A-55E3ECB7447A}"/>
              </a:ext>
            </a:extLst>
          </p:cNvPr>
          <p:cNvSpPr txBox="1"/>
          <p:nvPr/>
        </p:nvSpPr>
        <p:spPr>
          <a:xfrm>
            <a:off x="4538663" y="142875"/>
            <a:ext cx="4168775" cy="6461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6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Financiamentos: leasing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operacional e financeiro</a:t>
            </a:r>
          </a:p>
        </p:txBody>
      </p:sp>
      <p:sp>
        <p:nvSpPr>
          <p:cNvPr id="7172" name="CaixaDeTexto 10">
            <a:extLst>
              <a:ext uri="{FF2B5EF4-FFF2-40B4-BE49-F238E27FC236}">
                <a16:creationId xmlns:a16="http://schemas.microsoft.com/office/drawing/2014/main" id="{81198B01-3DDB-3C3B-2045-99FB1C5FB0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7173" name="Espaço Reservado para Número de Slide 7">
            <a:extLst>
              <a:ext uri="{FF2B5EF4-FFF2-40B4-BE49-F238E27FC236}">
                <a16:creationId xmlns:a16="http://schemas.microsoft.com/office/drawing/2014/main" id="{35871B1E-E51B-C45B-6949-966F6C92F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0B8030AE-C283-4202-87DC-AAA07EAF4842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sp>
        <p:nvSpPr>
          <p:cNvPr id="7174" name="Retângulo 8">
            <a:extLst>
              <a:ext uri="{FF2B5EF4-FFF2-40B4-BE49-F238E27FC236}">
                <a16:creationId xmlns:a16="http://schemas.microsoft.com/office/drawing/2014/main" id="{308896E2-71C0-304B-F726-405A169A9E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7338" y="2571750"/>
            <a:ext cx="6872287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TimesTen-Roman"/>
              </a:rPr>
              <a:t>Então</a:t>
            </a:r>
            <a:endParaRPr lang="pt-BR" altLang="pt-BR" sz="800">
              <a:latin typeface="Arial" panose="020B0604020202020204" pitchFamily="34" charset="0"/>
            </a:endParaRPr>
          </a:p>
        </p:txBody>
      </p:sp>
      <p:sp>
        <p:nvSpPr>
          <p:cNvPr id="7175" name="CaixaDeTexto 12">
            <a:extLst>
              <a:ext uri="{FF2B5EF4-FFF2-40B4-BE49-F238E27FC236}">
                <a16:creationId xmlns:a16="http://schemas.microsoft.com/office/drawing/2014/main" id="{61A9395E-9221-10FB-348B-74B66BB19D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6858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Determinação da taxa de Arrendamento</a:t>
            </a:r>
          </a:p>
        </p:txBody>
      </p:sp>
      <p:graphicFrame>
        <p:nvGraphicFramePr>
          <p:cNvPr id="7176" name="Object 2">
            <a:extLst>
              <a:ext uri="{FF2B5EF4-FFF2-40B4-BE49-F238E27FC236}">
                <a16:creationId xmlns:a16="http://schemas.microsoft.com/office/drawing/2014/main" id="{F9E8BE1B-9863-8756-3351-77693DA37A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14625" y="2643188"/>
          <a:ext cx="2357438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3" imgW="1473200" imgH="431800" progId="Equation.3">
                  <p:embed/>
                </p:oleObj>
              </mc:Choice>
              <mc:Fallback>
                <p:oleObj name="Equação" r:id="rId3" imgW="1473200" imgH="431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4625" y="2643188"/>
                        <a:ext cx="2357438" cy="642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7" name="Object 3">
            <a:extLst>
              <a:ext uri="{FF2B5EF4-FFF2-40B4-BE49-F238E27FC236}">
                <a16:creationId xmlns:a16="http://schemas.microsoft.com/office/drawing/2014/main" id="{D621B028-0BAA-AAA9-2AFD-327076D9FE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14625" y="3500438"/>
          <a:ext cx="3429000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5" imgW="2425700" imgH="431800" progId="Equation.3">
                  <p:embed/>
                </p:oleObj>
              </mc:Choice>
              <mc:Fallback>
                <p:oleObj name="Equação" r:id="rId5" imgW="2425700" imgH="431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4625" y="3500438"/>
                        <a:ext cx="3429000" cy="642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8" name="Object 4">
            <a:extLst>
              <a:ext uri="{FF2B5EF4-FFF2-40B4-BE49-F238E27FC236}">
                <a16:creationId xmlns:a16="http://schemas.microsoft.com/office/drawing/2014/main" id="{74CCCDD1-610C-37C9-BDC8-261C9A22D3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14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7" imgW="391303" imgH="739129" progId="Equation.3">
                  <p:embed/>
                </p:oleObj>
              </mc:Choice>
              <mc:Fallback>
                <p:oleObj name="Equação" r:id="rId7" imgW="391303" imgH="739129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321050"/>
                        <a:ext cx="9144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9" name="Object 5">
            <a:extLst>
              <a:ext uri="{FF2B5EF4-FFF2-40B4-BE49-F238E27FC236}">
                <a16:creationId xmlns:a16="http://schemas.microsoft.com/office/drawing/2014/main" id="{A8C901FA-85D5-C09E-E8E6-27FC437DCF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86063" y="4500563"/>
          <a:ext cx="2357437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9" imgW="1574800" imgH="431800" progId="Equation.3">
                  <p:embed/>
                </p:oleObj>
              </mc:Choice>
              <mc:Fallback>
                <p:oleObj name="Equação" r:id="rId9" imgW="1574800" imgH="431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6063" y="4500563"/>
                        <a:ext cx="2357437" cy="642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CaixaDeTexto 3">
            <a:extLst>
              <a:ext uri="{FF2B5EF4-FFF2-40B4-BE49-F238E27FC236}">
                <a16:creationId xmlns:a16="http://schemas.microsoft.com/office/drawing/2014/main" id="{9FF9148E-D000-C13D-90A0-089D78798C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ED67D24-9D9F-D724-4987-4C012BDA0D42}"/>
              </a:ext>
            </a:extLst>
          </p:cNvPr>
          <p:cNvSpPr txBox="1"/>
          <p:nvPr/>
        </p:nvSpPr>
        <p:spPr>
          <a:xfrm>
            <a:off x="4538663" y="142875"/>
            <a:ext cx="4168775" cy="6461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6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Financiamentos: leasing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operacional e financeiro</a:t>
            </a:r>
          </a:p>
        </p:txBody>
      </p:sp>
      <p:sp>
        <p:nvSpPr>
          <p:cNvPr id="8196" name="CaixaDeTexto 10">
            <a:extLst>
              <a:ext uri="{FF2B5EF4-FFF2-40B4-BE49-F238E27FC236}">
                <a16:creationId xmlns:a16="http://schemas.microsoft.com/office/drawing/2014/main" id="{6CDEEC4A-6584-9300-1181-8485FF5D45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8197" name="Espaço Reservado para Número de Slide 7">
            <a:extLst>
              <a:ext uri="{FF2B5EF4-FFF2-40B4-BE49-F238E27FC236}">
                <a16:creationId xmlns:a16="http://schemas.microsoft.com/office/drawing/2014/main" id="{4D61D34B-B619-95F8-EFB2-0142E78FA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B438EEF6-CB5C-42E7-A166-9ACCC9D8518F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sp>
        <p:nvSpPr>
          <p:cNvPr id="8198" name="Retângulo 8">
            <a:extLst>
              <a:ext uri="{FF2B5EF4-FFF2-40B4-BE49-F238E27FC236}">
                <a16:creationId xmlns:a16="http://schemas.microsoft.com/office/drawing/2014/main" id="{6C1984C7-19C7-EC25-AA9C-9FCDA18BA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7338" y="2571750"/>
            <a:ext cx="6872287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Sendo TA  a taxa de atratividade, temos:</a:t>
            </a:r>
          </a:p>
        </p:txBody>
      </p:sp>
      <p:sp>
        <p:nvSpPr>
          <p:cNvPr id="8199" name="CaixaDeTexto 12">
            <a:extLst>
              <a:ext uri="{FF2B5EF4-FFF2-40B4-BE49-F238E27FC236}">
                <a16:creationId xmlns:a16="http://schemas.microsoft.com/office/drawing/2014/main" id="{410424E6-9D75-DFCC-8004-826E379C1B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6858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Determinação da taxa de Arrendamento</a:t>
            </a:r>
          </a:p>
        </p:txBody>
      </p:sp>
      <p:graphicFrame>
        <p:nvGraphicFramePr>
          <p:cNvPr id="8200" name="Object 2">
            <a:extLst>
              <a:ext uri="{FF2B5EF4-FFF2-40B4-BE49-F238E27FC236}">
                <a16:creationId xmlns:a16="http://schemas.microsoft.com/office/drawing/2014/main" id="{967EED70-B9EB-DC99-3F8E-16E8825F89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71625" y="3071813"/>
          <a:ext cx="3500438" cy="696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3" imgW="1701800" imgH="393700" progId="Equation.3">
                  <p:embed/>
                </p:oleObj>
              </mc:Choice>
              <mc:Fallback>
                <p:oleObj name="Equação" r:id="rId3" imgW="1701800" imgH="3937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625" y="3071813"/>
                        <a:ext cx="3500438" cy="696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CaixaDeTexto 3">
            <a:extLst>
              <a:ext uri="{FF2B5EF4-FFF2-40B4-BE49-F238E27FC236}">
                <a16:creationId xmlns:a16="http://schemas.microsoft.com/office/drawing/2014/main" id="{8DA3FD1D-48B3-C81E-35D7-205027E313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5B8CBEB-FCD8-4D66-A879-45C0E1481418}"/>
              </a:ext>
            </a:extLst>
          </p:cNvPr>
          <p:cNvSpPr txBox="1"/>
          <p:nvPr/>
        </p:nvSpPr>
        <p:spPr>
          <a:xfrm>
            <a:off x="4538663" y="142875"/>
            <a:ext cx="4168775" cy="6461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6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Financiamentos: leasing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operacional e financeiro</a:t>
            </a:r>
          </a:p>
        </p:txBody>
      </p:sp>
      <p:sp>
        <p:nvSpPr>
          <p:cNvPr id="9220" name="CaixaDeTexto 10">
            <a:extLst>
              <a:ext uri="{FF2B5EF4-FFF2-40B4-BE49-F238E27FC236}">
                <a16:creationId xmlns:a16="http://schemas.microsoft.com/office/drawing/2014/main" id="{05F7B605-C4B4-66C7-74A8-A6C0CB0A55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9221" name="Espaço Reservado para Número de Slide 7">
            <a:extLst>
              <a:ext uri="{FF2B5EF4-FFF2-40B4-BE49-F238E27FC236}">
                <a16:creationId xmlns:a16="http://schemas.microsoft.com/office/drawing/2014/main" id="{500A71DF-F02B-56DD-1D11-3CB52ED2C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C804E302-659B-446C-A5EB-7997BAFCA969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sp>
        <p:nvSpPr>
          <p:cNvPr id="9222" name="Retângulo 8">
            <a:extLst>
              <a:ext uri="{FF2B5EF4-FFF2-40B4-BE49-F238E27FC236}">
                <a16:creationId xmlns:a16="http://schemas.microsoft.com/office/drawing/2014/main" id="{59958BB9-841E-ACF3-5DB6-013D4B5194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7338" y="2571750"/>
            <a:ext cx="6872287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1. O VRG cobrado no término da operação:</a:t>
            </a:r>
          </a:p>
        </p:txBody>
      </p:sp>
      <p:sp>
        <p:nvSpPr>
          <p:cNvPr id="9223" name="CaixaDeTexto 12">
            <a:extLst>
              <a:ext uri="{FF2B5EF4-FFF2-40B4-BE49-F238E27FC236}">
                <a16:creationId xmlns:a16="http://schemas.microsoft.com/office/drawing/2014/main" id="{790EC29E-CD6D-9CDB-7EE5-6C360581E1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6858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Determinação da taxa de Arrendamento</a:t>
            </a:r>
          </a:p>
        </p:txBody>
      </p:sp>
      <p:graphicFrame>
        <p:nvGraphicFramePr>
          <p:cNvPr id="9224" name="Object 2">
            <a:extLst>
              <a:ext uri="{FF2B5EF4-FFF2-40B4-BE49-F238E27FC236}">
                <a16:creationId xmlns:a16="http://schemas.microsoft.com/office/drawing/2014/main" id="{EFAEF925-9122-4597-0C1D-43A7B16539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00188" y="3286125"/>
          <a:ext cx="3214687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3" imgW="1943100" imgH="431800" progId="Equation.3">
                  <p:embed/>
                </p:oleObj>
              </mc:Choice>
              <mc:Fallback>
                <p:oleObj name="Equação" r:id="rId3" imgW="1943100" imgH="431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0188" y="3286125"/>
                        <a:ext cx="3214687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5" name="Retângulo 8">
            <a:extLst>
              <a:ext uri="{FF2B5EF4-FFF2-40B4-BE49-F238E27FC236}">
                <a16:creationId xmlns:a16="http://schemas.microsoft.com/office/drawing/2014/main" id="{4052E05F-EB1A-E97F-7939-8204F75E63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1625" y="4143375"/>
            <a:ext cx="6872288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2. O VRG embutido nas prestações ao longo prazo:</a:t>
            </a:r>
          </a:p>
        </p:txBody>
      </p:sp>
      <p:graphicFrame>
        <p:nvGraphicFramePr>
          <p:cNvPr id="9226" name="Object 3">
            <a:extLst>
              <a:ext uri="{FF2B5EF4-FFF2-40B4-BE49-F238E27FC236}">
                <a16:creationId xmlns:a16="http://schemas.microsoft.com/office/drawing/2014/main" id="{29B0C00F-2FE5-A42C-9CE4-3B6ED7BBBA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14500" y="4857750"/>
          <a:ext cx="1714500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5" imgW="748975" imgH="431613" progId="Equation.3">
                  <p:embed/>
                </p:oleObj>
              </mc:Choice>
              <mc:Fallback>
                <p:oleObj name="Equação" r:id="rId5" imgW="748975" imgH="431613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4500" y="4857750"/>
                        <a:ext cx="1714500" cy="78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CaixaDeTexto 3">
            <a:extLst>
              <a:ext uri="{FF2B5EF4-FFF2-40B4-BE49-F238E27FC236}">
                <a16:creationId xmlns:a16="http://schemas.microsoft.com/office/drawing/2014/main" id="{81D76C69-746E-DDE6-8098-18E5F01870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20CAB9F-387A-6A73-BE62-EA0E5A181DF8}"/>
              </a:ext>
            </a:extLst>
          </p:cNvPr>
          <p:cNvSpPr txBox="1"/>
          <p:nvPr/>
        </p:nvSpPr>
        <p:spPr>
          <a:xfrm>
            <a:off x="4538663" y="142875"/>
            <a:ext cx="4168775" cy="6461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6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Financiamentos: leasing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operacional e financeiro</a:t>
            </a:r>
          </a:p>
        </p:txBody>
      </p:sp>
      <p:sp>
        <p:nvSpPr>
          <p:cNvPr id="10244" name="CaixaDeTexto 10">
            <a:extLst>
              <a:ext uri="{FF2B5EF4-FFF2-40B4-BE49-F238E27FC236}">
                <a16:creationId xmlns:a16="http://schemas.microsoft.com/office/drawing/2014/main" id="{C72C4C1F-4621-1024-34D7-B4D7E637C7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10245" name="Espaço Reservado para Número de Slide 7">
            <a:extLst>
              <a:ext uri="{FF2B5EF4-FFF2-40B4-BE49-F238E27FC236}">
                <a16:creationId xmlns:a16="http://schemas.microsoft.com/office/drawing/2014/main" id="{45553B2F-7ADD-1A6A-4A04-9A13257E3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939BB61E-6E96-45C7-B7ED-E738171C5A9A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sp>
        <p:nvSpPr>
          <p:cNvPr id="10246" name="Retângulo 8">
            <a:extLst>
              <a:ext uri="{FF2B5EF4-FFF2-40B4-BE49-F238E27FC236}">
                <a16:creationId xmlns:a16="http://schemas.microsoft.com/office/drawing/2014/main" id="{9C426959-0EEC-EC2D-7EBE-A2D4EAEF2D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7338" y="2571750"/>
            <a:ext cx="6872287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3. O VRG cobrado no início da operação:</a:t>
            </a:r>
          </a:p>
        </p:txBody>
      </p:sp>
      <p:sp>
        <p:nvSpPr>
          <p:cNvPr id="10247" name="CaixaDeTexto 12">
            <a:extLst>
              <a:ext uri="{FF2B5EF4-FFF2-40B4-BE49-F238E27FC236}">
                <a16:creationId xmlns:a16="http://schemas.microsoft.com/office/drawing/2014/main" id="{AF5AD690-EB2A-E9AD-0BEA-DD71FC0A04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6858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Determinação da taxa de Arrendamento</a:t>
            </a:r>
          </a:p>
        </p:txBody>
      </p:sp>
      <p:graphicFrame>
        <p:nvGraphicFramePr>
          <p:cNvPr id="10248" name="Object 2">
            <a:extLst>
              <a:ext uri="{FF2B5EF4-FFF2-40B4-BE49-F238E27FC236}">
                <a16:creationId xmlns:a16="http://schemas.microsoft.com/office/drawing/2014/main" id="{E11F1399-1052-023E-2CAE-0E35F50D3A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43063" y="3500438"/>
          <a:ext cx="2428875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3" imgW="1282700" imgH="431800" progId="Equation.3">
                  <p:embed/>
                </p:oleObj>
              </mc:Choice>
              <mc:Fallback>
                <p:oleObj name="Equação" r:id="rId3" imgW="1282700" imgH="431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3063" y="3500438"/>
                        <a:ext cx="2428875" cy="785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CaixaDeTexto 3">
            <a:extLst>
              <a:ext uri="{FF2B5EF4-FFF2-40B4-BE49-F238E27FC236}">
                <a16:creationId xmlns:a16="http://schemas.microsoft.com/office/drawing/2014/main" id="{B36E399D-10D9-BB5B-4282-46F25C5C31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B8DB423-CF30-0E48-A91B-7B55B5D4C172}"/>
              </a:ext>
            </a:extLst>
          </p:cNvPr>
          <p:cNvSpPr txBox="1"/>
          <p:nvPr/>
        </p:nvSpPr>
        <p:spPr>
          <a:xfrm>
            <a:off x="4538663" y="142875"/>
            <a:ext cx="4168775" cy="6461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6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Financiamentos: leasing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operacional e financeiro</a:t>
            </a:r>
          </a:p>
        </p:txBody>
      </p:sp>
      <p:sp>
        <p:nvSpPr>
          <p:cNvPr id="11268" name="CaixaDeTexto 10">
            <a:extLst>
              <a:ext uri="{FF2B5EF4-FFF2-40B4-BE49-F238E27FC236}">
                <a16:creationId xmlns:a16="http://schemas.microsoft.com/office/drawing/2014/main" id="{BCD8B98E-92FE-29ED-36CF-0EAB16C600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11269" name="Espaço Reservado para Número de Slide 7">
            <a:extLst>
              <a:ext uri="{FF2B5EF4-FFF2-40B4-BE49-F238E27FC236}">
                <a16:creationId xmlns:a16="http://schemas.microsoft.com/office/drawing/2014/main" id="{D045B1D9-3CC3-ECFA-5003-B86D591D1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4C24B258-5C69-494F-AAD2-BFA74473E752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sp>
        <p:nvSpPr>
          <p:cNvPr id="9222" name="Retângulo 8">
            <a:extLst>
              <a:ext uri="{FF2B5EF4-FFF2-40B4-BE49-F238E27FC236}">
                <a16:creationId xmlns:a16="http://schemas.microsoft.com/office/drawing/2014/main" id="{E46DF7D5-D8DF-AAF6-A27B-5C09B41E2E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7338" y="2357438"/>
            <a:ext cx="6872287" cy="341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defRPr/>
            </a:pPr>
            <a:r>
              <a:rPr lang="pt-BR" sz="1600" dirty="0"/>
              <a:t>Calcule a taxa de arrendamento e o valor das prestações para uma operação de leasing financeiro no valor de $ 100.000,00 com prazo de 36 meses e taxa de juros de 8% ao mês, aplicada pela sociedade arrendadora, considerando as seguintes hipóteses sobre o valor residual garantido, Sendo </a:t>
            </a:r>
            <a:r>
              <a:rPr lang="pt-BR" sz="1600" dirty="0" err="1"/>
              <a:t>i</a:t>
            </a:r>
            <a:r>
              <a:rPr lang="pt-BR" sz="800" dirty="0" err="1"/>
              <a:t>A</a:t>
            </a:r>
            <a:r>
              <a:rPr lang="pt-BR" sz="800" dirty="0"/>
              <a:t> </a:t>
            </a:r>
            <a:r>
              <a:rPr lang="pt-BR" sz="1600" dirty="0"/>
              <a:t> = 8% </a:t>
            </a:r>
            <a:r>
              <a:rPr lang="pt-BR" sz="1600" dirty="0" err="1"/>
              <a:t>a.m.</a:t>
            </a:r>
            <a:r>
              <a:rPr lang="pt-BR" sz="1600" dirty="0"/>
              <a:t> calcule a TA e R:</a:t>
            </a:r>
          </a:p>
          <a:p>
            <a:pPr marL="342900" indent="-342900" eaLnBrk="1" hangingPunct="1">
              <a:lnSpc>
                <a:spcPct val="150000"/>
              </a:lnSpc>
              <a:buFontTx/>
              <a:buAutoNum type="alphaLcParenR"/>
              <a:defRPr/>
            </a:pPr>
            <a:r>
              <a:rPr lang="pt-BR" sz="1600" dirty="0"/>
              <a:t>VRG de 20% cobrado ao término da operação; TA=8,4276% </a:t>
            </a:r>
            <a:r>
              <a:rPr lang="pt-BR" sz="1600" dirty="0" err="1"/>
              <a:t>a.m.</a:t>
            </a:r>
            <a:r>
              <a:rPr lang="pt-BR" sz="1600" dirty="0"/>
              <a:t> e R=$8.427,57</a:t>
            </a:r>
          </a:p>
          <a:p>
            <a:pPr marL="342900" indent="-342900" eaLnBrk="1" hangingPunct="1">
              <a:lnSpc>
                <a:spcPct val="150000"/>
              </a:lnSpc>
              <a:buFontTx/>
              <a:buAutoNum type="alphaLcParenR"/>
              <a:defRPr/>
            </a:pPr>
            <a:r>
              <a:rPr lang="pt-BR" sz="1600" dirty="0"/>
              <a:t>VRG cobrado ao longo do prazo da operação (diluído nas parcelas); TA =8,5345% </a:t>
            </a:r>
            <a:r>
              <a:rPr lang="pt-BR" sz="1600" dirty="0" err="1"/>
              <a:t>a.m.</a:t>
            </a:r>
            <a:r>
              <a:rPr lang="pt-BR" sz="1600" dirty="0"/>
              <a:t>   e  R=$8.534,47</a:t>
            </a:r>
          </a:p>
        </p:txBody>
      </p:sp>
      <p:sp>
        <p:nvSpPr>
          <p:cNvPr id="11271" name="CaixaDeTexto 12">
            <a:extLst>
              <a:ext uri="{FF2B5EF4-FFF2-40B4-BE49-F238E27FC236}">
                <a16:creationId xmlns:a16="http://schemas.microsoft.com/office/drawing/2014/main" id="{3B50945E-5193-28A6-E948-E828D0847D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1987550"/>
            <a:ext cx="6858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Determinação da taxa de Arrendamento: Exemplo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CaixaDeTexto 3">
            <a:extLst>
              <a:ext uri="{FF2B5EF4-FFF2-40B4-BE49-F238E27FC236}">
                <a16:creationId xmlns:a16="http://schemas.microsoft.com/office/drawing/2014/main" id="{4EACB94B-4465-13C0-51F7-CBBE0B2F87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3AC2362-39A6-E0FD-1426-FA5ACBCC3147}"/>
              </a:ext>
            </a:extLst>
          </p:cNvPr>
          <p:cNvSpPr txBox="1"/>
          <p:nvPr/>
        </p:nvSpPr>
        <p:spPr>
          <a:xfrm>
            <a:off x="4538663" y="142875"/>
            <a:ext cx="4168775" cy="6461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6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Financiamentos: leasing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operacional e financeiro</a:t>
            </a:r>
          </a:p>
        </p:txBody>
      </p:sp>
      <p:sp>
        <p:nvSpPr>
          <p:cNvPr id="12292" name="CaixaDeTexto 10">
            <a:extLst>
              <a:ext uri="{FF2B5EF4-FFF2-40B4-BE49-F238E27FC236}">
                <a16:creationId xmlns:a16="http://schemas.microsoft.com/office/drawing/2014/main" id="{7730036A-1D51-FAF7-B22B-CCAF38D47B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12293" name="Espaço Reservado para Número de Slide 7">
            <a:extLst>
              <a:ext uri="{FF2B5EF4-FFF2-40B4-BE49-F238E27FC236}">
                <a16:creationId xmlns:a16="http://schemas.microsoft.com/office/drawing/2014/main" id="{971E1CB2-0A5E-0A54-6AF8-E1BD6F720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822D3128-12D9-4988-B3A0-C85781260934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sp>
        <p:nvSpPr>
          <p:cNvPr id="9222" name="Retângulo 8">
            <a:extLst>
              <a:ext uri="{FF2B5EF4-FFF2-40B4-BE49-F238E27FC236}">
                <a16:creationId xmlns:a16="http://schemas.microsoft.com/office/drawing/2014/main" id="{131F5817-1A61-3A30-A026-2294A0FB82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7338" y="2357438"/>
            <a:ext cx="6872287" cy="3046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defRPr/>
            </a:pPr>
            <a:r>
              <a:rPr lang="pt-BR" sz="1600" dirty="0"/>
              <a:t>Continuação:  Calcule a taxa de arrendamento e o valor das prestações para uma operação de leasing financeiro no valor de $ 100.000,00 com prazo de 36 meses e taxa de juros de 8% ao mês, aplicada pela sociedade arrendadora, considerando as seguintes hipóteses sobre o valor residual garantido:</a:t>
            </a:r>
          </a:p>
          <a:p>
            <a:pPr marL="342900" indent="-342900" eaLnBrk="1" hangingPunct="1">
              <a:lnSpc>
                <a:spcPct val="150000"/>
              </a:lnSpc>
              <a:defRPr/>
            </a:pPr>
            <a:r>
              <a:rPr lang="pt-BR" sz="1600" dirty="0"/>
              <a:t>c) VRG de 20% cobrado no início da operação.</a:t>
            </a:r>
          </a:p>
          <a:p>
            <a:pPr marL="342900" indent="-342900" eaLnBrk="1" hangingPunct="1">
              <a:lnSpc>
                <a:spcPct val="150000"/>
              </a:lnSpc>
              <a:defRPr/>
            </a:pPr>
            <a:r>
              <a:rPr lang="pt-BR" sz="1600" dirty="0"/>
              <a:t>TA = 6,8276% a. m.</a:t>
            </a:r>
          </a:p>
          <a:p>
            <a:pPr marL="342900" indent="-342900" eaLnBrk="1" hangingPunct="1">
              <a:lnSpc>
                <a:spcPct val="150000"/>
              </a:lnSpc>
              <a:defRPr/>
            </a:pPr>
            <a:r>
              <a:rPr lang="pt-BR" sz="1600" dirty="0"/>
              <a:t>R = $6.827,58</a:t>
            </a:r>
            <a:endParaRPr lang="pt-BR" sz="800" dirty="0"/>
          </a:p>
        </p:txBody>
      </p:sp>
      <p:sp>
        <p:nvSpPr>
          <p:cNvPr id="12295" name="CaixaDeTexto 12">
            <a:extLst>
              <a:ext uri="{FF2B5EF4-FFF2-40B4-BE49-F238E27FC236}">
                <a16:creationId xmlns:a16="http://schemas.microsoft.com/office/drawing/2014/main" id="{78F6F72C-ECC1-DAE2-D2F9-C7604CB269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1987550"/>
            <a:ext cx="6858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Determinação da taxa de Arrendamento: Exemplo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CaixaDeTexto 3">
            <a:extLst>
              <a:ext uri="{FF2B5EF4-FFF2-40B4-BE49-F238E27FC236}">
                <a16:creationId xmlns:a16="http://schemas.microsoft.com/office/drawing/2014/main" id="{06D55811-04AB-C8B1-07AE-A66B04AD71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13315" name="CaixaDeTexto 6">
            <a:extLst>
              <a:ext uri="{FF2B5EF4-FFF2-40B4-BE49-F238E27FC236}">
                <a16:creationId xmlns:a16="http://schemas.microsoft.com/office/drawing/2014/main" id="{F435DFEB-345F-1A11-0F01-7C9F69D3DB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846388"/>
            <a:ext cx="6357938" cy="1154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Como o leasing financeiro é uma alternativa mutuamente exclusiva em relação à compra do ativo, a comparação correta das alternativas deve basear-se no fluxo incremental. 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84361EA-D5EF-1DBF-C739-06394BD4AE54}"/>
              </a:ext>
            </a:extLst>
          </p:cNvPr>
          <p:cNvSpPr txBox="1"/>
          <p:nvPr/>
        </p:nvSpPr>
        <p:spPr>
          <a:xfrm>
            <a:off x="4538663" y="142875"/>
            <a:ext cx="4168775" cy="6461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6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Financiamentos: leasing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operacional e financeiro</a:t>
            </a:r>
          </a:p>
        </p:txBody>
      </p:sp>
      <p:sp>
        <p:nvSpPr>
          <p:cNvPr id="13317" name="CaixaDeTexto 10">
            <a:extLst>
              <a:ext uri="{FF2B5EF4-FFF2-40B4-BE49-F238E27FC236}">
                <a16:creationId xmlns:a16="http://schemas.microsoft.com/office/drawing/2014/main" id="{9AC87302-396D-F1CE-D9D6-7F1DC7CAD1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13318" name="CaixaDeTexto 12">
            <a:extLst>
              <a:ext uri="{FF2B5EF4-FFF2-40B4-BE49-F238E27FC236}">
                <a16:creationId xmlns:a16="http://schemas.microsoft.com/office/drawing/2014/main" id="{27109B8D-47C0-0F56-0AB3-79568BF9ED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569118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Avaliação do leasing financeiro: o caso da pessoa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jurídica</a:t>
            </a:r>
          </a:p>
        </p:txBody>
      </p:sp>
      <p:sp>
        <p:nvSpPr>
          <p:cNvPr id="13319" name="Espaço Reservado para Número de Slide 7">
            <a:extLst>
              <a:ext uri="{FF2B5EF4-FFF2-40B4-BE49-F238E27FC236}">
                <a16:creationId xmlns:a16="http://schemas.microsoft.com/office/drawing/2014/main" id="{F0960FF6-A2DA-FFB5-4AC1-5F7A15C2F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9D37569C-7EA5-494F-A004-7A5D7F53D818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pt-BR" altLang="pt-BR" sz="1200">
              <a:solidFill>
                <a:srgbClr val="2C5DAA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CaixaDeTexto 3">
            <a:extLst>
              <a:ext uri="{FF2B5EF4-FFF2-40B4-BE49-F238E27FC236}">
                <a16:creationId xmlns:a16="http://schemas.microsoft.com/office/drawing/2014/main" id="{2770854A-B6E4-C5E5-1141-BD624D9ED2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A7AF45E-4E84-1477-2C9C-E673BD4852C3}"/>
              </a:ext>
            </a:extLst>
          </p:cNvPr>
          <p:cNvSpPr txBox="1"/>
          <p:nvPr/>
        </p:nvSpPr>
        <p:spPr>
          <a:xfrm>
            <a:off x="4538663" y="142875"/>
            <a:ext cx="4168775" cy="6461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6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Financiamentos: leasing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operacional e financeiro</a:t>
            </a:r>
          </a:p>
        </p:txBody>
      </p:sp>
      <p:sp>
        <p:nvSpPr>
          <p:cNvPr id="14340" name="CaixaDeTexto 10">
            <a:extLst>
              <a:ext uri="{FF2B5EF4-FFF2-40B4-BE49-F238E27FC236}">
                <a16:creationId xmlns:a16="http://schemas.microsoft.com/office/drawing/2014/main" id="{39E4790E-A7EF-D88F-00D7-69AA03679B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14341" name="Espaço Reservado para Número de Slide 7">
            <a:extLst>
              <a:ext uri="{FF2B5EF4-FFF2-40B4-BE49-F238E27FC236}">
                <a16:creationId xmlns:a16="http://schemas.microsoft.com/office/drawing/2014/main" id="{28EBF88C-005A-CF76-1B1D-EA02F3ED9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A3E1BA9E-DA62-49FD-BA0B-6768E8380318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FAE9216-AD62-84F1-3D60-8E558DB9FD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l="16406" t="30937" r="16797" b="17500"/>
          <a:stretch>
            <a:fillRect/>
          </a:stretch>
        </p:blipFill>
        <p:spPr bwMode="auto">
          <a:xfrm>
            <a:off x="1928813" y="3340100"/>
            <a:ext cx="5330825" cy="25717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343" name="Retângulo 8">
            <a:extLst>
              <a:ext uri="{FF2B5EF4-FFF2-40B4-BE49-F238E27FC236}">
                <a16:creationId xmlns:a16="http://schemas.microsoft.com/office/drawing/2014/main" id="{871185BF-7C96-FC51-AF40-496DC52B20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7338" y="2428875"/>
            <a:ext cx="622935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Montagem de um fluxo operacional para um prazo de dois períodos:</a:t>
            </a:r>
          </a:p>
        </p:txBody>
      </p:sp>
      <p:sp>
        <p:nvSpPr>
          <p:cNvPr id="14344" name="CaixaDeTexto 12">
            <a:extLst>
              <a:ext uri="{FF2B5EF4-FFF2-40B4-BE49-F238E27FC236}">
                <a16:creationId xmlns:a16="http://schemas.microsoft.com/office/drawing/2014/main" id="{CB632E59-A653-1DAB-8E56-FAD378E273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6858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Avaliação do leasing financeiro: o caso da pessoa jurídica</a:t>
            </a: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CaixaDeTexto 3">
            <a:extLst>
              <a:ext uri="{FF2B5EF4-FFF2-40B4-BE49-F238E27FC236}">
                <a16:creationId xmlns:a16="http://schemas.microsoft.com/office/drawing/2014/main" id="{880CF16C-C102-DD18-9364-848522032D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928406D-0288-5695-8A2A-F652D7D49A66}"/>
              </a:ext>
            </a:extLst>
          </p:cNvPr>
          <p:cNvSpPr txBox="1"/>
          <p:nvPr/>
        </p:nvSpPr>
        <p:spPr>
          <a:xfrm>
            <a:off x="4538663" y="142875"/>
            <a:ext cx="4168775" cy="6461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6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Financiamentos: leasing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operacional e financeiro</a:t>
            </a:r>
          </a:p>
        </p:txBody>
      </p:sp>
      <p:sp>
        <p:nvSpPr>
          <p:cNvPr id="15364" name="CaixaDeTexto 10">
            <a:extLst>
              <a:ext uri="{FF2B5EF4-FFF2-40B4-BE49-F238E27FC236}">
                <a16:creationId xmlns:a16="http://schemas.microsoft.com/office/drawing/2014/main" id="{519A3D9F-4B6C-AA4E-6226-2D1708F86A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15365" name="Espaço Reservado para Número de Slide 7">
            <a:extLst>
              <a:ext uri="{FF2B5EF4-FFF2-40B4-BE49-F238E27FC236}">
                <a16:creationId xmlns:a16="http://schemas.microsoft.com/office/drawing/2014/main" id="{6AEBB160-E071-B787-3FD7-C8F99A2D5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497802C6-055E-40F7-A873-5E788A3B84C1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sp>
        <p:nvSpPr>
          <p:cNvPr id="15366" name="Retângulo 8">
            <a:extLst>
              <a:ext uri="{FF2B5EF4-FFF2-40B4-BE49-F238E27FC236}">
                <a16:creationId xmlns:a16="http://schemas.microsoft.com/office/drawing/2014/main" id="{4E8558C8-F872-E821-AC00-A51803779F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7338" y="2803525"/>
            <a:ext cx="622935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Valor presente do fluxo de caixa incremental (L-C):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Arial" panose="020B0604020202020204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50020B6-CBF7-701D-F7E8-66AC9C5F6B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l="22852" t="58125" r="19140" b="27812"/>
          <a:stretch>
            <a:fillRect/>
          </a:stretch>
        </p:blipFill>
        <p:spPr bwMode="auto">
          <a:xfrm>
            <a:off x="1643063" y="3481388"/>
            <a:ext cx="5786437" cy="8763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5368" name="CaixaDeTexto 12">
            <a:extLst>
              <a:ext uri="{FF2B5EF4-FFF2-40B4-BE49-F238E27FC236}">
                <a16:creationId xmlns:a16="http://schemas.microsoft.com/office/drawing/2014/main" id="{AD360105-51E3-C5EB-A536-32724DC5EB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6858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Avaliação do leasing financeiro: o caso da pessoa jurídica</a:t>
            </a: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CaixaDeTexto 3">
            <a:extLst>
              <a:ext uri="{FF2B5EF4-FFF2-40B4-BE49-F238E27FC236}">
                <a16:creationId xmlns:a16="http://schemas.microsoft.com/office/drawing/2014/main" id="{A80EED93-20C1-2675-61C1-1AEC1E7D91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68824FF-FCDC-A97F-07D6-4ABAC0254BB4}"/>
              </a:ext>
            </a:extLst>
          </p:cNvPr>
          <p:cNvSpPr txBox="1"/>
          <p:nvPr/>
        </p:nvSpPr>
        <p:spPr>
          <a:xfrm>
            <a:off x="4538663" y="142875"/>
            <a:ext cx="4168775" cy="6461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6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Financiamentos: leasing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operacional e financeiro</a:t>
            </a:r>
          </a:p>
        </p:txBody>
      </p:sp>
      <p:sp>
        <p:nvSpPr>
          <p:cNvPr id="16388" name="CaixaDeTexto 10">
            <a:extLst>
              <a:ext uri="{FF2B5EF4-FFF2-40B4-BE49-F238E27FC236}">
                <a16:creationId xmlns:a16="http://schemas.microsoft.com/office/drawing/2014/main" id="{788615A1-5EEF-CD65-3D27-91CA92763A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16389" name="Espaço Reservado para Número de Slide 7">
            <a:extLst>
              <a:ext uri="{FF2B5EF4-FFF2-40B4-BE49-F238E27FC236}">
                <a16:creationId xmlns:a16="http://schemas.microsoft.com/office/drawing/2014/main" id="{4707C96D-8EB5-AD78-0A4B-9A8242B8F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E142C1BE-44D8-4C3E-8BBE-8B008836525C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sp>
        <p:nvSpPr>
          <p:cNvPr id="20486" name="Retângulo 8">
            <a:extLst>
              <a:ext uri="{FF2B5EF4-FFF2-40B4-BE49-F238E27FC236}">
                <a16:creationId xmlns:a16="http://schemas.microsoft.com/office/drawing/2014/main" id="{2A3CB427-DCCC-4D0A-36A1-B63E8D08E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7338" y="2571750"/>
            <a:ext cx="6872287" cy="341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defRPr/>
            </a:pPr>
            <a:r>
              <a:rPr lang="pt-BR" sz="1600" dirty="0">
                <a:latin typeface="TimesTen-Roman"/>
              </a:rPr>
              <a:t>O significado dos parâmetros necessários na avaliação são os seguintes:</a:t>
            </a:r>
          </a:p>
          <a:p>
            <a:pPr eaLnBrk="1" hangingPunct="1">
              <a:lnSpc>
                <a:spcPct val="150000"/>
              </a:lnSpc>
              <a:defRPr/>
            </a:pPr>
            <a:endParaRPr lang="pt-BR" sz="1600" dirty="0">
              <a:latin typeface="TimesTen-Roman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pt-BR" sz="1600" dirty="0">
                <a:latin typeface="TimesTen-Roman"/>
              </a:rPr>
              <a:t>V</a:t>
            </a:r>
            <a:r>
              <a:rPr lang="pt-BR" sz="1050" dirty="0">
                <a:latin typeface="TimesTen-Roman"/>
              </a:rPr>
              <a:t>L − C</a:t>
            </a:r>
            <a:r>
              <a:rPr lang="pt-BR" sz="1600" dirty="0">
                <a:latin typeface="TimesTen-Roman"/>
              </a:rPr>
              <a:t> </a:t>
            </a:r>
            <a:r>
              <a:rPr lang="pt-BR" sz="1600" dirty="0">
                <a:latin typeface="EuclidSymbol"/>
              </a:rPr>
              <a:t>= </a:t>
            </a:r>
            <a:r>
              <a:rPr lang="pt-BR" sz="1600" dirty="0">
                <a:latin typeface="TimesTen-Roman"/>
              </a:rPr>
              <a:t>valor presente da vantagem ou desvantagem financeira do leasing em relação à compra;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pt-BR" sz="1600" dirty="0">
                <a:latin typeface="TimesTen-Roman"/>
              </a:rPr>
              <a:t>VO </a:t>
            </a:r>
            <a:r>
              <a:rPr lang="pt-BR" sz="1600" dirty="0">
                <a:latin typeface="EuclidSymbol"/>
              </a:rPr>
              <a:t>= </a:t>
            </a:r>
            <a:r>
              <a:rPr lang="pt-BR" sz="1600" dirty="0">
                <a:latin typeface="TimesTen-Roman"/>
              </a:rPr>
              <a:t>valor da operação (valor do ativo arrendado);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pt-BR" sz="1600" dirty="0" err="1">
                <a:latin typeface="TimesTen-Roman"/>
              </a:rPr>
              <a:t>R</a:t>
            </a:r>
            <a:r>
              <a:rPr lang="pt-BR" sz="1100" dirty="0" err="1">
                <a:latin typeface="TimesTen-Roman"/>
              </a:rPr>
              <a:t>t</a:t>
            </a:r>
            <a:r>
              <a:rPr lang="pt-BR" sz="1600" dirty="0">
                <a:latin typeface="TimesTen-Roman"/>
              </a:rPr>
              <a:t> </a:t>
            </a:r>
            <a:r>
              <a:rPr lang="pt-BR" sz="1600" dirty="0">
                <a:latin typeface="EuclidSymbol"/>
              </a:rPr>
              <a:t>= </a:t>
            </a:r>
            <a:r>
              <a:rPr lang="pt-BR" sz="1600" dirty="0">
                <a:latin typeface="TimesTen-Roman"/>
              </a:rPr>
              <a:t>valor da prestação (contraprestação) paga pelo leasing no período t;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pt-BR" sz="1600" dirty="0" err="1">
                <a:latin typeface="TimesTen-Roman"/>
              </a:rPr>
              <a:t>D</a:t>
            </a:r>
            <a:r>
              <a:rPr lang="pt-BR" sz="1100" dirty="0" err="1">
                <a:latin typeface="TimesTen-Roman"/>
              </a:rPr>
              <a:t>t</a:t>
            </a:r>
            <a:r>
              <a:rPr lang="pt-BR" sz="1600" dirty="0">
                <a:latin typeface="TimesTen-Roman"/>
              </a:rPr>
              <a:t> </a:t>
            </a:r>
            <a:r>
              <a:rPr lang="pt-BR" sz="1600" dirty="0">
                <a:latin typeface="EuclidSymbol"/>
              </a:rPr>
              <a:t>= </a:t>
            </a:r>
            <a:r>
              <a:rPr lang="pt-BR" sz="1600" dirty="0">
                <a:latin typeface="TimesTen-Roman"/>
              </a:rPr>
              <a:t>quota de depreciação do ativo arrendado em t;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pt-BR" sz="1600" dirty="0">
                <a:latin typeface="TimesTen-Roman"/>
              </a:rPr>
              <a:t>L </a:t>
            </a:r>
            <a:r>
              <a:rPr lang="pt-BR" sz="1600" dirty="0">
                <a:latin typeface="EuclidSymbol"/>
              </a:rPr>
              <a:t>= </a:t>
            </a:r>
            <a:r>
              <a:rPr lang="pt-BR" sz="1600" dirty="0">
                <a:latin typeface="TimesTen-Roman"/>
              </a:rPr>
              <a:t>prazo do leasing financeiro;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pt-BR" sz="1600" dirty="0">
                <a:latin typeface="TimesTen-Roman"/>
              </a:rPr>
              <a:t>T </a:t>
            </a:r>
            <a:r>
              <a:rPr lang="pt-BR" sz="1600" dirty="0">
                <a:latin typeface="EuclidSymbol"/>
              </a:rPr>
              <a:t>= </a:t>
            </a:r>
            <a:r>
              <a:rPr lang="pt-BR" sz="1600" dirty="0">
                <a:latin typeface="TimesTen-Roman"/>
              </a:rPr>
              <a:t>alíquota marginal de IR da </a:t>
            </a:r>
            <a:r>
              <a:rPr lang="pt-BR" sz="1600" dirty="0" err="1">
                <a:latin typeface="TimesTen-Roman"/>
              </a:rPr>
              <a:t>arrendatária</a:t>
            </a:r>
            <a:r>
              <a:rPr lang="pt-BR" sz="1600" dirty="0">
                <a:latin typeface="TimesTen-Roman"/>
              </a:rPr>
              <a:t>;</a:t>
            </a:r>
          </a:p>
        </p:txBody>
      </p:sp>
      <p:sp>
        <p:nvSpPr>
          <p:cNvPr id="16391" name="CaixaDeTexto 12">
            <a:extLst>
              <a:ext uri="{FF2B5EF4-FFF2-40B4-BE49-F238E27FC236}">
                <a16:creationId xmlns:a16="http://schemas.microsoft.com/office/drawing/2014/main" id="{D3ABCF3F-D6BD-76E7-2B99-7D09D567FF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6858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Avaliação do leasing financeiro: o caso da pessoa jurídica</a:t>
            </a: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CaixaDeTexto 3">
            <a:extLst>
              <a:ext uri="{FF2B5EF4-FFF2-40B4-BE49-F238E27FC236}">
                <a16:creationId xmlns:a16="http://schemas.microsoft.com/office/drawing/2014/main" id="{40E16EA3-61D9-B1A3-4FBD-F00E81C238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0BD7651-583F-6074-34B7-138FA8AD84A2}"/>
              </a:ext>
            </a:extLst>
          </p:cNvPr>
          <p:cNvSpPr txBox="1"/>
          <p:nvPr/>
        </p:nvSpPr>
        <p:spPr>
          <a:xfrm>
            <a:off x="4538663" y="142875"/>
            <a:ext cx="4168775" cy="6461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6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Financiamentos: leasing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operacional e financeiro</a:t>
            </a:r>
          </a:p>
        </p:txBody>
      </p:sp>
      <p:sp>
        <p:nvSpPr>
          <p:cNvPr id="17412" name="CaixaDeTexto 10">
            <a:extLst>
              <a:ext uri="{FF2B5EF4-FFF2-40B4-BE49-F238E27FC236}">
                <a16:creationId xmlns:a16="http://schemas.microsoft.com/office/drawing/2014/main" id="{2E26F915-D891-38FD-5040-013FFF88EA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17413" name="Espaço Reservado para Número de Slide 7">
            <a:extLst>
              <a:ext uri="{FF2B5EF4-FFF2-40B4-BE49-F238E27FC236}">
                <a16:creationId xmlns:a16="http://schemas.microsoft.com/office/drawing/2014/main" id="{FB465A1F-2F8D-C2AA-9FF8-E42B3FD67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DB7D8A32-2A46-44B2-91D6-E6B61687F9E6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sp>
        <p:nvSpPr>
          <p:cNvPr id="17414" name="Retângulo 8">
            <a:extLst>
              <a:ext uri="{FF2B5EF4-FFF2-40B4-BE49-F238E27FC236}">
                <a16:creationId xmlns:a16="http://schemas.microsoft.com/office/drawing/2014/main" id="{3A491817-9737-E052-6C59-7FD1A01C98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7338" y="2571750"/>
            <a:ext cx="6872287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TimesTen-Roman"/>
              </a:rPr>
              <a:t>N </a:t>
            </a:r>
            <a:r>
              <a:rPr lang="pt-BR" altLang="pt-BR" sz="1600">
                <a:latin typeface="EuclidSymbol"/>
              </a:rPr>
              <a:t>= </a:t>
            </a:r>
            <a:r>
              <a:rPr lang="pt-BR" altLang="pt-BR" sz="1600">
                <a:latin typeface="TimesTen-Roman"/>
              </a:rPr>
              <a:t>prazo de depreciação do ativo;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TimesTen-Roman"/>
              </a:rPr>
              <a:t>i </a:t>
            </a:r>
            <a:r>
              <a:rPr lang="pt-BR" altLang="pt-BR" sz="1600">
                <a:latin typeface="EuclidSymbol"/>
              </a:rPr>
              <a:t>= </a:t>
            </a:r>
            <a:r>
              <a:rPr lang="pt-BR" altLang="pt-BR" sz="1600">
                <a:latin typeface="TimesTen-Roman"/>
              </a:rPr>
              <a:t>taxa de juros antes de IR, para a empresa arrendatária;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TimesTen-Roman"/>
              </a:rPr>
              <a:t>i* </a:t>
            </a:r>
            <a:r>
              <a:rPr lang="pt-BR" altLang="pt-BR" sz="1600">
                <a:latin typeface="EuclidSymbol"/>
              </a:rPr>
              <a:t>= </a:t>
            </a:r>
            <a:r>
              <a:rPr lang="pt-BR" altLang="pt-BR" sz="1600">
                <a:latin typeface="TimesTen-Roman"/>
              </a:rPr>
              <a:t>i (1 – T) </a:t>
            </a:r>
            <a:r>
              <a:rPr lang="pt-BR" altLang="pt-BR" sz="1600">
                <a:latin typeface="EuclidSymbol"/>
              </a:rPr>
              <a:t>= </a:t>
            </a:r>
            <a:r>
              <a:rPr lang="pt-BR" altLang="pt-BR" sz="1600">
                <a:latin typeface="TimesTen-Roman"/>
              </a:rPr>
              <a:t>taxa de juros após IR, para a empresa arrendatária;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TimesTen-Roman"/>
              </a:rPr>
              <a:t>i</a:t>
            </a:r>
            <a:r>
              <a:rPr lang="pt-BR" altLang="pt-BR" sz="800">
                <a:latin typeface="TimesTen-Roman"/>
              </a:rPr>
              <a:t>A</a:t>
            </a:r>
            <a:r>
              <a:rPr lang="pt-BR" altLang="pt-BR" sz="1600">
                <a:latin typeface="TimesTen-Roman"/>
              </a:rPr>
              <a:t> </a:t>
            </a:r>
            <a:r>
              <a:rPr lang="pt-BR" altLang="pt-BR" sz="1600">
                <a:latin typeface="EuclidSymbol"/>
              </a:rPr>
              <a:t>= </a:t>
            </a:r>
            <a:r>
              <a:rPr lang="pt-BR" altLang="pt-BR" sz="1600">
                <a:latin typeface="TimesTen-Roman"/>
              </a:rPr>
              <a:t>taxa de juros cobrada no arrendamento;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TimesTen-Roman"/>
              </a:rPr>
              <a:t>t </a:t>
            </a:r>
            <a:r>
              <a:rPr lang="pt-BR" altLang="pt-BR" sz="1600">
                <a:latin typeface="EuclidSymbol"/>
              </a:rPr>
              <a:t>= </a:t>
            </a:r>
            <a:r>
              <a:rPr lang="pt-BR" altLang="pt-BR" sz="1600">
                <a:latin typeface="TimesTen-Roman"/>
              </a:rPr>
              <a:t>t-ésimo período.</a:t>
            </a:r>
            <a:endParaRPr lang="pt-BR" altLang="pt-BR" sz="1600">
              <a:latin typeface="Arial" panose="020B0604020202020204" pitchFamily="34" charset="0"/>
            </a:endParaRPr>
          </a:p>
        </p:txBody>
      </p:sp>
      <p:sp>
        <p:nvSpPr>
          <p:cNvPr id="17415" name="CaixaDeTexto 12">
            <a:extLst>
              <a:ext uri="{FF2B5EF4-FFF2-40B4-BE49-F238E27FC236}">
                <a16:creationId xmlns:a16="http://schemas.microsoft.com/office/drawing/2014/main" id="{CBD2DA75-98F1-82BB-BCB4-5248FA0490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6858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Avaliação do leasing financeiro: o caso da pessoa jurídica</a:t>
            </a: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CaixaDeTexto 3">
            <a:extLst>
              <a:ext uri="{FF2B5EF4-FFF2-40B4-BE49-F238E27FC236}">
                <a16:creationId xmlns:a16="http://schemas.microsoft.com/office/drawing/2014/main" id="{12FA8DC0-4062-6F72-878F-F6881216A8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18435" name="CaixaDeTexto 6">
            <a:extLst>
              <a:ext uri="{FF2B5EF4-FFF2-40B4-BE49-F238E27FC236}">
                <a16:creationId xmlns:a16="http://schemas.microsoft.com/office/drawing/2014/main" id="{931CE6CA-A012-18E9-797E-804899175F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500313"/>
            <a:ext cx="6357938" cy="3786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A seguir, avaliaremos uma operação de leasing financeiro com as seguintes características e VRG (Valor Residual Garantido) embutido nas prestações: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VO (valor da operação) = $ 800.000;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L (prazo do leasing) = 4 períodos;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N (prazo de depreciação do ativo) = 4 períodos;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T (alíquota de IR da arrendatária) = 30%;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i (taxa de juros antes de IR para a empresa arrendatária) = 10% por período;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i</a:t>
            </a:r>
            <a:r>
              <a:rPr lang="pt-BR" altLang="pt-BR" sz="800">
                <a:latin typeface="Arial" panose="020B0604020202020204" pitchFamily="34" charset="0"/>
              </a:rPr>
              <a:t>A</a:t>
            </a:r>
            <a:r>
              <a:rPr lang="pt-BR" altLang="pt-BR" sz="1600">
                <a:latin typeface="Arial" panose="020B0604020202020204" pitchFamily="34" charset="0"/>
              </a:rPr>
              <a:t> (taxa de juros cobrada no arrendamento) = 10% por período.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06452BC-A03A-CF86-6AB7-869A1D04EB3A}"/>
              </a:ext>
            </a:extLst>
          </p:cNvPr>
          <p:cNvSpPr txBox="1"/>
          <p:nvPr/>
        </p:nvSpPr>
        <p:spPr>
          <a:xfrm>
            <a:off x="4538663" y="142875"/>
            <a:ext cx="4168775" cy="6461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6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Financiamentos: leasing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operacional e financeiro</a:t>
            </a:r>
          </a:p>
        </p:txBody>
      </p:sp>
      <p:sp>
        <p:nvSpPr>
          <p:cNvPr id="18437" name="CaixaDeTexto 10">
            <a:extLst>
              <a:ext uri="{FF2B5EF4-FFF2-40B4-BE49-F238E27FC236}">
                <a16:creationId xmlns:a16="http://schemas.microsoft.com/office/drawing/2014/main" id="{A2C24FF7-1A18-90F1-DF28-E180B1B389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18438" name="Espaço Reservado para Número de Slide 7">
            <a:extLst>
              <a:ext uri="{FF2B5EF4-FFF2-40B4-BE49-F238E27FC236}">
                <a16:creationId xmlns:a16="http://schemas.microsoft.com/office/drawing/2014/main" id="{2E0447A2-51D4-8D33-7C5E-1EE9FF35E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692D592E-6B9B-46CB-AD9C-606164836500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sp>
        <p:nvSpPr>
          <p:cNvPr id="18439" name="CaixaDeTexto 12">
            <a:extLst>
              <a:ext uri="{FF2B5EF4-FFF2-40B4-BE49-F238E27FC236}">
                <a16:creationId xmlns:a16="http://schemas.microsoft.com/office/drawing/2014/main" id="{8D30205C-A632-C455-7F95-B32CBE13BE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6858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Avaliação do leasing financeiro: o caso da pessoa jurídica</a:t>
            </a: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CaixaDeTexto 3">
            <a:extLst>
              <a:ext uri="{FF2B5EF4-FFF2-40B4-BE49-F238E27FC236}">
                <a16:creationId xmlns:a16="http://schemas.microsoft.com/office/drawing/2014/main" id="{48DFCD3D-3F9F-19BA-2F45-5F13DC0288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19459" name="CaixaDeTexto 6">
            <a:extLst>
              <a:ext uri="{FF2B5EF4-FFF2-40B4-BE49-F238E27FC236}">
                <a16:creationId xmlns:a16="http://schemas.microsoft.com/office/drawing/2014/main" id="{6E29BD99-9EC5-1994-25AC-EEEB35CB20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687638"/>
            <a:ext cx="63579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Cálculo da taxa de arrendamento e das prestações diluídas: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46600A8-3A92-355C-2CCF-1A0E1EB90EBE}"/>
              </a:ext>
            </a:extLst>
          </p:cNvPr>
          <p:cNvSpPr txBox="1"/>
          <p:nvPr/>
        </p:nvSpPr>
        <p:spPr>
          <a:xfrm>
            <a:off x="4538663" y="142875"/>
            <a:ext cx="4168775" cy="6461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6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Financiamentos: leasing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operacional e financeiro</a:t>
            </a:r>
          </a:p>
        </p:txBody>
      </p:sp>
      <p:sp>
        <p:nvSpPr>
          <p:cNvPr id="19461" name="CaixaDeTexto 10">
            <a:extLst>
              <a:ext uri="{FF2B5EF4-FFF2-40B4-BE49-F238E27FC236}">
                <a16:creationId xmlns:a16="http://schemas.microsoft.com/office/drawing/2014/main" id="{27D16560-7C64-6979-E054-3F8D3AFFC6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19462" name="Espaço Reservado para Número de Slide 7">
            <a:extLst>
              <a:ext uri="{FF2B5EF4-FFF2-40B4-BE49-F238E27FC236}">
                <a16:creationId xmlns:a16="http://schemas.microsoft.com/office/drawing/2014/main" id="{3902CA93-34A0-4D18-ED57-D6D7D8F76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8A4D69A5-2EEB-4F9F-AC85-BADE640979CE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2232C4B-25A2-0AD3-AC1D-9F1E3343B5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l="28711" t="29063" r="21484" b="46562"/>
          <a:stretch>
            <a:fillRect/>
          </a:stretch>
        </p:blipFill>
        <p:spPr bwMode="auto">
          <a:xfrm>
            <a:off x="1657350" y="3481388"/>
            <a:ext cx="5343525" cy="16351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9464" name="Retângulo 7">
            <a:extLst>
              <a:ext uri="{FF2B5EF4-FFF2-40B4-BE49-F238E27FC236}">
                <a16:creationId xmlns:a16="http://schemas.microsoft.com/office/drawing/2014/main" id="{A9D8A055-3167-2EF2-D9E1-5C18B2E412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7338" y="5448300"/>
            <a:ext cx="587216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Contraprestação (R) = $ 800.000 × 0,315471= $ 252.376,64</a:t>
            </a:r>
          </a:p>
        </p:txBody>
      </p:sp>
      <p:sp>
        <p:nvSpPr>
          <p:cNvPr id="19465" name="CaixaDeTexto 12">
            <a:extLst>
              <a:ext uri="{FF2B5EF4-FFF2-40B4-BE49-F238E27FC236}">
                <a16:creationId xmlns:a16="http://schemas.microsoft.com/office/drawing/2014/main" id="{1D764D10-0D20-185D-9940-39117E5F74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6858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Avaliação do leasing financeiro: o caso da pessoa jurídica</a:t>
            </a: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CaixaDeTexto 6">
            <a:extLst>
              <a:ext uri="{FF2B5EF4-FFF2-40B4-BE49-F238E27FC236}">
                <a16:creationId xmlns:a16="http://schemas.microsoft.com/office/drawing/2014/main" id="{AEF7E460-00B2-0AD5-2EA8-7C73E6B8A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428875"/>
            <a:ext cx="6357938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Cálculo da quota de depreciação por período: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1613739-F689-4833-5B0E-1E9107A235DF}"/>
              </a:ext>
            </a:extLst>
          </p:cNvPr>
          <p:cNvSpPr txBox="1"/>
          <p:nvPr/>
        </p:nvSpPr>
        <p:spPr>
          <a:xfrm>
            <a:off x="4538663" y="142875"/>
            <a:ext cx="4168775" cy="6461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6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Financiamentos: leasing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operacional e financeiro</a:t>
            </a:r>
          </a:p>
        </p:txBody>
      </p:sp>
      <p:sp>
        <p:nvSpPr>
          <p:cNvPr id="20484" name="Espaço Reservado para Número de Slide 7">
            <a:extLst>
              <a:ext uri="{FF2B5EF4-FFF2-40B4-BE49-F238E27FC236}">
                <a16:creationId xmlns:a16="http://schemas.microsoft.com/office/drawing/2014/main" id="{8D286570-FDE6-6123-287A-F4AB8BA62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73527B1E-B4A1-4612-A197-BF91E049EEC7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F2DFABB5-F074-527E-9F0F-F58A069593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l="25195" t="35625" r="25000" b="53125"/>
          <a:stretch>
            <a:fillRect/>
          </a:stretch>
        </p:blipFill>
        <p:spPr bwMode="auto">
          <a:xfrm>
            <a:off x="1643063" y="2928938"/>
            <a:ext cx="5429250" cy="7667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BD1333D4-4F12-93EC-92F5-D2357FE235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l="25195" t="55187" r="25000" b="30750"/>
          <a:stretch>
            <a:fillRect/>
          </a:stretch>
        </p:blipFill>
        <p:spPr bwMode="auto">
          <a:xfrm>
            <a:off x="1643063" y="4143375"/>
            <a:ext cx="5429250" cy="9588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D57A3399-B60B-4CDF-BDD8-CAC2E8EC9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l="25195" t="78500" r="25000" b="13750"/>
          <a:stretch>
            <a:fillRect/>
          </a:stretch>
        </p:blipFill>
        <p:spPr bwMode="auto">
          <a:xfrm>
            <a:off x="1643063" y="5543550"/>
            <a:ext cx="5429250" cy="5286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0488" name="CaixaDeTexto 3">
            <a:extLst>
              <a:ext uri="{FF2B5EF4-FFF2-40B4-BE49-F238E27FC236}">
                <a16:creationId xmlns:a16="http://schemas.microsoft.com/office/drawing/2014/main" id="{F310AF80-52B9-8F78-363E-FBCFFF4A90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20489" name="CaixaDeTexto 10">
            <a:extLst>
              <a:ext uri="{FF2B5EF4-FFF2-40B4-BE49-F238E27FC236}">
                <a16:creationId xmlns:a16="http://schemas.microsoft.com/office/drawing/2014/main" id="{0D233501-C2FA-8B45-C8CE-9DEFF5C5D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20490" name="CaixaDeTexto 6">
            <a:extLst>
              <a:ext uri="{FF2B5EF4-FFF2-40B4-BE49-F238E27FC236}">
                <a16:creationId xmlns:a16="http://schemas.microsoft.com/office/drawing/2014/main" id="{E3C8E7EC-04C9-2780-C033-BD9F0A3FDA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3727450"/>
            <a:ext cx="6357938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Cálculo do numerador do somatório da fórmula:</a:t>
            </a:r>
          </a:p>
        </p:txBody>
      </p:sp>
      <p:sp>
        <p:nvSpPr>
          <p:cNvPr id="20491" name="CaixaDeTexto 6">
            <a:extLst>
              <a:ext uri="{FF2B5EF4-FFF2-40B4-BE49-F238E27FC236}">
                <a16:creationId xmlns:a16="http://schemas.microsoft.com/office/drawing/2014/main" id="{AEE81CD0-0994-111C-432C-536BDF2DE9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5095875"/>
            <a:ext cx="6357938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Cálculo da taxa de juros (após IR) da empresa:</a:t>
            </a:r>
          </a:p>
        </p:txBody>
      </p:sp>
      <p:sp>
        <p:nvSpPr>
          <p:cNvPr id="20492" name="CaixaDeTexto 12">
            <a:extLst>
              <a:ext uri="{FF2B5EF4-FFF2-40B4-BE49-F238E27FC236}">
                <a16:creationId xmlns:a16="http://schemas.microsoft.com/office/drawing/2014/main" id="{5B6C8606-F0C6-752C-3EFD-477E37855C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6858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Avaliação do leasing financeiro: o caso da pessoa jurídica</a:t>
            </a: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CaixaDeTexto 6">
            <a:extLst>
              <a:ext uri="{FF2B5EF4-FFF2-40B4-BE49-F238E27FC236}">
                <a16:creationId xmlns:a16="http://schemas.microsoft.com/office/drawing/2014/main" id="{212FE1BB-8A9E-280D-8C2A-AEC6A8DA5E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0188" y="2466975"/>
            <a:ext cx="6357937" cy="78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 Cálculo do valor presente da vantagem financeira do leasing em relação à compra: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648A87F-88CA-B791-1930-D268431D3880}"/>
              </a:ext>
            </a:extLst>
          </p:cNvPr>
          <p:cNvSpPr txBox="1"/>
          <p:nvPr/>
        </p:nvSpPr>
        <p:spPr>
          <a:xfrm>
            <a:off x="4538663" y="142875"/>
            <a:ext cx="4168775" cy="6461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6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Financiamentos: leasing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operacional e financeiro</a:t>
            </a:r>
          </a:p>
        </p:txBody>
      </p:sp>
      <p:sp>
        <p:nvSpPr>
          <p:cNvPr id="21508" name="Espaço Reservado para Número de Slide 7">
            <a:extLst>
              <a:ext uri="{FF2B5EF4-FFF2-40B4-BE49-F238E27FC236}">
                <a16:creationId xmlns:a16="http://schemas.microsoft.com/office/drawing/2014/main" id="{FBEA8074-DA23-B9DB-73F2-175A29578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7ABB5B37-010C-4882-8F91-2A296B9A412A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sp>
        <p:nvSpPr>
          <p:cNvPr id="21509" name="CaixaDeTexto 3">
            <a:extLst>
              <a:ext uri="{FF2B5EF4-FFF2-40B4-BE49-F238E27FC236}">
                <a16:creationId xmlns:a16="http://schemas.microsoft.com/office/drawing/2014/main" id="{7351CC3E-A883-C7F5-ED6E-ACD9F6AC3F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21510" name="CaixaDeTexto 10">
            <a:extLst>
              <a:ext uri="{FF2B5EF4-FFF2-40B4-BE49-F238E27FC236}">
                <a16:creationId xmlns:a16="http://schemas.microsoft.com/office/drawing/2014/main" id="{E1E69208-75C4-D52A-D5EC-12EA314B38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3837A96D-60D0-0FF9-F79E-CFB199D7E4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l="18164" t="37500" r="19726" b="24062"/>
          <a:stretch>
            <a:fillRect/>
          </a:stretch>
        </p:blipFill>
        <p:spPr bwMode="auto">
          <a:xfrm>
            <a:off x="1857375" y="3325813"/>
            <a:ext cx="4857750" cy="18780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1512" name="Retângulo 14">
            <a:extLst>
              <a:ext uri="{FF2B5EF4-FFF2-40B4-BE49-F238E27FC236}">
                <a16:creationId xmlns:a16="http://schemas.microsoft.com/office/drawing/2014/main" id="{921DBAE1-EE01-8D8F-8720-FFB7155C7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7175" y="5311775"/>
            <a:ext cx="5902325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Como V</a:t>
            </a:r>
            <a:r>
              <a:rPr lang="pt-BR" altLang="pt-BR" sz="1200">
                <a:latin typeface="Arial" panose="020B0604020202020204" pitchFamily="34" charset="0"/>
              </a:rPr>
              <a:t>L – C </a:t>
            </a:r>
            <a:r>
              <a:rPr lang="pt-BR" altLang="pt-BR" sz="1600">
                <a:latin typeface="Arial" panose="020B0604020202020204" pitchFamily="34" charset="0"/>
              </a:rPr>
              <a:t>é negativo, deve-se selecionar a alternativa </a:t>
            </a:r>
            <a:r>
              <a:rPr lang="pt-BR" altLang="pt-BR" sz="1600" i="1">
                <a:latin typeface="Arial" panose="020B0604020202020204" pitchFamily="34" charset="0"/>
              </a:rPr>
              <a:t>compra financiada.</a:t>
            </a:r>
            <a:endParaRPr lang="pt-BR" altLang="pt-BR" sz="1600">
              <a:latin typeface="Arial" panose="020B0604020202020204" pitchFamily="34" charset="0"/>
            </a:endParaRPr>
          </a:p>
        </p:txBody>
      </p:sp>
      <p:sp>
        <p:nvSpPr>
          <p:cNvPr id="21513" name="CaixaDeTexto 12">
            <a:extLst>
              <a:ext uri="{FF2B5EF4-FFF2-40B4-BE49-F238E27FC236}">
                <a16:creationId xmlns:a16="http://schemas.microsoft.com/office/drawing/2014/main" id="{68AADC1B-8F3E-77C9-AB67-63834EA5EC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6858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Avaliação do leasing financeiro: o caso da pessoa jurídica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A8A4E097220C94CA78F0CF62B1C4486" ma:contentTypeVersion="20" ma:contentTypeDescription="Crie um novo documento." ma:contentTypeScope="" ma:versionID="e274cbce19eccc8f05082042bdbebfe6">
  <xsd:schema xmlns:xsd="http://www.w3.org/2001/XMLSchema" xmlns:xs="http://www.w3.org/2001/XMLSchema" xmlns:p="http://schemas.microsoft.com/office/2006/metadata/properties" xmlns:ns2="f244cccc-9ebe-487b-9f49-451c84d31f5d" xmlns:ns3="6d1e6d4d-286d-4a1d-879b-bd877680a131" targetNamespace="http://schemas.microsoft.com/office/2006/metadata/properties" ma:root="true" ma:fieldsID="8d05ae5ea0c3b3bf75339924b2fa7c23" ns2:_="" ns3:_="">
    <xsd:import namespace="f244cccc-9ebe-487b-9f49-451c84d31f5d"/>
    <xsd:import namespace="6d1e6d4d-286d-4a1d-879b-bd877680a13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3:SharedWithUsers" minOccurs="0"/>
                <xsd:element ref="ns3:SharedWithDetails" minOccurs="0"/>
                <xsd:element ref="ns2:Grupo15_x002d_MatheuseLorena" minOccurs="0"/>
                <xsd:element ref="ns2:_x002e_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  <xsd:element ref="ns2:Data" minOccurs="0"/>
                <xsd:element ref="ns2:MediaServiceOCR" minOccurs="0"/>
                <xsd:element ref="ns2:grupo13_x002d_MarceloPasso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44cccc-9ebe-487b-9f49-451c84d31f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Grupo15_x002d_MatheuseLorena" ma:index="15" nillable="true" ma:displayName="Grupo 15 - Matheus e Lorena" ma:format="Dropdown" ma:internalName="Grupo15_x002d_MatheuseLorena">
      <xsd:simpleType>
        <xsd:restriction base="dms:Text">
          <xsd:maxLength value="255"/>
        </xsd:restriction>
      </xsd:simpleType>
    </xsd:element>
    <xsd:element name="_x002e_" ma:index="16" nillable="true" ma:displayName="." ma:format="Dropdown" ma:internalName="_x002e_">
      <xsd:simpleType>
        <xsd:restriction base="dms:Text">
          <xsd:maxLength value="255"/>
        </xsd:restriction>
      </xsd:simpleType>
    </xsd:element>
    <xsd:element name="lcf76f155ced4ddcb4097134ff3c332f" ma:index="18" nillable="true" ma:taxonomy="true" ma:internalName="lcf76f155ced4ddcb4097134ff3c332f" ma:taxonomyFieldName="MediaServiceImageTags" ma:displayName="Marcações de imagem" ma:readOnly="false" ma:fieldId="{5cf76f15-5ced-4ddc-b409-7134ff3c332f}" ma:taxonomyMulti="true" ma:sspId="242374f3-4cab-4e95-b6f7-35998408ef9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Data" ma:index="24" nillable="true" ma:displayName="Data" ma:default="[today]" ma:format="DateTime" ma:internalName="Data">
      <xsd:simpleType>
        <xsd:restriction base="dms:DateTime"/>
      </xsd:simpleType>
    </xsd:element>
    <xsd:element name="MediaServiceOCR" ma:index="2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grupo13_x002d_MarceloPassos" ma:index="26" nillable="true" ma:displayName="grupo 13 - Marcelo Passos " ma:format="Dropdown" ma:internalName="grupo13_x002d_MarceloPassos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1e6d4d-286d-4a1d-879b-bd877680a131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114cce79-e80e-4214-aac2-dd100738ee36}" ma:internalName="TaxCatchAll" ma:showField="CatchAllData" ma:web="6d1e6d4d-286d-4a1d-879b-bd877680a13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Grupo15_x002d_MatheuseLorena xmlns="f244cccc-9ebe-487b-9f49-451c84d31f5d" xsi:nil="true"/>
    <lcf76f155ced4ddcb4097134ff3c332f xmlns="f244cccc-9ebe-487b-9f49-451c84d31f5d">
      <Terms xmlns="http://schemas.microsoft.com/office/infopath/2007/PartnerControls"/>
    </lcf76f155ced4ddcb4097134ff3c332f>
    <_x002e_ xmlns="f244cccc-9ebe-487b-9f49-451c84d31f5d" xsi:nil="true"/>
    <TaxCatchAll xmlns="6d1e6d4d-286d-4a1d-879b-bd877680a131" xsi:nil="true"/>
    <Data xmlns="f244cccc-9ebe-487b-9f49-451c84d31f5d">2024-06-23T21:57:57+00:00</Data>
    <grupo13_x002d_MarceloPassos xmlns="f244cccc-9ebe-487b-9f49-451c84d31f5d" xsi:nil="true"/>
  </documentManagement>
</p:properties>
</file>

<file path=customXml/itemProps1.xml><?xml version="1.0" encoding="utf-8"?>
<ds:datastoreItem xmlns:ds="http://schemas.openxmlformats.org/officeDocument/2006/customXml" ds:itemID="{234093AE-4C88-49BC-B50D-7AA74DE4B26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BDF40A7-12CD-488E-A513-DC2CF3AFBAF5}"/>
</file>

<file path=customXml/itemProps3.xml><?xml version="1.0" encoding="utf-8"?>
<ds:datastoreItem xmlns:ds="http://schemas.openxmlformats.org/officeDocument/2006/customXml" ds:itemID="{9678A87E-E3D3-4FE3-9000-ACD651A91EA3}">
  <ds:schemaRefs>
    <ds:schemaRef ds:uri="http://schemas.microsoft.com/office/2006/metadata/properties"/>
    <ds:schemaRef ds:uri="http://schemas.microsoft.com/office/infopath/2007/PartnerControls"/>
    <ds:schemaRef ds:uri="f244cccc-9ebe-487b-9f49-451c84d31f5d"/>
    <ds:schemaRef ds:uri="6d1e6d4d-286d-4a1d-879b-bd877680a13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1662</TotalTime>
  <Words>1278</Words>
  <Application>Microsoft Office PowerPoint</Application>
  <PresentationFormat>Apresentação na tela (4:3)</PresentationFormat>
  <Paragraphs>169</Paragraphs>
  <Slides>19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0" baseType="lpstr"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ICONE 4 COMUNICAÇÃO E ARTE LTDA</dc:creator>
  <cp:lastModifiedBy>João Carlos Felix Souza</cp:lastModifiedBy>
  <cp:revision>123</cp:revision>
  <cp:lastPrinted>2018-09-14T18:37:12Z</cp:lastPrinted>
  <dcterms:created xsi:type="dcterms:W3CDTF">2009-04-20T19:30:33Z</dcterms:created>
  <dcterms:modified xsi:type="dcterms:W3CDTF">2025-02-09T00:57:59Z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0x0101003A8A4E097220C94CA78F0CF62B1C4486</vt:lpwstr>
  </property>
  <property fmtid="{D5CDD505-2E9C-101B-9397-08002B2CF9AE}" pid="3" name="MediaServiceImageTags">
    <vt:lpwstr/>
  </property>
</Properties>
</file>
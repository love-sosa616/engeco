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issa Hochstetler De Mesquita" userId="S::241024393@aluno.unb.br::d51fb646-c463-44cc-9f4a-5f32d190bcc8" providerId="AD" clId="Web-{B0693A64-7DAC-134A-4D36-364FB703952D}"/>
    <pc:docChg chg="modSld">
      <pc:chgData name="Larissa Hochstetler De Mesquita" userId="S::241024393@aluno.unb.br::d51fb646-c463-44cc-9f4a-5f32d190bcc8" providerId="AD" clId="Web-{B0693A64-7DAC-134A-4D36-364FB703952D}" dt="2026-10-12T03:13:42.977" v="5" actId="1076"/>
      <pc:docMkLst>
        <pc:docMk/>
      </pc:docMkLst>
      <pc:sldChg chg="modSp">
        <pc:chgData name="Larissa Hochstetler De Mesquita" userId="S::241024393@aluno.unb.br::d51fb646-c463-44cc-9f4a-5f32d190bcc8" providerId="AD" clId="Web-{B0693A64-7DAC-134A-4D36-364FB703952D}" dt="2026-10-12T03:13:42.977" v="5" actId="1076"/>
        <pc:sldMkLst>
          <pc:docMk/>
          <pc:sldMk cId="0" sldId="278"/>
        </pc:sldMkLst>
        <pc:spChg chg="mod">
          <ac:chgData name="Larissa Hochstetler De Mesquita" userId="S::241024393@aluno.unb.br::d51fb646-c463-44cc-9f4a-5f32d190bcc8" providerId="AD" clId="Web-{B0693A64-7DAC-134A-4D36-364FB703952D}" dt="2026-10-12T03:13:28.570" v="3" actId="1076"/>
          <ac:spMkLst>
            <pc:docMk/>
            <pc:sldMk cId="0" sldId="278"/>
            <ac:spMk id="8" creationId="{00000000-0000-0000-0000-000000000000}"/>
          </ac:spMkLst>
        </pc:spChg>
        <pc:spChg chg="mod">
          <ac:chgData name="Larissa Hochstetler De Mesquita" userId="S::241024393@aluno.unb.br::d51fb646-c463-44cc-9f4a-5f32d190bcc8" providerId="AD" clId="Web-{B0693A64-7DAC-134A-4D36-364FB703952D}" dt="2026-10-12T03:13:42.977" v="5" actId="1076"/>
          <ac:spMkLst>
            <pc:docMk/>
            <pc:sldMk cId="0" sldId="278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3FEAE-F75C-4E78-BA7A-2F4537CFF1BF}" type="datetimeFigureOut"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87FF6-A4CD-4740-9292-F0FE3C648B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83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926080"/>
            <a:ext cx="7315200" cy="73152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5120640"/>
            <a:ext cx="1737360" cy="173736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 ·  UNIVERSIDADE DE BRASÍLIA — UnB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Engenharia de Produção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6E8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27889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Valor do Dinheiro no Tempo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58368" y="3794760"/>
            <a:ext cx="1005840" cy="4572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Financeira Básica na Avaliação Econômica de Investimentos de Capital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51389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68680" y="5650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Teóricos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77640" y="507492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06240" y="51389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206240" y="5650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Resolvidos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507492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51389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543800" y="56509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de 1 hora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92640" y="6355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 Tópicos, Dois Encontros de 1 Hora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B355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5349240" cy="228600"/>
          </a:xfrm>
          <a:prstGeom prst="rect">
            <a:avLst/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  ·  Fundamentos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463040" y="25877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Capitalização Simples e Composta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1729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Simples e Juros Compostos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7398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63040" y="37216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Simples e Composto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63040" y="42885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Nominais, Efetivas e Reais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91072" y="169164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91072" y="16916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2D5878"/>
          </a:solidFill>
          <a:ln/>
        </p:spPr>
      </p:sp>
      <p:sp>
        <p:nvSpPr>
          <p:cNvPr id="22" name="Shape 20"/>
          <p:cNvSpPr/>
          <p:nvPr/>
        </p:nvSpPr>
        <p:spPr>
          <a:xfrm>
            <a:off x="6291072" y="2103120"/>
            <a:ext cx="5349240" cy="228600"/>
          </a:xfrm>
          <a:prstGeom prst="rect">
            <a:avLst/>
          </a:prstGeom>
          <a:solidFill>
            <a:srgbClr val="2D5878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1691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  ·  Aplicações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565392" y="2606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05472" y="25877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de Capitais e de Taxas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65392" y="31729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05472" y="3154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de Variáveis (M, P, i, n)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65392" y="37398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205472" y="37216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de Pagamentos (Anuidades)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565392" y="43068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565392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205472" y="42885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Perpetuidades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565392" y="48737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392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205472" y="4855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Amortização — SAC e Price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Dinheiro Tem Valor no Tempo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126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matemática financeira é o alicerce da Engenharia Econômica: fornece as ferramentas para comparar alternativas de investimento e tomar decisões racionais sobre alocação de recursos ao longo do tempo.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central: um real hoje vale mais do que um real amanhã, pois o dinheiro disponível hoje pode ser investido e gerar rendimentos — independentemente da inflação.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capítulo cobre: regimes de capitalização, tipos de taxas de juros, séries de pagamentos, perpetuidades e sistemas de amortização de dívidas.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49440" y="1828800"/>
            <a:ext cx="4709160" cy="3977640"/>
          </a:xfrm>
          <a:prstGeom prst="roundRect">
            <a:avLst>
              <a:gd name="adj" fmla="val 1839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78040" y="18288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7360920" y="25146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real hoje vale mais do que um real amanhã.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60920" y="3794760"/>
            <a:ext cx="731520" cy="36576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7360920" y="39776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capital disponível hoje pode ser investido e gerar rendimentos — este é o custo de oportunidade do dinheiro.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20" y="5212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TODA ANÁLISE DE INVESTIMENTOS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Capitalização Simples e Composta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capital cresce ao longo do tempo: crescimento linear × crescimento exponencial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Capitalização Simples — modelo linear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Capitalização Composta — modelo exponencial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582472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0585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os dois regimes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Nova Seção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 — REGIME DE CAPITALIZAÇÃO SIMPLES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Capitalização Simples (Modelo Linear)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juros são calculados sempre sobre o capital inicial (principal).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juros não se incorporam ao principal para efeito de cálculo dos juros futuros.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juros gerados a cada período são iguais entre si — não rendem juros sobre juros.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montante: linear ao longo do tempo.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8288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82880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P · (1 + i · n)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310896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3264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3538728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Montante (valor futuro)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Principal (capital inicial)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Taxa de juros por período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Número de períodos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1.1 Capitalização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1.1.2 — REGIME DE CAPITALIZAÇÃO COMPOSTA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Capitalização Composta (Modelo Exponencial)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juros gerados a cada período são incorporados ao capital para o cálculo dos juros do período seguinte.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Dizemos que os juros são capitalizados — juros rendem sobre juros.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regime utilizado em praticamente todas as operações financeiras modernas.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montante: exponencial ao longo do tempo.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8288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82880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P · (1 + i)ⁿ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310896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3264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3538728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Montante (valor futuro)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Principal (capital inicial)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Taxa de juros por período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Número de períodos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1.1 Capitalização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 — SÍNTESE COMPARATIVA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Capitalização Simples × Composta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2743200"/>
        </p:xfrm>
        <a:graphic>
          <a:graphicData uri="http://schemas.openxmlformats.org/drawingml/2006/table">
            <a:tbl>
              <a:tblPr/>
              <a:tblGrid>
                <a:gridCol w="3776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Capitalização Simples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Capitalização Composta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cálculo dos juros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inicial (fixo)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devedor (crescente)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Crescimento do montante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Exponencial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Juros por período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Aplicação prática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Descontos comerciais, curto prazo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Investimentos, financiamentos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4480560"/>
            <a:ext cx="10469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Ideia-chave: 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curto prazo a diferença entre os regimes é pequena, mas ela cresce rapidamente com o tempo — no regime composto, os juros passam a incidir também sobre os juros já capitalizados (“juro sobre juro”).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1.1 Capitalização</a:t>
            </a:r>
            <a:endParaRPr lang="en-US" sz="950" dirty="0"/>
          </a:p>
        </p:txBody>
      </p:sp>
      <p:sp>
        <p:nvSpPr>
          <p:cNvPr id="4" name="Text 5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os Dois Regimes de Capitalização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77924"/>
            <a:ext cx="438912" cy="43891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96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capital de R$ 10.000,00 é aplicado por 6 meses a uma taxa de 3% ao mês. Calcule o montante pelo regime simples e pelo composto.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91672" cy="2514600"/>
          </a:xfrm>
          <a:prstGeom prst="roundRect">
            <a:avLst>
              <a:gd name="adj" fmla="val 2909"/>
            </a:avLst>
          </a:prstGeom>
          <a:solidFill>
            <a:srgbClr val="0B3552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33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035808"/>
            <a:ext cx="104241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Simples:  M = 10.000 × (1 + 0,03 × 6) = 10.000 × 1,18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R$ 11.800,00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Juros Compostos:  M = 10.000 × (1 + 0,03)⁶ = 10.000 × 1,1940523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≈ R$ 11.940,52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1663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5266944"/>
            <a:ext cx="438912" cy="43891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48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5166360"/>
            <a:ext cx="10012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de R$ 140,52 representa o efeito do juro sobre juro do regime composto — e tende a aumentar expressivamente com o prazo.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Exemplo Resolvido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Juros Simples e Juros Compostos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Isolando a remuneração do capital: como calcular diretamente o valor dos juros gerados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Simples — remuneração linear (J = P·i·n)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Compostos — progressão geométrica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Nova Seção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FÓRMULAS DOS JUROS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Juros Simples e Juros Compostos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SIMPLES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Representam a remuneração do capital por um período, calculados sempre sobre o valor principal.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2461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 = P · i · 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montante é a soma do capital inicial com os juros produzidos: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7091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P + J = P (1 + i·n)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1072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65392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COMPOSTOS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65392" y="2377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juros de cada período são incorporados ao capital, formando uma progressão geométrica.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65392" y="324612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0F3F5E"/>
          </a:solidFill>
          <a:ln/>
        </p:spPr>
      </p:sp>
      <p:sp>
        <p:nvSpPr>
          <p:cNvPr id="16" name="Text 14"/>
          <p:cNvSpPr/>
          <p:nvPr/>
        </p:nvSpPr>
        <p:spPr>
          <a:xfrm>
            <a:off x="6702552" y="32461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Jₙ = P · [(1 + i)ⁿ − 1]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65392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de juros pagos em n períodos: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65392" y="470916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0F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6702552" y="47091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Jₙ = M − P = P·[(1+i)ⁿ − 1]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1.2 Juros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1.2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os Juros Totais Pagos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77924"/>
            <a:ext cx="438912" cy="43891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96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empréstimo de R$ 20.000,00 é feito a 4% ao mês. Compare os juros totais pagos em 12 meses nos dois regimes.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91672" cy="2103120"/>
          </a:xfrm>
          <a:prstGeom prst="roundRect">
            <a:avLst>
              <a:gd name="adj" fmla="val 3478"/>
            </a:avLst>
          </a:prstGeom>
          <a:solidFill>
            <a:srgbClr val="0B3552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33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035808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Simples:  J = 20.000 × 0,04 × 12 = R$ 9.600,00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Juros Compostos:  J = 20.000 × [(1,04)¹² − 1]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20.000 × [1,60103 − 1] = 20.000 × 0,60103 ≈ R$ 12.020,60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855464"/>
            <a:ext cx="438912" cy="43891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371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10012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Diferença: R$ 12.020,60 − R$ 9.600,00 = R$ 2.420,60. No longo prazo, o regime composto gera juros significativamente maiores.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Exemplo Resolvido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Desconto Simples e Composto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de antecipar um valor futuro para a data presente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por Fora — comercial ou bancário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por Dentro — racional ou matemático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582472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0585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simples e compostas de cada um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Nova Seção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— TIPOS DE DESCONTO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Desconto Por Fora × Por Dentro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desconto é a operação financeira de antecipar um valor futuro (N) para uma data presente (P).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28346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Desconto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de 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por fora (comercial)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= N (1 − d·n)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usado no mercado financeiro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por dentro (racional)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= N / (1 + i·n)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Matematicamente correto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Composto por fora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= N · (1 − d)ⁿ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Pouco utilizado na prática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Composto por dentro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= N / (1 + i)ⁿ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em análise de investimentos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5166360"/>
            <a:ext cx="10469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taxa de desconto 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prazo 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valor nominal (futuro) 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valor presente (líquido)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1.3 Desconto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Desconto Comercial de uma Duplicata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5084"/>
            <a:ext cx="438912" cy="43891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67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12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duplicata de valor nominal R$ 5.000,00 com vencimento em 60 dias será descontada hoje. O banco opera com taxa de desconto comercial (simples por fora) de 3% ao mês. Qual o valor líquido recebido?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0B3552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9077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310128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60 dias = 2 meses;   d = 3% a.m. = 0,03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5.000 × 0,03 × 2 = R$ 300,00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5.000 − 300 = R$ 4.700,00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855464"/>
            <a:ext cx="438912" cy="43891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371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10012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receberá R$ 4.700,00 líquidos hoje.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Exemplo Resolvido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Taxas Nominais, Efetivas e Reais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frequência de capitalização muda o rendimento real de uma taxa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Nominal — referência ≠ capitalização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Efetiva — o ganho real no período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582472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0585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Real × Taxa Aparente — a equação de Fisher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Nova Seção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— TAXA NOMINAL, EFETIVA E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e Efeito da Capitalização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9164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i_período = j / 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Nominal → taxa por subperíodo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16916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3400" y="169164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i_ef = (1+j/k)ᵏ − 1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0" y="2697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Efetiva anual equivalente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16916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01000" y="169164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(1+i)/(1+f) − 1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01000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Equação de Fisher (taxa real)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Capitalização (k) de uma taxa nominal de 24% a.a. — quanto maior k, maior a taxa efetiva: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091672" cy="2606040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Capitalização (k)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por Período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Montante (P=100)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Efetiva 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 (k=1)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24,00% a.a.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R$ 124,00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 (k=2)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12,00% a.s.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R$ 125,44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25,44%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 (k=4)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6,00% a.t.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R$ 126,25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 (k=12)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2,00% a.m.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R$ 126,82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26,82%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Diária (k=365)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0,0658% a.d.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R$ 127,12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27,12%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1.4 Taxas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1.4  ·  FIM DA AULA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Efetiva Anual de um CDB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77924"/>
            <a:ext cx="438912" cy="43891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96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CDB oferece rendimento de 18% ao ano, capitalizado mensalmente. Qual é a taxa efetiva anual?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91672" cy="2011680"/>
          </a:xfrm>
          <a:prstGeom prst="roundRect">
            <a:avLst>
              <a:gd name="adj" fmla="val 3636"/>
            </a:avLst>
          </a:prstGeom>
          <a:solidFill>
            <a:srgbClr val="0B3552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33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035808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18% a.a.;   k = 12 (capitalização mensal)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 mensal = 18% / 12 = 1,5% a.m.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i_ef = (1 + 0,015)¹² − 1 = (1,015)¹² − 1 = 1,19562 − 1 ≈ 19,56% a.a.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764024"/>
            <a:ext cx="438912" cy="43891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457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663440"/>
            <a:ext cx="10012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efetiva anual é 19,56% — maior que a nominal de 18%, devido ao efeito da capitalização mensal.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Exemplo Resolvido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Equivalência de Capitais e de Taxas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Bem-vindos de volta — Aula 2. Comparando fluxos e taxas em datas diferentes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de Capitais — mesma data focal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de Taxas — mesmo montante final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Nova Seção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— EQUIVALÊNCIA FINANCEIRA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Capitais e Taxas Equivalentes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capitais com datas de vencimento distintas são equivalentes quando, transportados para uma mesma data focal à mesma taxa de juros, apresentam o mesmo valor.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taxas são equivalentes quando, aplicadas sobre o mesmo capital e pelo mesmo prazo total, produzem o mesmo montante.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princípio de equivalência é a base de qualquer comparação financeira entre fluxos de caixa.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82880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8288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+ iₙ) = (1 + iₖ)⁽ⁿ⁄ᵏ⁾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2971800"/>
            <a:ext cx="4754880" cy="2103120"/>
          </a:xfrm>
          <a:prstGeom prst="roundRect">
            <a:avLst>
              <a:gd name="adj" fmla="val 3478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31272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3401568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P₁·(1+i)ⁿ¹ = P₂·(1+i)ⁿ² → equivalência de capitais (mesma data focal)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i_k → i_n: conversão de uma taxa por k períodos numa taxa equivalente por n períodos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1.5 Equivalência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RESOLVIDOS — SEÇÃO 1.5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Verificando a Equivalência na Prática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B355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5349240" cy="182880"/>
          </a:xfrm>
          <a:prstGeom prst="rect">
            <a:avLst/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Equivalentes: 3% a.m. ~ a.a.?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i_a = (1,03)¹² − 1 = 1,425761 − 1</a:t>
            </a:r>
            <a:endParaRPr lang="en-US" sz="13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B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i_a = 42,5761% a.a.  ✓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Comprovação — montante de R$ 1.000 em 1 ano: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Pela taxa anual: 1.000 × 1,425761 = R$ 1.425,76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Pela taxa mensal: 1.000 × (1,03)¹² = R$ 1.425,76  ✓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91072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91072" y="169164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D5878"/>
          </a:solidFill>
          <a:ln/>
        </p:spPr>
      </p:sp>
      <p:sp>
        <p:nvSpPr>
          <p:cNvPr id="11" name="Shape 9"/>
          <p:cNvSpPr/>
          <p:nvPr/>
        </p:nvSpPr>
        <p:spPr>
          <a:xfrm>
            <a:off x="6291072" y="2011680"/>
            <a:ext cx="5349240" cy="182880"/>
          </a:xfrm>
          <a:prstGeom prst="rect">
            <a:avLst/>
          </a:prstGeom>
          <a:solidFill>
            <a:srgbClr val="2D5878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1691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de Capitais (taxa 10% a.m.)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9672" y="22860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Obrigações: R$ 2.000 (mês 1); R$ 2.200 (mês 2); R$ 2.420 (mês 3); R$ 2.662 (mês 4). Valor presente de cada uma (data focal = 0):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9672" y="31546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P₁ = 2.000 / (1,10)¹ = R$ 1.818,18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P₂ = 2.200 / (1,10)² = R$ 1.818,18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P₃ = 2.420 / (1,10)³ = R$ 1.818,18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P₄ = 2.662 / (1,10)⁴ = R$ 1.818,18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19672" y="4709160"/>
            <a:ext cx="4892040" cy="457200"/>
          </a:xfrm>
          <a:prstGeom prst="roundRect">
            <a:avLst>
              <a:gd name="adj" fmla="val 16000"/>
            </a:avLst>
          </a:prstGeom>
          <a:solidFill>
            <a:srgbClr val="E7EEF4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470916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equivalentes a R$ 1.818,18  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1.5 Equivalência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Isolamento de Variáveis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Consolidando as fórmulas: como resolver para M, P, i ou n em cada regime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Simples — isolando M, P, i, 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Compostos — isolando M, P, i, 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Nova Seção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— CONSOLIDAÇÃO DE FÓRMULAS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Isolamento de Variáveis por Regime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B355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57400"/>
            <a:ext cx="5349240" cy="182880"/>
          </a:xfrm>
          <a:prstGeom prst="rect">
            <a:avLst/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SIMPLES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5349240" cy="3200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(1 + i·n)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 / (1 + i·n)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(M/P − 1) / 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(M/P − 1) / i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91072" y="173736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D5878"/>
          </a:solidFill>
          <a:ln/>
        </p:spPr>
      </p:sp>
      <p:sp>
        <p:nvSpPr>
          <p:cNvPr id="9" name="Shape 6"/>
          <p:cNvSpPr/>
          <p:nvPr/>
        </p:nvSpPr>
        <p:spPr>
          <a:xfrm>
            <a:off x="6291072" y="2057400"/>
            <a:ext cx="5349240" cy="182880"/>
          </a:xfrm>
          <a:prstGeom prst="rect">
            <a:avLst/>
          </a:prstGeom>
          <a:solidFill>
            <a:srgbClr val="2D5878"/>
          </a:solidFill>
          <a:ln/>
        </p:spPr>
      </p:sp>
      <p:sp>
        <p:nvSpPr>
          <p:cNvPr id="10" name="Text 7"/>
          <p:cNvSpPr/>
          <p:nvPr/>
        </p:nvSpPr>
        <p:spPr>
          <a:xfrm>
            <a:off x="6519672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COMPOSTOS</a:t>
            </a:r>
            <a:endParaRPr lang="en-US" sz="14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2331720"/>
          <a:ext cx="5349240" cy="3200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· (1 + i)ⁿ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 / (1 + i)ⁿ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(M/P)^(1/n) − 1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log(M/P) / log(1+i)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1.6 Isolamento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1.6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Encontrando a Taxa de Juros (i)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77924"/>
            <a:ext cx="438912" cy="43891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96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 taxa de juros um capital de R$ 13.200,00 se transforma em R$ 35.112,26 em 7 meses (regime composto)?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5061" y="2375301"/>
            <a:ext cx="11091672" cy="2103120"/>
          </a:xfrm>
          <a:prstGeom prst="roundRect">
            <a:avLst>
              <a:gd name="adj" fmla="val 3478"/>
            </a:avLst>
          </a:prstGeom>
          <a:solidFill>
            <a:srgbClr val="0B3552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33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764365" y="310265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P = 13.200;  M = 35.112,26;  n = 7;  i = ?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(M/P)^(1/n) − 1 = (35.112,26 / 13.200)^(1/7) − 1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(2,6600)^0,142857 − 1 = 1,15 − 1 = 0,15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855464"/>
            <a:ext cx="438912" cy="43891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371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10012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juros é 15% ao mês.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Exemplo Resolvido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Séries de Pagamentos (Anuidades)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Sequências de pagamentos iguais em intervalos regulares — a base de qualquer financiamento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Postecipada — pagamentos ao final do período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Presente, Valor Futuro e Prestação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Nova Seção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— SÉRIE UNIFORME POSTECIPADA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Presente, Futuro e Prestação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série uniforme de pagamentos (anuidade) é uma sequência de pagamentos iguais (R) feitos em intervalos regulares. Quando ocorrem ao final de cada período: série postecipada.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33172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R·[(1+i)ⁿ−1] / [(1+i)ⁿ·i]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Presente da série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233172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R·[(1+i)ⁿ−1] / i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43484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Futuro (montante) da série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01000" y="233172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2331720"/>
            <a:ext cx="33649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P·[i(1+i)ⁿ] / [(1+i)ⁿ−1]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38160" y="370332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da prestação 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977640"/>
            <a:ext cx="10469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aₙ|ᵢ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fator de valor presente da série uniforme (o termo entre colchetes na fórmula de P). É tabelado e amplamente usado para simplificar cálculos financeiros manuais.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5349240"/>
            <a:ext cx="10469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Variáveis:  R = valor da prestação    i = taxa de juros por período    n = número de períodos    P = valor presente    S = valor futuro (montante)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1.7 Séries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RESOLVIDOS — SEÇÃO 1.7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Prestações e Valor Acumulado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B355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5349240" cy="182880"/>
          </a:xfrm>
          <a:prstGeom prst="rect">
            <a:avLst/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1 — Encontrando 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prestações de R$ 120,00 são necessárias para liquidar um empréstimo de R$ 842,36 a juros de 3% a.m.?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842,36 = 120 × [(1,03)ⁿ−1] / [(1,03)ⁿ×0,03]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(1,03)ⁿ = 1,26677</a:t>
            </a:r>
            <a:endParaRPr lang="en-US" sz="125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log(1,26677)/log(1,03) = 8 meses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5074920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E7EE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0749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8 prestações mensais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91072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91072" y="169164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D587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91072" y="2011680"/>
            <a:ext cx="5349240" cy="182880"/>
          </a:xfrm>
          <a:prstGeom prst="rect">
            <a:avLst/>
          </a:prstGeom>
          <a:solidFill>
            <a:srgbClr val="2D5878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691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2 — Valor Futuro (S)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19672" y="23317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uma pessoa acumularia ao fim de 15 meses depositando R$ 350,00/mês a 5% a.m.?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19672" y="32004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350 × [(1,05)¹⁵ − 1] / 0,05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350 × 21,5786</a:t>
            </a:r>
            <a:endParaRPr lang="en-US" sz="1250" dirty="0"/>
          </a:p>
          <a:p>
            <a:pPr marL="0" indent="0">
              <a:buNone/>
            </a:pPr>
            <a:r>
              <a:rPr lang="en-US" sz="1300" b="1" dirty="0">
                <a:solidFill>
                  <a:srgbClr val="2D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≈ R$ 7.552,50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19672" y="5074920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E7EEF4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50749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R$ 7.552,50 acumulados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1.7 Séries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Perpetuidades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caso-limite de uma série: pagamentos que se estendem indefinidamente (n → ∞)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Perpetuidade Constante — P = R / 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Perpetuidade Crescente — Modelo de Gordon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Nova Seção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— PERPETUIDADES E O MODELO DE GORDON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Fluxos de Duração Indeterminada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R / 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Perpetuidade constante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164592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R / (i − c)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3484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Perpetuidade crescente — Gordon (i &gt; c)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93592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64592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1º pagamento    i = taxa de desconto    c = taxa de crescimento dos pagamentos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Aplicações: avaliação de ações por dividendos (Modelo de Gordon), precificação de títulos de dívida perpétua (consols) e cálculo de custos capitalizados de ativos com vida útil indeterminada.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91672" cy="2606040"/>
          </a:xfrm>
          <a:prstGeom prst="roundRect">
            <a:avLst>
              <a:gd name="adj" fmla="val 280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703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 ·  Valor Justo de uma Ação (Modelo de Gordon)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11480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pagará R$ 3,50/ação de dividendo no próximo ano, com crescimento perpétuo de 5% a.a. Se o custo de oportunidade do capital é 14% a.a., qual o valor justo da ação?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3,50 / (0,14 − 0,05) = 3,50 / 0,09</a:t>
            </a:r>
            <a:endParaRPr lang="en-US" sz="15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≈ R$ 38,89 por ação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1.8 Perpetuidades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Amortização — SAC e Price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dívida é extinta por pagamentos periódicos: prestação = amortização + juros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Price — prestações constantes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— amortizações constantes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582472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0585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os dois sistemas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Nova Seção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1.9.1 — SISTEMA PRICE (TABELA PRICE)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Prestações Constantes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Sistema Price (ou Francês), as prestações são constantes. Embora as prestações sejam iguais, a composição interna muda: os juros são decrescentes e a amortização é crescente a cada período.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94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P·[i(1+i)ⁿ] / [(1+i)ⁿ−1]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Prestação constante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2194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2194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Aₜ = R − Jₜ = R − (SDₜ₋₁×i)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926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Amortização do período 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Empréstimo de R$ 200.000, 4 meses, taxa de 10% a.m.: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91672" cy="2359152"/>
        </p:xfrm>
        <a:graphic>
          <a:graphicData uri="http://schemas.openxmlformats.org/drawingml/2006/table">
            <a:tbl>
              <a:tblPr/>
              <a:tblGrid>
                <a:gridCol w="1109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3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Devedor Inicial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Amortização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R$ 200.000,00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R$ 200.000,00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R$ 20.000,00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R$ 43.094,00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R$ 63.094,00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R$ 156.906,00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R$ 15.690,60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R$ 47.403,40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R$ 63.094,00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R$ 109.502,60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R$ 10.950,26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R$ 52.143,74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R$ 63.094,00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R$ 57.358,86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R$ 5.735,89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R$ 57.358,86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R$ 63.094,75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E7EEF4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Prestação constante em todos os meses — mas a parcela de juros cai e a de amortização sobe.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1.9 Amortização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1.9.2 — SISTEMA DE AMORTIZAÇÕES CONSTANTES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SAC, a amortização é constante em todos os períodos. Como os juros incidem sobre um saldo devedor decrescente, as prestações são decrescentes.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94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P / 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Amortização constante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2194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2194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Jₜ = SDₜ₋₁×i   Rₜ = A + Jₜ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2926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e prestação do período 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Empréstimo de R$ 200.000, 4 meses, taxa de 10% a.m.: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91672" cy="2359152"/>
        </p:xfrm>
        <a:graphic>
          <a:graphicData uri="http://schemas.openxmlformats.org/drawingml/2006/table">
            <a:tbl>
              <a:tblPr/>
              <a:tblGrid>
                <a:gridCol w="1109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3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Devedor Inicial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Amortização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R$ 200.000,00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R$ 200.000,00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R$ 20.000,00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R$ 70.000,00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R$ 150.000,00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R$ 15.000,00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R$ 65.000,00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R$ 100.000,00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R$ 60.000,00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R$ 50.000,00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R$ 55.000,00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E7EEF4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Amortização constante em todos os meses — a prestação cai porque os juros incidem sobre um saldo cada vez menor.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1.9 Amortização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1.9.3 — SÍNTESE COMPARATIVA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Price × SAC</a:t>
            </a:r>
            <a:endParaRPr lang="en-US" sz="27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12464"/>
        </p:xfrm>
        <a:graphic>
          <a:graphicData uri="http://schemas.openxmlformats.org/drawingml/2006/table">
            <a:tbl>
              <a:tblPr/>
              <a:tblGrid>
                <a:gridCol w="3776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Prestações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Decrescentes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Amortização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Decrescentes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Decrescentes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juros pagos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devedor inicial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Preferível para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Planejamento de fluxo fixo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quer pagar menos juros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5166360"/>
            <a:ext cx="10469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 </a:t>
            </a: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juros são dedutíveis na apuração do imposto de renda de empresas; a amortização representa apenas a devolução do principal — distinção relevante para fins jurídicos, contábeis e fiscais.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1.9 Amortização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 — Quadro de Fórmulas</a:t>
            </a:r>
            <a:endParaRPr lang="en-US" sz="27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4517136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Principal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Usar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Montante (simples)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 = P(1+in)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 de curto prazo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Montante (composto)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 = P(1+i)ⁿ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Investimentos, financiamentos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 simples por fora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= N(1−dn)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 bancário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 composto por dentro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= N/(1+i)ⁿ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projetos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efetiva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i_ef = (1+j/k)ᵏ−1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 de taxas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Equivalência de taxas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(1+iₐ) = (1+iₘ)¹²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 de períodos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série uniforme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= R·aₙ|ᵢ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Financiamentos, VPL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VF série uniforme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 = R·sₙ|ᵢ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Poupanças, fundos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Perpetuidade constante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= R/i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 de 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Perpetuidade crescente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= R/(i−c)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Gordon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Amortização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Rₜ = constante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Financiamento imobiliário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Amortização SAC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Aₜ = constante (P/n)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 corporativo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37744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572000"/>
            <a:ext cx="4114800" cy="41148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 PRÓXIMA AULA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Bibliográficas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91440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57400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0B355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SAMANEZ, C. P. Engenharia Econômica. São Paulo: Pearson Prentice Hall, 2009.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0B355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98648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CASAROTTO FILHO, N.; KOPITTKE, B. H. Análise de Investimentos. 11. ed. São Paulo: Atlas, 2010.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39896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0B355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39896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HIRSCHFELD, H. Engenharia Econômica e Análise de Custos. 7. ed. São Paulo: Atlas, 2000.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0B355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81144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BLANK, L.; TARQUIN, A. Engenharia Econômica. 6. ed. Porto Alegre: AMGH, 2011.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95360" y="2057400"/>
            <a:ext cx="3063240" cy="4206240"/>
          </a:xfrm>
          <a:prstGeom prst="roundRect">
            <a:avLst>
              <a:gd name="adj" fmla="val 2388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2396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CAPÍTULO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823960" y="26517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Investimentos: VPL, TIR e Payback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23960" y="3977640"/>
            <a:ext cx="548640" cy="32004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19" name="Text 17"/>
          <p:cNvSpPr/>
          <p:nvPr/>
        </p:nvSpPr>
        <p:spPr>
          <a:xfrm>
            <a:off x="8823960" y="41605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sobre os exercícios propostos podem ser trazidas para o início da próxima aula.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Encerramento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o13_x002d_MarceloPassos xmlns="f244cccc-9ebe-487b-9f49-451c84d31f5d" xsi:nil="true"/>
    <Data xmlns="f244cccc-9ebe-487b-9f49-451c84d31f5d">2026-08-19T21:45:19+00:00</Data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</documentManagement>
</p:properties>
</file>

<file path=customXml/itemProps1.xml><?xml version="1.0" encoding="utf-8"?>
<ds:datastoreItem xmlns:ds="http://schemas.openxmlformats.org/officeDocument/2006/customXml" ds:itemID="{84E2569A-53A3-4219-91DA-2476248F14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44cccc-9ebe-487b-9f49-451c84d31f5d"/>
    <ds:schemaRef ds:uri="6d1e6d4d-286d-4a1d-879b-bd877680a1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E2BF42-D8EC-4340-B798-1352936EB9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93E0E-0A2D-4684-8483-BA2A2E63B2A1}">
  <ds:schemaRefs>
    <ds:schemaRef ds:uri="http://schemas.microsoft.com/office/2006/metadata/properties"/>
    <ds:schemaRef ds:uri="http://schemas.microsoft.com/office/infopath/2007/PartnerControls"/>
    <ds:schemaRef ds:uri="f244cccc-9ebe-487b-9f49-451c84d31f5d"/>
    <ds:schemaRef ds:uri="6d1e6d4d-286d-4a1d-879b-bd877680a13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34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10</cp:revision>
  <dcterms:created xsi:type="dcterms:W3CDTF">2026-07-12T14:48:48Z</dcterms:created>
  <dcterms:modified xsi:type="dcterms:W3CDTF">2026-10-14T14:31:29Z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  <property fmtid="{D5CDD505-2E9C-101B-9397-08002B2CF9AE}" pid="3" name="MediaServiceImageTags">
    <vt:lpwstr/>
  </property>
</Properties>
</file>
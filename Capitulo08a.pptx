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316" r:id="rId5"/>
    <p:sldId id="330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291" r:id="rId20"/>
    <p:sldId id="292" r:id="rId21"/>
    <p:sldId id="293" r:id="rId22"/>
    <p:sldId id="300" r:id="rId23"/>
    <p:sldId id="294" r:id="rId24"/>
    <p:sldId id="301" r:id="rId25"/>
    <p:sldId id="302" r:id="rId26"/>
    <p:sldId id="303" r:id="rId27"/>
    <p:sldId id="304" r:id="rId28"/>
    <p:sldId id="331" r:id="rId29"/>
    <p:sldId id="332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33" r:id="rId40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8CEA987-8C3E-43C7-9A5B-BD40F124E740}" type="datetimeFigureOut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60F9F3D-9EC9-4F8B-A82D-0E45030ACF0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41C7CB-DEB2-4E84-A517-089E8DAAE753}" type="slidenum">
              <a:rPr lang="pt-BR" smtClean="0"/>
              <a:pPr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2541D-42F7-425C-A655-A686AD969841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D776C-9433-44EF-A8D6-19BE9D49FA8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8E9B7-8B46-4C2F-993C-DDEE9BADBB25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AF3B2-A59E-4249-8865-D9362D4C427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2AEE1-B23C-4583-ADAF-A62FE5B094EB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5AB81-40B7-47BD-B73F-87C6B9FB69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D282C-23F6-4001-ACA8-37D46684B9F5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8EF29-8581-403D-B05F-4A0A6EFBB61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DC04-6305-4074-A384-9E869C7D41C4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90E6A-0851-4C04-A6C9-2D86C3CEB7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5F7A9-E331-4E3E-9D48-0E7004D9AADF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5E1A3-AB62-496A-A5E0-2805EFAA816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3E231-9DBC-4DFC-B6DA-405C1787488A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15268-C2AF-48C2-9942-F4DBDEFBC9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3BB31-90D0-4887-A8B3-818CBB6C8A60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E78E-DEA6-474A-B82D-92AD5BE18E7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BBDF6-872E-48F7-9C53-32B3639DFB69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DA38D6-6721-4BA4-8D4B-0F9735AF5B9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2CB86-EEB5-4065-90B1-49546864D2F6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D2158-499C-4AB5-A8A2-E79B1264EB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DB31B-7A02-475F-8FB0-F2B32AD1D446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68869-1BFE-4D8B-B3BF-BF2B5B0B757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892D924-4A4B-4153-85FA-FA4C6F796678}" type="datetime1">
              <a:rPr lang="pt-BR"/>
              <a:pPr>
                <a:defRPr/>
              </a:pPr>
              <a:t>21/06/2026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416A141-7B97-4B40-84DE-5994B6F2313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051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CD27BA3B-7A69-49E4-A948-DFE54366D087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pt-BR">
              <a:solidFill>
                <a:srgbClr val="2C5DAA"/>
              </a:solidFill>
            </a:endParaRPr>
          </a:p>
        </p:txBody>
      </p:sp>
      <p:sp>
        <p:nvSpPr>
          <p:cNvPr id="2053" name="CaixaDeTexto 4"/>
          <p:cNvSpPr txBox="1">
            <a:spLocks noChangeArrowheads="1"/>
          </p:cNvSpPr>
          <p:nvPr/>
        </p:nvSpPr>
        <p:spPr bwMode="auto">
          <a:xfrm>
            <a:off x="1184275" y="3078163"/>
            <a:ext cx="3744913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000">
                <a:cs typeface="Arial" charset="0"/>
              </a:rPr>
              <a:t>Determinação do retorno e do risco — Influência da diversificação no risco</a:t>
            </a:r>
          </a:p>
          <a:p>
            <a:r>
              <a:rPr lang="pt-BR" sz="2000">
                <a:cs typeface="Arial" charset="0"/>
              </a:rPr>
              <a:t>e retorno dos investimentos</a:t>
            </a:r>
          </a:p>
        </p:txBody>
      </p:sp>
      <p:sp>
        <p:nvSpPr>
          <p:cNvPr id="2054" name="CaixaDeTexto 5"/>
          <p:cNvSpPr txBox="1">
            <a:spLocks noChangeArrowheads="1"/>
          </p:cNvSpPr>
          <p:nvPr/>
        </p:nvSpPr>
        <p:spPr bwMode="auto">
          <a:xfrm>
            <a:off x="1123950" y="2357438"/>
            <a:ext cx="28051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rgbClr val="2C5DAA"/>
                </a:solidFill>
                <a:cs typeface="Arial" charset="0"/>
              </a:rPr>
              <a:t>Capítulo 8 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3075" name="CaixaDeTexto 6"/>
          <p:cNvSpPr txBox="1">
            <a:spLocks noChangeArrowheads="1"/>
          </p:cNvSpPr>
          <p:nvPr/>
        </p:nvSpPr>
        <p:spPr bwMode="auto">
          <a:xfrm>
            <a:off x="1585433" y="2681288"/>
            <a:ext cx="6656893" cy="2239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>
                <a:latin typeface="Arial"/>
                <a:cs typeface="Arial"/>
              </a:rPr>
              <a:t>Fala-se em risco quando a variável aleatória tem uma distribuição de probabilidades conhecida, e em incerteza quando essa distribuição é desconhecida.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07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2262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8.1 Risco e retorno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5FB0E356-75FE-49FC-99AC-33C9CA86E720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4100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4101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4800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8.2 Distribuição probabilística de retornos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C257E1EF-1DB6-4BE6-BFA6-3D7B0C65E7D2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 l="22852" t="44063" r="18554" b="29687"/>
          <a:stretch>
            <a:fillRect/>
          </a:stretch>
        </p:blipFill>
        <p:spPr bwMode="auto">
          <a:xfrm>
            <a:off x="1733710" y="3300413"/>
            <a:ext cx="6072188" cy="1700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104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215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Distribuições probabilísticas de retornos dos títulos A e B: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5123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A remuneração proporcionada por uma ação é a soma dos dividendos pagos mais os ganhos de capital (valorização da ação).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O retorno percentual é a remuneração dividida pelo preço inicial</a:t>
            </a:r>
          </a:p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da ação.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512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5126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6337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8.3 Medida do retorno de ações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FB56EEEB-2A6E-4BDC-8491-6853D0F460D9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6147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Compra de um lote de 100 ações; preço de compra = $ 37/ação, dividendos pagos pela ação = $ 1,85/ação; valorização da ação = </a:t>
            </a:r>
          </a:p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$ 3,33/ação ao término do prazo (1 ano). Valor da ação = $ 40,33.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614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615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Exemplo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EFD17AED-1B2D-47C2-A621-F8B912E95197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7172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7173" name="CaixaDeTexto 12"/>
          <p:cNvSpPr txBox="1">
            <a:spLocks noChangeArrowheads="1"/>
          </p:cNvSpPr>
          <p:nvPr/>
        </p:nvSpPr>
        <p:spPr bwMode="auto">
          <a:xfrm>
            <a:off x="1500188" y="2487613"/>
            <a:ext cx="59229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>
                <a:cs typeface="Arial" charset="0"/>
              </a:rPr>
              <a:t>Ilustração dos fluxos e do cálculo da remuneração e do retorno</a:t>
            </a:r>
          </a:p>
          <a:p>
            <a:r>
              <a:rPr lang="pt-BR" sz="1600">
                <a:cs typeface="Arial" charset="0"/>
              </a:rPr>
              <a:t>percentual obtidos na compra de um lote de 100 ações.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ED1F028A-0CD5-4FA8-A014-1267F3130B7B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 l="21680" t="26250" r="22656" b="27812"/>
          <a:stretch>
            <a:fillRect/>
          </a:stretch>
        </p:blipFill>
        <p:spPr bwMode="auto">
          <a:xfrm>
            <a:off x="1903413" y="3143250"/>
            <a:ext cx="5540375" cy="2857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8195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28650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Retorno acumulado é o retorno que um investidor ganharia se mantivesse um investimento por um período de T anos. Caso o retorno durante o ano t seja Rt, o retorno acumulado ao término de T anos será o seguinte: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819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819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6087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8.3.1 Retornos históricos: acumulado, médio e geométrico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F3433D13-C0DB-4E42-820D-D18D6CC190A4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 l="9375" t="18750" r="4492" b="71875"/>
          <a:stretch>
            <a:fillRect/>
          </a:stretch>
        </p:blipFill>
        <p:spPr bwMode="auto">
          <a:xfrm>
            <a:off x="1214438" y="4456113"/>
            <a:ext cx="6929437" cy="490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/>
          <p:cNvSpPr txBox="1">
            <a:spLocks noChangeArrowheads="1"/>
          </p:cNvSpPr>
          <p:nvPr/>
        </p:nvSpPr>
        <p:spPr bwMode="auto">
          <a:xfrm>
            <a:off x="214313" y="6631903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9219" name="CaixaDeTexto 6"/>
          <p:cNvSpPr txBox="1">
            <a:spLocks noChangeArrowheads="1"/>
          </p:cNvSpPr>
          <p:nvPr/>
        </p:nvSpPr>
        <p:spPr bwMode="auto">
          <a:xfrm>
            <a:off x="1619250" y="2398713"/>
            <a:ext cx="67151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Supondo os seguintes retornos anuais, temos:</a:t>
            </a: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9221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5DCBB70B-968F-4D23-98A0-217A4F9BFE0F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/>
          <a:srcRect l="50391" t="39375" r="17968" b="27812"/>
          <a:stretch>
            <a:fillRect/>
          </a:stretch>
        </p:blipFill>
        <p:spPr bwMode="auto">
          <a:xfrm>
            <a:off x="3635375" y="2928938"/>
            <a:ext cx="2205038" cy="1428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/>
          <a:srcRect l="18945" t="28437" r="16015" b="57500"/>
          <a:stretch>
            <a:fillRect/>
          </a:stretch>
        </p:blipFill>
        <p:spPr bwMode="auto">
          <a:xfrm>
            <a:off x="1763713" y="4508500"/>
            <a:ext cx="6172200" cy="833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225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6087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8.3.1 Retornos históricos: acumulado, médio e geométrico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243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71512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Os retornos históricos das ações no mercado de capitais podem ser resumidos pelo retorno médio e pelo desvio-padrão: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024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B64B6FA3-B351-4E71-8A20-EFF12EE770CB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 l="33399" t="60937" r="29101" b="26875"/>
          <a:stretch>
            <a:fillRect/>
          </a:stretch>
        </p:blipFill>
        <p:spPr bwMode="auto">
          <a:xfrm>
            <a:off x="3071813" y="3786188"/>
            <a:ext cx="3786187" cy="768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 l="17773" t="71562" r="13672" b="14375"/>
          <a:stretch>
            <a:fillRect/>
          </a:stretch>
        </p:blipFill>
        <p:spPr bwMode="auto">
          <a:xfrm>
            <a:off x="1571625" y="4714875"/>
            <a:ext cx="6429375" cy="823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249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6087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8.3.1 Retornos históricos: acumulado, médio e geométrico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1267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715125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pt-BR" sz="1600"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Exemplo:	</a:t>
            </a:r>
          </a:p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Preço de compra da ação = $ 25; bonificação = 50%; dividendos =  </a:t>
            </a:r>
          </a:p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$ 2/ação, nessa ordem; preço da ação após a bonificação e o pagamento de dividendos = $ 23/ação.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126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36BC5B95-6353-4A79-BA72-C70EE6D1D5ED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>
              <a:solidFill>
                <a:srgbClr val="2C5DAA"/>
              </a:solidFill>
            </a:endParaRPr>
          </a:p>
        </p:txBody>
      </p:sp>
      <p:sp>
        <p:nvSpPr>
          <p:cNvPr id="11271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72151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8.3.2 Retorno de uma ação na presença de vários eventos durante o período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2291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71512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r>
              <a:rPr lang="pt-BR" sz="1600"/>
              <a:t>Evolução do índice para uma quantidade teórica inicial de 10 ações:</a:t>
            </a: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2293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6D758116-F6C7-4A18-A21D-147E148829FA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>
              <a:solidFill>
                <a:srgbClr val="2C5DAA"/>
              </a:solidFill>
            </a:endParaRPr>
          </a:p>
        </p:txBody>
      </p:sp>
      <p:sp>
        <p:nvSpPr>
          <p:cNvPr id="12295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72151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8.3.2 Retorno de uma ação na presença de vários eventos durante o período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 l="19922" t="57188" r="13281" b="10000"/>
          <a:stretch>
            <a:fillRect/>
          </a:stretch>
        </p:blipFill>
        <p:spPr bwMode="auto">
          <a:xfrm>
            <a:off x="1582738" y="3548063"/>
            <a:ext cx="6357937" cy="1952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3315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715125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r>
              <a:rPr lang="pt-BR" sz="1600"/>
              <a:t>Bonificação de 50% significa que os detentores receberam 5 novas ações para cada 10 que possuíam; preço da ação (preço ex-dividendo) = preço antes do pagamento </a:t>
            </a:r>
            <a:r>
              <a:rPr lang="pt-BR" sz="1600">
                <a:solidFill>
                  <a:srgbClr val="000000"/>
                </a:solidFill>
                <a:cs typeface="Times New Roman" pitchFamily="18" charset="0"/>
              </a:rPr>
              <a:t>–</a:t>
            </a:r>
            <a:r>
              <a:rPr lang="pt-BR" sz="1600"/>
              <a:t> o valor dos dividendos pagos ($ 25 </a:t>
            </a:r>
            <a:r>
              <a:rPr lang="pt-BR" sz="1600">
                <a:solidFill>
                  <a:srgbClr val="000000"/>
                </a:solidFill>
                <a:cs typeface="Times New Roman" pitchFamily="18" charset="0"/>
              </a:rPr>
              <a:t>–</a:t>
            </a:r>
            <a:r>
              <a:rPr lang="pt-BR" sz="1600"/>
              <a:t> $ 2).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331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61C8D4B3-9244-4257-9085-DA3C27746486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>
              <a:solidFill>
                <a:srgbClr val="2C5DAA"/>
              </a:solidFill>
            </a:endParaRPr>
          </a:p>
        </p:txBody>
      </p:sp>
      <p:sp>
        <p:nvSpPr>
          <p:cNvPr id="13319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72151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8.3.2 Retorno de uma ação na presença de vários eventos durante o período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 l="19922" t="14063" r="15625" b="77499"/>
          <a:stretch>
            <a:fillRect/>
          </a:stretch>
        </p:blipFill>
        <p:spPr bwMode="auto">
          <a:xfrm>
            <a:off x="1603375" y="3214688"/>
            <a:ext cx="6111875" cy="500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4339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2865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O retorno esperado de um ativo com risco é seu retorno mais provável.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4341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14342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55705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8.4 Risco e retorno esperado de ativos com risco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45B26B59-1C23-46C9-9CEA-DEFACE446500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>
              <a:solidFill>
                <a:srgbClr val="2C5DAA"/>
              </a:solidFill>
            </a:endParaRPr>
          </a:p>
        </p:txBody>
      </p:sp>
      <p:sp>
        <p:nvSpPr>
          <p:cNvPr id="14344" name="CaixaDeTexto 6"/>
          <p:cNvSpPr txBox="1">
            <a:spLocks noChangeArrowheads="1"/>
          </p:cNvSpPr>
          <p:nvPr/>
        </p:nvSpPr>
        <p:spPr bwMode="auto">
          <a:xfrm>
            <a:off x="1643063" y="4884738"/>
            <a:ext cx="62865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Onde pr</a:t>
            </a:r>
            <a:r>
              <a:rPr lang="pt-BR" sz="1600" baseline="-25000">
                <a:cs typeface="Arial" charset="0"/>
              </a:rPr>
              <a:t>i</a:t>
            </a:r>
            <a:r>
              <a:rPr lang="pt-BR" sz="1600">
                <a:cs typeface="Arial" charset="0"/>
              </a:rPr>
              <a:t> é a probabilidade de ocorrência do retorno R</a:t>
            </a:r>
            <a:r>
              <a:rPr lang="pt-BR" sz="1600" baseline="-25000">
                <a:cs typeface="Arial" charset="0"/>
              </a:rPr>
              <a:t>i</a:t>
            </a:r>
            <a:r>
              <a:rPr lang="pt-BR" sz="1600">
                <a:cs typeface="Arial" charset="0"/>
              </a:rPr>
              <a:t>, e n é o número de eventos ou retornos possíveis.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 l="27539" t="55313" r="43750" b="24062"/>
          <a:stretch>
            <a:fillRect/>
          </a:stretch>
        </p:blipFill>
        <p:spPr bwMode="auto">
          <a:xfrm>
            <a:off x="3786188" y="3643313"/>
            <a:ext cx="2143125" cy="962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5363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28650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O desvio-padrão (referido pela letra grega σ) é definido como a raiz quadrada do somatório dos produtos das probabilidades de ocorrência multiplicada pelos quadrados da diferença entre cada retorno possível e o retorno esperado: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536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757AD69E-63CE-4687-AEF3-13E81F922B60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 l="39844" t="23437" r="40234" b="63438"/>
          <a:stretch>
            <a:fillRect/>
          </a:stretch>
        </p:blipFill>
        <p:spPr bwMode="auto">
          <a:xfrm>
            <a:off x="3429000" y="4429125"/>
            <a:ext cx="2428875" cy="1000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36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55705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8.4 Risco e retorno esperado de ativos com risco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6387" name="CaixaDeTexto 6"/>
          <p:cNvSpPr txBox="1">
            <a:spLocks noChangeArrowheads="1"/>
          </p:cNvSpPr>
          <p:nvPr/>
        </p:nvSpPr>
        <p:spPr bwMode="auto">
          <a:xfrm>
            <a:off x="1571625" y="2571750"/>
            <a:ext cx="64293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A partir dos retornos e das probabilidades apresentados, estime a média (retorno esperado) e o desvio-padrão (risco) da distribuição de retornos.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638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1639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427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Exemplo 1: retornos e probabilidades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886CDA08-BE31-44A1-90E5-7A17631653CC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>
              <a:solidFill>
                <a:srgbClr val="2C5DAA"/>
              </a:solidFill>
            </a:endParaRPr>
          </a:p>
        </p:txBody>
      </p:sp>
      <p:grpSp>
        <p:nvGrpSpPr>
          <p:cNvPr id="16392" name="Grupo 11"/>
          <p:cNvGrpSpPr>
            <a:grpSpLocks/>
          </p:cNvGrpSpPr>
          <p:nvPr/>
        </p:nvGrpSpPr>
        <p:grpSpPr bwMode="auto">
          <a:xfrm>
            <a:off x="1643063" y="3786188"/>
            <a:ext cx="5929312" cy="1857375"/>
            <a:chOff x="2714612" y="3286124"/>
            <a:chExt cx="8143932" cy="2357454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2"/>
            <a:srcRect l="20508" t="38437" r="12695" b="30625"/>
            <a:stretch>
              <a:fillRect/>
            </a:stretch>
          </p:blipFill>
          <p:spPr bwMode="auto">
            <a:xfrm>
              <a:off x="2714612" y="3286124"/>
              <a:ext cx="8143932" cy="235745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tângulo 10"/>
            <p:cNvSpPr/>
            <p:nvPr/>
          </p:nvSpPr>
          <p:spPr>
            <a:xfrm>
              <a:off x="2821453" y="3286124"/>
              <a:ext cx="71955" cy="2357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7412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4B554A8D-C870-4EBD-84D3-C93E66F103CA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 l="25195" t="16875" r="10937" b="53125"/>
          <a:stretch>
            <a:fillRect/>
          </a:stretch>
        </p:blipFill>
        <p:spPr bwMode="auto">
          <a:xfrm>
            <a:off x="1714500" y="3143250"/>
            <a:ext cx="6072188" cy="1782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415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4273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Exemplo 1: retornos e probabilidades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8435" name="CaixaDeTexto 6"/>
          <p:cNvSpPr txBox="1">
            <a:spLocks noChangeArrowheads="1"/>
          </p:cNvSpPr>
          <p:nvPr/>
        </p:nvSpPr>
        <p:spPr bwMode="auto">
          <a:xfrm>
            <a:off x="1571625" y="2859088"/>
            <a:ext cx="6429375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/>
              <a:t> Basicamente, a finalidade de uma carteira é reduzir o risco por meio da diversificação.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/>
              <a:t> Considerando-se o caso particular de três ativos (A, B e C), o princípio de dominância representa o espaço risco-retorno.</a:t>
            </a: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843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1843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3579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8.5 A teoria das carteiras: o modelo de Markowitz e os ganhos por diversificação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A7E3E6E5-8145-432C-9438-A69920664756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pt-BR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19460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19461" name="CaixaDeTexto 12"/>
          <p:cNvSpPr txBox="1">
            <a:spLocks noChangeArrowheads="1"/>
          </p:cNvSpPr>
          <p:nvPr/>
        </p:nvSpPr>
        <p:spPr bwMode="auto">
          <a:xfrm>
            <a:off x="1571625" y="2662238"/>
            <a:ext cx="70008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>
                <a:cs typeface="Arial" charset="0"/>
              </a:rPr>
              <a:t>Ilustração do princípio da dominância para o caso dos ativos A, B e C.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C2F7885E-B20D-4B78-9B56-F66E728D71FD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 l="28711" t="47813" r="25000" b="18437"/>
          <a:stretch>
            <a:fillRect/>
          </a:stretch>
        </p:blipFill>
        <p:spPr bwMode="auto">
          <a:xfrm>
            <a:off x="2343150" y="3060700"/>
            <a:ext cx="4886325" cy="2225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0484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20485" name="CaixaDeTexto 12"/>
          <p:cNvSpPr txBox="1">
            <a:spLocks noChangeArrowheads="1"/>
          </p:cNvSpPr>
          <p:nvPr/>
        </p:nvSpPr>
        <p:spPr bwMode="auto">
          <a:xfrm>
            <a:off x="1571625" y="2662238"/>
            <a:ext cx="6357938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O ativo C não será escolhido, pois é dominado pelo ativo B. A escolha entre B e A não é tão clara, pois dependerá das preferências do investidor quanto ao risco. A única afirmação a priori é que, para maiores riscos, </a:t>
            </a:r>
            <a:r>
              <a:rPr lang="pt-BR" sz="1600"/>
              <a:t>o investidor exigirá maiores retornos.</a:t>
            </a:r>
            <a:endParaRPr lang="pt-BR" sz="1600">
              <a:cs typeface="Arial" charset="0"/>
            </a:endParaRP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E433A6E1-9545-436B-A1D9-B026C02E3E5B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pt-BR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1507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O retorno de uma carteira de ativos é uma média ponderada dos retornos dos ativos individuais. O peso aplicado a cada retorno corresponde à fração do valor da carteira aplicada naquele ativo:</a:t>
            </a: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150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2151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4878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8.5.1 Retorno e risco de carteiras de ativos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8C1612B3-4D94-47AA-98E9-5CDA2B611922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 l="30469" t="25313" r="30859" b="46562"/>
          <a:stretch>
            <a:fillRect/>
          </a:stretch>
        </p:blipFill>
        <p:spPr bwMode="auto">
          <a:xfrm>
            <a:off x="3929063" y="4000500"/>
            <a:ext cx="2143125" cy="97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513" name="Retângulo 8"/>
          <p:cNvSpPr>
            <a:spLocks noChangeArrowheads="1"/>
          </p:cNvSpPr>
          <p:nvPr/>
        </p:nvSpPr>
        <p:spPr bwMode="auto">
          <a:xfrm>
            <a:off x="1643063" y="5072063"/>
            <a:ext cx="457200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/>
              <a:t>Onde:</a:t>
            </a:r>
          </a:p>
          <a:p>
            <a:r>
              <a:rPr lang="pt-BR" sz="1600"/>
              <a:t>X</a:t>
            </a:r>
            <a:r>
              <a:rPr lang="pt-BR" sz="1600" baseline="-25000"/>
              <a:t>i</a:t>
            </a:r>
            <a:r>
              <a:rPr lang="pt-BR" sz="1600"/>
              <a:t> = % em i;</a:t>
            </a:r>
          </a:p>
          <a:p>
            <a:r>
              <a:rPr lang="pt-BR" sz="1600"/>
              <a:t>R</a:t>
            </a:r>
            <a:r>
              <a:rPr lang="pt-BR" sz="1600" baseline="-25000"/>
              <a:t>i</a:t>
            </a:r>
            <a:r>
              <a:rPr lang="pt-BR" sz="1600"/>
              <a:t> = retorno de i.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2531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Para a carteira composta pelos ativos A e B: </a:t>
            </a:r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r>
              <a:rPr lang="pt-BR" sz="1600"/>
              <a:t>Onde:</a:t>
            </a:r>
          </a:p>
          <a:p>
            <a:pPr>
              <a:lnSpc>
                <a:spcPct val="150000"/>
              </a:lnSpc>
            </a:pPr>
            <a:r>
              <a:rPr lang="pt-BR" sz="1600"/>
              <a:t> </a:t>
            </a:r>
          </a:p>
          <a:p>
            <a:pPr>
              <a:lnSpc>
                <a:spcPct val="150000"/>
              </a:lnSpc>
            </a:pP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2533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22534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198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Variância (risco) da carteira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CAEC7DD4-B64F-486F-A201-608A678B800F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 l="31055" t="44063" r="31445" b="48437"/>
          <a:stretch>
            <a:fillRect/>
          </a:stretch>
        </p:blipFill>
        <p:spPr bwMode="auto">
          <a:xfrm>
            <a:off x="2357438" y="3214688"/>
            <a:ext cx="4572000" cy="57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 l="17187" t="62188" r="45898" b="13437"/>
          <a:stretch>
            <a:fillRect/>
          </a:stretch>
        </p:blipFill>
        <p:spPr bwMode="auto">
          <a:xfrm>
            <a:off x="1714500" y="4214813"/>
            <a:ext cx="3643313" cy="1503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3555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Generalizando para o caso de N ativos, temos:</a:t>
            </a: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355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2355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198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Variância (risco) da carteira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2EB7822C-7D8C-4958-B6A3-BA4C80531DC9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 l="58008" t="61875" r="16211" b="27812"/>
          <a:stretch>
            <a:fillRect/>
          </a:stretch>
        </p:blipFill>
        <p:spPr bwMode="auto">
          <a:xfrm>
            <a:off x="522044" y="3430832"/>
            <a:ext cx="7319596" cy="1831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4579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3392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A covariância mede como os retornos dos ativos variam em conjunto. Se eles apresentarem desvios positivos e negativos nos mesmos momentos, a covariância será um número positivo. </a:t>
            </a:r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r>
              <a:rPr lang="pt-BR" sz="1600"/>
              <a:t>O coeficiente de correlação                   varia entre –1 e +1.</a:t>
            </a:r>
          </a:p>
          <a:p>
            <a:pPr>
              <a:lnSpc>
                <a:spcPct val="150000"/>
              </a:lnSpc>
            </a:pPr>
            <a:endParaRPr lang="pt-BR" sz="1600"/>
          </a:p>
          <a:p>
            <a:r>
              <a:rPr lang="pt-BR" sz="1600" i="1">
                <a:sym typeface="Symbol" pitchFamily="18" charset="2"/>
              </a:rPr>
              <a:t></a:t>
            </a:r>
            <a:r>
              <a:rPr lang="pt-BR" sz="1600" baseline="-25000"/>
              <a:t>A,B</a:t>
            </a:r>
            <a:r>
              <a:rPr lang="pt-BR" sz="1600"/>
              <a:t>= +1 → os ativos sobem ou descem juntos. </a:t>
            </a:r>
          </a:p>
          <a:p>
            <a:r>
              <a:rPr lang="pt-BR" sz="1600" i="1">
                <a:sym typeface="Symbol" pitchFamily="18" charset="2"/>
              </a:rPr>
              <a:t></a:t>
            </a:r>
            <a:r>
              <a:rPr lang="pt-BR" sz="1600" baseline="-25000"/>
              <a:t>A,B</a:t>
            </a:r>
            <a:r>
              <a:rPr lang="pt-BR" sz="1600"/>
              <a:t> = –1  → um ativo cai quando o outro sobe.</a:t>
            </a:r>
          </a:p>
          <a:p>
            <a:r>
              <a:rPr lang="pt-BR" sz="1600"/>
              <a:t> </a:t>
            </a:r>
            <a:r>
              <a:rPr lang="pt-BR" sz="1600" i="1">
                <a:sym typeface="Symbol" pitchFamily="18" charset="2"/>
              </a:rPr>
              <a:t></a:t>
            </a:r>
            <a:r>
              <a:rPr lang="pt-BR" sz="1600" baseline="-25000"/>
              <a:t>A,B</a:t>
            </a:r>
            <a:r>
              <a:rPr lang="pt-BR" sz="1600"/>
              <a:t> = 0 → independência entre os ativos.</a:t>
            </a:r>
          </a:p>
          <a:p>
            <a:pPr>
              <a:lnSpc>
                <a:spcPct val="150000"/>
              </a:lnSpc>
            </a:pPr>
            <a:endParaRPr lang="pt-BR" sz="1600"/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4581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24582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2118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Covariância e coeficiente de correlação entre os ativos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A4A40ED0-1294-4B83-8789-865925687CAB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 l="73829" t="44063" r="18554" b="48437"/>
          <a:stretch>
            <a:fillRect/>
          </a:stretch>
        </p:blipFill>
        <p:spPr bwMode="auto">
          <a:xfrm>
            <a:off x="4249738" y="4132263"/>
            <a:ext cx="928687" cy="57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5603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A diversificação reduz o risco da carteira. Para 2 ativos A e B a variância da carteira é dada por:</a:t>
            </a:r>
          </a:p>
          <a:p>
            <a:pPr>
              <a:lnSpc>
                <a:spcPct val="150000"/>
              </a:lnSpc>
            </a:pPr>
            <a:endParaRPr lang="pt-BR" sz="1600"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pt-BR" sz="1600"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600">
                <a:cs typeface="Times New Roman" pitchFamily="18" charset="0"/>
              </a:rPr>
              <a:t>A maior diminuição de risco será conseguida quando a correlação entre os ativos for igual a –1. No mercado de ações é muito difícil encontrar correlações perfeitamente positivas, negativas ou nulas. Quase sempre elas são positivas ou ligeiramente negativas. </a:t>
            </a:r>
          </a:p>
          <a:p>
            <a:pPr>
              <a:lnSpc>
                <a:spcPct val="150000"/>
              </a:lnSpc>
            </a:pPr>
            <a:endParaRPr lang="pt-BR" sz="1600"/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560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25606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4166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8.5.2 Correlação de retornos e ganhos por diversificação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80FFD2ED-84C4-4571-8AE1-E3EBA4E01E97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 l="35742" t="60938" r="31445" b="31562"/>
          <a:stretch>
            <a:fillRect/>
          </a:stretch>
        </p:blipFill>
        <p:spPr bwMode="auto">
          <a:xfrm>
            <a:off x="2643188" y="3524250"/>
            <a:ext cx="4000500" cy="57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aixaDeTexto 6"/>
          <p:cNvSpPr txBox="1">
            <a:spLocks noChangeArrowheads="1"/>
          </p:cNvSpPr>
          <p:nvPr/>
        </p:nvSpPr>
        <p:spPr bwMode="auto">
          <a:xfrm>
            <a:off x="1643063" y="2560638"/>
            <a:ext cx="6429375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/>
              <a:t>Com os dados seguintes, estime o retorno e esperado médio e o risco da carteira formada pelos ativos A e B.</a:t>
            </a:r>
          </a:p>
          <a:p>
            <a:pPr algn="just">
              <a:lnSpc>
                <a:spcPct val="150000"/>
              </a:lnSpc>
            </a:pPr>
            <a:endParaRPr lang="pt-BR" sz="1400"/>
          </a:p>
          <a:p>
            <a:pPr algn="just">
              <a:lnSpc>
                <a:spcPct val="150000"/>
              </a:lnSpc>
            </a:pPr>
            <a:endParaRPr lang="pt-BR" sz="1400"/>
          </a:p>
          <a:p>
            <a:pPr algn="just">
              <a:lnSpc>
                <a:spcPct val="150000"/>
              </a:lnSpc>
            </a:pPr>
            <a:endParaRPr lang="pt-BR" sz="1400"/>
          </a:p>
          <a:p>
            <a:pPr algn="just">
              <a:lnSpc>
                <a:spcPct val="150000"/>
              </a:lnSpc>
            </a:pPr>
            <a:endParaRPr lang="pt-BR" sz="1400"/>
          </a:p>
          <a:p>
            <a:pPr algn="just">
              <a:lnSpc>
                <a:spcPct val="150000"/>
              </a:lnSpc>
            </a:pPr>
            <a:r>
              <a:rPr lang="pt-BR" sz="1400"/>
              <a:t>Retorno esperado da carteira:      </a:t>
            </a:r>
            <a:r>
              <a:rPr lang="pt-BR" sz="1400">
                <a:cs typeface="Times New Roman" pitchFamily="18" charset="0"/>
              </a:rPr>
              <a:t>R</a:t>
            </a:r>
            <a:r>
              <a:rPr lang="pt-BR" sz="1400" baseline="-25000">
                <a:cs typeface="Times New Roman" pitchFamily="18" charset="0"/>
              </a:rPr>
              <a:t>c </a:t>
            </a:r>
            <a:r>
              <a:rPr lang="pt-BR" sz="1400">
                <a:cs typeface="Times New Roman" pitchFamily="18" charset="0"/>
              </a:rPr>
              <a:t>= </a:t>
            </a:r>
            <a:r>
              <a:rPr lang="el-GR" sz="1400">
                <a:cs typeface="Times New Roman" pitchFamily="18" charset="0"/>
              </a:rPr>
              <a:t>Σ</a:t>
            </a:r>
            <a:r>
              <a:rPr lang="pt-BR" sz="1400">
                <a:cs typeface="Times New Roman" pitchFamily="18" charset="0"/>
              </a:rPr>
              <a:t> X</a:t>
            </a:r>
            <a:r>
              <a:rPr lang="pt-BR" sz="1400" baseline="-25000">
                <a:cs typeface="Times New Roman" pitchFamily="18" charset="0"/>
              </a:rPr>
              <a:t>i</a:t>
            </a:r>
            <a:r>
              <a:rPr lang="pt-BR" sz="1400">
                <a:cs typeface="Times New Roman" pitchFamily="18" charset="0"/>
              </a:rPr>
              <a:t> R</a:t>
            </a:r>
            <a:r>
              <a:rPr lang="pt-BR" sz="1400" baseline="-25000">
                <a:cs typeface="Times New Roman" pitchFamily="18" charset="0"/>
              </a:rPr>
              <a:t>i </a:t>
            </a:r>
            <a:r>
              <a:rPr lang="pt-BR" sz="1400">
                <a:cs typeface="Times New Roman" pitchFamily="18" charset="0"/>
              </a:rPr>
              <a:t> = (1/3)0,18 + (2/3)0,09 = 12%</a:t>
            </a:r>
          </a:p>
          <a:p>
            <a:pPr algn="just">
              <a:lnSpc>
                <a:spcPct val="150000"/>
              </a:lnSpc>
            </a:pPr>
            <a:r>
              <a:rPr lang="pt-BR" sz="1400">
                <a:cs typeface="Times New Roman" pitchFamily="18" charset="0"/>
              </a:rPr>
              <a:t>Risco da carteira: </a:t>
            </a:r>
          </a:p>
          <a:p>
            <a:pPr algn="just">
              <a:lnSpc>
                <a:spcPct val="150000"/>
              </a:lnSpc>
            </a:pPr>
            <a:r>
              <a:rPr lang="el-GR" sz="1400">
                <a:cs typeface="Times New Roman" pitchFamily="18" charset="0"/>
              </a:rPr>
              <a:t>σ</a:t>
            </a:r>
            <a:r>
              <a:rPr lang="pt-BR" sz="1400" baseline="-25000">
                <a:cs typeface="Times New Roman" pitchFamily="18" charset="0"/>
              </a:rPr>
              <a:t>c </a:t>
            </a:r>
            <a:r>
              <a:rPr lang="pt-BR" sz="1400">
                <a:cs typeface="Times New Roman" pitchFamily="18" charset="0"/>
              </a:rPr>
              <a:t> = [ (1/3)</a:t>
            </a:r>
            <a:r>
              <a:rPr lang="pt-BR" sz="1400" baseline="30000">
                <a:cs typeface="Times New Roman" pitchFamily="18" charset="0"/>
              </a:rPr>
              <a:t>2 </a:t>
            </a:r>
            <a:r>
              <a:rPr lang="pt-BR" sz="1400">
                <a:cs typeface="Times New Roman" pitchFamily="18" charset="0"/>
              </a:rPr>
              <a:t>x(0,2)</a:t>
            </a:r>
            <a:r>
              <a:rPr lang="pt-BR" sz="1400" baseline="30000">
                <a:cs typeface="Times New Roman" pitchFamily="18" charset="0"/>
              </a:rPr>
              <a:t>2 </a:t>
            </a:r>
            <a:r>
              <a:rPr lang="pt-BR" sz="1400">
                <a:cs typeface="Times New Roman" pitchFamily="18" charset="0"/>
              </a:rPr>
              <a:t> + (2/3)</a:t>
            </a:r>
            <a:r>
              <a:rPr lang="pt-BR" sz="1400" baseline="30000">
                <a:cs typeface="Times New Roman" pitchFamily="18" charset="0"/>
              </a:rPr>
              <a:t>2 </a:t>
            </a:r>
            <a:r>
              <a:rPr lang="pt-BR" sz="1400">
                <a:cs typeface="Times New Roman" pitchFamily="18" charset="0"/>
              </a:rPr>
              <a:t>x(0,1)</a:t>
            </a:r>
            <a:r>
              <a:rPr lang="pt-BR" sz="1400" baseline="30000">
                <a:cs typeface="Times New Roman" pitchFamily="18" charset="0"/>
              </a:rPr>
              <a:t>2</a:t>
            </a:r>
            <a:r>
              <a:rPr lang="pt-BR" sz="1400">
                <a:cs typeface="Times New Roman" pitchFamily="18" charset="0"/>
              </a:rPr>
              <a:t>  + 2x (1/3)</a:t>
            </a:r>
            <a:r>
              <a:rPr lang="pt-BR" sz="1400" baseline="30000">
                <a:cs typeface="Times New Roman" pitchFamily="18" charset="0"/>
              </a:rPr>
              <a:t> </a:t>
            </a:r>
            <a:r>
              <a:rPr lang="pt-BR" sz="1400">
                <a:cs typeface="Times New Roman" pitchFamily="18" charset="0"/>
              </a:rPr>
              <a:t>x(2/3)x0,2x0,1 </a:t>
            </a:r>
            <a:r>
              <a:rPr lang="el-GR">
                <a:cs typeface="Times New Roman" pitchFamily="18" charset="0"/>
              </a:rPr>
              <a:t>ρ</a:t>
            </a:r>
            <a:r>
              <a:rPr lang="pt-BR" baseline="-25000">
                <a:cs typeface="Times New Roman" pitchFamily="18" charset="0"/>
              </a:rPr>
              <a:t>AB</a:t>
            </a:r>
            <a:r>
              <a:rPr lang="pt-BR">
                <a:cs typeface="Times New Roman" pitchFamily="18" charset="0"/>
              </a:rPr>
              <a:t> ]</a:t>
            </a:r>
            <a:r>
              <a:rPr lang="pt-BR" baseline="30000">
                <a:cs typeface="Times New Roman" pitchFamily="18" charset="0"/>
              </a:rPr>
              <a:t>1/2 </a:t>
            </a:r>
            <a:r>
              <a:rPr lang="pt-BR"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l-GR" sz="1400">
                <a:cs typeface="Times New Roman" pitchFamily="18" charset="0"/>
              </a:rPr>
              <a:t>σ</a:t>
            </a:r>
            <a:r>
              <a:rPr lang="pt-BR" sz="1400" baseline="-25000">
                <a:cs typeface="Times New Roman" pitchFamily="18" charset="0"/>
              </a:rPr>
              <a:t>c </a:t>
            </a:r>
            <a:r>
              <a:rPr lang="pt-BR" sz="1400">
                <a:cs typeface="Times New Roman" pitchFamily="18" charset="0"/>
              </a:rPr>
              <a:t> = [ 0,0089 + 0,0089 </a:t>
            </a:r>
            <a:r>
              <a:rPr lang="el-GR" sz="1400">
                <a:cs typeface="Times New Roman" pitchFamily="18" charset="0"/>
              </a:rPr>
              <a:t>ρ</a:t>
            </a:r>
            <a:r>
              <a:rPr lang="pt-BR" sz="1400" baseline="-25000">
                <a:cs typeface="Times New Roman" pitchFamily="18" charset="0"/>
              </a:rPr>
              <a:t>AB</a:t>
            </a:r>
            <a:r>
              <a:rPr lang="pt-BR" sz="1400">
                <a:cs typeface="Times New Roman" pitchFamily="18" charset="0"/>
              </a:rPr>
              <a:t> ]</a:t>
            </a:r>
            <a:r>
              <a:rPr lang="pt-BR" sz="1400" baseline="30000">
                <a:cs typeface="Times New Roman" pitchFamily="18" charset="0"/>
              </a:rPr>
              <a:t>1/2 </a:t>
            </a:r>
            <a:r>
              <a:rPr lang="pt-BR" sz="1400"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pt-BR"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pt-BR" baseline="30000"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pt-BR" baseline="30000"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pt-BR" sz="1600"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pt-BR" sz="1600"/>
          </a:p>
        </p:txBody>
      </p:sp>
      <p:sp>
        <p:nvSpPr>
          <p:cNvPr id="26627" name="CaixaDeTexto 12"/>
          <p:cNvSpPr txBox="1">
            <a:spLocks noChangeArrowheads="1"/>
          </p:cNvSpPr>
          <p:nvPr/>
        </p:nvSpPr>
        <p:spPr bwMode="auto">
          <a:xfrm>
            <a:off x="898525" y="2171700"/>
            <a:ext cx="77628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b="1">
                <a:cs typeface="Arial" charset="0"/>
              </a:rPr>
              <a:t>Correlação de retornos e ganhos por diversificação - Exemplo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835150" y="3316288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/>
                        <a:t>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/>
                        <a:t>σ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aixaDeTexto 6"/>
          <p:cNvSpPr txBox="1">
            <a:spLocks noChangeArrowheads="1"/>
          </p:cNvSpPr>
          <p:nvPr/>
        </p:nvSpPr>
        <p:spPr bwMode="auto">
          <a:xfrm>
            <a:off x="1000125" y="2632075"/>
            <a:ext cx="6429375" cy="494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/>
              <a:t>Logo temos o seguinte resultado:</a:t>
            </a:r>
          </a:p>
          <a:p>
            <a:pPr algn="just">
              <a:lnSpc>
                <a:spcPct val="150000"/>
              </a:lnSpc>
            </a:pPr>
            <a:r>
              <a:rPr lang="el-GR" sz="1400">
                <a:cs typeface="Times New Roman" pitchFamily="18" charset="0"/>
              </a:rPr>
              <a:t>σ</a:t>
            </a:r>
            <a:r>
              <a:rPr lang="pt-BR" sz="1400" baseline="-25000">
                <a:cs typeface="Times New Roman" pitchFamily="18" charset="0"/>
              </a:rPr>
              <a:t>c </a:t>
            </a:r>
            <a:r>
              <a:rPr lang="pt-BR" sz="1400">
                <a:cs typeface="Times New Roman" pitchFamily="18" charset="0"/>
              </a:rPr>
              <a:t> = [ 0,0089 + 0,0089 </a:t>
            </a:r>
            <a:r>
              <a:rPr lang="el-GR" sz="1400">
                <a:cs typeface="Times New Roman" pitchFamily="18" charset="0"/>
              </a:rPr>
              <a:t>ρ</a:t>
            </a:r>
            <a:r>
              <a:rPr lang="pt-BR" sz="1400" baseline="-25000">
                <a:cs typeface="Times New Roman" pitchFamily="18" charset="0"/>
              </a:rPr>
              <a:t>AB</a:t>
            </a:r>
            <a:r>
              <a:rPr lang="pt-BR" sz="1400">
                <a:cs typeface="Times New Roman" pitchFamily="18" charset="0"/>
              </a:rPr>
              <a:t> ]</a:t>
            </a:r>
            <a:r>
              <a:rPr lang="pt-BR" sz="1400" baseline="30000">
                <a:cs typeface="Times New Roman" pitchFamily="18" charset="0"/>
              </a:rPr>
              <a:t>1/2 </a:t>
            </a:r>
            <a:r>
              <a:rPr lang="pt-BR" sz="1400"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pt-BR" sz="1400">
                <a:cs typeface="Times New Roman" pitchFamily="18" charset="0"/>
              </a:rPr>
              <a:t>Para </a:t>
            </a:r>
          </a:p>
          <a:p>
            <a:pPr algn="just">
              <a:lnSpc>
                <a:spcPct val="150000"/>
              </a:lnSpc>
            </a:pPr>
            <a:r>
              <a:rPr lang="el-GR" sz="1400">
                <a:cs typeface="Times New Roman" pitchFamily="18" charset="0"/>
              </a:rPr>
              <a:t>ρ</a:t>
            </a:r>
            <a:r>
              <a:rPr lang="pt-BR" sz="1400" baseline="-25000">
                <a:cs typeface="Times New Roman" pitchFamily="18" charset="0"/>
              </a:rPr>
              <a:t>AB </a:t>
            </a:r>
            <a:r>
              <a:rPr lang="pt-BR" sz="1400">
                <a:cs typeface="Times New Roman" pitchFamily="18" charset="0"/>
              </a:rPr>
              <a:t> = + 1    </a:t>
            </a:r>
            <a:r>
              <a:rPr lang="pt-BR" sz="1400">
                <a:cs typeface="Times New Roman" pitchFamily="18" charset="0"/>
                <a:sym typeface="Wingdings" pitchFamily="2" charset="2"/>
              </a:rPr>
              <a:t>   </a:t>
            </a:r>
            <a:r>
              <a:rPr lang="el-GR" sz="1400">
                <a:cs typeface="Times New Roman" pitchFamily="18" charset="0"/>
                <a:sym typeface="Wingdings" pitchFamily="2" charset="2"/>
              </a:rPr>
              <a:t>σ</a:t>
            </a:r>
            <a:r>
              <a:rPr lang="pt-BR" sz="1400" baseline="-25000">
                <a:cs typeface="Times New Roman" pitchFamily="18" charset="0"/>
                <a:sym typeface="Wingdings" pitchFamily="2" charset="2"/>
              </a:rPr>
              <a:t>c </a:t>
            </a:r>
            <a:r>
              <a:rPr lang="pt-BR" sz="1400">
                <a:cs typeface="Times New Roman" pitchFamily="18" charset="0"/>
                <a:sym typeface="Wingdings" pitchFamily="2" charset="2"/>
              </a:rPr>
              <a:t> = 13,34% </a:t>
            </a:r>
          </a:p>
          <a:p>
            <a:pPr algn="just">
              <a:lnSpc>
                <a:spcPct val="150000"/>
              </a:lnSpc>
            </a:pPr>
            <a:r>
              <a:rPr lang="el-GR" sz="1400">
                <a:cs typeface="Times New Roman" pitchFamily="18" charset="0"/>
              </a:rPr>
              <a:t>ρ</a:t>
            </a:r>
            <a:r>
              <a:rPr lang="pt-BR" sz="1400" baseline="-25000">
                <a:cs typeface="Times New Roman" pitchFamily="18" charset="0"/>
              </a:rPr>
              <a:t>AB </a:t>
            </a:r>
            <a:r>
              <a:rPr lang="pt-BR" sz="1400">
                <a:cs typeface="Times New Roman" pitchFamily="18" charset="0"/>
              </a:rPr>
              <a:t> = 0    </a:t>
            </a:r>
            <a:r>
              <a:rPr lang="pt-BR" sz="1400">
                <a:cs typeface="Times New Roman" pitchFamily="18" charset="0"/>
                <a:sym typeface="Wingdings" pitchFamily="2" charset="2"/>
              </a:rPr>
              <a:t>   </a:t>
            </a:r>
            <a:r>
              <a:rPr lang="el-GR" sz="1400">
                <a:cs typeface="Times New Roman" pitchFamily="18" charset="0"/>
                <a:sym typeface="Wingdings" pitchFamily="2" charset="2"/>
              </a:rPr>
              <a:t>σ</a:t>
            </a:r>
            <a:r>
              <a:rPr lang="pt-BR" sz="1400" baseline="-25000">
                <a:cs typeface="Times New Roman" pitchFamily="18" charset="0"/>
                <a:sym typeface="Wingdings" pitchFamily="2" charset="2"/>
              </a:rPr>
              <a:t>c </a:t>
            </a:r>
            <a:r>
              <a:rPr lang="pt-BR" sz="1400">
                <a:cs typeface="Times New Roman" pitchFamily="18" charset="0"/>
                <a:sym typeface="Wingdings" pitchFamily="2" charset="2"/>
              </a:rPr>
              <a:t> = 9,43%</a:t>
            </a:r>
            <a:endParaRPr lang="pt-BR" sz="1400" baseline="-25000"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l-GR" sz="1400">
                <a:cs typeface="Times New Roman" pitchFamily="18" charset="0"/>
              </a:rPr>
              <a:t>ρ</a:t>
            </a:r>
            <a:r>
              <a:rPr lang="pt-BR" sz="1400" baseline="-25000">
                <a:cs typeface="Times New Roman" pitchFamily="18" charset="0"/>
              </a:rPr>
              <a:t>AB </a:t>
            </a:r>
            <a:r>
              <a:rPr lang="pt-BR" sz="1400">
                <a:cs typeface="Times New Roman" pitchFamily="18" charset="0"/>
              </a:rPr>
              <a:t> = - 1    </a:t>
            </a:r>
            <a:r>
              <a:rPr lang="pt-BR" sz="1400">
                <a:cs typeface="Times New Roman" pitchFamily="18" charset="0"/>
                <a:sym typeface="Wingdings" pitchFamily="2" charset="2"/>
              </a:rPr>
              <a:t>   </a:t>
            </a:r>
            <a:r>
              <a:rPr lang="el-GR" sz="1400">
                <a:cs typeface="Times New Roman" pitchFamily="18" charset="0"/>
                <a:sym typeface="Wingdings" pitchFamily="2" charset="2"/>
              </a:rPr>
              <a:t>σ</a:t>
            </a:r>
            <a:r>
              <a:rPr lang="pt-BR" sz="1400" baseline="-25000">
                <a:cs typeface="Times New Roman" pitchFamily="18" charset="0"/>
                <a:sym typeface="Wingdings" pitchFamily="2" charset="2"/>
              </a:rPr>
              <a:t>c </a:t>
            </a:r>
            <a:r>
              <a:rPr lang="pt-BR" sz="1400">
                <a:cs typeface="Times New Roman" pitchFamily="18" charset="0"/>
                <a:sym typeface="Wingdings" pitchFamily="2" charset="2"/>
              </a:rPr>
              <a:t> = 0,00%</a:t>
            </a:r>
            <a:endParaRPr lang="pt-BR" sz="1400" baseline="-25000"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1400">
                <a:cs typeface="Times New Roman" pitchFamily="18" charset="0"/>
              </a:rPr>
              <a:t>Observa-se, portanto que à medida que o coeficiente de correlação diminui, o risco da carteira também diminui. Se o coeficiente for igual a    -1, a carteira composta por 1/3 de A e 2/3 de B será sem risco, pois o desvio-padrão é igual a zero.  No caso de   - 1 &lt;  </a:t>
            </a:r>
            <a:r>
              <a:rPr lang="el-GR" sz="1400">
                <a:cs typeface="Times New Roman" pitchFamily="18" charset="0"/>
              </a:rPr>
              <a:t>ρ</a:t>
            </a:r>
            <a:r>
              <a:rPr lang="pt-BR" sz="1400" baseline="-25000">
                <a:cs typeface="Times New Roman" pitchFamily="18" charset="0"/>
              </a:rPr>
              <a:t>AB </a:t>
            </a:r>
            <a:r>
              <a:rPr lang="pt-BR" sz="1400">
                <a:cs typeface="Times New Roman" pitchFamily="18" charset="0"/>
              </a:rPr>
              <a:t> &lt; + 1  o risco cai, mas não é totalmente eliminado.</a:t>
            </a:r>
          </a:p>
          <a:p>
            <a:pPr algn="just">
              <a:lnSpc>
                <a:spcPct val="150000"/>
              </a:lnSpc>
            </a:pPr>
            <a:r>
              <a:rPr lang="pt-BR" baseline="30000"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pt-BR" baseline="30000"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pt-BR" sz="1600"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pt-BR" sz="1600"/>
          </a:p>
        </p:txBody>
      </p:sp>
      <p:sp>
        <p:nvSpPr>
          <p:cNvPr id="27651" name="CaixaDeTexto 12"/>
          <p:cNvSpPr txBox="1">
            <a:spLocks noChangeArrowheads="1"/>
          </p:cNvSpPr>
          <p:nvPr/>
        </p:nvSpPr>
        <p:spPr bwMode="auto">
          <a:xfrm>
            <a:off x="382588" y="2357438"/>
            <a:ext cx="77612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b="1">
                <a:cs typeface="Arial" charset="0"/>
              </a:rPr>
              <a:t>Correlação de retornos e ganhos por diversificação - Exemplo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8675" name="CaixaDeTexto 6"/>
          <p:cNvSpPr txBox="1">
            <a:spLocks noChangeArrowheads="1"/>
          </p:cNvSpPr>
          <p:nvPr/>
        </p:nvSpPr>
        <p:spPr bwMode="auto">
          <a:xfrm>
            <a:off x="1643063" y="3060700"/>
            <a:ext cx="6429375" cy="115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Admite-se que os retornos dos ativos A e B se correlacionem perfeitamente; logo, o retorno e o desvio-padrão da carteira serão dados por:</a:t>
            </a: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867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2867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4557713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8.5.3 Combinações de ativos com risco </a:t>
            </a:r>
          </a:p>
          <a:p>
            <a:endParaRPr lang="pt-BR" b="1">
              <a:solidFill>
                <a:srgbClr val="2C5DAA"/>
              </a:solidFill>
              <a:cs typeface="Arial" charset="0"/>
            </a:endParaRPr>
          </a:p>
          <a:p>
            <a:r>
              <a:rPr lang="el-GR" b="1">
                <a:cs typeface="Arial" charset="0"/>
              </a:rPr>
              <a:t>(ρ</a:t>
            </a:r>
            <a:r>
              <a:rPr lang="pt-BR" sz="1100" b="1">
                <a:cs typeface="Arial" charset="0"/>
              </a:rPr>
              <a:t>A,B</a:t>
            </a:r>
            <a:r>
              <a:rPr lang="pt-BR" b="1">
                <a:cs typeface="Arial" charset="0"/>
              </a:rPr>
              <a:t> = +1)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BF6CDCAD-F6D6-44F8-A5D5-28F127F145DE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 l="18750" t="70313" r="19140" b="11875"/>
          <a:stretch>
            <a:fillRect/>
          </a:stretch>
        </p:blipFill>
        <p:spPr bwMode="auto">
          <a:xfrm>
            <a:off x="1714500" y="4308475"/>
            <a:ext cx="5857875" cy="1049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29699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4293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/>
              <a:t>No segmento A-B situam-se as combinações entre os ativos A e B: 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29701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D9B886C6-9F86-4F8C-9E0D-21A842BB72A9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 l="38672" t="25313" r="39648" b="46562"/>
          <a:stretch>
            <a:fillRect/>
          </a:stretch>
        </p:blipFill>
        <p:spPr bwMode="auto">
          <a:xfrm>
            <a:off x="3214688" y="3286125"/>
            <a:ext cx="2643187" cy="214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0724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483023E4-5CCA-4DEA-9B58-3F9350C864B6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pt-BR">
              <a:solidFill>
                <a:srgbClr val="2C5DAA"/>
              </a:solidFill>
            </a:endParaRPr>
          </a:p>
        </p:txBody>
      </p:sp>
      <p:sp>
        <p:nvSpPr>
          <p:cNvPr id="30726" name="CaixaDeTexto 6"/>
          <p:cNvSpPr txBox="1">
            <a:spLocks noChangeArrowheads="1"/>
          </p:cNvSpPr>
          <p:nvPr/>
        </p:nvSpPr>
        <p:spPr bwMode="auto">
          <a:xfrm>
            <a:off x="1643063" y="3060700"/>
            <a:ext cx="67865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Segmento A-O-B representa o lugar onde devem se situar as combinações possíveis entre os ativos A e B. Segmento 0-A é ineficiente:</a:t>
            </a:r>
          </a:p>
        </p:txBody>
      </p:sp>
      <p:sp>
        <p:nvSpPr>
          <p:cNvPr id="30727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1233488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 </a:t>
            </a:r>
          </a:p>
          <a:p>
            <a:endParaRPr lang="pt-BR" b="1">
              <a:solidFill>
                <a:srgbClr val="2C5DAA"/>
              </a:solidFill>
              <a:cs typeface="Arial" charset="0"/>
            </a:endParaRPr>
          </a:p>
          <a:p>
            <a:r>
              <a:rPr lang="el-GR" b="1">
                <a:cs typeface="Arial" charset="0"/>
              </a:rPr>
              <a:t>(ρ</a:t>
            </a:r>
            <a:r>
              <a:rPr lang="pt-BR" sz="1100" b="1">
                <a:cs typeface="Arial" charset="0"/>
              </a:rPr>
              <a:t>A,B</a:t>
            </a:r>
            <a:r>
              <a:rPr lang="pt-BR" b="1">
                <a:cs typeface="Arial" charset="0"/>
              </a:rPr>
              <a:t> = </a:t>
            </a:r>
            <a:r>
              <a:rPr lang="pt-BR" b="1">
                <a:solidFill>
                  <a:srgbClr val="000000"/>
                </a:solidFill>
                <a:ea typeface="Times New Roman" pitchFamily="18" charset="0"/>
                <a:cs typeface="Arial" charset="0"/>
              </a:rPr>
              <a:t>–</a:t>
            </a:r>
            <a:r>
              <a:rPr lang="pt-BR" b="1">
                <a:cs typeface="Arial" charset="0"/>
              </a:rPr>
              <a:t>1)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 l="40429" t="20625" r="36719" b="47500"/>
          <a:stretch>
            <a:fillRect/>
          </a:stretch>
        </p:blipFill>
        <p:spPr bwMode="auto">
          <a:xfrm>
            <a:off x="3429000" y="4132263"/>
            <a:ext cx="2143125" cy="186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1748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C950A0EA-6965-4FBD-8FB7-3E2EBEDD6C8A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pt-BR">
              <a:solidFill>
                <a:srgbClr val="2C5DAA"/>
              </a:solidFill>
            </a:endParaRPr>
          </a:p>
        </p:txBody>
      </p:sp>
      <p:sp>
        <p:nvSpPr>
          <p:cNvPr id="3175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18351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 </a:t>
            </a:r>
          </a:p>
          <a:p>
            <a:endParaRPr lang="pt-BR" b="1">
              <a:solidFill>
                <a:srgbClr val="2C5DAA"/>
              </a:solidFill>
              <a:cs typeface="Arial" charset="0"/>
            </a:endParaRPr>
          </a:p>
          <a:p>
            <a:r>
              <a:rPr lang="el-GR" b="1"/>
              <a:t>(–1 &lt; ρ</a:t>
            </a:r>
            <a:r>
              <a:rPr lang="pt-BR" sz="1100" b="1"/>
              <a:t>A,B</a:t>
            </a:r>
            <a:r>
              <a:rPr lang="pt-BR" b="1"/>
              <a:t> &lt; +1)</a:t>
            </a:r>
            <a:endParaRPr lang="pt-BR" b="1">
              <a:cs typeface="Arial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 l="21094" t="67500" r="16797" b="25000"/>
          <a:stretch>
            <a:fillRect/>
          </a:stretch>
        </p:blipFill>
        <p:spPr bwMode="auto">
          <a:xfrm>
            <a:off x="1582738" y="3143250"/>
            <a:ext cx="5561012" cy="419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752" name="Retângulo 11"/>
          <p:cNvSpPr>
            <a:spLocks noChangeArrowheads="1"/>
          </p:cNvSpPr>
          <p:nvPr/>
        </p:nvSpPr>
        <p:spPr bwMode="auto">
          <a:xfrm>
            <a:off x="1524000" y="3805238"/>
            <a:ext cx="650081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/>
              <a:t>Função não-linear entre o desvio-padrão e o retorno da carteira: </a:t>
            </a: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 l="39453" t="20000" r="40039" b="50000"/>
          <a:stretch>
            <a:fillRect/>
          </a:stretch>
        </p:blipFill>
        <p:spPr bwMode="auto">
          <a:xfrm>
            <a:off x="3463925" y="4214813"/>
            <a:ext cx="1876425" cy="171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32771" name="CaixaDeTexto 6"/>
          <p:cNvSpPr txBox="1">
            <a:spLocks noChangeArrowheads="1"/>
          </p:cNvSpPr>
          <p:nvPr/>
        </p:nvSpPr>
        <p:spPr bwMode="auto">
          <a:xfrm>
            <a:off x="1643063" y="2716213"/>
            <a:ext cx="6429375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/>
              <a:t>Para    = –1 → o maior ganho de diversificação → combinações situadas no segmento O-B proporcionam retornos esperados maiores em relação a quaisquer outras combinações situadas nos outros segmentos.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2773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2774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198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Os três casos em conjunto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8B980F81-4DFD-4FDB-B759-B2CD321D6AA9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 l="31641" t="29062" r="32617" b="38125"/>
          <a:stretch>
            <a:fillRect/>
          </a:stretch>
        </p:blipFill>
        <p:spPr bwMode="auto">
          <a:xfrm>
            <a:off x="3000375" y="4300538"/>
            <a:ext cx="2714625" cy="1557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777" name="Retângulo 10"/>
          <p:cNvSpPr>
            <a:spLocks noChangeArrowheads="1"/>
          </p:cNvSpPr>
          <p:nvPr/>
        </p:nvSpPr>
        <p:spPr bwMode="auto">
          <a:xfrm>
            <a:off x="2108200" y="2763838"/>
            <a:ext cx="35718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 i="1">
                <a:sym typeface="Symbol" pitchFamily="18" charset="2"/>
              </a:rPr>
              <a:t></a:t>
            </a:r>
            <a:r>
              <a:rPr lang="pt-BR" sz="1600"/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33795" name="CaixaDeTexto 6"/>
          <p:cNvSpPr txBox="1">
            <a:spLocks noChangeArrowheads="1"/>
          </p:cNvSpPr>
          <p:nvPr/>
        </p:nvSpPr>
        <p:spPr bwMode="auto">
          <a:xfrm>
            <a:off x="1643063" y="2716213"/>
            <a:ext cx="642937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r>
              <a:rPr lang="pt-BR" sz="1600"/>
              <a:t>Determinação do ponto “O” na curva A-B: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379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379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032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8.5.4 Determinação da carteira ótima de risco mínimo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9C4AB513-4A1E-4D47-B5EF-E9E4975D642E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/>
          <a:srcRect l="39453" t="20000" r="40039" b="50000"/>
          <a:stretch>
            <a:fillRect/>
          </a:stretch>
        </p:blipFill>
        <p:spPr bwMode="auto">
          <a:xfrm>
            <a:off x="3463925" y="2714625"/>
            <a:ext cx="1876425" cy="171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/>
          <a:srcRect l="19922" t="18750" r="16211" b="73750"/>
          <a:stretch>
            <a:fillRect/>
          </a:stretch>
        </p:blipFill>
        <p:spPr bwMode="auto">
          <a:xfrm>
            <a:off x="1714500" y="5143500"/>
            <a:ext cx="5357813" cy="393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4820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BBFB90D8-B124-4463-BBB2-1AC77FDC7CDA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 l="19336" t="57188" r="25000" b="10000"/>
          <a:stretch>
            <a:fillRect/>
          </a:stretch>
        </p:blipFill>
        <p:spPr bwMode="auto">
          <a:xfrm>
            <a:off x="1643063" y="2857500"/>
            <a:ext cx="5000625" cy="1843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35843" name="CaixaDeTexto 6"/>
          <p:cNvSpPr txBox="1">
            <a:spLocks noChangeArrowheads="1"/>
          </p:cNvSpPr>
          <p:nvPr/>
        </p:nvSpPr>
        <p:spPr bwMode="auto">
          <a:xfrm>
            <a:off x="1643063" y="2716213"/>
            <a:ext cx="642937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r>
              <a:rPr lang="pt-BR" sz="1600"/>
              <a:t>Linha de Mercado de Capitais (LMC): </a:t>
            </a:r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r>
              <a:rPr lang="pt-BR" sz="1600"/>
              <a:t>As combinações do ativo A com o ativo sem risco situam-se ao longo dessa reta (segmento A-Rf).</a:t>
            </a:r>
          </a:p>
          <a:p>
            <a:pPr>
              <a:lnSpc>
                <a:spcPct val="150000"/>
              </a:lnSpc>
            </a:pPr>
            <a:endParaRPr lang="pt-BR" sz="1600"/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584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5846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7865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8.5.5 Combinações eficientes quando há possibilidade de aplicar e captar recursos à taxa sem risco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3C8278B8-8B85-4108-A5A9-183C2D82FF3C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 l="59180" t="13125" r="21484" b="77500"/>
          <a:stretch>
            <a:fillRect/>
          </a:stretch>
        </p:blipFill>
        <p:spPr bwMode="auto">
          <a:xfrm>
            <a:off x="5143500" y="2982913"/>
            <a:ext cx="1785938" cy="541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 l="34765" t="41562" r="30664" b="25625"/>
          <a:stretch>
            <a:fillRect/>
          </a:stretch>
        </p:blipFill>
        <p:spPr bwMode="auto">
          <a:xfrm>
            <a:off x="4500581" y="4562494"/>
            <a:ext cx="2786063" cy="1652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36867" name="CaixaDeTexto 6"/>
          <p:cNvSpPr txBox="1">
            <a:spLocks noChangeArrowheads="1"/>
          </p:cNvSpPr>
          <p:nvPr/>
        </p:nvSpPr>
        <p:spPr bwMode="auto">
          <a:xfrm>
            <a:off x="1643063" y="3189288"/>
            <a:ext cx="6429375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endParaRPr lang="pt-BR" sz="1600"/>
          </a:p>
          <a:p>
            <a:pPr>
              <a:lnSpc>
                <a:spcPct val="150000"/>
              </a:lnSpc>
            </a:pPr>
            <a:r>
              <a:rPr lang="pt-BR" sz="1600"/>
              <a:t>As combinações que se situam na reta (LMC) são preferíveis às combinações que se situam na curva. A LMC representa a verdadeira fronteira eficiente para combinações entre os ativos com risco e o ativo sem risco.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8</a:t>
            </a:r>
            <a:r>
              <a:rPr lang="pt-BR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Determinação do retorno e do risco</a:t>
            </a:r>
          </a:p>
        </p:txBody>
      </p:sp>
      <p:sp>
        <p:nvSpPr>
          <p:cNvPr id="3686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>
                <a:solidFill>
                  <a:srgbClr val="2C5DAA"/>
                </a:solidFill>
              </a:rPr>
              <a:t>Slide </a:t>
            </a:r>
            <a:fld id="{3E1AA179-7882-415D-BC97-3178D3025269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pt-BR">
              <a:solidFill>
                <a:srgbClr val="2C5DAA"/>
              </a:solidFill>
            </a:endParaRP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/>
          <a:srcRect l="34765" t="41562" r="30664" b="25625"/>
          <a:stretch>
            <a:fillRect/>
          </a:stretch>
        </p:blipFill>
        <p:spPr bwMode="auto">
          <a:xfrm>
            <a:off x="3429000" y="2857496"/>
            <a:ext cx="2786063" cy="1652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6872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3579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8.5 A teoria das carteiras: o modelo de Markowitz e os ganhos por diversificação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aixaDeTexto 6"/>
          <p:cNvSpPr txBox="1">
            <a:spLocks noChangeArrowheads="1"/>
          </p:cNvSpPr>
          <p:nvPr/>
        </p:nvSpPr>
        <p:spPr bwMode="auto">
          <a:xfrm>
            <a:off x="1628897" y="1632683"/>
            <a:ext cx="6384925" cy="678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Tx/>
              <a:buAutoNum type="arabicParenR"/>
              <a:defRPr/>
            </a:pPr>
            <a:r>
              <a:rPr lang="pt-BR" sz="1400" dirty="0"/>
              <a:t>Um investidor pretende montar uma carteira composta por duas ações: A e B. Considere os seguintes dados sobre os riscos dos retornos e o coeficiente de correlação das ações: </a:t>
            </a:r>
            <a:r>
              <a:rPr lang="el-GR" sz="1400" dirty="0"/>
              <a:t>σ</a:t>
            </a:r>
            <a:r>
              <a:rPr lang="pt-BR" sz="1400" baseline="-25000" dirty="0"/>
              <a:t>A</a:t>
            </a:r>
            <a:r>
              <a:rPr lang="pt-BR" sz="1400" baseline="30000" dirty="0"/>
              <a:t>2</a:t>
            </a:r>
            <a:r>
              <a:rPr lang="pt-BR" sz="1400" dirty="0"/>
              <a:t> = 9   </a:t>
            </a:r>
            <a:r>
              <a:rPr lang="el-GR" sz="1400" dirty="0"/>
              <a:t>σ</a:t>
            </a:r>
            <a:r>
              <a:rPr lang="pt-BR" sz="1400" baseline="-25000" dirty="0"/>
              <a:t>B</a:t>
            </a:r>
            <a:r>
              <a:rPr lang="pt-BR" sz="1400" baseline="30000" dirty="0"/>
              <a:t>2</a:t>
            </a:r>
            <a:r>
              <a:rPr lang="pt-BR" sz="1400" dirty="0"/>
              <a:t> = 16   </a:t>
            </a:r>
            <a:r>
              <a:rPr lang="el-GR" sz="1400" dirty="0"/>
              <a:t>ρ</a:t>
            </a:r>
            <a:r>
              <a:rPr lang="pt-BR" sz="1400" baseline="-25000" dirty="0"/>
              <a:t>AB</a:t>
            </a:r>
            <a:r>
              <a:rPr lang="pt-BR" sz="1400" dirty="0"/>
              <a:t> = 0,5.   Determine o risco total da carteira ótima de risco mínimo. </a:t>
            </a:r>
            <a:r>
              <a:rPr lang="pt-BR" sz="1400" dirty="0" err="1"/>
              <a:t>Resp</a:t>
            </a:r>
            <a:r>
              <a:rPr lang="pt-BR" sz="1400" dirty="0"/>
              <a:t>: </a:t>
            </a:r>
          </a:p>
          <a:p>
            <a:pPr marL="342900" indent="-342900" algn="just">
              <a:lnSpc>
                <a:spcPct val="150000"/>
              </a:lnSpc>
              <a:defRPr/>
            </a:pPr>
            <a:r>
              <a:rPr lang="pt-BR" sz="1400" dirty="0"/>
              <a:t>	X</a:t>
            </a:r>
            <a:r>
              <a:rPr lang="pt-BR" sz="1400" baseline="-25000" dirty="0"/>
              <a:t>A</a:t>
            </a:r>
            <a:r>
              <a:rPr lang="pt-BR" sz="1400" dirty="0"/>
              <a:t> = 10/13 e X</a:t>
            </a:r>
            <a:r>
              <a:rPr lang="pt-BR" sz="1400" baseline="-25000" dirty="0"/>
              <a:t>B</a:t>
            </a:r>
            <a:r>
              <a:rPr lang="pt-BR" sz="1400" dirty="0"/>
              <a:t> = 3/13;  </a:t>
            </a:r>
            <a:r>
              <a:rPr lang="el-GR" sz="1400" dirty="0"/>
              <a:t>σ</a:t>
            </a:r>
            <a:r>
              <a:rPr lang="pt-BR" sz="1400" baseline="30000" dirty="0"/>
              <a:t>2</a:t>
            </a:r>
            <a:r>
              <a:rPr lang="pt-BR" sz="1400" dirty="0"/>
              <a:t> = </a:t>
            </a:r>
            <a:r>
              <a:rPr lang="pt-BR" sz="1400" baseline="30000" dirty="0"/>
              <a:t>  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arenR"/>
              <a:defRPr/>
            </a:pPr>
            <a:r>
              <a:rPr lang="pt-BR" sz="1400" dirty="0">
                <a:latin typeface="Arial"/>
                <a:cs typeface="Arial"/>
              </a:rPr>
              <a:t>Um investidor pretende montar um a carteira integrada por 40 títulos. Determine o risco total da carteira sabendo-se que: a) os títulos são economicamente e estatisticamente independentes; b) todos os títulos tem a mesma variância </a:t>
            </a:r>
            <a:r>
              <a:rPr lang="el-GR" sz="1400" dirty="0">
                <a:latin typeface="Arial"/>
                <a:cs typeface="Arial"/>
              </a:rPr>
              <a:t>σ</a:t>
            </a:r>
            <a:r>
              <a:rPr lang="pt-BR" sz="1400" baseline="-25000" dirty="0">
                <a:latin typeface="Arial"/>
                <a:cs typeface="Arial"/>
              </a:rPr>
              <a:t>i</a:t>
            </a:r>
            <a:r>
              <a:rPr lang="pt-BR" sz="1400" dirty="0">
                <a:latin typeface="Arial"/>
                <a:cs typeface="Arial"/>
              </a:rPr>
              <a:t>= 10; c) o percentual investido em cada título é o mesmo. </a:t>
            </a:r>
            <a:r>
              <a:rPr lang="pt-BR" sz="1400" err="1">
                <a:latin typeface="Arial"/>
                <a:cs typeface="Arial"/>
              </a:rPr>
              <a:t>Resp</a:t>
            </a:r>
            <a:r>
              <a:rPr lang="pt-BR" sz="1400" dirty="0">
                <a:latin typeface="Arial"/>
                <a:cs typeface="Arial"/>
              </a:rPr>
              <a:t>: </a:t>
            </a:r>
            <a:r>
              <a:rPr lang="el-GR" sz="1400" dirty="0">
                <a:latin typeface="Arial"/>
                <a:cs typeface="Arial"/>
              </a:rPr>
              <a:t>σ</a:t>
            </a:r>
            <a:r>
              <a:rPr lang="pt-BR" sz="1400" baseline="30000" dirty="0">
                <a:latin typeface="Arial"/>
                <a:cs typeface="Arial"/>
              </a:rPr>
              <a:t>2</a:t>
            </a:r>
            <a:r>
              <a:rPr lang="pt-BR" sz="1400" dirty="0">
                <a:latin typeface="Arial"/>
                <a:cs typeface="Arial"/>
              </a:rPr>
              <a:t> = 2,5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arenR"/>
              <a:defRPr/>
            </a:pPr>
            <a:r>
              <a:rPr lang="pt-BR" sz="1400" dirty="0">
                <a:latin typeface="Arial"/>
                <a:cs typeface="Arial"/>
              </a:rPr>
              <a:t>Um investidor escolhe os títulos A e B porque são perfeitamente e inversamente (negativamente) correlacionados. Sabendo-se que     </a:t>
            </a:r>
            <a:r>
              <a:rPr lang="el-GR" sz="1400" dirty="0">
                <a:latin typeface="Arial"/>
                <a:cs typeface="Arial"/>
              </a:rPr>
              <a:t>σ</a:t>
            </a:r>
            <a:r>
              <a:rPr lang="pt-BR" sz="1400" baseline="-25000" dirty="0">
                <a:latin typeface="Arial"/>
                <a:cs typeface="Arial"/>
              </a:rPr>
              <a:t>A</a:t>
            </a:r>
            <a:r>
              <a:rPr lang="pt-BR" sz="1400" baseline="30000" dirty="0">
                <a:latin typeface="Arial"/>
                <a:cs typeface="Arial"/>
              </a:rPr>
              <a:t>2</a:t>
            </a:r>
            <a:r>
              <a:rPr lang="pt-BR" sz="1400" dirty="0">
                <a:latin typeface="Arial"/>
                <a:cs typeface="Arial"/>
              </a:rPr>
              <a:t> = 16  e </a:t>
            </a:r>
            <a:r>
              <a:rPr lang="el-GR" sz="1400" dirty="0">
                <a:latin typeface="Arial"/>
                <a:cs typeface="Arial"/>
              </a:rPr>
              <a:t>σ</a:t>
            </a:r>
            <a:r>
              <a:rPr lang="pt-BR" sz="1400" baseline="-25000" dirty="0">
                <a:latin typeface="Arial"/>
                <a:cs typeface="Arial"/>
              </a:rPr>
              <a:t>B</a:t>
            </a:r>
            <a:r>
              <a:rPr lang="pt-BR" sz="1400" baseline="30000" dirty="0">
                <a:latin typeface="Arial"/>
                <a:cs typeface="Arial"/>
              </a:rPr>
              <a:t>2</a:t>
            </a:r>
            <a:r>
              <a:rPr lang="pt-BR" sz="1400" dirty="0">
                <a:latin typeface="Arial"/>
                <a:cs typeface="Arial"/>
              </a:rPr>
              <a:t> = 25. Qual a proporção que deve ser investida em cada título para a carteira não ter risco.  </a:t>
            </a:r>
          </a:p>
          <a:p>
            <a:pPr marL="342900" indent="-342900" algn="just">
              <a:lnSpc>
                <a:spcPct val="150000"/>
              </a:lnSpc>
              <a:defRPr/>
            </a:pPr>
            <a:endParaRPr lang="pt-BR" sz="1400"/>
          </a:p>
          <a:p>
            <a:pPr marL="342900" indent="-342900" algn="just">
              <a:lnSpc>
                <a:spcPct val="150000"/>
              </a:lnSpc>
              <a:buFontTx/>
              <a:buAutoNum type="arabicParenR"/>
              <a:defRPr/>
            </a:pPr>
            <a:endParaRPr lang="pt-BR" sz="1600"/>
          </a:p>
          <a:p>
            <a:pPr marL="342900" indent="-342900" algn="just">
              <a:lnSpc>
                <a:spcPct val="150000"/>
              </a:lnSpc>
              <a:buFontTx/>
              <a:buAutoNum type="arabicParenR"/>
              <a:defRPr/>
            </a:pPr>
            <a:endParaRPr lang="pt-BR" sz="1600"/>
          </a:p>
          <a:p>
            <a:pPr>
              <a:lnSpc>
                <a:spcPct val="150000"/>
              </a:lnSpc>
              <a:defRPr/>
            </a:pPr>
            <a:endParaRPr lang="pt-BR" sz="1600"/>
          </a:p>
          <a:p>
            <a:pPr>
              <a:lnSpc>
                <a:spcPct val="150000"/>
              </a:lnSpc>
              <a:defRPr/>
            </a:pPr>
            <a:endParaRPr lang="pt-BR" sz="1600"/>
          </a:p>
          <a:p>
            <a:pPr>
              <a:lnSpc>
                <a:spcPct val="150000"/>
              </a:lnSpc>
              <a:defRPr/>
            </a:pPr>
            <a:endParaRPr lang="pt-BR" sz="1600"/>
          </a:p>
        </p:txBody>
      </p:sp>
      <p:sp>
        <p:nvSpPr>
          <p:cNvPr id="37891" name="CaixaDeTexto 12"/>
          <p:cNvSpPr txBox="1">
            <a:spLocks noChangeArrowheads="1"/>
          </p:cNvSpPr>
          <p:nvPr/>
        </p:nvSpPr>
        <p:spPr bwMode="auto">
          <a:xfrm rot="-10800000" flipV="1">
            <a:off x="1547813" y="1043477"/>
            <a:ext cx="63579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pt-BR" sz="2000" b="1">
                <a:cs typeface="Arial" charset="0"/>
              </a:rPr>
              <a:t>Exercícios: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Data xmlns="f244cccc-9ebe-487b-9f49-451c84d31f5d">2024-05-27T23:09:43+00:00</Data>
    <grupo13_x002d_MarceloPassos xmlns="f244cccc-9ebe-487b-9f49-451c84d31f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A947B1-3FF9-4140-933D-E792A20147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E55FA6-4EBF-4AC4-8DB1-7DF3F56FC572}">
  <ds:schemaRefs>
    <ds:schemaRef ds:uri="6d1e6d4d-286d-4a1d-879b-bd877680a131"/>
    <ds:schemaRef ds:uri="f244cccc-9ebe-487b-9f49-451c84d31f5d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3A3DE6A-6D69-4FD0-BB2B-F8145A807A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44cccc-9ebe-487b-9f49-451c84d31f5d"/>
    <ds:schemaRef ds:uri="6d1e6d4d-286d-4a1d-879b-bd877680a1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36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3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revision>17</cp:revision>
  <dcterms:created xsi:type="dcterms:W3CDTF">2009-04-20T19:30:33Z</dcterms:created>
  <dcterms:modified xsi:type="dcterms:W3CDTF">2026-06-21T14:50:20Z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
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49" r:id="rId5"/>
  </p:sldMasterIdLst>
  <p:notesMasterIdLst>
    <p:notesMasterId r:id="rId39"/>
  </p:notesMasterIdLst>
  <p:sldIdLst>
    <p:sldId id="280" r:id="rId6"/>
    <p:sldId id="296" r:id="rId7"/>
    <p:sldId id="282" r:id="rId8"/>
    <p:sldId id="297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8" r:id="rId17"/>
    <p:sldId id="290" r:id="rId18"/>
    <p:sldId id="291" r:id="rId19"/>
    <p:sldId id="292" r:id="rId20"/>
    <p:sldId id="311" r:id="rId21"/>
    <p:sldId id="293" r:id="rId22"/>
    <p:sldId id="299" r:id="rId23"/>
    <p:sldId id="302" r:id="rId24"/>
    <p:sldId id="304" r:id="rId25"/>
    <p:sldId id="303" r:id="rId26"/>
    <p:sldId id="300" r:id="rId27"/>
    <p:sldId id="305" r:id="rId28"/>
    <p:sldId id="313" r:id="rId29"/>
    <p:sldId id="312" r:id="rId30"/>
    <p:sldId id="306" r:id="rId31"/>
    <p:sldId id="294" r:id="rId32"/>
    <p:sldId id="307" r:id="rId33"/>
    <p:sldId id="314" r:id="rId34"/>
    <p:sldId id="308" r:id="rId35"/>
    <p:sldId id="309" r:id="rId36"/>
    <p:sldId id="310" r:id="rId37"/>
    <p:sldId id="295" r:id="rId3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DAA"/>
    <a:srgbClr val="777777"/>
    <a:srgbClr val="0196D8"/>
    <a:srgbClr val="2771A0"/>
    <a:srgbClr val="792612"/>
    <a:srgbClr val="B98357"/>
    <a:srgbClr val="F7FCF5"/>
    <a:srgbClr val="F12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849E38-FF41-5F73-7F34-82F97FA235BB}" v="1" dt="2025-10-09T03:51:14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962" autoAdjust="0"/>
    <p:restoredTop sz="94660"/>
  </p:normalViewPr>
  <p:slideViewPr>
    <p:cSldViewPr>
      <p:cViewPr>
        <p:scale>
          <a:sx n="80" d="100"/>
          <a:sy n="80" d="100"/>
        </p:scale>
        <p:origin x="-594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Augusto Piza Pereira" userId="S::232007956@aluno.unb.br::7922d4c5-6440-411a-af0d-bd89a0eb14c3" providerId="AD" clId="Web-{80849E38-FF41-5F73-7F34-82F97FA235BB}"/>
    <pc:docChg chg="modSld">
      <pc:chgData name="Alexandre Augusto Piza Pereira" userId="S::232007956@aluno.unb.br::7922d4c5-6440-411a-af0d-bd89a0eb14c3" providerId="AD" clId="Web-{80849E38-FF41-5F73-7F34-82F97FA235BB}" dt="2025-10-09T03:51:14.504" v="0" actId="1076"/>
      <pc:docMkLst>
        <pc:docMk/>
      </pc:docMkLst>
      <pc:sldChg chg="modSp">
        <pc:chgData name="Alexandre Augusto Piza Pereira" userId="S::232007956@aluno.unb.br::7922d4c5-6440-411a-af0d-bd89a0eb14c3" providerId="AD" clId="Web-{80849E38-FF41-5F73-7F34-82F97FA235BB}" dt="2025-10-09T03:51:14.504" v="0" actId="1076"/>
        <pc:sldMkLst>
          <pc:docMk/>
          <pc:sldMk cId="0" sldId="285"/>
        </pc:sldMkLst>
        <pc:picChg chg="mod">
          <ac:chgData name="Alexandre Augusto Piza Pereira" userId="S::232007956@aluno.unb.br::7922d4c5-6440-411a-af0d-bd89a0eb14c3" providerId="AD" clId="Web-{80849E38-FF41-5F73-7F34-82F97FA235BB}" dt="2025-10-09T03:51:14.504" v="0" actId="1076"/>
          <ac:picMkLst>
            <pc:docMk/>
            <pc:sldMk cId="0" sldId="285"/>
            <ac:picMk id="18434" creationId="{2D8B59EF-4E91-B00E-54E3-5C41DA24A3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6C9D8D7-3E6B-BF2B-6532-8D8EDFB9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16991E8-FC3E-EFC9-F506-6DB2C094FE0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C149539-BFD8-4AA0-A7D5-EA55CE90D6EF}" type="datetimeFigureOut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47FFDF69-3AA9-9742-E955-A98B33D2F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5FE3896F-BB73-C541-2063-29596908B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5086C3-5FA1-B196-1A4F-F70F17FC0E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FABC17-E756-8DED-62BF-63C9C5693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C6E293E-015D-4615-BD12-B39E46633B1C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D90924-82FE-6398-D45A-4C624C010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BA843-66F8-4E8C-958F-C479663F02E8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EE90FC-0E50-985A-99AA-0CB4F4D97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F965DC-CAA8-C1B3-930F-559BC153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258DA-805D-4DBD-BFFA-F8C36793391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4749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DE8A79-2655-C39C-7821-5734E9131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4AF57-E115-4BDE-99C3-BD0DF4EB16B3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C372F-525B-9406-C6D9-37CB26F8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6AD7AA-C13B-A434-1B62-EC55DFB0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E61C9-86E2-49F9-82FC-20CE9FCD002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6666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C634D0-0844-89A9-A25F-7EC4E7B5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1CFCE-D212-4393-9030-D3001632597C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EEE06A-54FC-FEAA-8B27-789AE5B8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BDFF93-11FF-F4D6-9B3E-78BF6D95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80BA88-433A-4D97-A077-33696288844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3100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E6BC0DB7-A146-4205-6A26-58B50DA50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CA2D9-4DC0-4CFE-B1DC-E75E7F4760C7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22A88154-4D07-D41E-B1B5-BF2CA7ED0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C26D283C-D5C1-65FF-E81B-15F37602C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69D53E-3269-4599-86EA-F3AA5EDFE92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3007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BA76CC22-C0A8-F7C3-9D40-0D24AC1E7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D5744-174B-4555-BBB2-AA2A603086D0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FE7E9A3D-BB43-CA57-2FB7-20B37D7B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67BFDB32-B082-9198-3CBB-0B0B4439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4FC019-2C28-408A-92B9-1BE102191A5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80873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4187FBDB-913D-0983-3A5A-B79ACE22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BC637-EB0D-4F4A-B5CB-9019776C831E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4231ECBF-A882-B3A7-5E77-85F8E821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66F91FC7-55D0-DEF4-1119-DC70276D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0F154-9DD1-4E37-83DC-F8AE9DA5787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0433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11FB1143-1F18-2DFE-95F8-06356EA4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CA100-4492-4E7E-9034-B04704B2B94F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8C706B6E-B95B-DA09-5552-6C131AC1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31ECA10-09EC-F3E5-E279-1908B884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35D638-59F2-48C7-BE8D-B6B9BC8CDBF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02273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485C3168-05C0-EDE1-1F32-B82E849F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DA391-4370-4E7C-ABD4-47F2316FF441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CDF1D580-B60B-CE8B-7C3C-794B49DA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F154C59-1EA7-280B-3665-50885FD9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2585B2-FB3F-4BDD-A02A-675E52E08E3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7857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9EEDA032-E117-3BAA-5BA6-D12F93E11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8ED76F-FC39-4C3E-99EE-5CC9FF63A6E8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4BE1464-C65F-C523-D87E-5A5DE4411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258D242-53D1-A941-4C54-2D1AAB1B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34DFB-BA29-4C30-B5ED-12B6BA1430B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742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E25C08-CEB0-7100-0A14-88587DEF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79203-1BA7-40C5-B4AE-08173BC2C53E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1D9DB8-12B3-E529-B77A-317E8B6A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17E9AF-3A8E-FB3A-627C-C9058BC0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6CAE36-69C7-4F52-80DC-55AD9369358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3727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1D0C5F-AC97-B0B4-25A1-A836201A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98E66-EFD4-4BBB-880F-19ED58BC5C3F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1F190E-C12E-FE34-56D9-36C644B0F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94C02-300B-F4B6-AB2C-B89B1D1CB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FEFC0B-D9EA-4976-A3EA-607D5E01C85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83671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396109-5BB4-2AF5-0C81-F48DC526A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FAFD0-65C5-4F0E-8404-B272F81F9149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182CAA-38E1-8F4B-FC4E-5EEF422E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B26744-8C6A-D185-7A25-A6760C4B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FCDE97-3372-432C-A6FA-ADA28D43531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24742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E99C23-9E20-4117-1684-122B57317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895096-B83E-4845-9483-83EE23B20C5F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2A9903-2371-D0C4-FE06-FDA15DA0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AB29D5-CBEA-BCC0-9266-C85528EF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029CA0-A54D-4E3D-B270-7A0D71EFCB9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0675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3E8CE8-18C7-4DBE-3D71-A3606E6C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EBE715-87FC-4528-8A96-5C9F9226B4CE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2F2D64-66CE-EC7F-4D6B-4DF7EF0E6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0F38B1-08FF-2F7A-4D02-21CDE85F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F0F2F-EC5F-410F-B17A-01A90D98018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86298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07110C7-849E-C85B-7DFC-D1BBCD5AB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65A64C-CE92-4F24-A437-CF5EAE165A6E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1D75B3ED-D5C6-44F7-9FB0-AD0AE0BB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5BEBA89-0374-4623-00A9-77F18034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A2BE0C-0CBD-469D-B23A-DD091FB1049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29572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D4FC8643-2E9E-8C31-D893-A6F7ED55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90C8A-05E9-4348-989D-E0060EC4EE84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3B84CEDE-3EAF-EC8B-B0CE-18386BE50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79FD0B6A-A726-1469-424E-FD7EBE58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29CEB3-EABB-4E54-AC40-7B3E116194A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79787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E95C12BD-0B07-6C14-9007-1D31FE472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EF5D84-36B5-4B5B-B7A2-497FAE8322A9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ED0C6783-9E6D-2490-26FD-95348297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FF724981-164B-43C3-97DC-827D9542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5121F5-61F7-4C05-A6CC-81DE6868EC6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792300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EFF659FB-6B24-10E3-0989-939BB7A4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C160C-4693-44B5-B559-5E2CDCC17975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C42D3B95-560F-12DD-6E45-7972DA9D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E2E1D5B-A3CF-F4ED-DF4B-3E946045B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6FCBA-BF08-4E80-8B3E-17067071515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98371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12EA86D-811A-67E5-C18B-5880BCCB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B3A2E-26C1-4BF6-B658-09F92DBEFA09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C6DBBE02-F8AD-F91B-8255-E913F098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C88F67D6-6394-5464-A85C-BA9FEE9C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BC42E7-2F15-49E4-94EB-B1697D08B82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29290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0A103C6A-F496-50EF-3119-9D0D8459D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1FE12-7382-4E22-864C-CB3D92560BAC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C796215-82A9-C7AD-2F98-F137190E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C6D9C6A-598F-6272-429C-73DAFCF4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B1034-0A17-4AB9-8560-DCAE997F38E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712188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BFF43D-4E23-20E8-6C7A-F6CF0E2F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597AE-ED33-47D4-B324-ECEAA6DBE6BD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CA3614-6295-601A-3BA5-0E0FBAE52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8B8510-7A40-91E9-B2FC-5A265CE0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5F88A-66CC-4F17-8D46-7F3055CFE3D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23859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AD69D5-1CF2-67FF-9FD1-E893E568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84CB6-4B20-44B3-9D3A-B54E0CF68769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297827-B21E-DBB8-9F25-04F3C0C41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6EF7E7-6530-DB65-E23A-9D793E9F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75DB8A-C2FF-4D5E-BDED-C3FECEFED60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9026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678E12C5-6D3D-E33E-F631-40FEF0A9E44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EA19B7B8-4C1A-C133-A3A0-25B626D59E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A5E7A9-82BE-987A-E6A7-99DD38A43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FDFFB37-1D8D-4326-A5B6-0E6851FA6395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14F67F-B19A-C448-4241-873F909E2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D57E66-52E1-725F-DC16-B130CFD68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E8759C22-D9F8-4150-B0F9-86C9945EA8A2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D89463DD-9FA0-95AA-A1B5-581EDB658D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2342E659-95E9-BEFF-C85F-0593473BD3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B0D671-6A72-FFD9-46C5-85B08A0DF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FAD2789-09CE-409C-B10F-D817FD625046}" type="datetime1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A2B43E-058D-694C-75D6-0B5664DA9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51FBE1-295C-3995-030F-415FE550A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8CCFA3BF-B0AC-4112-9691-C1C61C8DBD3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aixaDeTexto 9">
            <a:extLst>
              <a:ext uri="{FF2B5EF4-FFF2-40B4-BE49-F238E27FC236}">
                <a16:creationId xmlns:a16="http://schemas.microsoft.com/office/drawing/2014/main" id="{E480D753-E370-560E-F445-236491184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370138"/>
            <a:ext cx="2662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4000" b="1">
                <a:solidFill>
                  <a:schemeClr val="bg1"/>
                </a:solidFill>
              </a:rPr>
              <a:t>Capítulo 7</a:t>
            </a:r>
          </a:p>
        </p:txBody>
      </p:sp>
      <p:sp>
        <p:nvSpPr>
          <p:cNvPr id="3075" name="CaixaDeTexto 4">
            <a:extLst>
              <a:ext uri="{FF2B5EF4-FFF2-40B4-BE49-F238E27FC236}">
                <a16:creationId xmlns:a16="http://schemas.microsoft.com/office/drawing/2014/main" id="{DE69EFE0-A5FD-EDC4-48DC-601F1B232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3078163"/>
            <a:ext cx="37449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/>
              <a:t>Análise e comportamento dos projetos de investimentos de capital frente à aleatoriedade e à incerteza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F27FA10-7217-CD1B-F3CB-82B31F5E5BD0}"/>
              </a:ext>
            </a:extLst>
          </p:cNvPr>
          <p:cNvCxnSpPr/>
          <p:nvPr/>
        </p:nvCxnSpPr>
        <p:spPr>
          <a:xfrm>
            <a:off x="1071563" y="3071813"/>
            <a:ext cx="3786187" cy="1587"/>
          </a:xfrm>
          <a:prstGeom prst="line">
            <a:avLst/>
          </a:prstGeom>
          <a:ln w="15875" cmpd="sng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7" name="CaixaDeTexto 5">
            <a:extLst>
              <a:ext uri="{FF2B5EF4-FFF2-40B4-BE49-F238E27FC236}">
                <a16:creationId xmlns:a16="http://schemas.microsoft.com/office/drawing/2014/main" id="{B1367222-38C1-BE09-4122-A5A561B74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2357438"/>
            <a:ext cx="28051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4000" b="1">
                <a:solidFill>
                  <a:srgbClr val="2C5DAA"/>
                </a:solidFill>
              </a:rPr>
              <a:t>Capítulo 7 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aixaDeTexto 3">
            <a:extLst>
              <a:ext uri="{FF2B5EF4-FFF2-40B4-BE49-F238E27FC236}">
                <a16:creationId xmlns:a16="http://schemas.microsoft.com/office/drawing/2014/main" id="{49C7D67E-B44E-0CB4-468A-EC9C96668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4099" name="CaixaDeTexto 6">
            <a:extLst>
              <a:ext uri="{FF2B5EF4-FFF2-40B4-BE49-F238E27FC236}">
                <a16:creationId xmlns:a16="http://schemas.microsoft.com/office/drawing/2014/main" id="{C3A6E1ED-AD77-518F-DC87-37D99462F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681288"/>
            <a:ext cx="6357937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Para conseguir uma análise econômica de investimentos de capital robusta, deve-se examinar o impacto das diversas fontes de risco sobre o VPL do projeto. Isso pode ser feito por meio de algumas técnicas, entre as quais citamos: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análise de sensibilidade;                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análise de cenários;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simulação de Monte Carlo;            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árvores de decisão.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2B89B95-7887-995B-6387-CAEBC7B1029E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4101" name="CaixaDeTexto 10">
            <a:extLst>
              <a:ext uri="{FF2B5EF4-FFF2-40B4-BE49-F238E27FC236}">
                <a16:creationId xmlns:a16="http://schemas.microsoft.com/office/drawing/2014/main" id="{844A97F9-FC2A-61E0-99C5-0BC4D6FCB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6396C9B9-FB59-1C8C-123B-8FAD060E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7C04BFA4-613B-4B6B-8347-5E5BB14703BB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aixaDeTexto 3">
            <a:extLst>
              <a:ext uri="{FF2B5EF4-FFF2-40B4-BE49-F238E27FC236}">
                <a16:creationId xmlns:a16="http://schemas.microsoft.com/office/drawing/2014/main" id="{9D38857C-A34D-6DB4-F1F0-2547E829E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5123" name="CaixaDeTexto 6">
            <a:extLst>
              <a:ext uri="{FF2B5EF4-FFF2-40B4-BE49-F238E27FC236}">
                <a16:creationId xmlns:a16="http://schemas.microsoft.com/office/drawing/2014/main" id="{089A4A57-951B-ED95-8AF7-F4C7487D5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681288"/>
            <a:ext cx="6357937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 A análise de sensibilidade pode ser: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unidimensional: se os efeitos de cada variável forem medidos separadamente;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multidimensional: se forem analisados ao mesmo tempo.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94F23D7-8B7C-9527-181D-9BAE4DD08F5B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5125" name="CaixaDeTexto 10">
            <a:extLst>
              <a:ext uri="{FF2B5EF4-FFF2-40B4-BE49-F238E27FC236}">
                <a16:creationId xmlns:a16="http://schemas.microsoft.com/office/drawing/2014/main" id="{952478A2-A384-46BE-EBA2-6A6F5461D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5126" name="CaixaDeTexto 12">
            <a:extLst>
              <a:ext uri="{FF2B5EF4-FFF2-40B4-BE49-F238E27FC236}">
                <a16:creationId xmlns:a16="http://schemas.microsoft.com/office/drawing/2014/main" id="{AD8B8243-7992-4D97-A92E-A28E19F84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241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7.1 Análise de sensibilidade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CEBCE334-E073-E2B6-3EF3-E437C870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ED2B8B99-4292-498B-BA19-6EFB1D262AFE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aixaDeTexto 3">
            <a:extLst>
              <a:ext uri="{FF2B5EF4-FFF2-40B4-BE49-F238E27FC236}">
                <a16:creationId xmlns:a16="http://schemas.microsoft.com/office/drawing/2014/main" id="{6E08BC79-A7E8-01C2-D4E8-373AC71F4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6147" name="CaixaDeTexto 6">
            <a:extLst>
              <a:ext uri="{FF2B5EF4-FFF2-40B4-BE49-F238E27FC236}">
                <a16:creationId xmlns:a16="http://schemas.microsoft.com/office/drawing/2014/main" id="{8437152E-BB6F-A6B7-CA0B-4A92231B8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681288"/>
            <a:ext cx="6357937" cy="189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Os parâmetros com grande impacto no projeto devem receber atenção especial por parte do gestor. Merecem estudos mais aprofundados ou investimentos preliminares em informação, a fim de que se reduza a incerteza antes da aprovação do projeto. Os parâmetros com menor impacto não clamam por tanta atenção.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E02493-C932-0192-EF01-546BCBB4C31B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6149" name="CaixaDeTexto 10">
            <a:extLst>
              <a:ext uri="{FF2B5EF4-FFF2-40B4-BE49-F238E27FC236}">
                <a16:creationId xmlns:a16="http://schemas.microsoft.com/office/drawing/2014/main" id="{29F2E19C-1DED-E53C-DA3E-0935E2F07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0D957D42-26A0-A8CC-C3D0-5EF4BC6BF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897AC132-AE7A-4D44-80B0-822F761C6F1D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6151" name="CaixaDeTexto 12">
            <a:extLst>
              <a:ext uri="{FF2B5EF4-FFF2-40B4-BE49-F238E27FC236}">
                <a16:creationId xmlns:a16="http://schemas.microsoft.com/office/drawing/2014/main" id="{8D74FE35-3D40-9636-AA03-F8F119C9F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241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7.1 Análise de sensibilidade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3">
            <a:extLst>
              <a:ext uri="{FF2B5EF4-FFF2-40B4-BE49-F238E27FC236}">
                <a16:creationId xmlns:a16="http://schemas.microsoft.com/office/drawing/2014/main" id="{80D78BD8-D568-2F5C-AFC7-724E88E21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7171" name="CaixaDeTexto 6">
            <a:extLst>
              <a:ext uri="{FF2B5EF4-FFF2-40B4-BE49-F238E27FC236}">
                <a16:creationId xmlns:a16="http://schemas.microsoft.com/office/drawing/2014/main" id="{E41A0D75-3AD2-7E71-DCA2-E277C91BC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Variante da análise de sensibilidade: em  vez da variação de apenas um parâmetro de cada vez, tem-se a variação de um conjunto de parâmetros que formam cada cenário.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Em cada cenário, são atribuídos determinados valores aos parâmetros, de modo que haja consistência entre estes e o cenário respectivo.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Pode-se identificar as variáveis-chave.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40405F-5294-F7B5-70BC-F061E8B55861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7173" name="CaixaDeTexto 10">
            <a:extLst>
              <a:ext uri="{FF2B5EF4-FFF2-40B4-BE49-F238E27FC236}">
                <a16:creationId xmlns:a16="http://schemas.microsoft.com/office/drawing/2014/main" id="{65A3D19C-1855-54E9-478F-A7DC65778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7174" name="CaixaDeTexto 12">
            <a:extLst>
              <a:ext uri="{FF2B5EF4-FFF2-40B4-BE49-F238E27FC236}">
                <a16:creationId xmlns:a16="http://schemas.microsoft.com/office/drawing/2014/main" id="{7B66507D-20F2-A97B-7C1C-244876E10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727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7.2 Análise de cenários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C62B868A-8EFA-8485-CB4F-3406AD8B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5174E9DB-9683-4577-966A-14A2D938ECCD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1FDD4AD2-65AA-7CBC-AC01-63028C51A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8195" name="CaixaDeTexto 6">
            <a:extLst>
              <a:ext uri="{FF2B5EF4-FFF2-40B4-BE49-F238E27FC236}">
                <a16:creationId xmlns:a16="http://schemas.microsoft.com/office/drawing/2014/main" id="{FCF8D999-DE5E-B2D5-B5E5-07027D4DE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2865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Efetue uma análise de sensibilidade para um projeto hipotético que requer um investimento de $ 150, depreciável em 10 anos.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E795BA6-046C-FAB4-73A5-36329EEC8C25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8197" name="CaixaDeTexto 10">
            <a:extLst>
              <a:ext uri="{FF2B5EF4-FFF2-40B4-BE49-F238E27FC236}">
                <a16:creationId xmlns:a16="http://schemas.microsoft.com/office/drawing/2014/main" id="{61A739D7-152F-F6EE-84B8-04D82F8BD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8198" name="CaixaDeTexto 12">
            <a:extLst>
              <a:ext uri="{FF2B5EF4-FFF2-40B4-BE49-F238E27FC236}">
                <a16:creationId xmlns:a16="http://schemas.microsoft.com/office/drawing/2014/main" id="{B42710A4-605D-2A64-B7E9-78E255DE1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1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D1F58481-13DA-20BD-66D5-2C7937D5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213E4CA5-D243-41F1-B74D-F3355E9B5F49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aixaDeTexto 3">
            <a:extLst>
              <a:ext uri="{FF2B5EF4-FFF2-40B4-BE49-F238E27FC236}">
                <a16:creationId xmlns:a16="http://schemas.microsoft.com/office/drawing/2014/main" id="{1D147596-A0C0-C3EE-A104-6C7BBCE87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474AA1-A33C-E4B2-90A8-3438E969DBDC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9220" name="CaixaDeTexto 10">
            <a:extLst>
              <a:ext uri="{FF2B5EF4-FFF2-40B4-BE49-F238E27FC236}">
                <a16:creationId xmlns:a16="http://schemas.microsoft.com/office/drawing/2014/main" id="{DA3CA527-CD02-9BA8-B656-FD8578866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9221" name="CaixaDeTexto 12">
            <a:extLst>
              <a:ext uri="{FF2B5EF4-FFF2-40B4-BE49-F238E27FC236}">
                <a16:creationId xmlns:a16="http://schemas.microsoft.com/office/drawing/2014/main" id="{EEA046EF-4EDA-C7E8-9C1B-71DD8F80C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432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1: informações sobre os três cenários possíveis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F8795157-5057-6561-012C-2EC2C723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2AA80334-A12B-46BF-96F5-D142E673EF01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2D8B59EF-4E91-B00E-54E3-5C41DA24A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1094" t="38437" r="17968" b="18437"/>
          <a:stretch>
            <a:fillRect/>
          </a:stretch>
        </p:blipFill>
        <p:spPr bwMode="auto">
          <a:xfrm>
            <a:off x="1500188" y="2738168"/>
            <a:ext cx="6500812" cy="2874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aixaDeTexto 3">
            <a:extLst>
              <a:ext uri="{FF2B5EF4-FFF2-40B4-BE49-F238E27FC236}">
                <a16:creationId xmlns:a16="http://schemas.microsoft.com/office/drawing/2014/main" id="{391410C4-3499-497E-D68D-F8D988287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5B78192-1F8C-519E-59A7-3C84B1EFB9BF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10244" name="CaixaDeTexto 10">
            <a:extLst>
              <a:ext uri="{FF2B5EF4-FFF2-40B4-BE49-F238E27FC236}">
                <a16:creationId xmlns:a16="http://schemas.microsoft.com/office/drawing/2014/main" id="{C8736AAD-ABE9-B807-C95E-1300D1D0C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0245" name="CaixaDeTexto 12">
            <a:extLst>
              <a:ext uri="{FF2B5EF4-FFF2-40B4-BE49-F238E27FC236}">
                <a16:creationId xmlns:a16="http://schemas.microsoft.com/office/drawing/2014/main" id="{5E2D8B24-D407-0D71-129E-B4976CCBD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772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1: fluxo de caixa esperado e VPL para cada cenário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89B48C29-88DD-2CBD-0D24-05B52ED6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06B38F86-C399-477E-9644-7D09194AAC92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702600C9-0D8E-6EE9-C88B-0574A9E93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9922" t="19687" r="20312" b="7187"/>
          <a:stretch>
            <a:fillRect/>
          </a:stretch>
        </p:blipFill>
        <p:spPr bwMode="auto">
          <a:xfrm>
            <a:off x="2082800" y="2500313"/>
            <a:ext cx="4578350" cy="3500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aixaDeTexto 3">
            <a:extLst>
              <a:ext uri="{FF2B5EF4-FFF2-40B4-BE49-F238E27FC236}">
                <a16:creationId xmlns:a16="http://schemas.microsoft.com/office/drawing/2014/main" id="{33B5365A-7D82-1015-579C-E4E8F552B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1267" name="CaixaDeTexto 6">
            <a:extLst>
              <a:ext uri="{FF2B5EF4-FFF2-40B4-BE49-F238E27FC236}">
                <a16:creationId xmlns:a16="http://schemas.microsoft.com/office/drawing/2014/main" id="{08BAD767-4827-DC84-2A64-332C4B25D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3579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O cálculo do VPL considerou uma taxa de desconto ou custo de capital de 10% ao ano. No caso do cenário esperado: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0652FEB-B9D1-1F8B-8257-3778E0AE7D2F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11269" name="CaixaDeTexto 10">
            <a:extLst>
              <a:ext uri="{FF2B5EF4-FFF2-40B4-BE49-F238E27FC236}">
                <a16:creationId xmlns:a16="http://schemas.microsoft.com/office/drawing/2014/main" id="{3FB058B1-3B12-E228-4C7A-A5AF31286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1270" name="CaixaDeTexto 12">
            <a:extLst>
              <a:ext uri="{FF2B5EF4-FFF2-40B4-BE49-F238E27FC236}">
                <a16:creationId xmlns:a16="http://schemas.microsoft.com/office/drawing/2014/main" id="{310E3293-8ABE-9121-97BE-2B981BF04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1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A13E0567-ED95-18AB-981A-2CBBA957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F7B4ED32-FE89-431F-A681-251031E2A1F4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04465A80-52C1-025D-BAC7-A1A06A345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34570" t="34688" r="31445" b="54062"/>
          <a:stretch>
            <a:fillRect/>
          </a:stretch>
        </p:blipFill>
        <p:spPr bwMode="auto">
          <a:xfrm>
            <a:off x="2643188" y="3786188"/>
            <a:ext cx="4143375" cy="857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aixaDeTexto 3">
            <a:extLst>
              <a:ext uri="{FF2B5EF4-FFF2-40B4-BE49-F238E27FC236}">
                <a16:creationId xmlns:a16="http://schemas.microsoft.com/office/drawing/2014/main" id="{20F274DE-610C-D82E-0790-AA9034392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27339DE-D0E4-DD0B-5CB3-DF36FD03DA6F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12292" name="CaixaDeTexto 10">
            <a:extLst>
              <a:ext uri="{FF2B5EF4-FFF2-40B4-BE49-F238E27FC236}">
                <a16:creationId xmlns:a16="http://schemas.microsoft.com/office/drawing/2014/main" id="{751234A9-E8C5-1154-8FD4-CC44AAFD4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2293" name="CaixaDeTexto 12">
            <a:extLst>
              <a:ext uri="{FF2B5EF4-FFF2-40B4-BE49-F238E27FC236}">
                <a16:creationId xmlns:a16="http://schemas.microsoft.com/office/drawing/2014/main" id="{099017E2-92EE-D070-0C4F-10CCEFC22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1: VPL do cenário pessimista com a mudança de uma variável de cada vez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A4C34588-9DFE-507F-8DC1-953CD9E9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D6C1DFA1-5FD0-4998-910D-69EDAC7756CF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A74F055F-7FCA-55FB-1E7F-153E4BF57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3437" t="46875" r="19140" b="15625"/>
          <a:stretch>
            <a:fillRect/>
          </a:stretch>
        </p:blipFill>
        <p:spPr bwMode="auto">
          <a:xfrm>
            <a:off x="1835150" y="2924175"/>
            <a:ext cx="6072188" cy="2478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aixaDeTexto 3">
            <a:extLst>
              <a:ext uri="{FF2B5EF4-FFF2-40B4-BE49-F238E27FC236}">
                <a16:creationId xmlns:a16="http://schemas.microsoft.com/office/drawing/2014/main" id="{79125664-42EF-BB5C-97AA-47A0E3AE9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3315" name="CaixaDeTexto 6">
            <a:extLst>
              <a:ext uri="{FF2B5EF4-FFF2-40B4-BE49-F238E27FC236}">
                <a16:creationId xmlns:a16="http://schemas.microsoft.com/office/drawing/2014/main" id="{9B3E84DB-9FAB-4ED7-85D5-F91459FBE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Esse método nos permite ‘simular’ caminhos para a evolução do fenômeno até encontrarmos uma aproximação satisfatória que o explique.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14E9804-511B-7936-DFC4-7DC1B1791D0C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13317" name="CaixaDeTexto 10">
            <a:extLst>
              <a:ext uri="{FF2B5EF4-FFF2-40B4-BE49-F238E27FC236}">
                <a16:creationId xmlns:a16="http://schemas.microsoft.com/office/drawing/2014/main" id="{81F173CB-1A56-B986-7DEA-BA6C249FA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3318" name="CaixaDeTexto 12">
            <a:extLst>
              <a:ext uri="{FF2B5EF4-FFF2-40B4-BE49-F238E27FC236}">
                <a16:creationId xmlns:a16="http://schemas.microsoft.com/office/drawing/2014/main" id="{A7669968-F98B-677C-A41E-83D33625D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45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7.3 Simulação de Monte Carlo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5CC979E5-B761-C3DF-2A3F-4E1C641E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9902243B-EF9D-40CF-A569-0B4EB12BFA39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aixaDeTexto 3">
            <a:extLst>
              <a:ext uri="{FF2B5EF4-FFF2-40B4-BE49-F238E27FC236}">
                <a16:creationId xmlns:a16="http://schemas.microsoft.com/office/drawing/2014/main" id="{D878A948-FBCF-0264-C925-3BCF45476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4339" name="CaixaDeTexto 6">
            <a:extLst>
              <a:ext uri="{FF2B5EF4-FFF2-40B4-BE49-F238E27FC236}">
                <a16:creationId xmlns:a16="http://schemas.microsoft.com/office/drawing/2014/main" id="{4EF9DC0E-70BE-1ECF-A785-0314316E6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A SMC pode ser definida como um método de ensaios estatísticos, em que os valores são estabelecidos por meio de uma seleção aleatória, na qual a probabilidade de escolher determinado resultado entre todos os possíveis é obtida a partir de uma amostragem aleatória de identificação de eventos. 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Na simulação, os fatores não conhecidos com certeza são chamados variáveis aleatórias, cujo comportamento é descrito por uma distribuição de probabilidades.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0C3650-D543-D371-8DC1-F90BEA361C6B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14341" name="CaixaDeTexto 10">
            <a:extLst>
              <a:ext uri="{FF2B5EF4-FFF2-40B4-BE49-F238E27FC236}">
                <a16:creationId xmlns:a16="http://schemas.microsoft.com/office/drawing/2014/main" id="{DBDB3C7D-A06A-C8C3-0705-DA45AE5A4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8B527553-3F01-7500-A377-0C781C41C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D31F2EB0-526F-477F-97C5-E994D28B97F7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4343" name="CaixaDeTexto 12">
            <a:extLst>
              <a:ext uri="{FF2B5EF4-FFF2-40B4-BE49-F238E27FC236}">
                <a16:creationId xmlns:a16="http://schemas.microsoft.com/office/drawing/2014/main" id="{07EF3735-B48E-EB48-D129-00FE2E409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45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7.3 Simulação de Monte Carlo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aixaDeTexto 3">
            <a:extLst>
              <a:ext uri="{FF2B5EF4-FFF2-40B4-BE49-F238E27FC236}">
                <a16:creationId xmlns:a16="http://schemas.microsoft.com/office/drawing/2014/main" id="{89C73DCE-34BA-8AED-20C5-7DF6B22D9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5363" name="CaixaDeTexto 6">
            <a:extLst>
              <a:ext uri="{FF2B5EF4-FFF2-40B4-BE49-F238E27FC236}">
                <a16:creationId xmlns:a16="http://schemas.microsoft.com/office/drawing/2014/main" id="{1AB16AED-557F-40F9-1227-1D2CF2122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833688"/>
            <a:ext cx="61436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estabelecer todas as variáveis e equações necessárias para modelar os fluxos de caixa;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especificar as probabilidades de erro de previsão para cada parâmetro, assim como a magnitude de cada erro de previsão;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fazer combinações aleatórias entre valores das distribuições de erros de previsão das variáveis;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repetir as combinações muitas vezes até obter uma idéia mais precisa da distribuição dos resultados possíveis — por exemplo, do VPL ou da TIR da alternativa de investimento.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1F292D9-67F3-8A56-B986-7BD3B52F4F99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15365" name="CaixaDeTexto 10">
            <a:extLst>
              <a:ext uri="{FF2B5EF4-FFF2-40B4-BE49-F238E27FC236}">
                <a16:creationId xmlns:a16="http://schemas.microsoft.com/office/drawing/2014/main" id="{CEC4DD87-65D5-708D-AF8C-44E2170C2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5366" name="CaixaDeTexto 12">
            <a:extLst>
              <a:ext uri="{FF2B5EF4-FFF2-40B4-BE49-F238E27FC236}">
                <a16:creationId xmlns:a16="http://schemas.microsoft.com/office/drawing/2014/main" id="{D4533730-FBE8-4017-C1FF-9F8616D88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447925"/>
            <a:ext cx="7215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Principais passos na simulação de uma alternativa de investimento: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62EBA1AA-419E-55E6-2904-02D4B5E0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246F5485-4313-480A-B2BF-12BD2F00023B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5368" name="CaixaDeTexto 12">
            <a:extLst>
              <a:ext uri="{FF2B5EF4-FFF2-40B4-BE49-F238E27FC236}">
                <a16:creationId xmlns:a16="http://schemas.microsoft.com/office/drawing/2014/main" id="{2C61250E-67D9-81FB-7DB5-AD82E527E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45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7.3 Simulação de Monte Carlo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aixaDeTexto 3">
            <a:extLst>
              <a:ext uri="{FF2B5EF4-FFF2-40B4-BE49-F238E27FC236}">
                <a16:creationId xmlns:a16="http://schemas.microsoft.com/office/drawing/2014/main" id="{361ECEF6-F81B-8606-742E-908B4B446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6387" name="CaixaDeTexto 6">
            <a:extLst>
              <a:ext uri="{FF2B5EF4-FFF2-40B4-BE49-F238E27FC236}">
                <a16:creationId xmlns:a16="http://schemas.microsoft.com/office/drawing/2014/main" id="{52EF6B41-9ED2-6A50-2656-C829897CE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2865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Uma empresa pretende montar uma nova linha de produção dedicada à fabricação de sorvetes. A empresa conhece seus custos unitários e totais, porém não tem informação sobre os preços de venda adequados nem sobre a demanda para o produto.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44415A-5138-665F-272F-0BC327CFE2E2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16389" name="CaixaDeTexto 10">
            <a:extLst>
              <a:ext uri="{FF2B5EF4-FFF2-40B4-BE49-F238E27FC236}">
                <a16:creationId xmlns:a16="http://schemas.microsoft.com/office/drawing/2014/main" id="{F804BE62-B5B6-11C0-135A-B98423A83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6390" name="CaixaDeTexto 12">
            <a:extLst>
              <a:ext uri="{FF2B5EF4-FFF2-40B4-BE49-F238E27FC236}">
                <a16:creationId xmlns:a16="http://schemas.microsoft.com/office/drawing/2014/main" id="{E3989C24-D440-2D9E-819B-17C03740A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2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DEE6EEC1-0831-8C1A-D5EA-6B69A372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51FAD24D-4F35-4423-AA78-24F07C2288CA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aixaDeTexto 3">
            <a:extLst>
              <a:ext uri="{FF2B5EF4-FFF2-40B4-BE49-F238E27FC236}">
                <a16:creationId xmlns:a16="http://schemas.microsoft.com/office/drawing/2014/main" id="{F916BACC-D6F6-52FF-AAEB-8C32AE92E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CFEF78-4C9B-75D8-E792-C1278A68FEB0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17412" name="CaixaDeTexto 10">
            <a:extLst>
              <a:ext uri="{FF2B5EF4-FFF2-40B4-BE49-F238E27FC236}">
                <a16:creationId xmlns:a16="http://schemas.microsoft.com/office/drawing/2014/main" id="{30448AE0-99C9-D0DF-F5B3-D216A532A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7413" name="CaixaDeTexto 12">
            <a:extLst>
              <a:ext uri="{FF2B5EF4-FFF2-40B4-BE49-F238E27FC236}">
                <a16:creationId xmlns:a16="http://schemas.microsoft.com/office/drawing/2014/main" id="{A1606491-F0A8-4148-7FC5-3BA37E7D6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786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2: preços de venda, demanda e probabilidades relativos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E96AD730-D8E6-7425-EE6F-21A584596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0BD28A91-B652-4BDA-9F63-E0C2D4759654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9968AADB-17CC-CDA7-FB06-368471C5F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2266" t="54375" r="17968" b="20312"/>
          <a:stretch>
            <a:fillRect/>
          </a:stretch>
        </p:blipFill>
        <p:spPr bwMode="auto">
          <a:xfrm>
            <a:off x="1785938" y="3071813"/>
            <a:ext cx="6143625" cy="162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aixaDeTexto 3">
            <a:extLst>
              <a:ext uri="{FF2B5EF4-FFF2-40B4-BE49-F238E27FC236}">
                <a16:creationId xmlns:a16="http://schemas.microsoft.com/office/drawing/2014/main" id="{E78DE949-8BA4-8EC7-6E10-B9DD2072C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ADCD0F6-BA2B-2F57-FD1D-4E14218DA09F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18436" name="CaixaDeTexto 10">
            <a:extLst>
              <a:ext uri="{FF2B5EF4-FFF2-40B4-BE49-F238E27FC236}">
                <a16:creationId xmlns:a16="http://schemas.microsoft.com/office/drawing/2014/main" id="{3CBB09D7-D4D6-26B8-9476-63FDB371B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8437" name="CaixaDeTexto 12">
            <a:extLst>
              <a:ext uri="{FF2B5EF4-FFF2-40B4-BE49-F238E27FC236}">
                <a16:creationId xmlns:a16="http://schemas.microsoft.com/office/drawing/2014/main" id="{7B5A15EA-C1F6-34BF-F359-303F0C3CB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Passo 1: montar as distribuições cumulativas das variáveis atribuindo-lhes faixas de números representativos entre 0 e 99</a:t>
            </a:r>
          </a:p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424689E8-7C54-983D-A54C-4C3088CA1B12}"/>
              </a:ext>
            </a:extLst>
          </p:cNvPr>
          <p:cNvSpPr txBox="1">
            <a:spLocks noGrp="1"/>
          </p:cNvSpPr>
          <p:nvPr/>
        </p:nvSpPr>
        <p:spPr bwMode="auto">
          <a:xfrm>
            <a:off x="6867525" y="6564313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 sz="1200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250D8D3F-F497-425C-A277-79D9E56AE680}" type="slidenum">
              <a:rPr lang="pt-BR" altLang="pt-BR" sz="1200">
                <a:solidFill>
                  <a:srgbClr val="2C5DAA"/>
                </a:solidFill>
                <a:latin typeface="Calibri" panose="020F0502020204030204" pitchFamily="34" charset="0"/>
              </a:rPr>
              <a:pPr algn="r" eaLnBrk="1" hangingPunct="1"/>
              <a:t>16</a:t>
            </a:fld>
            <a:endParaRPr lang="pt-BR" altLang="pt-BR" sz="1200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7161" name="Group 57">
            <a:extLst>
              <a:ext uri="{FF2B5EF4-FFF2-40B4-BE49-F238E27FC236}">
                <a16:creationId xmlns:a16="http://schemas.microsoft.com/office/drawing/2014/main" id="{9D75FA97-26F3-758E-E0B8-9B0301EBAE69}"/>
              </a:ext>
            </a:extLst>
          </p:cNvPr>
          <p:cNvGraphicFramePr>
            <a:graphicFrameLocks noGrp="1"/>
          </p:cNvGraphicFramePr>
          <p:nvPr/>
        </p:nvGraphicFramePr>
        <p:xfrm>
          <a:off x="1403350" y="3141663"/>
          <a:ext cx="6096000" cy="27368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Preço de Venda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Probabilidade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Prob. Acum.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Faixa repres.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1,60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0,20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0,20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 – 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2,00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0,25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0,45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20 – 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2,40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0,30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0,75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45 – 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2,80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0,15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0,90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75 – 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3,20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0,10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1,00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90 – 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aixaDeTexto 3">
            <a:extLst>
              <a:ext uri="{FF2B5EF4-FFF2-40B4-BE49-F238E27FC236}">
                <a16:creationId xmlns:a16="http://schemas.microsoft.com/office/drawing/2014/main" id="{EE079873-598B-8496-74F4-1E0E7FA1D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FA9E5A-6712-F937-A186-12CCC55A1065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19460" name="CaixaDeTexto 10">
            <a:extLst>
              <a:ext uri="{FF2B5EF4-FFF2-40B4-BE49-F238E27FC236}">
                <a16:creationId xmlns:a16="http://schemas.microsoft.com/office/drawing/2014/main" id="{1FFC58E0-980C-275A-DE2A-AC26F7A38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9461" name="CaixaDeTexto 12">
            <a:extLst>
              <a:ext uri="{FF2B5EF4-FFF2-40B4-BE49-F238E27FC236}">
                <a16:creationId xmlns:a16="http://schemas.microsoft.com/office/drawing/2014/main" id="{C74336C9-09C3-6946-3783-F783072DA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Passo 1: montar as distribuições cumulativas das variáveis atribuindo-lhes faixas de números representativos entre 0 e 99</a:t>
            </a:r>
          </a:p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034C8759-07B2-0418-8B2C-A192B3391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802CBFA2-9060-4DBB-96EB-3925F01782B1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235CCAF5-68BA-53EC-EFA6-C9708344D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1094" t="52500" r="22070" b="22188"/>
          <a:stretch>
            <a:fillRect/>
          </a:stretch>
        </p:blipFill>
        <p:spPr bwMode="auto">
          <a:xfrm>
            <a:off x="1763713" y="3284538"/>
            <a:ext cx="6215062" cy="1730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aixaDeTexto 3">
            <a:extLst>
              <a:ext uri="{FF2B5EF4-FFF2-40B4-BE49-F238E27FC236}">
                <a16:creationId xmlns:a16="http://schemas.microsoft.com/office/drawing/2014/main" id="{EAAC67DB-B4A6-F026-78F1-BB1314BE2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5779FCD-C31A-8994-5981-44157A091D94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20484" name="CaixaDeTexto 10">
            <a:extLst>
              <a:ext uri="{FF2B5EF4-FFF2-40B4-BE49-F238E27FC236}">
                <a16:creationId xmlns:a16="http://schemas.microsoft.com/office/drawing/2014/main" id="{81903ECF-7CF6-65CD-B784-2AF198B39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D173CF50-4DB5-4D21-2D27-3EBCEDE85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E77E0995-2397-40CA-8F44-53468AF77BD2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0486" name="CaixaDeTexto 6">
            <a:extLst>
              <a:ext uri="{FF2B5EF4-FFF2-40B4-BE49-F238E27FC236}">
                <a16:creationId xmlns:a16="http://schemas.microsoft.com/office/drawing/2014/main" id="{6E0504EA-FDC7-7A4F-2EF6-C2DB835AF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4333875"/>
            <a:ext cx="62865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Por exemplo, a demanda de 100.000 unidades/ano tem uma distribuição cumulativa entre 0,00 e 0,35, portanto seus números representativos devem estar situados dentro da faixa representativa, compreendida entre 0 e 34. </a:t>
            </a: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94AA31BA-F11D-AA5B-0121-7B37F25C4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0508" t="58125" r="21484" b="14687"/>
          <a:stretch>
            <a:fillRect/>
          </a:stretch>
        </p:blipFill>
        <p:spPr bwMode="auto">
          <a:xfrm>
            <a:off x="1785938" y="2428875"/>
            <a:ext cx="6215062" cy="18208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3">
            <a:extLst>
              <a:ext uri="{FF2B5EF4-FFF2-40B4-BE49-F238E27FC236}">
                <a16:creationId xmlns:a16="http://schemas.microsoft.com/office/drawing/2014/main" id="{428D3B76-3403-FBF8-AA69-B8286C813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7FA908-F426-CD96-650C-17BFCD36BD6F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21508" name="CaixaDeTexto 10">
            <a:extLst>
              <a:ext uri="{FF2B5EF4-FFF2-40B4-BE49-F238E27FC236}">
                <a16:creationId xmlns:a16="http://schemas.microsoft.com/office/drawing/2014/main" id="{531D68CD-4BC2-B739-156E-55DF63300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21509" name="CaixaDeTexto 12">
            <a:extLst>
              <a:ext uri="{FF2B5EF4-FFF2-40B4-BE49-F238E27FC236}">
                <a16:creationId xmlns:a16="http://schemas.microsoft.com/office/drawing/2014/main" id="{FD6F67F7-4117-D417-81A5-2B2972B48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Passo 2: usando tabela de números aleatórios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5E2389BD-A38B-B8C8-B5B4-2AE4A5E4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1F285CE7-F326-49FC-8FC6-F09C27E6A248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1511" name="CaixaDeTexto 6">
            <a:extLst>
              <a:ext uri="{FF2B5EF4-FFF2-40B4-BE49-F238E27FC236}">
                <a16:creationId xmlns:a16="http://schemas.microsoft.com/office/drawing/2014/main" id="{A091E08E-E10C-F521-89E8-F7575622A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4548188"/>
            <a:ext cx="62865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A tabela pode ser usada em qualquer direção, desde que se mantenha um padrão uniforme. Usaremos as duas primeiras colunas da tabela para 10 experimentos: a primeira para o preço e a segunda para a demanda. </a:t>
            </a: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9EC6EAC2-1352-C26F-AB2D-1E370C688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9922" t="41250" r="15625" b="16562"/>
          <a:stretch>
            <a:fillRect/>
          </a:stretch>
        </p:blipFill>
        <p:spPr bwMode="auto">
          <a:xfrm>
            <a:off x="2166938" y="2582863"/>
            <a:ext cx="4786312" cy="1958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aixaDeTexto 3">
            <a:extLst>
              <a:ext uri="{FF2B5EF4-FFF2-40B4-BE49-F238E27FC236}">
                <a16:creationId xmlns:a16="http://schemas.microsoft.com/office/drawing/2014/main" id="{05615500-0F14-01EE-D214-CEF4CD90C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86D8800-AFFC-8780-6303-A1750B015439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23556" name="CaixaDeTexto 10">
            <a:extLst>
              <a:ext uri="{FF2B5EF4-FFF2-40B4-BE49-F238E27FC236}">
                <a16:creationId xmlns:a16="http://schemas.microsoft.com/office/drawing/2014/main" id="{F1540D3C-C3CA-FC32-3F38-DAAD76598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19F603B1-8906-CAC8-D1CF-7A6ECB0E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73B266D6-899F-448D-A6DF-068BED513EBD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20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04EDE7C5-1ECB-69B0-B8E7-99C40E21F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6953" t="37500" r="22656" b="15625"/>
          <a:stretch>
            <a:fillRect/>
          </a:stretch>
        </p:blipFill>
        <p:spPr bwMode="auto">
          <a:xfrm>
            <a:off x="2189163" y="2786063"/>
            <a:ext cx="4668837" cy="2714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aixaDeTexto 3">
            <a:extLst>
              <a:ext uri="{FF2B5EF4-FFF2-40B4-BE49-F238E27FC236}">
                <a16:creationId xmlns:a16="http://schemas.microsoft.com/office/drawing/2014/main" id="{99EB336C-AFA8-BDF6-A119-6C15C7031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F5C492-2573-49A3-1CC4-9F304228E33F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22532" name="CaixaDeTexto 10">
            <a:extLst>
              <a:ext uri="{FF2B5EF4-FFF2-40B4-BE49-F238E27FC236}">
                <a16:creationId xmlns:a16="http://schemas.microsoft.com/office/drawing/2014/main" id="{22A29138-7402-A2D8-2666-94E933EDC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2EE6A1D4-5AAD-455C-2028-563443A5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3D610364-BFFB-4F3E-916F-7EAC6134B8F7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21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2534" name="CaixaDeTexto 6">
            <a:extLst>
              <a:ext uri="{FF2B5EF4-FFF2-40B4-BE49-F238E27FC236}">
                <a16:creationId xmlns:a16="http://schemas.microsoft.com/office/drawing/2014/main" id="{3C34D271-C41A-120F-1373-B07BE82E6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47938"/>
            <a:ext cx="6286500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Por exemplo, número 23, situa-se na faixa representativa de 20-44 dos preços, portanto esse primeiro experimento resulta num preço de 2,00. No caso da demanda, o número 15, situa-se na faixa representativa de 0-34 da demanda, portanto esse primeiro experimento resulta numa demanda de 100.000, e assim sucessivamente.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aixaDeTexto 3">
            <a:extLst>
              <a:ext uri="{FF2B5EF4-FFF2-40B4-BE49-F238E27FC236}">
                <a16:creationId xmlns:a16="http://schemas.microsoft.com/office/drawing/2014/main" id="{8C962C8D-FC9F-C364-6E80-6A06A0877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ADB55A8-2376-A058-EE18-BE28C7AF392C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24580" name="CaixaDeTexto 10">
            <a:extLst>
              <a:ext uri="{FF2B5EF4-FFF2-40B4-BE49-F238E27FC236}">
                <a16:creationId xmlns:a16="http://schemas.microsoft.com/office/drawing/2014/main" id="{179535E6-F842-220B-13DE-E860A580F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24581" name="CaixaDeTexto 12">
            <a:extLst>
              <a:ext uri="{FF2B5EF4-FFF2-40B4-BE49-F238E27FC236}">
                <a16:creationId xmlns:a16="http://schemas.microsoft.com/office/drawing/2014/main" id="{5C7E6D13-A272-4EA8-B438-3AD09976F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Passo 3: elaborar quadros de freqüência que definam a distribuição de probabilidades das variáveis </a:t>
            </a:r>
          </a:p>
          <a:p>
            <a:pPr eaLnBrk="1" hangingPunct="1"/>
            <a:endParaRPr lang="pt-BR" altLang="pt-BR" b="1">
              <a:solidFill>
                <a:srgbClr val="2C5DAA"/>
              </a:solidFill>
            </a:endParaRP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877841BE-088B-2834-0E48-CAE622FD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23A87800-D29C-4061-8D88-BFC844EF7A8A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A61EDFF0-3345-267B-8B48-E0EC0A34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4023" t="17812" r="19726" b="62500"/>
          <a:stretch>
            <a:fillRect/>
          </a:stretch>
        </p:blipFill>
        <p:spPr bwMode="auto">
          <a:xfrm>
            <a:off x="2143125" y="2928938"/>
            <a:ext cx="4857750" cy="106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586230EC-A502-61D7-01E2-4B445F339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1875" t="65938" r="22461" b="15312"/>
          <a:stretch>
            <a:fillRect/>
          </a:stretch>
        </p:blipFill>
        <p:spPr bwMode="auto">
          <a:xfrm>
            <a:off x="2143125" y="4214813"/>
            <a:ext cx="4857750" cy="1022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aixaDeTexto 3">
            <a:extLst>
              <a:ext uri="{FF2B5EF4-FFF2-40B4-BE49-F238E27FC236}">
                <a16:creationId xmlns:a16="http://schemas.microsoft.com/office/drawing/2014/main" id="{0ED73CA0-21C1-8123-5CE0-4889C7546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3A7D38D-9140-5850-6EF8-9731DBDECA6B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25604" name="CaixaDeTexto 10">
            <a:extLst>
              <a:ext uri="{FF2B5EF4-FFF2-40B4-BE49-F238E27FC236}">
                <a16:creationId xmlns:a16="http://schemas.microsoft.com/office/drawing/2014/main" id="{9539E0F3-BF55-DF6B-5545-22E5CF7AB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045BB4EF-A3F3-DFA9-35C1-36BA6C5E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B8962441-8BC2-4A5F-ADE7-37D8EB8F865C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5606" name="CaixaDeTexto 6">
            <a:extLst>
              <a:ext uri="{FF2B5EF4-FFF2-40B4-BE49-F238E27FC236}">
                <a16:creationId xmlns:a16="http://schemas.microsoft.com/office/drawing/2014/main" id="{F5B327B7-8B08-D596-2D9D-7E1A7DC3B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3952875"/>
            <a:ext cx="6286500" cy="192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Por exemplo, no caso do preço há 3 observações situadas na faixa $1,60-$1,99, o que representa uma probabilidade de 0,3 (3 observações em 10 experimentos). No caso da demanda, há 2 observações situadas na faixa 100.000-129.999 o que representa uma probabilidade de 0,2 (2 observações em 10 experimentos). </a:t>
            </a:r>
          </a:p>
        </p:txBody>
      </p:sp>
      <p:pic>
        <p:nvPicPr>
          <p:cNvPr id="37890" name="Picture 2">
            <a:extLst>
              <a:ext uri="{FF2B5EF4-FFF2-40B4-BE49-F238E27FC236}">
                <a16:creationId xmlns:a16="http://schemas.microsoft.com/office/drawing/2014/main" id="{D77E5B61-09C6-E7ED-2494-F96CDE9E6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9922" t="38437" r="17968" b="36250"/>
          <a:stretch>
            <a:fillRect/>
          </a:stretch>
        </p:blipFill>
        <p:spPr bwMode="auto">
          <a:xfrm>
            <a:off x="1928813" y="2441575"/>
            <a:ext cx="5643562" cy="1436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aixaDeTexto 3">
            <a:extLst>
              <a:ext uri="{FF2B5EF4-FFF2-40B4-BE49-F238E27FC236}">
                <a16:creationId xmlns:a16="http://schemas.microsoft.com/office/drawing/2014/main" id="{E7957B0C-4802-D3A3-8C35-FD9249401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F9437AD-8519-8B77-E86D-2CF004871A3E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26628" name="CaixaDeTexto 10">
            <a:extLst>
              <a:ext uri="{FF2B5EF4-FFF2-40B4-BE49-F238E27FC236}">
                <a16:creationId xmlns:a16="http://schemas.microsoft.com/office/drawing/2014/main" id="{945EEEE6-3F66-36BB-FFF7-DE9B56E46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B9429C93-FA4C-D019-317B-9DE574BAF55E}"/>
              </a:ext>
            </a:extLst>
          </p:cNvPr>
          <p:cNvSpPr txBox="1">
            <a:spLocks noGrp="1"/>
          </p:cNvSpPr>
          <p:nvPr/>
        </p:nvSpPr>
        <p:spPr bwMode="auto">
          <a:xfrm>
            <a:off x="6867525" y="6564313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 sz="1200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84A057C1-4313-4895-9488-5BF8943C13F6}" type="slidenum">
              <a:rPr lang="pt-BR" altLang="pt-BR" sz="1200">
                <a:solidFill>
                  <a:srgbClr val="2C5DAA"/>
                </a:solidFill>
                <a:latin typeface="Calibri" panose="020F0502020204030204" pitchFamily="34" charset="0"/>
              </a:rPr>
              <a:pPr algn="r" eaLnBrk="1" hangingPunct="1"/>
              <a:t>24</a:t>
            </a:fld>
            <a:endParaRPr lang="pt-BR" altLang="pt-BR" sz="1200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6630" name="CaixaDeTexto 6">
            <a:extLst>
              <a:ext uri="{FF2B5EF4-FFF2-40B4-BE49-F238E27FC236}">
                <a16:creationId xmlns:a16="http://schemas.microsoft.com/office/drawing/2014/main" id="{90CB6B55-B24C-049D-C1B9-CC7D788C6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71750"/>
            <a:ext cx="6286500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A probabilidade de que o preço esteja abaixo de $ 2,80 é de 80%, e a probabilidade de que a demanda esteja abaixo de 190.000 unidades/ano é de 90%.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aixaDeTexto 3">
            <a:extLst>
              <a:ext uri="{FF2B5EF4-FFF2-40B4-BE49-F238E27FC236}">
                <a16:creationId xmlns:a16="http://schemas.microsoft.com/office/drawing/2014/main" id="{DD6E2CCF-8670-E516-1AA3-F970E0734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C4406F-41FA-E0FF-F63B-483532F1ADEC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27652" name="CaixaDeTexto 10">
            <a:extLst>
              <a:ext uri="{FF2B5EF4-FFF2-40B4-BE49-F238E27FC236}">
                <a16:creationId xmlns:a16="http://schemas.microsoft.com/office/drawing/2014/main" id="{CA77D355-3CB0-8D46-CDF1-4AB4E865F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27653" name="CaixaDeTexto 12">
            <a:extLst>
              <a:ext uri="{FF2B5EF4-FFF2-40B4-BE49-F238E27FC236}">
                <a16:creationId xmlns:a16="http://schemas.microsoft.com/office/drawing/2014/main" id="{7E95EE5E-32DA-675E-7CAE-2F1A40527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929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Passo 4: calcular valor esperado das variáveis (preço e demanda)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D76E82AD-85D6-7FE2-2039-1E8CEDAD922E}"/>
              </a:ext>
            </a:extLst>
          </p:cNvPr>
          <p:cNvSpPr txBox="1">
            <a:spLocks noGrp="1"/>
          </p:cNvSpPr>
          <p:nvPr/>
        </p:nvSpPr>
        <p:spPr bwMode="auto">
          <a:xfrm>
            <a:off x="6867525" y="6564313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 sz="1200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44F8A2FE-AA3D-4C65-BF69-71D3B5565B69}" type="slidenum">
              <a:rPr lang="pt-BR" altLang="pt-BR" sz="1200">
                <a:solidFill>
                  <a:srgbClr val="2C5DAA"/>
                </a:solidFill>
                <a:latin typeface="Calibri" panose="020F0502020204030204" pitchFamily="34" charset="0"/>
              </a:rPr>
              <a:pPr algn="r" eaLnBrk="1" hangingPunct="1"/>
              <a:t>25</a:t>
            </a:fld>
            <a:endParaRPr lang="pt-BR" altLang="pt-BR" sz="1200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E735DC48-29E5-15D4-6E2E-D6A149657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1094" t="17812" r="21484" b="52187"/>
          <a:stretch>
            <a:fillRect/>
          </a:stretch>
        </p:blipFill>
        <p:spPr bwMode="auto">
          <a:xfrm>
            <a:off x="2000250" y="2808288"/>
            <a:ext cx="4857750" cy="1585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94DF081-1703-D8C3-1238-9AE9C01E0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2461" t="47187" r="14258" b="20000"/>
          <a:stretch>
            <a:fillRect/>
          </a:stretch>
        </p:blipFill>
        <p:spPr bwMode="auto">
          <a:xfrm>
            <a:off x="2000250" y="4497388"/>
            <a:ext cx="4857750" cy="157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aixaDeTexto 3">
            <a:extLst>
              <a:ext uri="{FF2B5EF4-FFF2-40B4-BE49-F238E27FC236}">
                <a16:creationId xmlns:a16="http://schemas.microsoft.com/office/drawing/2014/main" id="{92B4647F-0D0F-859E-1F6B-419F72355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BEB1EF3-D666-011B-0444-FB0CA574D4EA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28676" name="CaixaDeTexto 10">
            <a:extLst>
              <a:ext uri="{FF2B5EF4-FFF2-40B4-BE49-F238E27FC236}">
                <a16:creationId xmlns:a16="http://schemas.microsoft.com/office/drawing/2014/main" id="{49FFEFD6-52F7-95BB-D804-3B833F306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F7973A5D-DB0C-6CDF-FE88-C795F380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B9CBB658-E1DE-42A4-A5C7-0E8F3D649A8B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8678" name="CaixaDeTexto 6">
            <a:extLst>
              <a:ext uri="{FF2B5EF4-FFF2-40B4-BE49-F238E27FC236}">
                <a16:creationId xmlns:a16="http://schemas.microsoft.com/office/drawing/2014/main" id="{DD919C67-D83A-E6F3-BF54-091054EE9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71750"/>
            <a:ext cx="628650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2400" b="1"/>
              <a:t>Resultado final:</a:t>
            </a:r>
            <a:r>
              <a:rPr lang="pt-BR" altLang="pt-BR" sz="1600"/>
              <a:t> </a:t>
            </a:r>
            <a:r>
              <a:rPr lang="pt-BR" altLang="pt-BR" sz="2000"/>
              <a:t>O preço esperado é de $ 2,28  e a demanda esperada é de  151.000 unidades/ano.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aixaDeTexto 3">
            <a:extLst>
              <a:ext uri="{FF2B5EF4-FFF2-40B4-BE49-F238E27FC236}">
                <a16:creationId xmlns:a16="http://schemas.microsoft.com/office/drawing/2014/main" id="{932F6BA9-B724-02D4-FCC1-4903B764C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9699" name="CaixaDeTexto 6">
            <a:extLst>
              <a:ext uri="{FF2B5EF4-FFF2-40B4-BE49-F238E27FC236}">
                <a16:creationId xmlns:a16="http://schemas.microsoft.com/office/drawing/2014/main" id="{7946A869-4A2C-C7DF-8955-AE2EE23FA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2865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Importante ferramenta que considera as decisões seqüenciais ao longo do tempo.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Abordam dois elementos fundamentais para uma análise de investimentos reais: 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investimento seqüencial; 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incerteza.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7FCDE2-7A5E-B4F5-DBFC-012E45389E66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29701" name="CaixaDeTexto 10">
            <a:extLst>
              <a:ext uri="{FF2B5EF4-FFF2-40B4-BE49-F238E27FC236}">
                <a16:creationId xmlns:a16="http://schemas.microsoft.com/office/drawing/2014/main" id="{1D41C24A-1D17-336C-75E8-B5AE91F62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29702" name="CaixaDeTexto 12">
            <a:extLst>
              <a:ext uri="{FF2B5EF4-FFF2-40B4-BE49-F238E27FC236}">
                <a16:creationId xmlns:a16="http://schemas.microsoft.com/office/drawing/2014/main" id="{FFC2442F-A558-6EBF-F4B3-97BDF9168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98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7.4 Árvores de decisão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D489CB44-FF5B-0C23-243B-160805A5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0CBFF07B-23E5-4866-BF05-089A68E566D5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27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aixaDeTexto 3">
            <a:extLst>
              <a:ext uri="{FF2B5EF4-FFF2-40B4-BE49-F238E27FC236}">
                <a16:creationId xmlns:a16="http://schemas.microsoft.com/office/drawing/2014/main" id="{B2CD8F82-6147-AB79-E91D-77B93830A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30723" name="CaixaDeTexto 6">
            <a:extLst>
              <a:ext uri="{FF2B5EF4-FFF2-40B4-BE49-F238E27FC236}">
                <a16:creationId xmlns:a16="http://schemas.microsoft.com/office/drawing/2014/main" id="{6B54AF3C-C97B-FD77-457B-E595F4758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286500" cy="33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Os pontos de decisão de investimento (nós de decisão) são representados por quadrados, enquanto os pontos de inclusão da incerteza (nós de chance) são representados por círculos. </a:t>
            </a:r>
          </a:p>
          <a:p>
            <a:pPr eaLnBrk="1" hangingPunct="1">
              <a:lnSpc>
                <a:spcPct val="150000"/>
              </a:lnSpc>
            </a:pPr>
            <a:endParaRPr lang="pt-BR" altLang="pt-BR" sz="1600"/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Problema típico de decisão em dois estágios: decidir se deve ou não ser feito um investimento de $ 1.000 em determinado projeto. Inicialmente, é realizado um investimento de $ 125 em uma planta-piloto, para fazer testes de mercado que permitam reduzir a incerteza sobre o projeto.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ABF5FEE-8630-0492-0073-514311F6CBC1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30725" name="CaixaDeTexto 10">
            <a:extLst>
              <a:ext uri="{FF2B5EF4-FFF2-40B4-BE49-F238E27FC236}">
                <a16:creationId xmlns:a16="http://schemas.microsoft.com/office/drawing/2014/main" id="{1F2986C6-FF88-1EB0-B44B-13FB49221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F0F5AD39-ACEC-7233-47B7-3E38E5D9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31A13940-6C10-4B5C-B630-D5CFB0F61EE2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28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30727" name="CaixaDeTexto 12">
            <a:extLst>
              <a:ext uri="{FF2B5EF4-FFF2-40B4-BE49-F238E27FC236}">
                <a16:creationId xmlns:a16="http://schemas.microsoft.com/office/drawing/2014/main" id="{4374EC8F-89AB-1450-263B-CC2D1FFEA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98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7.4 Árvores de decisão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aixaDeTexto 3">
            <a:extLst>
              <a:ext uri="{FF2B5EF4-FFF2-40B4-BE49-F238E27FC236}">
                <a16:creationId xmlns:a16="http://schemas.microsoft.com/office/drawing/2014/main" id="{ACCD4026-7482-EC11-8559-5D76F0A68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9D2017B-EBCB-0897-9AE7-D5124AC1B65D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31748" name="CaixaDeTexto 10">
            <a:extLst>
              <a:ext uri="{FF2B5EF4-FFF2-40B4-BE49-F238E27FC236}">
                <a16:creationId xmlns:a16="http://schemas.microsoft.com/office/drawing/2014/main" id="{C64C10F7-58FE-9622-D5C2-67A8BC4BA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1749" name="CaixaDeTexto 12">
            <a:extLst>
              <a:ext uri="{FF2B5EF4-FFF2-40B4-BE49-F238E27FC236}">
                <a16:creationId xmlns:a16="http://schemas.microsoft.com/office/drawing/2014/main" id="{8F4C7444-B1B6-9CE0-80A2-B2363BF22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50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de árvore de decisão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D808E5C0-81C1-BADB-9797-6CC1B4FF4BC2}"/>
              </a:ext>
            </a:extLst>
          </p:cNvPr>
          <p:cNvSpPr txBox="1">
            <a:spLocks noGrp="1"/>
          </p:cNvSpPr>
          <p:nvPr/>
        </p:nvSpPr>
        <p:spPr bwMode="auto">
          <a:xfrm>
            <a:off x="6867525" y="6564313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 sz="1200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4B5799B3-8870-4C36-8293-00CC645470CC}" type="slidenum">
              <a:rPr lang="pt-BR" altLang="pt-BR" sz="1200">
                <a:solidFill>
                  <a:srgbClr val="2C5DAA"/>
                </a:solidFill>
                <a:latin typeface="Calibri" panose="020F0502020204030204" pitchFamily="34" charset="0"/>
              </a:rPr>
              <a:pPr algn="r" eaLnBrk="1" hangingPunct="1"/>
              <a:t>29</a:t>
            </a:fld>
            <a:endParaRPr lang="pt-BR" altLang="pt-BR" sz="1200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8C6CB56C-DE6A-3853-0EE9-AA50CDD0B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9922" t="14062" r="15625" b="12812"/>
          <a:stretch>
            <a:fillRect/>
          </a:stretch>
        </p:blipFill>
        <p:spPr bwMode="auto">
          <a:xfrm>
            <a:off x="2016125" y="2587625"/>
            <a:ext cx="4786313" cy="3394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aixaDeTexto 3">
            <a:extLst>
              <a:ext uri="{FF2B5EF4-FFF2-40B4-BE49-F238E27FC236}">
                <a16:creationId xmlns:a16="http://schemas.microsoft.com/office/drawing/2014/main" id="{9577446C-84FE-5199-9DAA-BB8803B45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32771" name="CaixaDeTexto 6">
            <a:extLst>
              <a:ext uri="{FF2B5EF4-FFF2-40B4-BE49-F238E27FC236}">
                <a16:creationId xmlns:a16="http://schemas.microsoft.com/office/drawing/2014/main" id="{ED2ED284-72DC-1FEE-EBF3-53B3CFC55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2865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Após os testes temos dois cenários com a mesma probabilidade de ocorrer: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cenário 1: investir $ 1.000 e obtêm-se receita líquida anual perpétua de $ 250 e um VPL de +$ 1.500;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cenário 2: investir $ 1.000 e obtêm-se receita líquida anual perpétua de apenas $ 50 e um VPL de -$ 500.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38B01A5-5C0F-3956-7556-193E855A4E87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32773" name="CaixaDeTexto 10">
            <a:extLst>
              <a:ext uri="{FF2B5EF4-FFF2-40B4-BE49-F238E27FC236}">
                <a16:creationId xmlns:a16="http://schemas.microsoft.com/office/drawing/2014/main" id="{16BDA646-31B6-E060-6A5A-F15B56020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14CC09EA-0578-E5F9-68D4-98FCC0375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729AA4C7-F9CF-4C27-BF41-FD74DFD90E0C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30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32775" name="CaixaDeTexto 12">
            <a:extLst>
              <a:ext uri="{FF2B5EF4-FFF2-40B4-BE49-F238E27FC236}">
                <a16:creationId xmlns:a16="http://schemas.microsoft.com/office/drawing/2014/main" id="{6177C378-CD7F-56E1-8BF2-FEC2A8FA9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98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7.4 Árvores de decisão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aixaDeTexto 3">
            <a:extLst>
              <a:ext uri="{FF2B5EF4-FFF2-40B4-BE49-F238E27FC236}">
                <a16:creationId xmlns:a16="http://schemas.microsoft.com/office/drawing/2014/main" id="{BD6E31A6-1E18-5699-BECB-0BC6B99D5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33795" name="CaixaDeTexto 6">
            <a:extLst>
              <a:ext uri="{FF2B5EF4-FFF2-40B4-BE49-F238E27FC236}">
                <a16:creationId xmlns:a16="http://schemas.microsoft.com/office/drawing/2014/main" id="{45F92B0E-85C3-FEBB-AAA3-B48E3B479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28650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A análise é feita de trás para frente: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no ramo de baixo (insucesso) → não construir a fábrica →       VPL &lt; 0 investindo os $ 1.000 e VPL = 0 não investindo → esse ramo deve ser podado;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no ramo de cima (sucesso) →  construir a fábrica → VPL &gt; 0.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4F0297-E0D6-54E6-24A2-3799760245D8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33797" name="CaixaDeTexto 10">
            <a:extLst>
              <a:ext uri="{FF2B5EF4-FFF2-40B4-BE49-F238E27FC236}">
                <a16:creationId xmlns:a16="http://schemas.microsoft.com/office/drawing/2014/main" id="{D62A5502-EB69-2770-77D2-1D9C68696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DC7AD43D-853C-02C2-A130-47063B28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02BAE64A-6DC9-45AC-8730-0922454648F8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31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33799" name="CaixaDeTexto 12">
            <a:extLst>
              <a:ext uri="{FF2B5EF4-FFF2-40B4-BE49-F238E27FC236}">
                <a16:creationId xmlns:a16="http://schemas.microsoft.com/office/drawing/2014/main" id="{9D485C6E-9C3D-D01F-7AFD-36793F43D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98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7.4 Árvores de decisão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aixaDeTexto 3">
            <a:extLst>
              <a:ext uri="{FF2B5EF4-FFF2-40B4-BE49-F238E27FC236}">
                <a16:creationId xmlns:a16="http://schemas.microsoft.com/office/drawing/2014/main" id="{030677DD-B82F-0946-2DF3-C04DBCD1D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34819" name="CaixaDeTexto 6">
            <a:extLst>
              <a:ext uri="{FF2B5EF4-FFF2-40B4-BE49-F238E27FC236}">
                <a16:creationId xmlns:a16="http://schemas.microsoft.com/office/drawing/2014/main" id="{ED401BA6-BCB4-0BEC-5243-6F2C83546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286500" cy="265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Deve-se investir $ 125 na planta-piloto?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Em caso de sucesso (50% de chance) → VPL = $ 1.500.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Em caso de insucesso (50% de chance) → VPL = 0.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VPL esperado no instante zero = – $ 125 + [(0,5 x $ 1.500) + (0,5 x $ 0)] / 1,1 = + $ 557 &gt; 0.</a:t>
            </a:r>
          </a:p>
          <a:p>
            <a:pPr eaLnBrk="1" hangingPunct="1">
              <a:lnSpc>
                <a:spcPct val="150000"/>
              </a:lnSpc>
            </a:pPr>
            <a:endParaRPr lang="pt-BR" altLang="pt-BR" sz="1600"/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Logo, o investimento na planta-piloto deve ser feito.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AC7449D-DF31-D796-5157-72A8E30659DC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34821" name="CaixaDeTexto 10">
            <a:extLst>
              <a:ext uri="{FF2B5EF4-FFF2-40B4-BE49-F238E27FC236}">
                <a16:creationId xmlns:a16="http://schemas.microsoft.com/office/drawing/2014/main" id="{784C0F06-023B-3004-A416-FD681C041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38847413-EAB9-32D3-B4F7-D2AA7CFA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F25F320D-781F-45DB-AB68-019A7E1706FE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32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34823" name="CaixaDeTexto 12">
            <a:extLst>
              <a:ext uri="{FF2B5EF4-FFF2-40B4-BE49-F238E27FC236}">
                <a16:creationId xmlns:a16="http://schemas.microsoft.com/office/drawing/2014/main" id="{6DDEC80E-A65F-CFF3-54E0-45701EA32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98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7.4 Árvores de decisão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aixaDeTexto 3">
            <a:extLst>
              <a:ext uri="{FF2B5EF4-FFF2-40B4-BE49-F238E27FC236}">
                <a16:creationId xmlns:a16="http://schemas.microsoft.com/office/drawing/2014/main" id="{00CD5A2C-F1FA-7D16-8780-78090E423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703ED9D-F99B-C0A7-5212-F00EB611DD98}"/>
              </a:ext>
            </a:extLst>
          </p:cNvPr>
          <p:cNvSpPr txBox="1"/>
          <p:nvPr/>
        </p:nvSpPr>
        <p:spPr>
          <a:xfrm>
            <a:off x="3857625" y="142875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7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Análise e comportamento dos projetos de investimentos de capital frente à aleatoriedade e à incerteza</a:t>
            </a:r>
          </a:p>
        </p:txBody>
      </p:sp>
      <p:sp>
        <p:nvSpPr>
          <p:cNvPr id="35844" name="CaixaDeTexto 10">
            <a:extLst>
              <a:ext uri="{FF2B5EF4-FFF2-40B4-BE49-F238E27FC236}">
                <a16:creationId xmlns:a16="http://schemas.microsoft.com/office/drawing/2014/main" id="{DCCCE073-964A-2818-E551-872A4D257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5845" name="CaixaDeTexto 12">
            <a:extLst>
              <a:ext uri="{FF2B5EF4-FFF2-40B4-BE49-F238E27FC236}">
                <a16:creationId xmlns:a16="http://schemas.microsoft.com/office/drawing/2014/main" id="{C6388A92-6F96-D606-345D-FD4BACA42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50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de árvore de decisão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8F7E88AF-0590-C7F8-27DF-DB63462E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1F6268CE-0D61-4F38-A80C-A9B40713E03C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33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7BC3A119-F297-DB41-D2BA-809321693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9922" t="14062" r="15625" b="12812"/>
          <a:stretch>
            <a:fillRect/>
          </a:stretch>
        </p:blipFill>
        <p:spPr bwMode="auto">
          <a:xfrm>
            <a:off x="2016125" y="2587625"/>
            <a:ext cx="4786313" cy="3394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1_Tema do Offic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Tema do Office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Tema do Offic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  <Data xmlns="f244cccc-9ebe-487b-9f49-451c84d31f5d">2024-06-02T21:31:12+00:00</Data>
    <grupo13_x002d_MarceloPassos xmlns="f244cccc-9ebe-487b-9f49-451c84d31f5d" xsi:nil="true"/>
  </documentManagement>
</p:properties>
</file>

<file path=customXml/itemProps1.xml><?xml version="1.0" encoding="utf-8"?>
<ds:datastoreItem xmlns:ds="http://schemas.openxmlformats.org/officeDocument/2006/customXml" ds:itemID="{0EF11A5A-B046-4003-836C-3016DB8DBC45}"/>
</file>

<file path=customXml/itemProps2.xml><?xml version="1.0" encoding="utf-8"?>
<ds:datastoreItem xmlns:ds="http://schemas.openxmlformats.org/officeDocument/2006/customXml" ds:itemID="{6F22702C-7F12-4F7A-BCF3-888AA3F4DE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646D69-AB15-4D7A-8EFF-EE55D6903C87}">
  <ds:schemaRefs>
    <ds:schemaRef ds:uri="http://schemas.microsoft.com/office/2006/metadata/properties"/>
    <ds:schemaRef ds:uri="http://schemas.microsoft.com/office/infopath/2007/PartnerControls"/>
    <ds:schemaRef ds:uri="f244cccc-9ebe-487b-9f49-451c84d31f5d"/>
    <ds:schemaRef ds:uri="6d1e6d4d-286d-4a1d-879b-bd877680a13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1624</TotalTime>
  <Words>2184</Words>
  <Application>Microsoft Office PowerPoint</Application>
  <PresentationFormat>Apresentação na tela (4:3)</PresentationFormat>
  <Paragraphs>230</Paragraphs>
  <Slides>33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33</vt:i4>
      </vt:variant>
    </vt:vector>
  </HeadingPairs>
  <TitlesOfParts>
    <vt:vector size="35" baseType="lpstr">
      <vt:lpstr>Tema do Office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ICONE 4 COMUNICAÇÃO E ARTE LTDA</dc:creator>
  <cp:lastModifiedBy>carlos</cp:lastModifiedBy>
  <cp:revision>127</cp:revision>
  <dcterms:created xsi:type="dcterms:W3CDTF">2009-04-20T19:30:33Z</dcterms:created>
  <dcterms:modified xsi:type="dcterms:W3CDTF">2025-10-09T03:51:14Z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  <property fmtid="{D5CDD505-2E9C-101B-9397-08002B2CF9AE}" pid="3" name="MediaServiceImageTags">
    <vt:lpwstr/>
  </property>
</Properties>
</file>
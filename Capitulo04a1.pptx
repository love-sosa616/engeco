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26"/>
  </p:notesMasterIdLst>
  <p:sldIdLst>
    <p:sldId id="280" r:id="rId4"/>
    <p:sldId id="282" r:id="rId5"/>
    <p:sldId id="283" r:id="rId6"/>
    <p:sldId id="284" r:id="rId7"/>
    <p:sldId id="285" r:id="rId8"/>
    <p:sldId id="286" r:id="rId9"/>
    <p:sldId id="287" r:id="rId10"/>
    <p:sldId id="298" r:id="rId11"/>
    <p:sldId id="299" r:id="rId12"/>
    <p:sldId id="300" r:id="rId13"/>
    <p:sldId id="288" r:id="rId14"/>
    <p:sldId id="289" r:id="rId15"/>
    <p:sldId id="290" r:id="rId16"/>
    <p:sldId id="291" r:id="rId17"/>
    <p:sldId id="292" r:id="rId18"/>
    <p:sldId id="301" r:id="rId19"/>
    <p:sldId id="303" r:id="rId20"/>
    <p:sldId id="293" r:id="rId21"/>
    <p:sldId id="304" r:id="rId22"/>
    <p:sldId id="305" r:id="rId23"/>
    <p:sldId id="294" r:id="rId24"/>
    <p:sldId id="297" r:id="rId25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5DAA"/>
    <a:srgbClr val="777777"/>
    <a:srgbClr val="0196D8"/>
    <a:srgbClr val="2771A0"/>
    <a:srgbClr val="792612"/>
    <a:srgbClr val="B98357"/>
    <a:srgbClr val="F7FCF5"/>
    <a:srgbClr val="F121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21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customXml" Target="../customXml/item3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34B090EE-C32B-E85C-8D6F-4D8C7C4C77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45350A4-9C45-C259-7153-615A1227E3F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4E975AF-4145-4809-B1ED-A1B50A5AEE27}" type="datetimeFigureOut">
              <a:rPr lang="pt-BR"/>
              <a:pPr>
                <a:defRPr/>
              </a:pPr>
              <a:t>04/05/2026</a:t>
            </a:fld>
            <a:endParaRPr lang="pt-BR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CE5B54DF-A021-3204-B618-DD3403C480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C801EA70-4FB1-AEA7-F22C-5489D6F5AC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D531A27-47F8-0918-7A8A-03CD0352AB9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71E5419-79EA-01B3-DE2F-5D6C6BFC1E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B7B9F2E7-176A-4C7A-B7FC-8F6DB4876FB6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7767D1-C8D4-792A-7F13-DBB8D5852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3A64F5-98FB-46CE-B8F7-562E40026692}" type="datetime1">
              <a:rPr lang="pt-BR"/>
              <a:pPr>
                <a:defRPr/>
              </a:pPr>
              <a:t>04/05/2026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AFE6CE-C22D-7F57-90D6-6FB216EAB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845592-7827-1125-ABB3-1B8A31FA6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FF05F7-A397-43DD-9FA4-DE332C5CA66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92347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B2A96E-3965-9C74-C429-446B0DE31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5098C1-985A-4A88-8D54-3B12FAB10054}" type="datetime1">
              <a:rPr lang="pt-BR"/>
              <a:pPr>
                <a:defRPr/>
              </a:pPr>
              <a:t>04/05/2026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C81589-A5BE-3BC1-1976-FD6F14179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D8AD97-9F67-307B-67A1-6E7AC57D7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06BD39-9888-4A30-9F56-2A2FDEE98563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107901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5CF818-425F-F93D-2130-A4DE0A03A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1B860-D4D7-4FC3-9839-357FD9C5B5B5}" type="datetime1">
              <a:rPr lang="pt-BR"/>
              <a:pPr>
                <a:defRPr/>
              </a:pPr>
              <a:t>04/05/2026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CF239-564A-53BB-EF5E-C234029C4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C29D60-C882-B723-5019-92C7705C8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5D2915-7CA9-4244-82AE-79DC7BE84C23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51355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D50DCFDA-69AC-99FC-F187-1C38B52A8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56407-58AB-4ED6-8D0E-6A8FCE184F7E}" type="datetime1">
              <a:rPr lang="pt-BR"/>
              <a:pPr>
                <a:defRPr/>
              </a:pPr>
              <a:t>04/05/2026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99ACC17C-632E-57A3-6720-93381BC18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69D5C5CC-0D47-90FA-BAF4-4E659E40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A745F3-819D-448F-B2DB-AF8B6481FDA8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20883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BBFFD089-39DA-473B-46A8-F5CFBD7CC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F6748C-E4C5-409A-A2A6-8842E61AF86A}" type="datetime1">
              <a:rPr lang="pt-BR"/>
              <a:pPr>
                <a:defRPr/>
              </a:pPr>
              <a:t>04/05/2026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B1ED2F83-C4A5-408E-6E98-2089CDBEB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4702D4A1-9DBE-ECF1-6DB4-23F362F75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61B9D5-1982-47A5-8010-DEA281DB42A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357958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8C7929B1-EC70-DCD3-CCAF-AA06AD821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CDE367-8069-40E3-9D0C-00D13809594A}" type="datetime1">
              <a:rPr lang="pt-BR"/>
              <a:pPr>
                <a:defRPr/>
              </a:pPr>
              <a:t>04/05/2026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A9104199-B7A6-15E9-D54A-44723E82B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87F6958B-4121-6B4A-52D1-905703FB5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733718-27EF-43FD-822B-BEFD5A5E98A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786637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FCE89585-273D-DA6B-938D-EC8AA215A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E89FA0-E798-4F80-AF4C-286EEF4AADF6}" type="datetime1">
              <a:rPr lang="pt-BR"/>
              <a:pPr>
                <a:defRPr/>
              </a:pPr>
              <a:t>04/05/2026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B96999D3-D26A-A781-FEE1-F7D1FB80D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B119F4F9-45B2-8243-BA50-3A2578A5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31D544-46BC-46B8-B60A-5A35522A1FA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96916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D951872B-53F9-756B-37FE-916D87A17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F29E6B-9083-45B5-9D6C-48D2900D30CC}" type="datetime1">
              <a:rPr lang="pt-BR"/>
              <a:pPr>
                <a:defRPr/>
              </a:pPr>
              <a:t>04/05/2026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F6FAB99-DB8B-94B4-ED4C-D25E688A3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5646D3A6-3E79-6521-9E03-7C176A8C9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BB1658-D738-4DAB-BC6C-63A7765A5BE3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32657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D8209A4A-9E07-F1DD-3E11-95FC75829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4668D9-6813-4FA5-BC6A-EA7AE482F817}" type="datetime1">
              <a:rPr lang="pt-BR"/>
              <a:pPr>
                <a:defRPr/>
              </a:pPr>
              <a:t>04/05/2026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D114BEB7-3CBF-8726-1BB6-CF21DE889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A304D88-0F93-7DF5-9555-73C15DA1B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02AF70-98F9-408D-8FBD-568E54BB786A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58639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698FAA-0DEE-FF6E-47CA-8E44CCD8A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747D82-E8BC-498F-8819-97BF044AD46F}" type="datetime1">
              <a:rPr lang="pt-BR"/>
              <a:pPr>
                <a:defRPr/>
              </a:pPr>
              <a:t>04/05/2026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B39908-3D1F-4875-4DE0-538011737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595152-EB89-0CF8-924D-FD4D743C9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935359-3242-4CEC-A2B9-BF280B16B5C7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137678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05C0DB-7601-6AA7-CEC7-0C8A4335C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64392B-4862-4855-9CDB-C4F89F5C04C8}" type="datetime1">
              <a:rPr lang="pt-BR"/>
              <a:pPr>
                <a:defRPr/>
              </a:pPr>
              <a:t>04/05/2026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3129EF-DCB2-07C1-CE56-C9422F530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9F1EB8-2AB8-DCA4-75E4-7A925E5C2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E0D1A1-1FB0-48D0-845C-BD6512007BF3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185257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D3FE10AE-2EE9-A676-5036-EFAABA1F10C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62D7942-7242-F30A-4D94-FCCECD5D05C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182E2FD-3F70-DA26-3624-AAA1AA36FC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F2CB2E0-13CC-4EF4-95B4-477E8B67B051}" type="datetime1">
              <a:rPr lang="pt-BR"/>
              <a:pPr>
                <a:defRPr/>
              </a:pPr>
              <a:t>04/05/2026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2DB2C4-AE4B-F297-5422-4B5316B55B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732B32-C202-74D5-27BA-7F986CD46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50F6D92A-1A7B-4D80-B0BC-F65CF484F13D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CaixaDeTexto 9">
            <a:extLst>
              <a:ext uri="{FF2B5EF4-FFF2-40B4-BE49-F238E27FC236}">
                <a16:creationId xmlns:a16="http://schemas.microsoft.com/office/drawing/2014/main" id="{88FF1FE4-8ED5-B351-82F3-1528B2F44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1563" y="2370138"/>
            <a:ext cx="26622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4000" b="1">
                <a:solidFill>
                  <a:schemeClr val="bg1"/>
                </a:solidFill>
              </a:rPr>
              <a:t>Capítulo 4</a:t>
            </a:r>
          </a:p>
        </p:txBody>
      </p:sp>
      <p:sp>
        <p:nvSpPr>
          <p:cNvPr id="2051" name="CaixaDeTexto 4">
            <a:extLst>
              <a:ext uri="{FF2B5EF4-FFF2-40B4-BE49-F238E27FC236}">
                <a16:creationId xmlns:a16="http://schemas.microsoft.com/office/drawing/2014/main" id="{DD2DFF08-28DA-0C58-CBE0-795688EF0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4275" y="3078163"/>
            <a:ext cx="37449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000"/>
              <a:t>Projetos de substituição e de renovação de ativos</a:t>
            </a: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A96CC4F5-DC3F-F433-CFED-17588DAB8138}"/>
              </a:ext>
            </a:extLst>
          </p:cNvPr>
          <p:cNvCxnSpPr/>
          <p:nvPr/>
        </p:nvCxnSpPr>
        <p:spPr>
          <a:xfrm>
            <a:off x="1071563" y="3071813"/>
            <a:ext cx="3786187" cy="1587"/>
          </a:xfrm>
          <a:prstGeom prst="line">
            <a:avLst/>
          </a:prstGeom>
          <a:ln w="15875" cmpd="sng">
            <a:solidFill>
              <a:schemeClr val="bg1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3" name="CaixaDeTexto 5">
            <a:extLst>
              <a:ext uri="{FF2B5EF4-FFF2-40B4-BE49-F238E27FC236}">
                <a16:creationId xmlns:a16="http://schemas.microsoft.com/office/drawing/2014/main" id="{E8049C84-E350-D7AC-927C-3CC4B8B90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3950" y="2357438"/>
            <a:ext cx="26622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4000" b="1">
                <a:solidFill>
                  <a:srgbClr val="2C5DAA"/>
                </a:solidFill>
              </a:rPr>
              <a:t>Capítulo 4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CaixaDeTexto 3">
            <a:extLst>
              <a:ext uri="{FF2B5EF4-FFF2-40B4-BE49-F238E27FC236}">
                <a16:creationId xmlns:a16="http://schemas.microsoft.com/office/drawing/2014/main" id="{EC3C0D72-734E-EB8E-1246-9C68C89F3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3075" name="CaixaDeTexto 6">
            <a:extLst>
              <a:ext uri="{FF2B5EF4-FFF2-40B4-BE49-F238E27FC236}">
                <a16:creationId xmlns:a16="http://schemas.microsoft.com/office/drawing/2014/main" id="{20F49793-D7B4-6A1F-A4C2-E158861E3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681288"/>
            <a:ext cx="6143625" cy="189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Situação: o projeto de substituição pode ser executado agora ou posteriormente.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Principal questão da análise: encontrar uma resposta em relação ao tempo em que as duas alternativas podem ser legitimamente comparadas.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436E0D8-66AE-1C41-9BA8-EBD6C3C08838}"/>
              </a:ext>
            </a:extLst>
          </p:cNvPr>
          <p:cNvSpPr txBox="1"/>
          <p:nvPr/>
        </p:nvSpPr>
        <p:spPr>
          <a:xfrm>
            <a:off x="4538663" y="142875"/>
            <a:ext cx="4605337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4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Projetos de substituição e de renovação de ativos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3077" name="CaixaDeTexto 10">
            <a:extLst>
              <a:ext uri="{FF2B5EF4-FFF2-40B4-BE49-F238E27FC236}">
                <a16:creationId xmlns:a16="http://schemas.microsoft.com/office/drawing/2014/main" id="{62AC3270-F5BB-763C-9DC2-BAFA92191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8" name="CaixaDeTexto 12">
            <a:extLst>
              <a:ext uri="{FF2B5EF4-FFF2-40B4-BE49-F238E27FC236}">
                <a16:creationId xmlns:a16="http://schemas.microsoft.com/office/drawing/2014/main" id="{CDDBF2B5-F88D-352C-C11E-0C948B145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58912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4.1 Projetos de substituição que podem ser adiados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2DB91DEF-0128-70DA-77D0-D6F7BFB18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84569D3F-D8BC-4DF1-A4AE-6C8517F5E81F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2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CaixaDeTexto 3">
            <a:extLst>
              <a:ext uri="{FF2B5EF4-FFF2-40B4-BE49-F238E27FC236}">
                <a16:creationId xmlns:a16="http://schemas.microsoft.com/office/drawing/2014/main" id="{FBA3AE26-1031-0C30-8467-33444461B0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4099" name="CaixaDeTexto 6">
            <a:extLst>
              <a:ext uri="{FF2B5EF4-FFF2-40B4-BE49-F238E27FC236}">
                <a16:creationId xmlns:a16="http://schemas.microsoft.com/office/drawing/2014/main" id="{DE684F0F-ACC8-8B84-1C7D-36548EB49E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81288"/>
            <a:ext cx="6429375" cy="337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Uma empresa estuda a substituição de uma máquina antiga por uma nova. A máquina a ser substituída pode ser usada por mais 5 anos antes de se tornar imprestável e seu valor contábil é de $ 15.000, depreciável linearmente em $ 3.000/ano. Caso seja substituída, a máquina antiga poderá ser vendida no mercado de máquinas usadas por $ 18.000. A máquina nova custa $ 300.000, tem vida útil de 10 anos e será depreciada linearmente. A máquina nova pode ser usada até o término de sua vida útil ou ser vendida antes, por um valor equivalente a seu valor contábil na data da venda.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7510940-9697-67C8-4977-11811CDA7B77}"/>
              </a:ext>
            </a:extLst>
          </p:cNvPr>
          <p:cNvSpPr txBox="1"/>
          <p:nvPr/>
        </p:nvSpPr>
        <p:spPr>
          <a:xfrm>
            <a:off x="4538663" y="142875"/>
            <a:ext cx="4605337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4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Projetos de substituição e de renovação de ativos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4101" name="CaixaDeTexto 10">
            <a:extLst>
              <a:ext uri="{FF2B5EF4-FFF2-40B4-BE49-F238E27FC236}">
                <a16:creationId xmlns:a16="http://schemas.microsoft.com/office/drawing/2014/main" id="{45E63C8B-DDFB-1507-ADEB-BFCDC4B110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4102" name="CaixaDeTexto 12">
            <a:extLst>
              <a:ext uri="{FF2B5EF4-FFF2-40B4-BE49-F238E27FC236}">
                <a16:creationId xmlns:a16="http://schemas.microsoft.com/office/drawing/2014/main" id="{96E89E1C-E302-D5EE-6F0C-804B1D958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146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BE9EAECD-E607-CF20-F8A8-C4FC82DF9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2B883BA0-4E15-497F-9036-C5CEF50336CB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3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aixaDeTexto 3">
            <a:extLst>
              <a:ext uri="{FF2B5EF4-FFF2-40B4-BE49-F238E27FC236}">
                <a16:creationId xmlns:a16="http://schemas.microsoft.com/office/drawing/2014/main" id="{931A17A8-5325-1847-47E1-BAEC4221D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C9FFBDF-A463-ED58-254C-F084638804DA}"/>
              </a:ext>
            </a:extLst>
          </p:cNvPr>
          <p:cNvSpPr txBox="1"/>
          <p:nvPr/>
        </p:nvSpPr>
        <p:spPr>
          <a:xfrm>
            <a:off x="4538663" y="142875"/>
            <a:ext cx="4605337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4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Projetos de substituição e de renovação de ativos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5124" name="CaixaDeTexto 10">
            <a:extLst>
              <a:ext uri="{FF2B5EF4-FFF2-40B4-BE49-F238E27FC236}">
                <a16:creationId xmlns:a16="http://schemas.microsoft.com/office/drawing/2014/main" id="{8D35533A-CED1-8684-7707-155772651E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CFA9C97F-21EF-9419-F97C-8C3776549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D82B5E62-9721-4276-A9FD-F72FCFC2D50E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4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2F62D9A2-4046-8144-5D73-4F5BE48D9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22266" t="44062" r="13281" b="30625"/>
          <a:stretch>
            <a:fillRect/>
          </a:stretch>
        </p:blipFill>
        <p:spPr bwMode="auto">
          <a:xfrm>
            <a:off x="2143125" y="3297238"/>
            <a:ext cx="5786438" cy="14208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127" name="CaixaDeTexto 6">
            <a:extLst>
              <a:ext uri="{FF2B5EF4-FFF2-40B4-BE49-F238E27FC236}">
                <a16:creationId xmlns:a16="http://schemas.microsoft.com/office/drawing/2014/main" id="{8F605DD7-92CA-BCAD-4ABF-25AEE3E8B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688" y="2681288"/>
            <a:ext cx="61436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600"/>
              <a:t>Informações a respeito das duas máquinas:</a:t>
            </a:r>
          </a:p>
        </p:txBody>
      </p:sp>
      <p:sp>
        <p:nvSpPr>
          <p:cNvPr id="5128" name="Retângulo 7">
            <a:extLst>
              <a:ext uri="{FF2B5EF4-FFF2-40B4-BE49-F238E27FC236}">
                <a16:creationId xmlns:a16="http://schemas.microsoft.com/office/drawing/2014/main" id="{327DBDC7-CE00-FAA4-0BB1-9231D9DED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063" y="4978400"/>
            <a:ext cx="569118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/>
              <a:t>O custo de mão-de-obra por operário = $ 6.000/ano, custo do capital = 15%,  alíquota de IR = 30%</a:t>
            </a:r>
          </a:p>
        </p:txBody>
      </p:sp>
      <p:sp>
        <p:nvSpPr>
          <p:cNvPr id="5129" name="CaixaDeTexto 12">
            <a:extLst>
              <a:ext uri="{FF2B5EF4-FFF2-40B4-BE49-F238E27FC236}">
                <a16:creationId xmlns:a16="http://schemas.microsoft.com/office/drawing/2014/main" id="{346B621E-3BD4-213A-F4CE-779C2FF839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146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CaixaDeTexto 3">
            <a:extLst>
              <a:ext uri="{FF2B5EF4-FFF2-40B4-BE49-F238E27FC236}">
                <a16:creationId xmlns:a16="http://schemas.microsoft.com/office/drawing/2014/main" id="{9988497C-F073-9076-BC32-934F74050F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57263D9-A453-CCA4-A5F9-67B83BB36297}"/>
              </a:ext>
            </a:extLst>
          </p:cNvPr>
          <p:cNvSpPr txBox="1"/>
          <p:nvPr/>
        </p:nvSpPr>
        <p:spPr>
          <a:xfrm>
            <a:off x="4538663" y="142875"/>
            <a:ext cx="4605337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4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Projetos de substituição e de renovação de ativos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6148" name="CaixaDeTexto 10">
            <a:extLst>
              <a:ext uri="{FF2B5EF4-FFF2-40B4-BE49-F238E27FC236}">
                <a16:creationId xmlns:a16="http://schemas.microsoft.com/office/drawing/2014/main" id="{6C9A014B-BE69-0049-354B-4C652794D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6149" name="CaixaDeTexto 12">
            <a:extLst>
              <a:ext uri="{FF2B5EF4-FFF2-40B4-BE49-F238E27FC236}">
                <a16:creationId xmlns:a16="http://schemas.microsoft.com/office/drawing/2014/main" id="{8BFC9757-2C7B-960C-E524-7E17F4E98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2640013" cy="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</a:t>
            </a:r>
          </a:p>
          <a:p>
            <a:pPr eaLnBrk="1" hangingPunct="1"/>
            <a:endParaRPr lang="pt-BR" altLang="pt-BR" b="1">
              <a:solidFill>
                <a:srgbClr val="2C5DAA"/>
              </a:solidFill>
            </a:endParaRPr>
          </a:p>
          <a:p>
            <a:pPr eaLnBrk="1" hangingPunct="1"/>
            <a:r>
              <a:rPr lang="pt-BR" altLang="pt-BR" sz="1500" b="1">
                <a:solidFill>
                  <a:srgbClr val="2C5DAA"/>
                </a:solidFill>
              </a:rPr>
              <a:t>Horizonte de planejamento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EEEBA24D-2272-C47A-7907-8A4553F3E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1F1A86CE-3764-4519-B51A-29F400FB3E86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5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6151" name="CaixaDeTexto 6">
            <a:extLst>
              <a:ext uri="{FF2B5EF4-FFF2-40B4-BE49-F238E27FC236}">
                <a16:creationId xmlns:a16="http://schemas.microsoft.com/office/drawing/2014/main" id="{02D2042F-121B-E140-2C60-73BDD21FC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927350"/>
            <a:ext cx="6143625" cy="300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>
                <a:latin typeface="TimesTen-Roman"/>
              </a:rPr>
              <a:t> Não é plausível admitir que uma máquina antiga e já quase obsoleta seja substituída por uma idêntica ao término de seu prazo. 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>
                <a:latin typeface="TimesTen-Roman"/>
              </a:rPr>
              <a:t> As duas alternativas serão comparáveis somente durante os próximos 5 anos, período durante o qual tanto a máquina antiga quanto a nova poderão operar (o fluxo de caixa incremental só pode ser definido se ambas as alternativas existirem ao mesmo tempo).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aixaDeTexto 3">
            <a:extLst>
              <a:ext uri="{FF2B5EF4-FFF2-40B4-BE49-F238E27FC236}">
                <a16:creationId xmlns:a16="http://schemas.microsoft.com/office/drawing/2014/main" id="{AC2E6675-B45C-E450-5381-2A983C635B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D44B518-1870-CA36-7C29-6473572A8AFE}"/>
              </a:ext>
            </a:extLst>
          </p:cNvPr>
          <p:cNvSpPr txBox="1"/>
          <p:nvPr/>
        </p:nvSpPr>
        <p:spPr>
          <a:xfrm>
            <a:off x="4538663" y="142875"/>
            <a:ext cx="4605337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4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Projetos de substituição e de renovação de ativos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7172" name="CaixaDeTexto 10">
            <a:extLst>
              <a:ext uri="{FF2B5EF4-FFF2-40B4-BE49-F238E27FC236}">
                <a16:creationId xmlns:a16="http://schemas.microsoft.com/office/drawing/2014/main" id="{7F7146DE-BBED-CDF6-7121-A73161C5C8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7173" name="CaixaDeTexto 12">
            <a:extLst>
              <a:ext uri="{FF2B5EF4-FFF2-40B4-BE49-F238E27FC236}">
                <a16:creationId xmlns:a16="http://schemas.microsoft.com/office/drawing/2014/main" id="{BE5BA213-0150-1372-95FC-F63C32A897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957388" cy="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</a:t>
            </a:r>
          </a:p>
          <a:p>
            <a:pPr eaLnBrk="1" hangingPunct="1"/>
            <a:endParaRPr lang="pt-BR" altLang="pt-BR" b="1">
              <a:solidFill>
                <a:srgbClr val="2C5DAA"/>
              </a:solidFill>
            </a:endParaRPr>
          </a:p>
          <a:p>
            <a:pPr eaLnBrk="1" hangingPunct="1"/>
            <a:r>
              <a:rPr lang="pt-BR" altLang="pt-BR" sz="1500" b="1">
                <a:solidFill>
                  <a:srgbClr val="2C5DAA"/>
                </a:solidFill>
              </a:rPr>
              <a:t>Fluxo de caixa livre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1EB9903D-345B-F933-162F-C3D5F0158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8F55FE8E-B7E3-4EAF-8E43-6F7ED7E65FB5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6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pic>
        <p:nvPicPr>
          <p:cNvPr id="8199" name="Picture 5">
            <a:extLst>
              <a:ext uri="{FF2B5EF4-FFF2-40B4-BE49-F238E27FC236}">
                <a16:creationId xmlns:a16="http://schemas.microsoft.com/office/drawing/2014/main" id="{0FC3BF63-B85A-2E10-C9E9-115C7A96F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21875" t="40623" r="13672" b="30313"/>
          <a:stretch>
            <a:fillRect/>
          </a:stretch>
        </p:blipFill>
        <p:spPr bwMode="auto">
          <a:xfrm>
            <a:off x="1643063" y="3841750"/>
            <a:ext cx="6143625" cy="17303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176" name="CaixaDeTexto 6">
            <a:extLst>
              <a:ext uri="{FF2B5EF4-FFF2-40B4-BE49-F238E27FC236}">
                <a16:creationId xmlns:a16="http://schemas.microsoft.com/office/drawing/2014/main" id="{0F33A41F-0A1B-ECB2-7729-D44EB52077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895600"/>
            <a:ext cx="6143625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>
                <a:latin typeface="TimesTen-Roman"/>
              </a:rPr>
              <a:t>Fluxo de caixa livre incremental durante os 5 primeiros anos da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>
                <a:latin typeface="TimesTen-Roman"/>
              </a:rPr>
              <a:t>máquina nova: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aixaDeTexto 3">
            <a:extLst>
              <a:ext uri="{FF2B5EF4-FFF2-40B4-BE49-F238E27FC236}">
                <a16:creationId xmlns:a16="http://schemas.microsoft.com/office/drawing/2014/main" id="{76949A03-53A4-7C8C-6D2A-3F19F9F3BD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47C5612-BB0C-46B6-D2F9-72AC49D1D0D6}"/>
              </a:ext>
            </a:extLst>
          </p:cNvPr>
          <p:cNvSpPr txBox="1"/>
          <p:nvPr/>
        </p:nvSpPr>
        <p:spPr>
          <a:xfrm>
            <a:off x="4538663" y="142875"/>
            <a:ext cx="4605337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4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Projetos de substituição e de renovação de ativos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8196" name="CaixaDeTexto 10">
            <a:extLst>
              <a:ext uri="{FF2B5EF4-FFF2-40B4-BE49-F238E27FC236}">
                <a16:creationId xmlns:a16="http://schemas.microsoft.com/office/drawing/2014/main" id="{28969828-0EA0-DD36-2664-69F2D07E9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00545D2C-9188-6DC1-A040-76D978640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A6BD6BC7-8629-41E1-916B-EAFC115A843F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7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grpSp>
        <p:nvGrpSpPr>
          <p:cNvPr id="8198" name="Grupo 15">
            <a:extLst>
              <a:ext uri="{FF2B5EF4-FFF2-40B4-BE49-F238E27FC236}">
                <a16:creationId xmlns:a16="http://schemas.microsoft.com/office/drawing/2014/main" id="{31885B2F-DFD5-1558-47F2-1D128E7B881C}"/>
              </a:ext>
            </a:extLst>
          </p:cNvPr>
          <p:cNvGrpSpPr>
            <a:grpSpLocks/>
          </p:cNvGrpSpPr>
          <p:nvPr/>
        </p:nvGrpSpPr>
        <p:grpSpPr bwMode="auto">
          <a:xfrm>
            <a:off x="1643063" y="2714625"/>
            <a:ext cx="6143625" cy="2857500"/>
            <a:chOff x="2285984" y="2786058"/>
            <a:chExt cx="7929618" cy="3643338"/>
          </a:xfrm>
        </p:grpSpPr>
        <p:pic>
          <p:nvPicPr>
            <p:cNvPr id="9224" name="Picture 2">
              <a:extLst>
                <a:ext uri="{FF2B5EF4-FFF2-40B4-BE49-F238E27FC236}">
                  <a16:creationId xmlns:a16="http://schemas.microsoft.com/office/drawing/2014/main" id="{EA782627-F0A0-3389-1ADB-7AF74FAFBE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/>
            <a:srcRect l="18750" t="36562" r="16211" b="15625"/>
            <a:stretch>
              <a:fillRect/>
            </a:stretch>
          </p:blipFill>
          <p:spPr bwMode="auto">
            <a:xfrm>
              <a:off x="2285984" y="2786058"/>
              <a:ext cx="7929618" cy="364333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CC49CB49-C573-8E15-69F0-4049E26EE8CB}"/>
                </a:ext>
              </a:extLst>
            </p:cNvPr>
            <p:cNvSpPr/>
            <p:nvPr/>
          </p:nvSpPr>
          <p:spPr>
            <a:xfrm>
              <a:off x="2329012" y="2786058"/>
              <a:ext cx="7886590" cy="1012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1FF01E88-A534-C6A3-8123-81F85F322614}"/>
                </a:ext>
              </a:extLst>
            </p:cNvPr>
            <p:cNvSpPr/>
            <p:nvPr/>
          </p:nvSpPr>
          <p:spPr>
            <a:xfrm>
              <a:off x="2285984" y="6338313"/>
              <a:ext cx="7929618" cy="910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/>
            </a:p>
          </p:txBody>
        </p:sp>
      </p:grpSp>
      <p:sp>
        <p:nvSpPr>
          <p:cNvPr id="8199" name="CaixaDeTexto 12">
            <a:extLst>
              <a:ext uri="{FF2B5EF4-FFF2-40B4-BE49-F238E27FC236}">
                <a16:creationId xmlns:a16="http://schemas.microsoft.com/office/drawing/2014/main" id="{3D887D20-72FB-A90E-537F-FD5EEC1F3D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146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CaixaDeTexto 3">
            <a:extLst>
              <a:ext uri="{FF2B5EF4-FFF2-40B4-BE49-F238E27FC236}">
                <a16:creationId xmlns:a16="http://schemas.microsoft.com/office/drawing/2014/main" id="{AAB28733-EBEF-C549-9188-465E36E59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A5DDD53-B2BE-5F20-8CB4-A4EFBA6A007F}"/>
              </a:ext>
            </a:extLst>
          </p:cNvPr>
          <p:cNvSpPr txBox="1"/>
          <p:nvPr/>
        </p:nvSpPr>
        <p:spPr>
          <a:xfrm>
            <a:off x="4538663" y="142875"/>
            <a:ext cx="4605337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4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Projetos de substituição e de renovação de ativos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9220" name="CaixaDeTexto 10">
            <a:extLst>
              <a:ext uri="{FF2B5EF4-FFF2-40B4-BE49-F238E27FC236}">
                <a16:creationId xmlns:a16="http://schemas.microsoft.com/office/drawing/2014/main" id="{07131816-498A-615F-C092-ED26F3A286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B785B46A-59BE-1586-6310-089DD70C5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192CDB27-BFCE-4E4F-9811-BE4EB6091FDD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8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9222" name="CaixaDeTexto 6">
            <a:extLst>
              <a:ext uri="{FF2B5EF4-FFF2-40B4-BE49-F238E27FC236}">
                <a16:creationId xmlns:a16="http://schemas.microsoft.com/office/drawing/2014/main" id="{59B7DF32-7D0A-C382-6254-AE81B2FD8C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81288"/>
            <a:ext cx="6143625" cy="302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 b="1"/>
              <a:t>a) </a:t>
            </a:r>
            <a:r>
              <a:rPr lang="pt-BR" altLang="pt-BR" sz="1600"/>
              <a:t>Investimento inicial líquido: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Custo da máquina nova................................................. $ 300.000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Caixa pela venda da máquina antiga ............................... (18.000)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Imposto a pagar pelo ganho de capital na venda da máquina antiga ....................................................................................$ 900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Investimento inicial líquido.............................................. $ 282.900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O imposto sobre o ganho de capital: 0.3 × ($ 18.000 – $ 15.000) = $ 900;</a:t>
            </a:r>
          </a:p>
        </p:txBody>
      </p:sp>
      <p:sp>
        <p:nvSpPr>
          <p:cNvPr id="9223" name="CaixaDeTexto 12">
            <a:extLst>
              <a:ext uri="{FF2B5EF4-FFF2-40B4-BE49-F238E27FC236}">
                <a16:creationId xmlns:a16="http://schemas.microsoft.com/office/drawing/2014/main" id="{58650FCE-9457-CB9A-D5F0-AB1E00FA9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146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CaixaDeTexto 3">
            <a:extLst>
              <a:ext uri="{FF2B5EF4-FFF2-40B4-BE49-F238E27FC236}">
                <a16:creationId xmlns:a16="http://schemas.microsoft.com/office/drawing/2014/main" id="{24F44F1B-958A-3771-0865-25502E295E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01197E3-EC24-70E0-DF4F-112364C69551}"/>
              </a:ext>
            </a:extLst>
          </p:cNvPr>
          <p:cNvSpPr txBox="1"/>
          <p:nvPr/>
        </p:nvSpPr>
        <p:spPr>
          <a:xfrm>
            <a:off x="4538663" y="142875"/>
            <a:ext cx="4605337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4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Projetos de substituição e de renovação de ativos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10244" name="CaixaDeTexto 10">
            <a:extLst>
              <a:ext uri="{FF2B5EF4-FFF2-40B4-BE49-F238E27FC236}">
                <a16:creationId xmlns:a16="http://schemas.microsoft.com/office/drawing/2014/main" id="{D8865FA8-E492-CB10-035F-DEE5A1EAA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2AAC3DF9-DF36-56B4-021A-7B94B53B4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79DDC8C7-BAA8-438E-BBB4-E3E9BD3F4C8F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9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10246" name="CaixaDeTexto 6">
            <a:extLst>
              <a:ext uri="{FF2B5EF4-FFF2-40B4-BE49-F238E27FC236}">
                <a16:creationId xmlns:a16="http://schemas.microsoft.com/office/drawing/2014/main" id="{0E7BCE6D-2CCC-CD7F-A40B-D7C9642B2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81288"/>
            <a:ext cx="6143625" cy="302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 b="1"/>
              <a:t>b) </a:t>
            </a:r>
            <a:r>
              <a:rPr lang="pt-BR" altLang="pt-BR" sz="1600"/>
              <a:t>Valor residual (liquidação): 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Caixa pela venda da máquina nova: ($ 300.000 – 5 × 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$ 300.000/10) ................................................................ $ 150.000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Imposto pelo ganho de capital na venda: 0,30 × ($ 150.000 – 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$ 150.000) ................................................................................ (0)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Valor residual ou de liquidação da máquina nova .........$ 150.000;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 b="1"/>
              <a:t>c) </a:t>
            </a:r>
            <a:r>
              <a:rPr lang="pt-BR" altLang="pt-BR" sz="1600"/>
              <a:t>100.000 unidades × $ 3,0/unidade – 80.000 unidades × 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$ 2,5/unidade = $ 100.000/ano;</a:t>
            </a:r>
          </a:p>
        </p:txBody>
      </p:sp>
      <p:sp>
        <p:nvSpPr>
          <p:cNvPr id="10247" name="CaixaDeTexto 12">
            <a:extLst>
              <a:ext uri="{FF2B5EF4-FFF2-40B4-BE49-F238E27FC236}">
                <a16:creationId xmlns:a16="http://schemas.microsoft.com/office/drawing/2014/main" id="{4E973814-301F-926A-3615-3AAF5D69E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146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aixaDeTexto 3">
            <a:extLst>
              <a:ext uri="{FF2B5EF4-FFF2-40B4-BE49-F238E27FC236}">
                <a16:creationId xmlns:a16="http://schemas.microsoft.com/office/drawing/2014/main" id="{2A988015-9A14-54BE-59E6-B99CD569F2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91AC5B0-C6A2-7D42-825A-3FC8DCC6ECC7}"/>
              </a:ext>
            </a:extLst>
          </p:cNvPr>
          <p:cNvSpPr txBox="1"/>
          <p:nvPr/>
        </p:nvSpPr>
        <p:spPr>
          <a:xfrm>
            <a:off x="4538663" y="142875"/>
            <a:ext cx="4605337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4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Projetos de substituição e de renovação de ativos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11268" name="CaixaDeTexto 10">
            <a:extLst>
              <a:ext uri="{FF2B5EF4-FFF2-40B4-BE49-F238E27FC236}">
                <a16:creationId xmlns:a16="http://schemas.microsoft.com/office/drawing/2014/main" id="{D756FB2C-54B1-9BC2-6FEC-F53017695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813A3D96-3F31-B608-E732-BFB887587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6F862E60-A276-436C-9398-F302F717867B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10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11270" name="CaixaDeTexto 6">
            <a:extLst>
              <a:ext uri="{FF2B5EF4-FFF2-40B4-BE49-F238E27FC236}">
                <a16:creationId xmlns:a16="http://schemas.microsoft.com/office/drawing/2014/main" id="{99A42B55-9729-2C12-E625-F655CC2CE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81288"/>
            <a:ext cx="6143625" cy="2659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 b="1"/>
              <a:t>d)</a:t>
            </a:r>
            <a:r>
              <a:rPr lang="pt-BR" altLang="pt-BR" sz="1600"/>
              <a:t> (5 operários – 3 operários) × $ 6.000/operário = $ 12.000/ano;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 b="1"/>
              <a:t>e) </a:t>
            </a:r>
            <a:r>
              <a:rPr lang="pt-BR" altLang="pt-BR" sz="1600"/>
              <a:t>80.000 unidades × $ 0,7/unidade – 100.000 unidades × $ 0,5/unidade = $ 6.000/ano;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 b="1"/>
              <a:t>f) </a:t>
            </a:r>
            <a:r>
              <a:rPr lang="pt-BR" altLang="pt-BR" sz="1600"/>
              <a:t>$ 4.000/ano – $ 6.000/ano = – $ 2.000/ano;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 b="1"/>
              <a:t>g) </a:t>
            </a:r>
            <a:r>
              <a:rPr lang="pt-BR" altLang="pt-BR" sz="1600"/>
              <a:t>($ 300.000/10 – $ 3.000) = $ 27.000/ano;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 b="1"/>
              <a:t>h) </a:t>
            </a:r>
            <a:r>
              <a:rPr lang="pt-BR" altLang="pt-BR" sz="1600"/>
              <a:t>A depreciação é somada novamente por não ser um fluxo de caixa.</a:t>
            </a:r>
          </a:p>
        </p:txBody>
      </p:sp>
      <p:sp>
        <p:nvSpPr>
          <p:cNvPr id="11271" name="CaixaDeTexto 12">
            <a:extLst>
              <a:ext uri="{FF2B5EF4-FFF2-40B4-BE49-F238E27FC236}">
                <a16:creationId xmlns:a16="http://schemas.microsoft.com/office/drawing/2014/main" id="{5167E7DF-BACC-B7A7-D77F-A68F2174F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146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CaixaDeTexto 3">
            <a:extLst>
              <a:ext uri="{FF2B5EF4-FFF2-40B4-BE49-F238E27FC236}">
                <a16:creationId xmlns:a16="http://schemas.microsoft.com/office/drawing/2014/main" id="{4077D494-268F-EDC4-3490-BEB3F9341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8B98FE6-4C9A-286B-C58E-D4AE560526AD}"/>
              </a:ext>
            </a:extLst>
          </p:cNvPr>
          <p:cNvSpPr txBox="1"/>
          <p:nvPr/>
        </p:nvSpPr>
        <p:spPr>
          <a:xfrm>
            <a:off x="4538663" y="142875"/>
            <a:ext cx="4605337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4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Projetos de substituição e de renovação de ativos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12292" name="CaixaDeTexto 10">
            <a:extLst>
              <a:ext uri="{FF2B5EF4-FFF2-40B4-BE49-F238E27FC236}">
                <a16:creationId xmlns:a16="http://schemas.microsoft.com/office/drawing/2014/main" id="{7CE4F354-84E5-A600-82E2-979FE1DCC5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12293" name="CaixaDeTexto 12">
            <a:extLst>
              <a:ext uri="{FF2B5EF4-FFF2-40B4-BE49-F238E27FC236}">
                <a16:creationId xmlns:a16="http://schemas.microsoft.com/office/drawing/2014/main" id="{2778574A-E9C7-E40E-61B9-BB6337D52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2187575" cy="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</a:t>
            </a:r>
          </a:p>
          <a:p>
            <a:pPr eaLnBrk="1" hangingPunct="1"/>
            <a:endParaRPr lang="pt-BR" altLang="pt-BR" b="1">
              <a:solidFill>
                <a:srgbClr val="2C5DAA"/>
              </a:solidFill>
            </a:endParaRPr>
          </a:p>
          <a:p>
            <a:pPr eaLnBrk="1" hangingPunct="1"/>
            <a:r>
              <a:rPr lang="pt-BR" altLang="pt-BR" sz="1500" b="1">
                <a:solidFill>
                  <a:srgbClr val="2C5DAA"/>
                </a:solidFill>
              </a:rPr>
              <a:t>Avaliação econômica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20B5F960-1BA0-10E8-1765-D94F71A40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27BF4A15-DE3C-4598-B4B1-1AEF128644B4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11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12295" name="CaixaDeTexto 6">
            <a:extLst>
              <a:ext uri="{FF2B5EF4-FFF2-40B4-BE49-F238E27FC236}">
                <a16:creationId xmlns:a16="http://schemas.microsoft.com/office/drawing/2014/main" id="{7AF1D0F1-8019-9F99-31AE-566D3250DE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688" y="3005138"/>
            <a:ext cx="61436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600">
                <a:latin typeface="TimesTen-Roman"/>
              </a:rPr>
              <a:t>Pelo VPL:</a:t>
            </a:r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A247D9B6-2142-118F-446D-67AF589D1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22266" t="45938" r="29687" b="34374"/>
          <a:stretch>
            <a:fillRect/>
          </a:stretch>
        </p:blipFill>
        <p:spPr bwMode="auto">
          <a:xfrm>
            <a:off x="2119313" y="3609975"/>
            <a:ext cx="4595812" cy="11763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CaixaDeTexto 3">
            <a:extLst>
              <a:ext uri="{FF2B5EF4-FFF2-40B4-BE49-F238E27FC236}">
                <a16:creationId xmlns:a16="http://schemas.microsoft.com/office/drawing/2014/main" id="{E2850C53-41F3-57B9-C8C4-997E3442EF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65FEAEF-C29F-B057-0F16-0B50D7EA0DB5}"/>
              </a:ext>
            </a:extLst>
          </p:cNvPr>
          <p:cNvSpPr txBox="1"/>
          <p:nvPr/>
        </p:nvSpPr>
        <p:spPr>
          <a:xfrm>
            <a:off x="4538663" y="142875"/>
            <a:ext cx="4605337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4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Projetos de substituição e de renovação de ativos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13316" name="CaixaDeTexto 10">
            <a:extLst>
              <a:ext uri="{FF2B5EF4-FFF2-40B4-BE49-F238E27FC236}">
                <a16:creationId xmlns:a16="http://schemas.microsoft.com/office/drawing/2014/main" id="{CD79592A-8513-AAEC-40E0-88A1452DCD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DD69587F-8B3A-EBE7-C268-4D6EA7D22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D49647B4-D926-4E41-A875-6F7DEC7D8B6F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12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13318" name="CaixaDeTexto 6">
            <a:extLst>
              <a:ext uri="{FF2B5EF4-FFF2-40B4-BE49-F238E27FC236}">
                <a16:creationId xmlns:a16="http://schemas.microsoft.com/office/drawing/2014/main" id="{D8A71E95-9CF3-AFEE-1DBB-8BD509633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688" y="2995613"/>
            <a:ext cx="61436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600">
                <a:latin typeface="TimesTen-Roman"/>
              </a:rPr>
              <a:t>Pelo TIR:</a:t>
            </a:r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946A8AD7-C093-A2BF-DE62-8D8242D5C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22266" t="68438" r="23827" b="7187"/>
          <a:stretch>
            <a:fillRect/>
          </a:stretch>
        </p:blipFill>
        <p:spPr bwMode="auto">
          <a:xfrm>
            <a:off x="2143125" y="3548063"/>
            <a:ext cx="5143500" cy="1452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320" name="CaixaDeTexto 12">
            <a:extLst>
              <a:ext uri="{FF2B5EF4-FFF2-40B4-BE49-F238E27FC236}">
                <a16:creationId xmlns:a16="http://schemas.microsoft.com/office/drawing/2014/main" id="{BE9F32B3-DFF4-E7FB-09ED-3E90F898D5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2187575" cy="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</a:t>
            </a:r>
          </a:p>
          <a:p>
            <a:pPr eaLnBrk="1" hangingPunct="1"/>
            <a:endParaRPr lang="pt-BR" altLang="pt-BR" b="1">
              <a:solidFill>
                <a:srgbClr val="2C5DAA"/>
              </a:solidFill>
            </a:endParaRPr>
          </a:p>
          <a:p>
            <a:pPr eaLnBrk="1" hangingPunct="1"/>
            <a:r>
              <a:rPr lang="pt-BR" altLang="pt-BR" sz="1500" b="1">
                <a:solidFill>
                  <a:srgbClr val="2C5DAA"/>
                </a:solidFill>
              </a:rPr>
              <a:t>Avaliação econômica 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aixaDeTexto 3">
            <a:extLst>
              <a:ext uri="{FF2B5EF4-FFF2-40B4-BE49-F238E27FC236}">
                <a16:creationId xmlns:a16="http://schemas.microsoft.com/office/drawing/2014/main" id="{951CD69F-E048-4D13-BBCA-5DA547C4AA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2AE52D5-83B5-19E6-E460-C5F7CCF1B401}"/>
              </a:ext>
            </a:extLst>
          </p:cNvPr>
          <p:cNvSpPr txBox="1"/>
          <p:nvPr/>
        </p:nvSpPr>
        <p:spPr>
          <a:xfrm>
            <a:off x="4538663" y="142875"/>
            <a:ext cx="4605337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4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Projetos de substituição e de renovação de ativos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14340" name="CaixaDeTexto 10">
            <a:extLst>
              <a:ext uri="{FF2B5EF4-FFF2-40B4-BE49-F238E27FC236}">
                <a16:creationId xmlns:a16="http://schemas.microsoft.com/office/drawing/2014/main" id="{C3E3E5D4-23D1-F7A1-ADE1-400221FE24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14341" name="CaixaDeTexto 12">
            <a:extLst>
              <a:ext uri="{FF2B5EF4-FFF2-40B4-BE49-F238E27FC236}">
                <a16:creationId xmlns:a16="http://schemas.microsoft.com/office/drawing/2014/main" id="{0EA3A32F-3E7D-28B7-03C6-4C1B4A3353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4249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4.2 Projetos de substituição imediata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5ABACCD2-3E22-BF91-6632-0B8A3384A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B5FDCFBF-18A5-466B-BFC5-FAA2E8965E66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13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14343" name="CaixaDeTexto 6">
            <a:extLst>
              <a:ext uri="{FF2B5EF4-FFF2-40B4-BE49-F238E27FC236}">
                <a16:creationId xmlns:a16="http://schemas.microsoft.com/office/drawing/2014/main" id="{E5F8819A-AD74-5979-17B0-037A1401EE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81288"/>
            <a:ext cx="6143625" cy="226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Situação: o projeto de substituição deve ser executado ‘agora’; a decisão de substituir um equipamento por outro não pode ser adiada.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Caso a receita ou o benefício seja um fator comum para ambas as alternativas, o </a:t>
            </a:r>
            <a:r>
              <a:rPr lang="pt-BR" altLang="pt-BR" sz="1600" i="1"/>
              <a:t>custo anual equivalente </a:t>
            </a:r>
            <a:r>
              <a:rPr lang="pt-BR" altLang="pt-BR" sz="1600"/>
              <a:t>(CAE) é o critério adequado para a comparação.</a:t>
            </a: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aixaDeTexto 3">
            <a:extLst>
              <a:ext uri="{FF2B5EF4-FFF2-40B4-BE49-F238E27FC236}">
                <a16:creationId xmlns:a16="http://schemas.microsoft.com/office/drawing/2014/main" id="{58DEE536-D161-EEB7-7DE8-78EF883087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F4056FF-6805-3FFC-4FAA-D10B666CD2BD}"/>
              </a:ext>
            </a:extLst>
          </p:cNvPr>
          <p:cNvSpPr txBox="1"/>
          <p:nvPr/>
        </p:nvSpPr>
        <p:spPr>
          <a:xfrm>
            <a:off x="4538663" y="142875"/>
            <a:ext cx="4605337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4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Projetos de substituição e de renovação de ativos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15364" name="CaixaDeTexto 10">
            <a:extLst>
              <a:ext uri="{FF2B5EF4-FFF2-40B4-BE49-F238E27FC236}">
                <a16:creationId xmlns:a16="http://schemas.microsoft.com/office/drawing/2014/main" id="{6D668DE0-4768-A7BC-1799-344EE83B40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15365" name="CaixaDeTexto 12">
            <a:extLst>
              <a:ext uri="{FF2B5EF4-FFF2-40B4-BE49-F238E27FC236}">
                <a16:creationId xmlns:a16="http://schemas.microsoft.com/office/drawing/2014/main" id="{EBED909E-C7C4-1CC3-EB8A-52BF3D6B6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146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27DCDAE6-1F29-4201-AEAE-B8B0E7D48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0499D65A-4CFE-4BD7-BCF0-B393A8183484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14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15367" name="CaixaDeTexto 6">
            <a:extLst>
              <a:ext uri="{FF2B5EF4-FFF2-40B4-BE49-F238E27FC236}">
                <a16:creationId xmlns:a16="http://schemas.microsoft.com/office/drawing/2014/main" id="{7E5A4E65-253C-AD52-F4F4-DD2D52571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681288"/>
            <a:ext cx="6143625" cy="302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Há 5 anos, uma empresa comprou uma máquina ao custo de 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$ 5 milhões, com vida útil igual a seu prazo de depreciação contábil de 10 anos e sem valor residual. 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Essa máquina possui hoje um valor de mercado de $ 2,5 milhões. </a:t>
            </a:r>
          </a:p>
          <a:p>
            <a:pPr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altLang="pt-BR" sz="1600"/>
              <a:t> A empresa pretende substituir essa máquina e dispõe de duas alternativas tecnicamente equivalentes: comprar a máquina A ou comprar a máquina B. </a:t>
            </a:r>
            <a:endParaRPr lang="pt-BR" altLang="pt-BR" sz="1600">
              <a:latin typeface="TimesTen-Roman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CaixaDeTexto 3">
            <a:extLst>
              <a:ext uri="{FF2B5EF4-FFF2-40B4-BE49-F238E27FC236}">
                <a16:creationId xmlns:a16="http://schemas.microsoft.com/office/drawing/2014/main" id="{543FF1A9-36CD-06E5-7085-A34889D34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A83AB61-35A7-1C42-4653-D1A78C20F1D3}"/>
              </a:ext>
            </a:extLst>
          </p:cNvPr>
          <p:cNvSpPr txBox="1"/>
          <p:nvPr/>
        </p:nvSpPr>
        <p:spPr>
          <a:xfrm>
            <a:off x="4538663" y="142875"/>
            <a:ext cx="4605337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4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Projetos de substituição e de renovação de ativos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16388" name="CaixaDeTexto 10">
            <a:extLst>
              <a:ext uri="{FF2B5EF4-FFF2-40B4-BE49-F238E27FC236}">
                <a16:creationId xmlns:a16="http://schemas.microsoft.com/office/drawing/2014/main" id="{EC61212C-094E-BC29-4B09-F01DF38BC6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FE4865CD-217F-3F54-1C3E-8EA5E3BE7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1B2D2B82-55CF-47CC-9D51-EC0B7B5EBB41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15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16390" name="CaixaDeTexto 6">
            <a:extLst>
              <a:ext uri="{FF2B5EF4-FFF2-40B4-BE49-F238E27FC236}">
                <a16:creationId xmlns:a16="http://schemas.microsoft.com/office/drawing/2014/main" id="{C4F0FCF3-5AFE-A14A-D869-DBE3A1250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688" y="2681288"/>
            <a:ext cx="61436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600"/>
              <a:t>Informações a respeito das máquinas A e B:</a:t>
            </a:r>
            <a:endParaRPr lang="pt-BR" altLang="pt-BR" sz="1600">
              <a:latin typeface="TimesTen-Roman"/>
            </a:endParaRPr>
          </a:p>
        </p:txBody>
      </p:sp>
      <p:pic>
        <p:nvPicPr>
          <p:cNvPr id="14344" name="Picture 2">
            <a:extLst>
              <a:ext uri="{FF2B5EF4-FFF2-40B4-BE49-F238E27FC236}">
                <a16:creationId xmlns:a16="http://schemas.microsoft.com/office/drawing/2014/main" id="{1EFCD257-CA21-D6FF-D3E6-5B6FB0670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20508" t="35625" r="16795" b="29688"/>
          <a:stretch>
            <a:fillRect/>
          </a:stretch>
        </p:blipFill>
        <p:spPr bwMode="auto">
          <a:xfrm>
            <a:off x="1714500" y="3143250"/>
            <a:ext cx="6000750" cy="20748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392" name="Retângulo 7">
            <a:extLst>
              <a:ext uri="{FF2B5EF4-FFF2-40B4-BE49-F238E27FC236}">
                <a16:creationId xmlns:a16="http://schemas.microsoft.com/office/drawing/2014/main" id="{32C0C9C1-1EC3-98C2-7795-8C3F6EE71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2800" y="5357813"/>
            <a:ext cx="50609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600"/>
              <a:t>Alíquota de IR = 30%,  custo do capital = 10% a.a. </a:t>
            </a:r>
          </a:p>
        </p:txBody>
      </p:sp>
      <p:sp>
        <p:nvSpPr>
          <p:cNvPr id="16393" name="CaixaDeTexto 12">
            <a:extLst>
              <a:ext uri="{FF2B5EF4-FFF2-40B4-BE49-F238E27FC236}">
                <a16:creationId xmlns:a16="http://schemas.microsoft.com/office/drawing/2014/main" id="{6C643D31-EB94-2F3A-A85C-A53B5AE67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146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</a:t>
            </a:r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aixaDeTexto 3">
            <a:extLst>
              <a:ext uri="{FF2B5EF4-FFF2-40B4-BE49-F238E27FC236}">
                <a16:creationId xmlns:a16="http://schemas.microsoft.com/office/drawing/2014/main" id="{7D466487-6574-5C73-C680-B3488EBF5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DC7F6A4-DAC1-B26A-FD69-0A8B684D58E3}"/>
              </a:ext>
            </a:extLst>
          </p:cNvPr>
          <p:cNvSpPr txBox="1"/>
          <p:nvPr/>
        </p:nvSpPr>
        <p:spPr>
          <a:xfrm>
            <a:off x="4538663" y="142875"/>
            <a:ext cx="4605337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4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Projetos de substituição e de renovação de ativos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17412" name="CaixaDeTexto 10">
            <a:extLst>
              <a:ext uri="{FF2B5EF4-FFF2-40B4-BE49-F238E27FC236}">
                <a16:creationId xmlns:a16="http://schemas.microsoft.com/office/drawing/2014/main" id="{1E1A0049-51EA-066F-EECA-2267577DAF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42D4E2C2-A6B0-BFC7-A9E5-B4FABF70A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83C1DA30-EC32-41D8-8741-370934063110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16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17414" name="CaixaDeTexto 6">
            <a:extLst>
              <a:ext uri="{FF2B5EF4-FFF2-40B4-BE49-F238E27FC236}">
                <a16:creationId xmlns:a16="http://schemas.microsoft.com/office/drawing/2014/main" id="{F1F19C38-763F-0F0F-5087-6DF2814C2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527300"/>
            <a:ext cx="6143625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 b="1"/>
              <a:t>a) </a:t>
            </a:r>
            <a:r>
              <a:rPr lang="pt-BR" altLang="pt-BR" sz="1600"/>
              <a:t>Custo de aquisição da máquina A................................. – $ 4,00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Valor recebido hoje pela  venda da máquina em atual  funcionamento.......................................................................$ 2,50 Imposto sobre ganhos de capital na venda do equipamento atual.................................................................................. – $ 0,00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    ($ 2,5 – $ 2,5) </a:t>
            </a:r>
            <a:r>
              <a:rPr lang="pt-BR" altLang="pt-BR" sz="1600">
                <a:sym typeface="Symbol" panose="05050102010706020507" pitchFamily="18" charset="2"/>
              </a:rPr>
              <a:t></a:t>
            </a:r>
            <a:r>
              <a:rPr lang="pt-BR" altLang="pt-BR" sz="1600"/>
              <a:t> 0,30	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Investimento inicial líquido...................................... ......... – $ 1,50</a:t>
            </a:r>
          </a:p>
        </p:txBody>
      </p:sp>
      <p:sp>
        <p:nvSpPr>
          <p:cNvPr id="17415" name="CaixaDeTexto 12">
            <a:extLst>
              <a:ext uri="{FF2B5EF4-FFF2-40B4-BE49-F238E27FC236}">
                <a16:creationId xmlns:a16="http://schemas.microsoft.com/office/drawing/2014/main" id="{287D510E-B50F-D705-0AD9-E2FC001ED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146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aixaDeTexto 3">
            <a:extLst>
              <a:ext uri="{FF2B5EF4-FFF2-40B4-BE49-F238E27FC236}">
                <a16:creationId xmlns:a16="http://schemas.microsoft.com/office/drawing/2014/main" id="{C04D4D1B-3527-E7FF-042E-3C6C03D14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A97F1EF-3DB1-7D43-37CF-6CD12267C4FA}"/>
              </a:ext>
            </a:extLst>
          </p:cNvPr>
          <p:cNvSpPr txBox="1"/>
          <p:nvPr/>
        </p:nvSpPr>
        <p:spPr>
          <a:xfrm>
            <a:off x="4538663" y="142875"/>
            <a:ext cx="4605337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4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Projetos de substituição e de renovação de ativos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18436" name="CaixaDeTexto 10">
            <a:extLst>
              <a:ext uri="{FF2B5EF4-FFF2-40B4-BE49-F238E27FC236}">
                <a16:creationId xmlns:a16="http://schemas.microsoft.com/office/drawing/2014/main" id="{5C21D81B-2753-9FD1-7581-C834EA7250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DC2C2B72-8F57-FE92-C12F-8465B69C3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4CB149DC-BFCB-4D76-A8E0-1592D9A4B20D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17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18438" name="CaixaDeTexto 6">
            <a:extLst>
              <a:ext uri="{FF2B5EF4-FFF2-40B4-BE49-F238E27FC236}">
                <a16:creationId xmlns:a16="http://schemas.microsoft.com/office/drawing/2014/main" id="{7906B12C-9DFD-0CF2-743D-BB2D44C6B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2527300"/>
            <a:ext cx="6143625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 b="1"/>
              <a:t> b) </a:t>
            </a:r>
            <a:r>
              <a:rPr lang="pt-BR" altLang="pt-BR" sz="1600"/>
              <a:t>Valor recebido pela venda  da máquina A no 10º ano   ..............................................................................................$ 0,80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Imposto na venda da máquina A no 10</a:t>
            </a:r>
            <a:r>
              <a:rPr lang="pt-BR" altLang="pt-BR" sz="1600" u="sng" baseline="30000"/>
              <a:t>o</a:t>
            </a:r>
            <a:r>
              <a:rPr lang="pt-BR" altLang="pt-BR" sz="1600"/>
              <a:t> ano  ($ 0,8 – $ 0,0) </a:t>
            </a:r>
            <a:r>
              <a:rPr lang="pt-BR" altLang="pt-BR" sz="1600">
                <a:sym typeface="Symbol" panose="05050102010706020507" pitchFamily="18" charset="2"/>
              </a:rPr>
              <a:t></a:t>
            </a:r>
            <a:r>
              <a:rPr lang="pt-BR" altLang="pt-BR" sz="1600"/>
              <a:t> 0,30................................................................................... – $ 0,24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Valor de liquidação da máquina A no 10</a:t>
            </a:r>
            <a:r>
              <a:rPr lang="pt-BR" altLang="pt-BR" sz="1600" u="sng" baseline="30000"/>
              <a:t>o</a:t>
            </a:r>
            <a:r>
              <a:rPr lang="pt-BR" altLang="pt-BR" sz="1600"/>
              <a:t> ano.......................$ 0,56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 b="1"/>
              <a:t> </a:t>
            </a:r>
            <a:endParaRPr lang="pt-BR" altLang="pt-BR" sz="1600"/>
          </a:p>
          <a:p>
            <a:pPr eaLnBrk="1" hangingPunct="1">
              <a:lnSpc>
                <a:spcPct val="150000"/>
              </a:lnSpc>
            </a:pPr>
            <a:r>
              <a:rPr lang="pt-BR" altLang="pt-BR" sz="1600" b="1"/>
              <a:t>c)</a:t>
            </a:r>
            <a:r>
              <a:rPr lang="pt-BR" altLang="pt-BR" sz="1600"/>
              <a:t> Depreciação anual da máquina A = $ 4/10 = 0,4</a:t>
            </a:r>
          </a:p>
        </p:txBody>
      </p:sp>
      <p:sp>
        <p:nvSpPr>
          <p:cNvPr id="18439" name="CaixaDeTexto 12">
            <a:extLst>
              <a:ext uri="{FF2B5EF4-FFF2-40B4-BE49-F238E27FC236}">
                <a16:creationId xmlns:a16="http://schemas.microsoft.com/office/drawing/2014/main" id="{40A6EE57-8389-6911-6F71-43503CCD5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146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</a:t>
            </a: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aixaDeTexto 3">
            <a:extLst>
              <a:ext uri="{FF2B5EF4-FFF2-40B4-BE49-F238E27FC236}">
                <a16:creationId xmlns:a16="http://schemas.microsoft.com/office/drawing/2014/main" id="{9178FCA8-D424-6F4C-4067-94DC363E71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EBE117D-A2EB-98BD-D4F8-C4DDA25B04F0}"/>
              </a:ext>
            </a:extLst>
          </p:cNvPr>
          <p:cNvSpPr txBox="1"/>
          <p:nvPr/>
        </p:nvSpPr>
        <p:spPr>
          <a:xfrm>
            <a:off x="4538663" y="142875"/>
            <a:ext cx="4605337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4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Projetos de substituição e de renovação de ativos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19460" name="CaixaDeTexto 10">
            <a:extLst>
              <a:ext uri="{FF2B5EF4-FFF2-40B4-BE49-F238E27FC236}">
                <a16:creationId xmlns:a16="http://schemas.microsoft.com/office/drawing/2014/main" id="{141D0104-BE00-0645-1CD3-7B0C14DD5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19461" name="CaixaDeTexto 12">
            <a:extLst>
              <a:ext uri="{FF2B5EF4-FFF2-40B4-BE49-F238E27FC236}">
                <a16:creationId xmlns:a16="http://schemas.microsoft.com/office/drawing/2014/main" id="{3BB2AE02-505D-5742-25F3-DB032EDF6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508125" cy="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</a:t>
            </a:r>
          </a:p>
          <a:p>
            <a:pPr eaLnBrk="1" hangingPunct="1"/>
            <a:endParaRPr lang="pt-BR" altLang="pt-BR" b="1">
              <a:solidFill>
                <a:srgbClr val="2C5DAA"/>
              </a:solidFill>
            </a:endParaRPr>
          </a:p>
          <a:p>
            <a:pPr eaLnBrk="1" hangingPunct="1"/>
            <a:r>
              <a:rPr lang="pt-BR" altLang="pt-BR" sz="1500" b="1">
                <a:solidFill>
                  <a:srgbClr val="2C5DAA"/>
                </a:solidFill>
              </a:rPr>
              <a:t>Fluxo de caixa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895E5C0B-8A15-9ABF-841E-9E7147BF6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5E2C56E2-4343-4637-8A02-69B55B7EB4A4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18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19463" name="CaixaDeTexto 6">
            <a:extLst>
              <a:ext uri="{FF2B5EF4-FFF2-40B4-BE49-F238E27FC236}">
                <a16:creationId xmlns:a16="http://schemas.microsoft.com/office/drawing/2014/main" id="{1F744710-F8A2-5588-C2C3-2E1FFDBBDE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688" y="2947988"/>
            <a:ext cx="61436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600"/>
              <a:t>Fluxo de caixa livre da alternativa A:</a:t>
            </a:r>
            <a:endParaRPr lang="pt-BR" altLang="pt-BR" sz="1600">
              <a:latin typeface="TimesTen-Roman"/>
            </a:endParaRPr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5C929E98-F667-CADD-A594-0E188CD96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21680" t="38437" r="18554" b="14687"/>
          <a:stretch>
            <a:fillRect/>
          </a:stretch>
        </p:blipFill>
        <p:spPr bwMode="auto">
          <a:xfrm>
            <a:off x="1674813" y="3333750"/>
            <a:ext cx="5683250" cy="27860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CaixaDeTexto 3">
            <a:extLst>
              <a:ext uri="{FF2B5EF4-FFF2-40B4-BE49-F238E27FC236}">
                <a16:creationId xmlns:a16="http://schemas.microsoft.com/office/drawing/2014/main" id="{C3C4CD48-DF48-46AB-E6CB-A78F77CFE1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98C7121-6B16-933D-53CB-DBF7798B5BE9}"/>
              </a:ext>
            </a:extLst>
          </p:cNvPr>
          <p:cNvSpPr txBox="1"/>
          <p:nvPr/>
        </p:nvSpPr>
        <p:spPr>
          <a:xfrm>
            <a:off x="4538663" y="142875"/>
            <a:ext cx="4605337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4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Projetos de substituição e de renovação de ativos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20484" name="CaixaDeTexto 10">
            <a:extLst>
              <a:ext uri="{FF2B5EF4-FFF2-40B4-BE49-F238E27FC236}">
                <a16:creationId xmlns:a16="http://schemas.microsoft.com/office/drawing/2014/main" id="{60CB27AB-61CA-9E73-1BDA-80F46B700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071D3E2A-FBA0-F8A2-0531-22A3DF52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45B3054E-EC74-4DC3-B1F9-ABD2D37791CC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19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20486" name="CaixaDeTexto 6">
            <a:extLst>
              <a:ext uri="{FF2B5EF4-FFF2-40B4-BE49-F238E27FC236}">
                <a16:creationId xmlns:a16="http://schemas.microsoft.com/office/drawing/2014/main" id="{F0D3EC39-AF5B-F57C-F979-C402CAD160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3057525"/>
            <a:ext cx="6143625" cy="263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 b="1"/>
              <a:t>a)</a:t>
            </a:r>
            <a:r>
              <a:rPr lang="pt-BR" altLang="pt-BR" sz="1600"/>
              <a:t> Custo de aquisição da máquina B................................. – $ 3,20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Valor recebido hoje pela venda da máquina em atual funcionamento.......................................................................$ 2,50 Imposto na venda do equipamento atual ($ 2,5 – $ 2,5) </a:t>
            </a:r>
            <a:r>
              <a:rPr lang="pt-BR" altLang="pt-BR" sz="1600">
                <a:sym typeface="Symbol" panose="05050102010706020507" pitchFamily="18" charset="2"/>
              </a:rPr>
              <a:t></a:t>
            </a:r>
            <a:r>
              <a:rPr lang="pt-BR" altLang="pt-BR" sz="1600"/>
              <a:t> 0,30................................................................................... – $ 0,00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Investimento inicial líquido................................................ – $ 0,70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 </a:t>
            </a:r>
          </a:p>
        </p:txBody>
      </p:sp>
      <p:sp>
        <p:nvSpPr>
          <p:cNvPr id="20487" name="CaixaDeTexto 12">
            <a:extLst>
              <a:ext uri="{FF2B5EF4-FFF2-40B4-BE49-F238E27FC236}">
                <a16:creationId xmlns:a16="http://schemas.microsoft.com/office/drawing/2014/main" id="{7DB27C4F-79C7-F48F-4305-AEB2D62717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508125" cy="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</a:t>
            </a:r>
          </a:p>
          <a:p>
            <a:pPr eaLnBrk="1" hangingPunct="1"/>
            <a:endParaRPr lang="pt-BR" altLang="pt-BR" b="1">
              <a:solidFill>
                <a:srgbClr val="2C5DAA"/>
              </a:solidFill>
            </a:endParaRPr>
          </a:p>
          <a:p>
            <a:pPr eaLnBrk="1" hangingPunct="1"/>
            <a:r>
              <a:rPr lang="pt-BR" altLang="pt-BR" sz="1500" b="1">
                <a:solidFill>
                  <a:srgbClr val="2C5DAA"/>
                </a:solidFill>
              </a:rPr>
              <a:t>Fluxo de caixa</a:t>
            </a: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aixaDeTexto 3">
            <a:extLst>
              <a:ext uri="{FF2B5EF4-FFF2-40B4-BE49-F238E27FC236}">
                <a16:creationId xmlns:a16="http://schemas.microsoft.com/office/drawing/2014/main" id="{7A8A24B4-B60D-C5F5-0359-6F42CB94C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414BE1C-491A-E34F-FE47-2DBE9539ECFC}"/>
              </a:ext>
            </a:extLst>
          </p:cNvPr>
          <p:cNvSpPr txBox="1"/>
          <p:nvPr/>
        </p:nvSpPr>
        <p:spPr>
          <a:xfrm>
            <a:off x="4538663" y="142875"/>
            <a:ext cx="4605337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4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Projetos de substituição e de renovação de ativos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21508" name="CaixaDeTexto 10">
            <a:extLst>
              <a:ext uri="{FF2B5EF4-FFF2-40B4-BE49-F238E27FC236}">
                <a16:creationId xmlns:a16="http://schemas.microsoft.com/office/drawing/2014/main" id="{9E90FDEF-03F1-C468-A7F3-E20AED291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E65C5844-C61D-F259-2928-F5EFA6F6E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7B40656E-B662-4C40-ADC5-BC0A6CB02133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20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21510" name="CaixaDeTexto 6">
            <a:extLst>
              <a:ext uri="{FF2B5EF4-FFF2-40B4-BE49-F238E27FC236}">
                <a16:creationId xmlns:a16="http://schemas.microsoft.com/office/drawing/2014/main" id="{25412667-74FE-637B-E596-77A1D4C700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3057525"/>
            <a:ext cx="6143625" cy="263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pt-BR" altLang="pt-BR" sz="1600" b="1"/>
              <a:t>b)</a:t>
            </a:r>
            <a:r>
              <a:rPr lang="pt-BR" altLang="pt-BR" sz="1600"/>
              <a:t> Valor recebido pela venda da máquina B no 8</a:t>
            </a:r>
            <a:r>
              <a:rPr lang="pt-BR" altLang="pt-BR" sz="1600" u="sng" baseline="30000"/>
              <a:t>o</a:t>
            </a:r>
            <a:r>
              <a:rPr lang="pt-BR" altLang="pt-BR" sz="1600"/>
              <a:t> ano................ ..............................................................................................$ 0,60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Imposto na venda da máquina B no 8</a:t>
            </a:r>
            <a:r>
              <a:rPr lang="pt-BR" altLang="pt-BR" sz="1600" u="sng" baseline="30000"/>
              <a:t>o</a:t>
            </a:r>
            <a:r>
              <a:rPr lang="pt-BR" altLang="pt-BR" sz="1600"/>
              <a:t> ano ($0,6 – $ 0,0) </a:t>
            </a:r>
            <a:r>
              <a:rPr lang="pt-BR" altLang="pt-BR" sz="1600">
                <a:sym typeface="Symbol" panose="05050102010706020507" pitchFamily="18" charset="2"/>
              </a:rPr>
              <a:t></a:t>
            </a:r>
            <a:r>
              <a:rPr lang="pt-BR" altLang="pt-BR" sz="1600"/>
              <a:t> 0,30................................................................................... – $ 0,18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/>
              <a:t>Valor de liquidação da máquina B no 8</a:t>
            </a:r>
            <a:r>
              <a:rPr lang="pt-BR" altLang="pt-BR" sz="1600" u="sng" baseline="30000"/>
              <a:t>o</a:t>
            </a:r>
            <a:r>
              <a:rPr lang="pt-BR" altLang="pt-BR" sz="1600"/>
              <a:t> ano........................$ 0,42</a:t>
            </a:r>
          </a:p>
          <a:p>
            <a:pPr eaLnBrk="1" hangingPunct="1">
              <a:lnSpc>
                <a:spcPct val="150000"/>
              </a:lnSpc>
            </a:pPr>
            <a:r>
              <a:rPr lang="pt-BR" altLang="pt-BR" sz="1600" b="1"/>
              <a:t> </a:t>
            </a:r>
            <a:endParaRPr lang="pt-BR" altLang="pt-BR" sz="1600"/>
          </a:p>
          <a:p>
            <a:pPr eaLnBrk="1" hangingPunct="1">
              <a:lnSpc>
                <a:spcPct val="150000"/>
              </a:lnSpc>
            </a:pPr>
            <a:r>
              <a:rPr lang="pt-BR" altLang="pt-BR" sz="1600" b="1"/>
              <a:t>c) </a:t>
            </a:r>
            <a:r>
              <a:rPr lang="pt-BR" altLang="pt-BR" sz="1600"/>
              <a:t>Depreciação anual da máquina B = 3,2/8 = 0,4</a:t>
            </a:r>
          </a:p>
        </p:txBody>
      </p:sp>
      <p:sp>
        <p:nvSpPr>
          <p:cNvPr id="21511" name="CaixaDeTexto 12">
            <a:extLst>
              <a:ext uri="{FF2B5EF4-FFF2-40B4-BE49-F238E27FC236}">
                <a16:creationId xmlns:a16="http://schemas.microsoft.com/office/drawing/2014/main" id="{8F95AA8D-2617-8768-CDC5-F372F69AE9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508125" cy="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</a:t>
            </a:r>
          </a:p>
          <a:p>
            <a:pPr eaLnBrk="1" hangingPunct="1"/>
            <a:endParaRPr lang="pt-BR" altLang="pt-BR" b="1">
              <a:solidFill>
                <a:srgbClr val="2C5DAA"/>
              </a:solidFill>
            </a:endParaRPr>
          </a:p>
          <a:p>
            <a:pPr eaLnBrk="1" hangingPunct="1"/>
            <a:r>
              <a:rPr lang="pt-BR" altLang="pt-BR" sz="1500" b="1">
                <a:solidFill>
                  <a:srgbClr val="2C5DAA"/>
                </a:solidFill>
              </a:rPr>
              <a:t>Fluxo de caixa</a:t>
            </a:r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CaixaDeTexto 3">
            <a:extLst>
              <a:ext uri="{FF2B5EF4-FFF2-40B4-BE49-F238E27FC236}">
                <a16:creationId xmlns:a16="http://schemas.microsoft.com/office/drawing/2014/main" id="{A23B1062-C78C-C5F9-ADD3-FD8480867D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556D02B-79F6-B64C-AFEB-32775C28F672}"/>
              </a:ext>
            </a:extLst>
          </p:cNvPr>
          <p:cNvSpPr txBox="1"/>
          <p:nvPr/>
        </p:nvSpPr>
        <p:spPr>
          <a:xfrm>
            <a:off x="4538663" y="142875"/>
            <a:ext cx="4605337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4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Projetos de substituição e de renovação de ativos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22532" name="CaixaDeTexto 10">
            <a:extLst>
              <a:ext uri="{FF2B5EF4-FFF2-40B4-BE49-F238E27FC236}">
                <a16:creationId xmlns:a16="http://schemas.microsoft.com/office/drawing/2014/main" id="{5C8A9495-D85A-76D9-17CF-5486078EB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46C7E137-A787-543E-24DF-BD18B3E7E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3CF1F079-C673-4152-8FA2-D61655324E06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21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22534" name="CaixaDeTexto 6">
            <a:extLst>
              <a:ext uri="{FF2B5EF4-FFF2-40B4-BE49-F238E27FC236}">
                <a16:creationId xmlns:a16="http://schemas.microsoft.com/office/drawing/2014/main" id="{E470C3D2-5933-AA1C-AF3D-94D28F4A0B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688" y="2924175"/>
            <a:ext cx="61436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600"/>
              <a:t>Fluxo de caixa livre da alternativa B:</a:t>
            </a:r>
            <a:endParaRPr lang="pt-BR" altLang="pt-BR" sz="1600">
              <a:latin typeface="TimesTen-Roman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C5CA390B-304F-EF6E-2705-C02F36984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24023" t="29063" r="15625" b="23124"/>
          <a:stretch>
            <a:fillRect/>
          </a:stretch>
        </p:blipFill>
        <p:spPr bwMode="auto">
          <a:xfrm>
            <a:off x="1714500" y="3286125"/>
            <a:ext cx="5643563" cy="2794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536" name="CaixaDeTexto 12">
            <a:extLst>
              <a:ext uri="{FF2B5EF4-FFF2-40B4-BE49-F238E27FC236}">
                <a16:creationId xmlns:a16="http://schemas.microsoft.com/office/drawing/2014/main" id="{9282AAEB-7B07-0EB7-58D6-7DED432D1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508125" cy="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</a:t>
            </a:r>
          </a:p>
          <a:p>
            <a:pPr eaLnBrk="1" hangingPunct="1"/>
            <a:endParaRPr lang="pt-BR" altLang="pt-BR" b="1">
              <a:solidFill>
                <a:srgbClr val="2C5DAA"/>
              </a:solidFill>
            </a:endParaRPr>
          </a:p>
          <a:p>
            <a:pPr eaLnBrk="1" hangingPunct="1"/>
            <a:r>
              <a:rPr lang="pt-BR" altLang="pt-BR" sz="1500" b="1">
                <a:solidFill>
                  <a:srgbClr val="2C5DAA"/>
                </a:solidFill>
              </a:rPr>
              <a:t>Fluxo de caixa</a:t>
            </a: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CaixaDeTexto 3">
            <a:extLst>
              <a:ext uri="{FF2B5EF4-FFF2-40B4-BE49-F238E27FC236}">
                <a16:creationId xmlns:a16="http://schemas.microsoft.com/office/drawing/2014/main" id="{EAFF4227-1B33-478A-6A5B-917AF2D64D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6611938"/>
            <a:ext cx="16319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Carlos  Patrício Samanez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E9E71EE-D744-ED55-5A30-2D401D1958FE}"/>
              </a:ext>
            </a:extLst>
          </p:cNvPr>
          <p:cNvSpPr txBox="1"/>
          <p:nvPr/>
        </p:nvSpPr>
        <p:spPr>
          <a:xfrm>
            <a:off x="4538663" y="142875"/>
            <a:ext cx="4605337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b="1" dirty="0">
                <a:solidFill>
                  <a:srgbClr val="2C5DAA"/>
                </a:solidFill>
              </a:rPr>
              <a:t>Capítulo 4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 | Projetos de substituição e de renovação de ativos</a:t>
            </a:r>
            <a:endParaRPr lang="pt-BR" dirty="0">
              <a:solidFill>
                <a:srgbClr val="F12130"/>
              </a:solidFill>
            </a:endParaRPr>
          </a:p>
        </p:txBody>
      </p:sp>
      <p:sp>
        <p:nvSpPr>
          <p:cNvPr id="23556" name="CaixaDeTexto 10">
            <a:extLst>
              <a:ext uri="{FF2B5EF4-FFF2-40B4-BE49-F238E27FC236}">
                <a16:creationId xmlns:a16="http://schemas.microsoft.com/office/drawing/2014/main" id="{13425F0A-26C6-F0E2-A983-0EF2B608CD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6611938"/>
            <a:ext cx="191293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000">
                <a:solidFill>
                  <a:srgbClr val="2C5DAA"/>
                </a:solidFill>
              </a:rPr>
              <a:t>© 2009 by Pearson Education </a:t>
            </a:r>
          </a:p>
        </p:txBody>
      </p:sp>
      <p:sp>
        <p:nvSpPr>
          <p:cNvPr id="3079" name="Espaço Reservado para Número de Slide 7">
            <a:extLst>
              <a:ext uri="{FF2B5EF4-FFF2-40B4-BE49-F238E27FC236}">
                <a16:creationId xmlns:a16="http://schemas.microsoft.com/office/drawing/2014/main" id="{04569172-DF4C-E27C-695F-A613DD5BC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867525" y="6564313"/>
            <a:ext cx="2133600" cy="365125"/>
          </a:xfrm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t>Slide </a:t>
            </a:r>
            <a:fld id="{9E0FBCB6-72A5-42E6-92BD-7359B1745583}" type="slidenum">
              <a:rPr lang="pt-BR" altLang="pt-BR">
                <a:solidFill>
                  <a:srgbClr val="2C5DAA"/>
                </a:solidFill>
                <a:latin typeface="Calibri" panose="020F0502020204030204" pitchFamily="34" charset="0"/>
              </a:rPr>
              <a:pPr eaLnBrk="1" hangingPunct="1"/>
              <a:t>22</a:t>
            </a:fld>
            <a:endParaRPr lang="pt-BR" altLang="pt-BR">
              <a:solidFill>
                <a:srgbClr val="2C5DAA"/>
              </a:solidFill>
              <a:latin typeface="Calibri" panose="020F0502020204030204" pitchFamily="34" charset="0"/>
            </a:endParaRPr>
          </a:p>
        </p:txBody>
      </p:sp>
      <p:sp>
        <p:nvSpPr>
          <p:cNvPr id="23558" name="CaixaDeTexto 6">
            <a:extLst>
              <a:ext uri="{FF2B5EF4-FFF2-40B4-BE49-F238E27FC236}">
                <a16:creationId xmlns:a16="http://schemas.microsoft.com/office/drawing/2014/main" id="{48AAE474-F833-762D-BD11-A3B39CAEF9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1688" y="2997200"/>
            <a:ext cx="61436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600"/>
              <a:t>Cálculo do custo anual equivalente das alternativas:</a:t>
            </a:r>
            <a:endParaRPr lang="pt-BR" altLang="pt-BR" sz="1600">
              <a:latin typeface="TimesTen-Roman"/>
            </a:endParaRPr>
          </a:p>
        </p:txBody>
      </p:sp>
      <p:pic>
        <p:nvPicPr>
          <p:cNvPr id="24578" name="Picture 2">
            <a:extLst>
              <a:ext uri="{FF2B5EF4-FFF2-40B4-BE49-F238E27FC236}">
                <a16:creationId xmlns:a16="http://schemas.microsoft.com/office/drawing/2014/main" id="{05F7C54E-4A43-AF6E-7B58-906B58BD7C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 l="29297" t="46875" r="29687" b="27812"/>
          <a:stretch>
            <a:fillRect/>
          </a:stretch>
        </p:blipFill>
        <p:spPr bwMode="auto">
          <a:xfrm>
            <a:off x="4857750" y="3614738"/>
            <a:ext cx="3357563" cy="1295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3560" name="Retângulo 8">
            <a:extLst>
              <a:ext uri="{FF2B5EF4-FFF2-40B4-BE49-F238E27FC236}">
                <a16:creationId xmlns:a16="http://schemas.microsoft.com/office/drawing/2014/main" id="{E4DDF1C8-8E62-68C0-7C4E-1C7D61B95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2800" y="5305425"/>
            <a:ext cx="51323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1600"/>
              <a:t>Como CAEB &lt; CAEA ⇒ selecionamos a alternativa B. 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1AD2FC08-A260-19B1-BAFA-4430868BBF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31640" t="16875" r="27344" b="59688"/>
          <a:stretch>
            <a:fillRect/>
          </a:stretch>
        </p:blipFill>
        <p:spPr bwMode="auto">
          <a:xfrm>
            <a:off x="1071563" y="3613150"/>
            <a:ext cx="3643312" cy="1301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3562" name="CaixaDeTexto 12">
            <a:extLst>
              <a:ext uri="{FF2B5EF4-FFF2-40B4-BE49-F238E27FC236}">
                <a16:creationId xmlns:a16="http://schemas.microsoft.com/office/drawing/2014/main" id="{5BF3746B-4C8E-0442-BC29-3D27ED6FFE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2130425"/>
            <a:ext cx="1508125" cy="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b="1">
                <a:solidFill>
                  <a:srgbClr val="2C5DAA"/>
                </a:solidFill>
              </a:rPr>
              <a:t>Exemplo</a:t>
            </a:r>
          </a:p>
          <a:p>
            <a:pPr eaLnBrk="1" hangingPunct="1"/>
            <a:endParaRPr lang="pt-BR" altLang="pt-BR" b="1">
              <a:solidFill>
                <a:srgbClr val="2C5DAA"/>
              </a:solidFill>
            </a:endParaRPr>
          </a:p>
          <a:p>
            <a:pPr eaLnBrk="1" hangingPunct="1"/>
            <a:r>
              <a:rPr lang="pt-BR" altLang="pt-BR" sz="1500" b="1">
                <a:solidFill>
                  <a:srgbClr val="2C5DAA"/>
                </a:solidFill>
              </a:rPr>
              <a:t>Fluxo de caixa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A8A4E097220C94CA78F0CF62B1C4486" ma:contentTypeVersion="20" ma:contentTypeDescription="Crie um novo documento." ma:contentTypeScope="" ma:versionID="e274cbce19eccc8f05082042bdbebfe6">
  <xsd:schema xmlns:xsd="http://www.w3.org/2001/XMLSchema" xmlns:xs="http://www.w3.org/2001/XMLSchema" xmlns:p="http://schemas.microsoft.com/office/2006/metadata/properties" xmlns:ns2="f244cccc-9ebe-487b-9f49-451c84d31f5d" xmlns:ns3="6d1e6d4d-286d-4a1d-879b-bd877680a131" targetNamespace="http://schemas.microsoft.com/office/2006/metadata/properties" ma:root="true" ma:fieldsID="8d05ae5ea0c3b3bf75339924b2fa7c23" ns2:_="" ns3:_="">
    <xsd:import namespace="f244cccc-9ebe-487b-9f49-451c84d31f5d"/>
    <xsd:import namespace="6d1e6d4d-286d-4a1d-879b-bd877680a1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Grupo15_x002d_MatheuseLorena" minOccurs="0"/>
                <xsd:element ref="ns2:_x002e_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Data" minOccurs="0"/>
                <xsd:element ref="ns2:MediaServiceOCR" minOccurs="0"/>
                <xsd:element ref="ns2:grupo13_x002d_MarceloPasso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44cccc-9ebe-487b-9f49-451c84d31f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Grupo15_x002d_MatheuseLorena" ma:index="15" nillable="true" ma:displayName="Grupo 15 - Matheus e Lorena" ma:format="Dropdown" ma:internalName="Grupo15_x002d_MatheuseLorena">
      <xsd:simpleType>
        <xsd:restriction base="dms:Text">
          <xsd:maxLength value="255"/>
        </xsd:restriction>
      </xsd:simpleType>
    </xsd:element>
    <xsd:element name="_x002e_" ma:index="16" nillable="true" ma:displayName="." ma:format="Dropdown" ma:internalName="_x002e_">
      <xsd:simpleType>
        <xsd:restriction base="dms:Text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Marcações de imagem" ma:readOnly="false" ma:fieldId="{5cf76f15-5ced-4ddc-b409-7134ff3c332f}" ma:taxonomyMulti="true" ma:sspId="242374f3-4cab-4e95-b6f7-35998408ef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ata" ma:index="24" nillable="true" ma:displayName="Data" ma:default="[today]" ma:format="DateTime" ma:internalName="Data">
      <xsd:simpleType>
        <xsd:restriction base="dms:DateTime"/>
      </xsd:simpleType>
    </xsd:element>
    <xsd:element name="MediaServiceOCR" ma:index="2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grupo13_x002d_MarceloPassos" ma:index="26" nillable="true" ma:displayName="grupo 13 - Marcelo Passos " ma:format="Dropdown" ma:internalName="grupo13_x002d_MarceloPasso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1e6d4d-286d-4a1d-879b-bd877680a13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114cce79-e80e-4214-aac2-dd100738ee36}" ma:internalName="TaxCatchAll" ma:showField="CatchAllData" ma:web="6d1e6d4d-286d-4a1d-879b-bd877680a13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a xmlns="f244cccc-9ebe-487b-9f49-451c84d31f5d">2026-05-04T13:47:23+00:00</Data>
    <Grupo15_x002d_MatheuseLorena xmlns="f244cccc-9ebe-487b-9f49-451c84d31f5d" xsi:nil="true"/>
    <lcf76f155ced4ddcb4097134ff3c332f xmlns="f244cccc-9ebe-487b-9f49-451c84d31f5d">
      <Terms xmlns="http://schemas.microsoft.com/office/infopath/2007/PartnerControls"/>
    </lcf76f155ced4ddcb4097134ff3c332f>
    <_x002e_ xmlns="f244cccc-9ebe-487b-9f49-451c84d31f5d" xsi:nil="true"/>
    <TaxCatchAll xmlns="6d1e6d4d-286d-4a1d-879b-bd877680a131" xsi:nil="true"/>
    <grupo13_x002d_MarceloPassos xmlns="f244cccc-9ebe-487b-9f49-451c84d31f5d" xsi:nil="true"/>
  </documentManagement>
</p:properties>
</file>

<file path=customXml/itemProps1.xml><?xml version="1.0" encoding="utf-8"?>
<ds:datastoreItem xmlns:ds="http://schemas.openxmlformats.org/officeDocument/2006/customXml" ds:itemID="{952D2666-5BD4-4D07-B799-DECD32107954}"/>
</file>

<file path=customXml/itemProps2.xml><?xml version="1.0" encoding="utf-8"?>
<ds:datastoreItem xmlns:ds="http://schemas.openxmlformats.org/officeDocument/2006/customXml" ds:itemID="{7592344F-1A6C-42BF-87DD-D52DB13B34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706E07-8888-4EED-B852-C9F85C795B1D}"/>
</file>

<file path=docProps/app.xml><?xml version="1.0" encoding="utf-8"?>
<Properties xmlns="http://schemas.openxmlformats.org/officeDocument/2006/extended-properties" xmlns:vt="http://schemas.openxmlformats.org/officeDocument/2006/docPropsVTypes">
  <TotalTime>1567</TotalTime>
  <Words>1318</Words>
  <Application>Microsoft Office PowerPoint</Application>
  <PresentationFormat>Apresentação na tela (4:3)</PresentationFormat>
  <Paragraphs>186</Paragraphs>
  <Slides>22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3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ICONE 4 COMUNICAÇÃO E ARTE LTDA</dc:creator>
  <cp:lastModifiedBy>carlos</cp:lastModifiedBy>
  <cp:revision>135</cp:revision>
  <dcterms:created xsi:type="dcterms:W3CDTF">2009-04-20T19:30:33Z</dcterms:created>
  <dcterms:modified xsi:type="dcterms:W3CDTF">2026-05-04T13:47:23Z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0x0101003A8A4E097220C94CA78F0CF62B1C4486</vt:lpwstr>
  </property>
</Properties>
</file>
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sldIdLst>
    <p:sldId id="280" r:id="rId5"/>
    <p:sldId id="319" r:id="rId6"/>
    <p:sldId id="283" r:id="rId7"/>
    <p:sldId id="309" r:id="rId8"/>
    <p:sldId id="310" r:id="rId9"/>
    <p:sldId id="284" r:id="rId10"/>
    <p:sldId id="285" r:id="rId11"/>
    <p:sldId id="286" r:id="rId12"/>
    <p:sldId id="287" r:id="rId13"/>
    <p:sldId id="288" r:id="rId14"/>
    <p:sldId id="290" r:id="rId15"/>
    <p:sldId id="311" r:id="rId16"/>
    <p:sldId id="312" r:id="rId17"/>
    <p:sldId id="320" r:id="rId18"/>
    <p:sldId id="291" r:id="rId19"/>
    <p:sldId id="321" r:id="rId20"/>
    <p:sldId id="294" r:id="rId21"/>
    <p:sldId id="323" r:id="rId22"/>
    <p:sldId id="324" r:id="rId23"/>
    <p:sldId id="296" r:id="rId24"/>
    <p:sldId id="297" r:id="rId25"/>
    <p:sldId id="299" r:id="rId26"/>
    <p:sldId id="300" r:id="rId27"/>
    <p:sldId id="313" r:id="rId28"/>
    <p:sldId id="301" r:id="rId29"/>
    <p:sldId id="314" r:id="rId30"/>
    <p:sldId id="302" r:id="rId31"/>
    <p:sldId id="303" r:id="rId32"/>
    <p:sldId id="304" r:id="rId33"/>
    <p:sldId id="315" r:id="rId34"/>
    <p:sldId id="322" r:id="rId35"/>
    <p:sldId id="316" r:id="rId36"/>
    <p:sldId id="305" r:id="rId37"/>
    <p:sldId id="308" r:id="rId38"/>
    <p:sldId id="317" r:id="rId39"/>
    <p:sldId id="318" r:id="rId40"/>
    <p:sldId id="307" r:id="rId41"/>
  </p:sldIdLst>
  <p:sldSz cx="9144000" cy="6858000" type="screen4x3"/>
  <p:notesSz cx="7104063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C17FE-B1E3-4DF0-A00E-8F424F0ED4A9}" v="4" dt="2022-12-07T17:16:50.425"/>
    <p1510:client id="{F9567817-27EE-4625-B523-7C3A0D130D3D}" v="1" dt="2022-07-20T15:10:00.336"/>
    <p1510:client id="{FE650C1A-2360-4A92-A9E5-AE5DB5DD4C42}" v="1" dt="2023-10-16T12:55:52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Henrique Pereira Silva" userId="S::200019171@aluno.unb.br::e63c78b8-b42b-4e66-86dd-bd734b17def0" providerId="AD" clId="Web-{F9567817-27EE-4625-B523-7C3A0D130D3D}"/>
    <pc:docChg chg="sldOrd">
      <pc:chgData name="Gustavo Henrique Pereira Silva" userId="S::200019171@aluno.unb.br::e63c78b8-b42b-4e66-86dd-bd734b17def0" providerId="AD" clId="Web-{F9567817-27EE-4625-B523-7C3A0D130D3D}" dt="2022-07-20T15:10:00.336" v="0"/>
      <pc:docMkLst>
        <pc:docMk/>
      </pc:docMkLst>
      <pc:sldChg chg="ord">
        <pc:chgData name="Gustavo Henrique Pereira Silva" userId="S::200019171@aluno.unb.br::e63c78b8-b42b-4e66-86dd-bd734b17def0" providerId="AD" clId="Web-{F9567817-27EE-4625-B523-7C3A0D130D3D}" dt="2022-07-20T15:10:00.336" v="0"/>
        <pc:sldMkLst>
          <pc:docMk/>
          <pc:sldMk cId="0" sldId="318"/>
        </pc:sldMkLst>
      </pc:sldChg>
    </pc:docChg>
  </pc:docChgLst>
  <pc:docChgLst>
    <pc:chgData name="Eduardo Augusto Dalmolin Rosa" userId="S::190086467@aluno.unb.br::c429956c-4e64-4e9d-ba53-3ac862276610" providerId="AD" clId="Web-{FE650C1A-2360-4A92-A9E5-AE5DB5DD4C42}"/>
    <pc:docChg chg="sldOrd">
      <pc:chgData name="Eduardo Augusto Dalmolin Rosa" userId="S::190086467@aluno.unb.br::c429956c-4e64-4e9d-ba53-3ac862276610" providerId="AD" clId="Web-{FE650C1A-2360-4A92-A9E5-AE5DB5DD4C42}" dt="2023-10-16T12:55:52.340" v="0"/>
      <pc:docMkLst>
        <pc:docMk/>
      </pc:docMkLst>
      <pc:sldChg chg="ord">
        <pc:chgData name="Eduardo Augusto Dalmolin Rosa" userId="S::190086467@aluno.unb.br::c429956c-4e64-4e9d-ba53-3ac862276610" providerId="AD" clId="Web-{FE650C1A-2360-4A92-A9E5-AE5DB5DD4C42}" dt="2023-10-16T12:55:52.340" v="0"/>
        <pc:sldMkLst>
          <pc:docMk/>
          <pc:sldMk cId="0" sldId="310"/>
        </pc:sldMkLst>
      </pc:sldChg>
    </pc:docChg>
  </pc:docChgLst>
  <pc:docChgLst>
    <pc:chgData name="Mateus Vaz De Holanda Ricarte" userId="S::202014664@aluno.unb.br::4477a115-154a-477a-b249-fb7bcc372af4" providerId="AD" clId="Web-{B8FC17FE-B1E3-4DF0-A00E-8F424F0ED4A9}"/>
    <pc:docChg chg="addSld delSld">
      <pc:chgData name="Mateus Vaz De Holanda Ricarte" userId="S::202014664@aluno.unb.br::4477a115-154a-477a-b249-fb7bcc372af4" providerId="AD" clId="Web-{B8FC17FE-B1E3-4DF0-A00E-8F424F0ED4A9}" dt="2022-12-07T17:16:50.425" v="3"/>
      <pc:docMkLst>
        <pc:docMk/>
      </pc:docMkLst>
      <pc:sldChg chg="new del">
        <pc:chgData name="Mateus Vaz De Holanda Ricarte" userId="S::202014664@aluno.unb.br::4477a115-154a-477a-b249-fb7bcc372af4" providerId="AD" clId="Web-{B8FC17FE-B1E3-4DF0-A00E-8F424F0ED4A9}" dt="2022-12-07T17:01:00.670" v="1"/>
        <pc:sldMkLst>
          <pc:docMk/>
          <pc:sldMk cId="30865419" sldId="325"/>
        </pc:sldMkLst>
      </pc:sldChg>
      <pc:sldChg chg="new del">
        <pc:chgData name="Mateus Vaz De Holanda Ricarte" userId="S::202014664@aluno.unb.br::4477a115-154a-477a-b249-fb7bcc372af4" providerId="AD" clId="Web-{B8FC17FE-B1E3-4DF0-A00E-8F424F0ED4A9}" dt="2022-12-07T17:16:50.425" v="3"/>
        <pc:sldMkLst>
          <pc:docMk/>
          <pc:sldMk cId="1065727114" sldId="3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3567F2A-9E1C-D3FB-998C-79BB3B4F47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3718FB-4748-73A3-A1BC-44E9654D273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0E23BF93-7635-4822-8127-9E4CB8AF5660}" type="datetimeFigureOut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05A34536-E909-E762-CFF6-AA4490C4A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3180B0DB-2308-4464-F4D7-BA46AB3D0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3250" cy="4605338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82B854-91FB-9454-6A01-E4449E7B80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308392-E494-94AD-F87A-4CAEA680F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fld id="{10F23EEE-3F77-405E-84CB-BC1788A2ABAD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9056C159-AC0B-D4C9-071C-E3BECDD896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3EF81347-ACD0-F6D8-9EAA-6822E26DD9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961ABD86-137D-4942-8D5E-CA2035BD1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648036-A8DE-415F-8AF5-0A1BD8480A1A}" type="slidenum">
              <a:rPr lang="pt-BR" altLang="pt-BR" sz="1300"/>
              <a:pPr>
                <a:spcBef>
                  <a:spcPct val="0"/>
                </a:spcBef>
              </a:pPr>
              <a:t>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Imagem de Slide 1">
            <a:extLst>
              <a:ext uri="{FF2B5EF4-FFF2-40B4-BE49-F238E27FC236}">
                <a16:creationId xmlns:a16="http://schemas.microsoft.com/office/drawing/2014/main" id="{2C06CC7E-742E-9BAD-EE2D-82E777434B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Espaço Reservado para Anotações 2">
            <a:extLst>
              <a:ext uri="{FF2B5EF4-FFF2-40B4-BE49-F238E27FC236}">
                <a16:creationId xmlns:a16="http://schemas.microsoft.com/office/drawing/2014/main" id="{3CD405AF-C1C1-345A-39CF-B91A947AFF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148" name="Espaço Reservado para Número de Slide 3">
            <a:extLst>
              <a:ext uri="{FF2B5EF4-FFF2-40B4-BE49-F238E27FC236}">
                <a16:creationId xmlns:a16="http://schemas.microsoft.com/office/drawing/2014/main" id="{AA134057-2F1B-DCBE-15CF-6FEC7400A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57EA1D-AC74-4149-8BF8-AA443217BB7E}" type="slidenum">
              <a:rPr lang="pt-BR" altLang="pt-BR" sz="1300"/>
              <a:pPr>
                <a:spcBef>
                  <a:spcPct val="0"/>
                </a:spcBef>
              </a:pPr>
              <a:t>2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>
            <a:extLst>
              <a:ext uri="{FF2B5EF4-FFF2-40B4-BE49-F238E27FC236}">
                <a16:creationId xmlns:a16="http://schemas.microsoft.com/office/drawing/2014/main" id="{C665A7FE-7D38-8CE3-602F-0692A5B331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Espaço Reservado para Anotações 2">
            <a:extLst>
              <a:ext uri="{FF2B5EF4-FFF2-40B4-BE49-F238E27FC236}">
                <a16:creationId xmlns:a16="http://schemas.microsoft.com/office/drawing/2014/main" id="{00F14B31-A2DC-0B89-3026-CDE2AA943C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196" name="Espaço Reservado para Número de Slide 3">
            <a:extLst>
              <a:ext uri="{FF2B5EF4-FFF2-40B4-BE49-F238E27FC236}">
                <a16:creationId xmlns:a16="http://schemas.microsoft.com/office/drawing/2014/main" id="{E537DC2B-B8B3-ADE1-5176-3506C5C9B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CDFE72-4BE0-4C08-B047-B2174ED0B1D9}" type="slidenum">
              <a:rPr lang="pt-BR" altLang="pt-BR" sz="1300"/>
              <a:pPr>
                <a:spcBef>
                  <a:spcPct val="0"/>
                </a:spcBef>
              </a:pPr>
              <a:t>3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Imagem de Slide 1">
            <a:extLst>
              <a:ext uri="{FF2B5EF4-FFF2-40B4-BE49-F238E27FC236}">
                <a16:creationId xmlns:a16="http://schemas.microsoft.com/office/drawing/2014/main" id="{F75A95C3-4A66-FE03-82E6-7EC33546DE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Espaço Reservado para Anotações 2">
            <a:extLst>
              <a:ext uri="{FF2B5EF4-FFF2-40B4-BE49-F238E27FC236}">
                <a16:creationId xmlns:a16="http://schemas.microsoft.com/office/drawing/2014/main" id="{A4589495-494A-ECAA-51D5-7F3E65FE00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2292" name="Espaço Reservado para Número de Slide 3">
            <a:extLst>
              <a:ext uri="{FF2B5EF4-FFF2-40B4-BE49-F238E27FC236}">
                <a16:creationId xmlns:a16="http://schemas.microsoft.com/office/drawing/2014/main" id="{20CE1CCE-7FC3-5CD5-32E7-854096F0A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4335B6-C972-4739-AD5C-783247DC4F24}" type="slidenum">
              <a:rPr lang="pt-BR" altLang="pt-BR" sz="1300"/>
              <a:pPr>
                <a:spcBef>
                  <a:spcPct val="0"/>
                </a:spcBef>
              </a:pPr>
              <a:t>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Imagem de Slide 1">
            <a:extLst>
              <a:ext uri="{FF2B5EF4-FFF2-40B4-BE49-F238E27FC236}">
                <a16:creationId xmlns:a16="http://schemas.microsoft.com/office/drawing/2014/main" id="{B8E9B8E4-E41E-9415-84E9-4C81AD4F71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ço Reservado para Anotações 2">
            <a:extLst>
              <a:ext uri="{FF2B5EF4-FFF2-40B4-BE49-F238E27FC236}">
                <a16:creationId xmlns:a16="http://schemas.microsoft.com/office/drawing/2014/main" id="{10941127-42F7-3ED7-23DE-0776FF82BB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0244" name="Espaço Reservado para Número de Slide 3">
            <a:extLst>
              <a:ext uri="{FF2B5EF4-FFF2-40B4-BE49-F238E27FC236}">
                <a16:creationId xmlns:a16="http://schemas.microsoft.com/office/drawing/2014/main" id="{312751D3-FD38-90D3-434D-B60188866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BDCE40-6EAF-405F-AB2C-988450EEC4C7}" type="slidenum">
              <a:rPr lang="pt-BR" altLang="pt-BR" sz="1300"/>
              <a:pPr>
                <a:spcBef>
                  <a:spcPct val="0"/>
                </a:spcBef>
              </a:pPr>
              <a:t>4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Imagem de Slide 1">
            <a:extLst>
              <a:ext uri="{FF2B5EF4-FFF2-40B4-BE49-F238E27FC236}">
                <a16:creationId xmlns:a16="http://schemas.microsoft.com/office/drawing/2014/main" id="{548E6362-EFEE-BAE3-908A-BEBDD22B49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Espaço Reservado para Anotações 2">
            <a:extLst>
              <a:ext uri="{FF2B5EF4-FFF2-40B4-BE49-F238E27FC236}">
                <a16:creationId xmlns:a16="http://schemas.microsoft.com/office/drawing/2014/main" id="{A704D5EF-C780-516C-D445-E116AB1905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4340" name="Espaço Reservado para Número de Slide 3">
            <a:extLst>
              <a:ext uri="{FF2B5EF4-FFF2-40B4-BE49-F238E27FC236}">
                <a16:creationId xmlns:a16="http://schemas.microsoft.com/office/drawing/2014/main" id="{A49300CD-799F-3C2B-FD2F-9287C15EB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ECD668-2520-4B16-BFA1-FE5D107478B2}" type="slidenum">
              <a:rPr lang="pt-BR" altLang="pt-BR" sz="1300"/>
              <a:pPr>
                <a:spcBef>
                  <a:spcPct val="0"/>
                </a:spcBef>
              </a:pPr>
              <a:t>6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Imagem de Slide 1">
            <a:extLst>
              <a:ext uri="{FF2B5EF4-FFF2-40B4-BE49-F238E27FC236}">
                <a16:creationId xmlns:a16="http://schemas.microsoft.com/office/drawing/2014/main" id="{CCCF2DF3-8555-9D8B-3639-0E9F42B753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Espaço Reservado para Anotações 2">
            <a:extLst>
              <a:ext uri="{FF2B5EF4-FFF2-40B4-BE49-F238E27FC236}">
                <a16:creationId xmlns:a16="http://schemas.microsoft.com/office/drawing/2014/main" id="{34CDE422-580A-EE14-FEE0-0D918BEA76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6388" name="Espaço Reservado para Número de Slide 3">
            <a:extLst>
              <a:ext uri="{FF2B5EF4-FFF2-40B4-BE49-F238E27FC236}">
                <a16:creationId xmlns:a16="http://schemas.microsoft.com/office/drawing/2014/main" id="{BE3D5EED-ACD5-1283-DD42-EFE413081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3CA4F5-FADF-4671-9549-3B3D39A89E84}" type="slidenum">
              <a:rPr lang="pt-BR" altLang="pt-BR" sz="1300"/>
              <a:pPr>
                <a:spcBef>
                  <a:spcPct val="0"/>
                </a:spcBef>
              </a:pPr>
              <a:t>7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8D0B8D0-7C4B-E365-781F-34D1446BD5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8AE0BA0-9ED2-6967-AB57-48E59BC83A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2C2DCD0-E00D-3BCB-82D7-5810A5C53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297346-C547-4E12-9626-404775B6649D}" type="slidenum">
              <a:rPr lang="pt-BR" altLang="pt-BR" sz="1300"/>
              <a:pPr>
                <a:spcBef>
                  <a:spcPct val="0"/>
                </a:spcBef>
              </a:pPr>
              <a:t>8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CB468819-7BB5-DD40-7115-AD4346125B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CEB79A35-5BFC-A9C5-FAFE-EE2C2301EE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0484" name="Espaço Reservado para Número de Slide 3">
            <a:extLst>
              <a:ext uri="{FF2B5EF4-FFF2-40B4-BE49-F238E27FC236}">
                <a16:creationId xmlns:a16="http://schemas.microsoft.com/office/drawing/2014/main" id="{4C3028C1-75AC-8352-25B8-90D0C0A62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2B495F-908C-4DBB-8A2A-5811D1EF6029}" type="slidenum">
              <a:rPr lang="pt-BR" altLang="pt-BR" sz="1300"/>
              <a:pPr>
                <a:spcBef>
                  <a:spcPct val="0"/>
                </a:spcBef>
              </a:pPr>
              <a:t>9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>
            <a:extLst>
              <a:ext uri="{FF2B5EF4-FFF2-40B4-BE49-F238E27FC236}">
                <a16:creationId xmlns:a16="http://schemas.microsoft.com/office/drawing/2014/main" id="{4244C5C6-7FA4-896D-21CC-10F4ADEE21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>
            <a:extLst>
              <a:ext uri="{FF2B5EF4-FFF2-40B4-BE49-F238E27FC236}">
                <a16:creationId xmlns:a16="http://schemas.microsoft.com/office/drawing/2014/main" id="{AC93FC42-0602-D851-975E-08582825E2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2532" name="Espaço Reservado para Número de Slide 3">
            <a:extLst>
              <a:ext uri="{FF2B5EF4-FFF2-40B4-BE49-F238E27FC236}">
                <a16:creationId xmlns:a16="http://schemas.microsoft.com/office/drawing/2014/main" id="{BDB1EB7E-4E2C-3156-A0C6-B2D2A93D2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A467B4-4D86-4B1A-B90F-B99840240AC8}" type="slidenum">
              <a:rPr lang="pt-BR" altLang="pt-BR" sz="1300"/>
              <a:pPr>
                <a:spcBef>
                  <a:spcPct val="0"/>
                </a:spcBef>
              </a:pPr>
              <a:t>10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Imagem de Slide 1">
            <a:extLst>
              <a:ext uri="{FF2B5EF4-FFF2-40B4-BE49-F238E27FC236}">
                <a16:creationId xmlns:a16="http://schemas.microsoft.com/office/drawing/2014/main" id="{F05FCB4E-B9D0-7E24-34C4-2BB5C165A2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Espaço Reservado para Anotações 2">
            <a:extLst>
              <a:ext uri="{FF2B5EF4-FFF2-40B4-BE49-F238E27FC236}">
                <a16:creationId xmlns:a16="http://schemas.microsoft.com/office/drawing/2014/main" id="{3D3A0331-3080-4420-C9ED-551D4F0188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4580" name="Espaço Reservado para Número de Slide 3">
            <a:extLst>
              <a:ext uri="{FF2B5EF4-FFF2-40B4-BE49-F238E27FC236}">
                <a16:creationId xmlns:a16="http://schemas.microsoft.com/office/drawing/2014/main" id="{927F1474-96DF-B453-18B5-973992877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D23138-9A5A-4363-B003-E4F8A2184C67}" type="slidenum">
              <a:rPr lang="pt-BR" altLang="pt-BR" sz="1300"/>
              <a:pPr>
                <a:spcBef>
                  <a:spcPct val="0"/>
                </a:spcBef>
              </a:pPr>
              <a:t>11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Imagem de Slide 1">
            <a:extLst>
              <a:ext uri="{FF2B5EF4-FFF2-40B4-BE49-F238E27FC236}">
                <a16:creationId xmlns:a16="http://schemas.microsoft.com/office/drawing/2014/main" id="{5E69D373-210B-F6DE-FAFA-7105B6612B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ço Reservado para Anotações 2">
            <a:extLst>
              <a:ext uri="{FF2B5EF4-FFF2-40B4-BE49-F238E27FC236}">
                <a16:creationId xmlns:a16="http://schemas.microsoft.com/office/drawing/2014/main" id="{AA23E784-4E0A-B5DC-5200-DBF9B8DBF0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6628" name="Espaço Reservado para Número de Slide 3">
            <a:extLst>
              <a:ext uri="{FF2B5EF4-FFF2-40B4-BE49-F238E27FC236}">
                <a16:creationId xmlns:a16="http://schemas.microsoft.com/office/drawing/2014/main" id="{AD862F5E-9B22-EB35-11E1-DAAC7CD7D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EA2C69-F4B4-4265-B1C1-5311BD83C817}" type="slidenum">
              <a:rPr lang="pt-BR" altLang="pt-BR" sz="1300"/>
              <a:pPr>
                <a:spcBef>
                  <a:spcPct val="0"/>
                </a:spcBef>
              </a:pPr>
              <a:t>12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Imagem de Slide 1">
            <a:extLst>
              <a:ext uri="{FF2B5EF4-FFF2-40B4-BE49-F238E27FC236}">
                <a16:creationId xmlns:a16="http://schemas.microsoft.com/office/drawing/2014/main" id="{2CAED3C6-E0F6-3594-7BDF-8B2B385271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Espaço Reservado para Anotações 2">
            <a:extLst>
              <a:ext uri="{FF2B5EF4-FFF2-40B4-BE49-F238E27FC236}">
                <a16:creationId xmlns:a16="http://schemas.microsoft.com/office/drawing/2014/main" id="{8D3362F8-77BC-644D-1364-88DB42DA32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8676" name="Espaço Reservado para Número de Slide 3">
            <a:extLst>
              <a:ext uri="{FF2B5EF4-FFF2-40B4-BE49-F238E27FC236}">
                <a16:creationId xmlns:a16="http://schemas.microsoft.com/office/drawing/2014/main" id="{BD5DFF26-10D7-1832-A8BA-63395FF28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057A8B-04CD-4AAF-AD14-4B180678265C}" type="slidenum">
              <a:rPr lang="pt-BR" altLang="pt-BR" sz="1300"/>
              <a:pPr>
                <a:spcBef>
                  <a:spcPct val="0"/>
                </a:spcBef>
              </a:pPr>
              <a:t>13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>
            <a:extLst>
              <a:ext uri="{FF2B5EF4-FFF2-40B4-BE49-F238E27FC236}">
                <a16:creationId xmlns:a16="http://schemas.microsoft.com/office/drawing/2014/main" id="{789CDD90-E9E1-E86C-7122-B2681E1B95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>
            <a:extLst>
              <a:ext uri="{FF2B5EF4-FFF2-40B4-BE49-F238E27FC236}">
                <a16:creationId xmlns:a16="http://schemas.microsoft.com/office/drawing/2014/main" id="{68109A81-E1E0-46CD-6BBC-D33ABCD9FF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65AF3087-CA6C-1B26-243B-B83198002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B56351-9FD6-485E-8656-227C42890FAC}" type="slidenum">
              <a:rPr lang="pt-BR" altLang="pt-BR" sz="1300"/>
              <a:pPr>
                <a:spcBef>
                  <a:spcPct val="0"/>
                </a:spcBef>
              </a:pPr>
              <a:t>14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>
            <a:extLst>
              <a:ext uri="{FF2B5EF4-FFF2-40B4-BE49-F238E27FC236}">
                <a16:creationId xmlns:a16="http://schemas.microsoft.com/office/drawing/2014/main" id="{F81DA6BE-2F29-83D8-D566-6B9623611E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>
            <a:extLst>
              <a:ext uri="{FF2B5EF4-FFF2-40B4-BE49-F238E27FC236}">
                <a16:creationId xmlns:a16="http://schemas.microsoft.com/office/drawing/2014/main" id="{827A5511-2431-EA11-EDD9-57880F29F3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2772" name="Espaço Reservado para Número de Slide 3">
            <a:extLst>
              <a:ext uri="{FF2B5EF4-FFF2-40B4-BE49-F238E27FC236}">
                <a16:creationId xmlns:a16="http://schemas.microsoft.com/office/drawing/2014/main" id="{2E31F5C1-C19B-0AFB-88B3-74D15B127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42ED6E-BAFE-46ED-ADDE-D8AAA9A7E258}" type="slidenum">
              <a:rPr lang="pt-BR" altLang="pt-BR" sz="1300"/>
              <a:pPr>
                <a:spcBef>
                  <a:spcPct val="0"/>
                </a:spcBef>
              </a:pPr>
              <a:t>15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>
            <a:extLst>
              <a:ext uri="{FF2B5EF4-FFF2-40B4-BE49-F238E27FC236}">
                <a16:creationId xmlns:a16="http://schemas.microsoft.com/office/drawing/2014/main" id="{4E699B7C-EB2B-C006-8890-DF4C28F3BC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>
            <a:extLst>
              <a:ext uri="{FF2B5EF4-FFF2-40B4-BE49-F238E27FC236}">
                <a16:creationId xmlns:a16="http://schemas.microsoft.com/office/drawing/2014/main" id="{B17D3000-00E2-237D-3958-73FB817547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4820" name="Espaço Reservado para Número de Slide 3">
            <a:extLst>
              <a:ext uri="{FF2B5EF4-FFF2-40B4-BE49-F238E27FC236}">
                <a16:creationId xmlns:a16="http://schemas.microsoft.com/office/drawing/2014/main" id="{A674FE71-7D96-6C5C-3331-F15C3F8D2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EE1A9B-0258-4F47-84D4-6E111272FDBA}" type="slidenum">
              <a:rPr lang="pt-BR" altLang="pt-BR" sz="1300"/>
              <a:pPr>
                <a:spcBef>
                  <a:spcPct val="0"/>
                </a:spcBef>
              </a:pPr>
              <a:t>16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>
            <a:extLst>
              <a:ext uri="{FF2B5EF4-FFF2-40B4-BE49-F238E27FC236}">
                <a16:creationId xmlns:a16="http://schemas.microsoft.com/office/drawing/2014/main" id="{B2217C49-AABE-71C9-86F4-CB22E9A683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Espaço Reservado para Anotações 2">
            <a:extLst>
              <a:ext uri="{FF2B5EF4-FFF2-40B4-BE49-F238E27FC236}">
                <a16:creationId xmlns:a16="http://schemas.microsoft.com/office/drawing/2014/main" id="{520110B0-E91B-EB28-F6E7-BDAEB3F99D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6868" name="Espaço Reservado para Número de Slide 3">
            <a:extLst>
              <a:ext uri="{FF2B5EF4-FFF2-40B4-BE49-F238E27FC236}">
                <a16:creationId xmlns:a16="http://schemas.microsoft.com/office/drawing/2014/main" id="{0E9E4256-1819-0D02-9A98-8D5432D2D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E80632-6B7C-4EFD-B8BC-991CA530AC1A}" type="slidenum">
              <a:rPr lang="pt-BR" altLang="pt-BR" sz="1300"/>
              <a:pPr>
                <a:spcBef>
                  <a:spcPct val="0"/>
                </a:spcBef>
              </a:pPr>
              <a:t>17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>
            <a:extLst>
              <a:ext uri="{FF2B5EF4-FFF2-40B4-BE49-F238E27FC236}">
                <a16:creationId xmlns:a16="http://schemas.microsoft.com/office/drawing/2014/main" id="{0E8EAD26-998E-06E5-00D1-52E07BEBC9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Espaço Reservado para Anotações 2">
            <a:extLst>
              <a:ext uri="{FF2B5EF4-FFF2-40B4-BE49-F238E27FC236}">
                <a16:creationId xmlns:a16="http://schemas.microsoft.com/office/drawing/2014/main" id="{35856C6E-600F-76E3-F402-935AD02EC3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8916" name="Espaço Reservado para Número de Slide 3">
            <a:extLst>
              <a:ext uri="{FF2B5EF4-FFF2-40B4-BE49-F238E27FC236}">
                <a16:creationId xmlns:a16="http://schemas.microsoft.com/office/drawing/2014/main" id="{00274ADA-03F4-90F9-57E6-4A88AB1E7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1AE82A-F8BC-4DB7-AA89-BBA3F50E8F4E}" type="slidenum">
              <a:rPr lang="pt-BR" altLang="pt-BR" sz="1300"/>
              <a:pPr>
                <a:spcBef>
                  <a:spcPct val="0"/>
                </a:spcBef>
              </a:pPr>
              <a:t>18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>
            <a:extLst>
              <a:ext uri="{FF2B5EF4-FFF2-40B4-BE49-F238E27FC236}">
                <a16:creationId xmlns:a16="http://schemas.microsoft.com/office/drawing/2014/main" id="{D2305491-B52F-3C0B-7023-D68F676C7C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Espaço Reservado para Anotações 2">
            <a:extLst>
              <a:ext uri="{FF2B5EF4-FFF2-40B4-BE49-F238E27FC236}">
                <a16:creationId xmlns:a16="http://schemas.microsoft.com/office/drawing/2014/main" id="{4990929E-5E25-B06B-6F25-EEFEBDB434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0964" name="Espaço Reservado para Número de Slide 3">
            <a:extLst>
              <a:ext uri="{FF2B5EF4-FFF2-40B4-BE49-F238E27FC236}">
                <a16:creationId xmlns:a16="http://schemas.microsoft.com/office/drawing/2014/main" id="{557EB9BD-754F-D901-1F98-24F656F51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04441B-2D1B-45D6-A5AF-DD38E040449D}" type="slidenum">
              <a:rPr lang="pt-BR" altLang="pt-BR" sz="1300"/>
              <a:pPr>
                <a:spcBef>
                  <a:spcPct val="0"/>
                </a:spcBef>
              </a:pPr>
              <a:t>19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>
            <a:extLst>
              <a:ext uri="{FF2B5EF4-FFF2-40B4-BE49-F238E27FC236}">
                <a16:creationId xmlns:a16="http://schemas.microsoft.com/office/drawing/2014/main" id="{5DCDC7C1-8F20-7621-65F7-EEB76418C2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Espaço Reservado para Anotações 2">
            <a:extLst>
              <a:ext uri="{FF2B5EF4-FFF2-40B4-BE49-F238E27FC236}">
                <a16:creationId xmlns:a16="http://schemas.microsoft.com/office/drawing/2014/main" id="{1B6F1999-3C31-82B9-A93F-726ACAB29A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88C733B7-FAD6-1557-0D8C-FE7BCF253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EBC602-8123-4E03-9602-C388604D7DC6}" type="slidenum">
              <a:rPr lang="pt-BR" altLang="pt-BR" sz="1300"/>
              <a:pPr>
                <a:spcBef>
                  <a:spcPct val="0"/>
                </a:spcBef>
              </a:pPr>
              <a:t>20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6D0CA9BE-B363-A6A4-B02F-E7F90E11FA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AABCA70F-5AFA-62BD-B9B8-C3A4C65124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5060" name="Espaço Reservado para Número de Slide 3">
            <a:extLst>
              <a:ext uri="{FF2B5EF4-FFF2-40B4-BE49-F238E27FC236}">
                <a16:creationId xmlns:a16="http://schemas.microsoft.com/office/drawing/2014/main" id="{84474DAE-DF4A-8A75-742F-817D1E394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1331A3-168E-4DB7-AF0D-0F5B55179E16}" type="slidenum">
              <a:rPr lang="pt-BR" altLang="pt-BR" sz="1300"/>
              <a:pPr>
                <a:spcBef>
                  <a:spcPct val="0"/>
                </a:spcBef>
              </a:pPr>
              <a:t>21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>
            <a:extLst>
              <a:ext uri="{FF2B5EF4-FFF2-40B4-BE49-F238E27FC236}">
                <a16:creationId xmlns:a16="http://schemas.microsoft.com/office/drawing/2014/main" id="{3325CC73-0ECF-FD91-7A0D-A5AC5F7659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Espaço Reservado para Anotações 2">
            <a:extLst>
              <a:ext uri="{FF2B5EF4-FFF2-40B4-BE49-F238E27FC236}">
                <a16:creationId xmlns:a16="http://schemas.microsoft.com/office/drawing/2014/main" id="{2EAF22E1-12CC-43B2-D057-A8D509B5B7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7108" name="Espaço Reservado para Número de Slide 3">
            <a:extLst>
              <a:ext uri="{FF2B5EF4-FFF2-40B4-BE49-F238E27FC236}">
                <a16:creationId xmlns:a16="http://schemas.microsoft.com/office/drawing/2014/main" id="{7E3A0D0F-6616-5C35-3198-F1F4B8984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4A5E88-274A-46ED-8A94-FF39C170C188}" type="slidenum">
              <a:rPr lang="pt-BR" altLang="pt-BR" sz="1300"/>
              <a:pPr>
                <a:spcBef>
                  <a:spcPct val="0"/>
                </a:spcBef>
              </a:pPr>
              <a:t>22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>
            <a:extLst>
              <a:ext uri="{FF2B5EF4-FFF2-40B4-BE49-F238E27FC236}">
                <a16:creationId xmlns:a16="http://schemas.microsoft.com/office/drawing/2014/main" id="{D90D446E-9994-597B-DEE0-DCD8D2AC22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Espaço Reservado para Anotações 2">
            <a:extLst>
              <a:ext uri="{FF2B5EF4-FFF2-40B4-BE49-F238E27FC236}">
                <a16:creationId xmlns:a16="http://schemas.microsoft.com/office/drawing/2014/main" id="{BF242CCA-69FA-08B5-9CCB-F43B01663E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9156" name="Espaço Reservado para Número de Slide 3">
            <a:extLst>
              <a:ext uri="{FF2B5EF4-FFF2-40B4-BE49-F238E27FC236}">
                <a16:creationId xmlns:a16="http://schemas.microsoft.com/office/drawing/2014/main" id="{D5417624-B2F4-EB17-6932-B7F568A66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A27C63-CF7E-4488-9622-7E6B8EF63776}" type="slidenum">
              <a:rPr lang="pt-BR" altLang="pt-BR" sz="1300"/>
              <a:pPr>
                <a:spcBef>
                  <a:spcPct val="0"/>
                </a:spcBef>
              </a:pPr>
              <a:t>23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>
            <a:extLst>
              <a:ext uri="{FF2B5EF4-FFF2-40B4-BE49-F238E27FC236}">
                <a16:creationId xmlns:a16="http://schemas.microsoft.com/office/drawing/2014/main" id="{A1CBA403-3A22-D052-B002-015A7F6BC5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ço Reservado para Anotações 2">
            <a:extLst>
              <a:ext uri="{FF2B5EF4-FFF2-40B4-BE49-F238E27FC236}">
                <a16:creationId xmlns:a16="http://schemas.microsoft.com/office/drawing/2014/main" id="{14B4B1B8-8D6A-2B82-AF97-AEED458422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1204" name="Espaço Reservado para Número de Slide 3">
            <a:extLst>
              <a:ext uri="{FF2B5EF4-FFF2-40B4-BE49-F238E27FC236}">
                <a16:creationId xmlns:a16="http://schemas.microsoft.com/office/drawing/2014/main" id="{00872DEC-1EA1-317B-D8AD-F598E0D66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9E2575-0F48-4E5E-B97D-06075E712AB3}" type="slidenum">
              <a:rPr lang="pt-BR" altLang="pt-BR" sz="1300"/>
              <a:pPr>
                <a:spcBef>
                  <a:spcPct val="0"/>
                </a:spcBef>
              </a:pPr>
              <a:t>24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>
            <a:extLst>
              <a:ext uri="{FF2B5EF4-FFF2-40B4-BE49-F238E27FC236}">
                <a16:creationId xmlns:a16="http://schemas.microsoft.com/office/drawing/2014/main" id="{A7676AED-01C2-1F67-498A-8CD3700BA2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Espaço Reservado para Anotações 2">
            <a:extLst>
              <a:ext uri="{FF2B5EF4-FFF2-40B4-BE49-F238E27FC236}">
                <a16:creationId xmlns:a16="http://schemas.microsoft.com/office/drawing/2014/main" id="{D082140C-0572-FAC1-D402-6AE2DC6076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3252" name="Espaço Reservado para Número de Slide 3">
            <a:extLst>
              <a:ext uri="{FF2B5EF4-FFF2-40B4-BE49-F238E27FC236}">
                <a16:creationId xmlns:a16="http://schemas.microsoft.com/office/drawing/2014/main" id="{0AF26183-823D-4042-46F1-0C00A9F8C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858E2C-FDE6-48E4-B3E5-CFBAF9B19C74}" type="slidenum">
              <a:rPr lang="pt-BR" altLang="pt-BR" sz="1300"/>
              <a:pPr>
                <a:spcBef>
                  <a:spcPct val="0"/>
                </a:spcBef>
              </a:pPr>
              <a:t>25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>
            <a:extLst>
              <a:ext uri="{FF2B5EF4-FFF2-40B4-BE49-F238E27FC236}">
                <a16:creationId xmlns:a16="http://schemas.microsoft.com/office/drawing/2014/main" id="{85FFF60E-0731-82EC-D1FE-9EF4A2198A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Espaço Reservado para Anotações 2">
            <a:extLst>
              <a:ext uri="{FF2B5EF4-FFF2-40B4-BE49-F238E27FC236}">
                <a16:creationId xmlns:a16="http://schemas.microsoft.com/office/drawing/2014/main" id="{F79B0EC1-5D2D-4799-9A48-BD1603106A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5300" name="Espaço Reservado para Número de Slide 3">
            <a:extLst>
              <a:ext uri="{FF2B5EF4-FFF2-40B4-BE49-F238E27FC236}">
                <a16:creationId xmlns:a16="http://schemas.microsoft.com/office/drawing/2014/main" id="{A07A002A-3C90-2E9D-82DE-15609A44A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A95746-3D4B-43C0-B14F-34F00E713ABC}" type="slidenum">
              <a:rPr lang="pt-BR" altLang="pt-BR" sz="1300"/>
              <a:pPr>
                <a:spcBef>
                  <a:spcPct val="0"/>
                </a:spcBef>
              </a:pPr>
              <a:t>26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>
            <a:extLst>
              <a:ext uri="{FF2B5EF4-FFF2-40B4-BE49-F238E27FC236}">
                <a16:creationId xmlns:a16="http://schemas.microsoft.com/office/drawing/2014/main" id="{533E6B01-9E88-9394-9146-A42298418F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Espaço Reservado para Anotações 2">
            <a:extLst>
              <a:ext uri="{FF2B5EF4-FFF2-40B4-BE49-F238E27FC236}">
                <a16:creationId xmlns:a16="http://schemas.microsoft.com/office/drawing/2014/main" id="{36D0718E-56F6-5D55-62BF-F912BFA8C0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7348" name="Espaço Reservado para Número de Slide 3">
            <a:extLst>
              <a:ext uri="{FF2B5EF4-FFF2-40B4-BE49-F238E27FC236}">
                <a16:creationId xmlns:a16="http://schemas.microsoft.com/office/drawing/2014/main" id="{695CF8F5-031C-7B26-D678-DB25CD2E7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83437F-9648-4B60-9CD7-624B019007A0}" type="slidenum">
              <a:rPr lang="pt-BR" altLang="pt-BR" sz="1300"/>
              <a:pPr>
                <a:spcBef>
                  <a:spcPct val="0"/>
                </a:spcBef>
              </a:pPr>
              <a:t>27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>
            <a:extLst>
              <a:ext uri="{FF2B5EF4-FFF2-40B4-BE49-F238E27FC236}">
                <a16:creationId xmlns:a16="http://schemas.microsoft.com/office/drawing/2014/main" id="{AA7EC37D-1533-1BE5-DAF0-F832209B3F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Espaço Reservado para Anotações 2">
            <a:extLst>
              <a:ext uri="{FF2B5EF4-FFF2-40B4-BE49-F238E27FC236}">
                <a16:creationId xmlns:a16="http://schemas.microsoft.com/office/drawing/2014/main" id="{B9AEB848-41E3-AFC9-C7DA-233505BC6F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9396" name="Espaço Reservado para Número de Slide 3">
            <a:extLst>
              <a:ext uri="{FF2B5EF4-FFF2-40B4-BE49-F238E27FC236}">
                <a16:creationId xmlns:a16="http://schemas.microsoft.com/office/drawing/2014/main" id="{9AC25954-9681-D337-ADCC-3E3AE8227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A12CDE-B8D1-48E6-96C0-7C80DB068519}" type="slidenum">
              <a:rPr lang="pt-BR" altLang="pt-BR" sz="1300"/>
              <a:pPr>
                <a:spcBef>
                  <a:spcPct val="0"/>
                </a:spcBef>
              </a:pPr>
              <a:t>28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id="{DBAF6920-E63B-71E4-72EE-B33572D73C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id="{A79FC73B-269E-832C-2F29-1B71B4FF3A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1444" name="Espaço Reservado para Número de Slide 3">
            <a:extLst>
              <a:ext uri="{FF2B5EF4-FFF2-40B4-BE49-F238E27FC236}">
                <a16:creationId xmlns:a16="http://schemas.microsoft.com/office/drawing/2014/main" id="{534493ED-7F5C-9044-B376-C8DF10B60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D1988C-2273-4648-AB9B-4CFDCA814751}" type="slidenum">
              <a:rPr lang="pt-BR" altLang="pt-BR" sz="1300"/>
              <a:pPr>
                <a:spcBef>
                  <a:spcPct val="0"/>
                </a:spcBef>
              </a:pPr>
              <a:t>29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>
            <a:extLst>
              <a:ext uri="{FF2B5EF4-FFF2-40B4-BE49-F238E27FC236}">
                <a16:creationId xmlns:a16="http://schemas.microsoft.com/office/drawing/2014/main" id="{540DB6B0-AB5C-D2D6-91B8-D4790473E3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Espaço Reservado para Anotações 2">
            <a:extLst>
              <a:ext uri="{FF2B5EF4-FFF2-40B4-BE49-F238E27FC236}">
                <a16:creationId xmlns:a16="http://schemas.microsoft.com/office/drawing/2014/main" id="{5D7B480D-8B2F-DFC5-33C3-12C11F02BA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3492" name="Espaço Reservado para Número de Slide 3">
            <a:extLst>
              <a:ext uri="{FF2B5EF4-FFF2-40B4-BE49-F238E27FC236}">
                <a16:creationId xmlns:a16="http://schemas.microsoft.com/office/drawing/2014/main" id="{CE5DDFF8-D2B2-DE87-02C4-5F59AE922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D6248E-A18A-42FD-9B2A-A1208FA50BE6}" type="slidenum">
              <a:rPr lang="pt-BR" altLang="pt-BR" sz="1300"/>
              <a:pPr>
                <a:spcBef>
                  <a:spcPct val="0"/>
                </a:spcBef>
              </a:pPr>
              <a:t>30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>
            <a:extLst>
              <a:ext uri="{FF2B5EF4-FFF2-40B4-BE49-F238E27FC236}">
                <a16:creationId xmlns:a16="http://schemas.microsoft.com/office/drawing/2014/main" id="{FCC0EAA5-9401-12E8-D019-11AAD297A8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ço Reservado para Anotações 2">
            <a:extLst>
              <a:ext uri="{FF2B5EF4-FFF2-40B4-BE49-F238E27FC236}">
                <a16:creationId xmlns:a16="http://schemas.microsoft.com/office/drawing/2014/main" id="{40D75D86-526A-2551-5D06-CD174BADA8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5540" name="Espaço Reservado para Número de Slide 3">
            <a:extLst>
              <a:ext uri="{FF2B5EF4-FFF2-40B4-BE49-F238E27FC236}">
                <a16:creationId xmlns:a16="http://schemas.microsoft.com/office/drawing/2014/main" id="{23C1E9BC-9C33-60BD-2DBA-B9B9A7316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5AF3DF-0E5A-48E3-8E41-AA78DF3AD6E9}" type="slidenum">
              <a:rPr lang="pt-BR" altLang="pt-BR" sz="1300"/>
              <a:pPr>
                <a:spcBef>
                  <a:spcPct val="0"/>
                </a:spcBef>
              </a:pPr>
              <a:t>31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>
            <a:extLst>
              <a:ext uri="{FF2B5EF4-FFF2-40B4-BE49-F238E27FC236}">
                <a16:creationId xmlns:a16="http://schemas.microsoft.com/office/drawing/2014/main" id="{0FF963D7-0070-4B62-3D8A-9F5389EEA9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Espaço Reservado para Anotações 2">
            <a:extLst>
              <a:ext uri="{FF2B5EF4-FFF2-40B4-BE49-F238E27FC236}">
                <a16:creationId xmlns:a16="http://schemas.microsoft.com/office/drawing/2014/main" id="{B0BBFE2A-D221-039E-C9F6-B330469508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7588" name="Espaço Reservado para Número de Slide 3">
            <a:extLst>
              <a:ext uri="{FF2B5EF4-FFF2-40B4-BE49-F238E27FC236}">
                <a16:creationId xmlns:a16="http://schemas.microsoft.com/office/drawing/2014/main" id="{7FF11FB7-086F-DD3E-7626-A8BBDC9AB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F8219B-6802-4427-9822-F03D56E96566}" type="slidenum">
              <a:rPr lang="pt-BR" altLang="pt-BR" sz="1300"/>
              <a:pPr>
                <a:spcBef>
                  <a:spcPct val="0"/>
                </a:spcBef>
              </a:pPr>
              <a:t>32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>
            <a:extLst>
              <a:ext uri="{FF2B5EF4-FFF2-40B4-BE49-F238E27FC236}">
                <a16:creationId xmlns:a16="http://schemas.microsoft.com/office/drawing/2014/main" id="{5C8D1079-8D2D-5642-7C84-364A2A9955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Espaço Reservado para Anotações 2">
            <a:extLst>
              <a:ext uri="{FF2B5EF4-FFF2-40B4-BE49-F238E27FC236}">
                <a16:creationId xmlns:a16="http://schemas.microsoft.com/office/drawing/2014/main" id="{CF1125C7-850D-6237-97AB-FB33ED7957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9636" name="Espaço Reservado para Número de Slide 3">
            <a:extLst>
              <a:ext uri="{FF2B5EF4-FFF2-40B4-BE49-F238E27FC236}">
                <a16:creationId xmlns:a16="http://schemas.microsoft.com/office/drawing/2014/main" id="{C5299485-9C8C-CB44-3D51-D11D68689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D1E259-6692-40EB-994F-445C91595A3F}" type="slidenum">
              <a:rPr lang="pt-BR" altLang="pt-BR" sz="1300"/>
              <a:pPr>
                <a:spcBef>
                  <a:spcPct val="0"/>
                </a:spcBef>
              </a:pPr>
              <a:t>33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>
            <a:extLst>
              <a:ext uri="{FF2B5EF4-FFF2-40B4-BE49-F238E27FC236}">
                <a16:creationId xmlns:a16="http://schemas.microsoft.com/office/drawing/2014/main" id="{B6171B10-7F29-8CC3-5EB9-63FDB8EC69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Espaço Reservado para Anotações 2">
            <a:extLst>
              <a:ext uri="{FF2B5EF4-FFF2-40B4-BE49-F238E27FC236}">
                <a16:creationId xmlns:a16="http://schemas.microsoft.com/office/drawing/2014/main" id="{8C00A313-8F35-45AA-4320-73E1707CBD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684" name="Espaço Reservado para Número de Slide 3">
            <a:extLst>
              <a:ext uri="{FF2B5EF4-FFF2-40B4-BE49-F238E27FC236}">
                <a16:creationId xmlns:a16="http://schemas.microsoft.com/office/drawing/2014/main" id="{318FBB9D-9B9E-F846-57ED-C9795D5BE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827A00-6BFE-4BF8-BD16-B5A6820577EF}" type="slidenum">
              <a:rPr lang="pt-BR" altLang="pt-BR" sz="1300"/>
              <a:pPr>
                <a:spcBef>
                  <a:spcPct val="0"/>
                </a:spcBef>
              </a:pPr>
              <a:t>34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9E5AEE79-7E99-EF87-1166-A043E002F8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15B627FE-09F4-D27F-2BC5-4CE710DF46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23D1430B-74D8-E35E-0FF4-D78C74E67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5F4950-2B24-4F90-BF44-00BC7212F36C}" type="slidenum">
              <a:rPr lang="pt-BR" altLang="pt-BR" sz="1300"/>
              <a:pPr>
                <a:spcBef>
                  <a:spcPct val="0"/>
                </a:spcBef>
              </a:pPr>
              <a:t>35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>
            <a:extLst>
              <a:ext uri="{FF2B5EF4-FFF2-40B4-BE49-F238E27FC236}">
                <a16:creationId xmlns:a16="http://schemas.microsoft.com/office/drawing/2014/main" id="{260BC296-F3F0-5A12-EFFF-7454C3BA91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Espaço Reservado para Anotações 2">
            <a:extLst>
              <a:ext uri="{FF2B5EF4-FFF2-40B4-BE49-F238E27FC236}">
                <a16:creationId xmlns:a16="http://schemas.microsoft.com/office/drawing/2014/main" id="{ABDB0FB3-1683-8E6B-67ED-A993845524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7828" name="Espaço Reservado para Número de Slide 3">
            <a:extLst>
              <a:ext uri="{FF2B5EF4-FFF2-40B4-BE49-F238E27FC236}">
                <a16:creationId xmlns:a16="http://schemas.microsoft.com/office/drawing/2014/main" id="{68CFAFC1-4A10-B668-6668-60144B424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A29CFD-218D-49F4-8AEC-8829ADCD1102}" type="slidenum">
              <a:rPr lang="pt-BR" altLang="pt-BR" sz="1300"/>
              <a:pPr>
                <a:spcBef>
                  <a:spcPct val="0"/>
                </a:spcBef>
              </a:pPr>
              <a:t>36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>
            <a:extLst>
              <a:ext uri="{FF2B5EF4-FFF2-40B4-BE49-F238E27FC236}">
                <a16:creationId xmlns:a16="http://schemas.microsoft.com/office/drawing/2014/main" id="{4A46491F-02A5-5EA2-0344-D2B4D7F108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Espaço Reservado para Anotações 2">
            <a:extLst>
              <a:ext uri="{FF2B5EF4-FFF2-40B4-BE49-F238E27FC236}">
                <a16:creationId xmlns:a16="http://schemas.microsoft.com/office/drawing/2014/main" id="{98C513E7-0B1F-8D01-C2C9-CB32F4EC39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5780" name="Espaço Reservado para Número de Slide 3">
            <a:extLst>
              <a:ext uri="{FF2B5EF4-FFF2-40B4-BE49-F238E27FC236}">
                <a16:creationId xmlns:a16="http://schemas.microsoft.com/office/drawing/2014/main" id="{57D6EF1E-A1C2-1E31-22A2-8AF258802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4863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16B4E9-F096-40F5-91BE-C2DC9A444BEA}" type="slidenum">
              <a:rPr lang="pt-BR" altLang="pt-BR" sz="1300"/>
              <a:pPr>
                <a:spcBef>
                  <a:spcPct val="0"/>
                </a:spcBef>
              </a:pPr>
              <a:t>37</a:t>
            </a:fld>
            <a:endParaRPr lang="pt-BR" altLang="pt-BR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1785E2-3609-DFB2-29DC-88C8386F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44E44-0E73-4F9A-B402-91764176279E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BC4B42-0451-6AED-2314-7D899FD4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98B39-16C7-A3C6-8B5F-1657A48E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D6108-9D3C-42DD-9867-DAD309E1E0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7947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4B6A47-4144-AD20-860D-0D4EC065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AD040-F3DC-4995-9AD8-157A9A159825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1622FE-B9DA-378D-6F9F-35EB8E54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BB677B-5623-7E1C-D081-2CC1E178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07184-8E7F-4382-B5A0-C240C1625B4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7451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C65-6C37-ECF6-5A5C-752CCBB8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5C6B8-53C4-49CE-9AAF-F5F62CBE4A79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E3A9FB-9F2F-0C23-309E-EC43D29F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D6FCA-1294-5845-A6FA-D76684ED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EC9C59-2045-4488-82E9-48BE1DED3FC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0149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9413080-C83A-1A1F-78DF-0BA52D68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9EDB3-6F64-4704-A730-92C31A613764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E3FD2DD-F4E9-F39F-BFA3-DB3F1155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BA9AC9F-EAF1-8325-7C3E-233630BC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924989-3A12-4744-B1D0-EC33C1E97F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12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4A2CB57-3CAB-76A7-68DD-D0D90364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361D0-0BF2-48FF-983D-62428B2D20FE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8E2F40EF-417E-1591-344F-23427BB0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7D653EE-260F-037D-1E57-D89ED87B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DB7D6-BF75-4304-8A36-6CB620722F1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115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0449838B-4095-FF84-C126-C7944B7F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7F951-DC74-409B-B11E-B65085B18986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E88B2732-86E7-5B8C-B596-E059C4DA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E86B2E83-0956-8A3A-3434-018722CE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EA043-BE14-480B-8082-4EB85A1BF83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6422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EFCE751F-F00F-A08D-44E1-CA9D16C9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9B42B-206B-4D1C-ABBD-FAB8CFAEFBA1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B2F6D03D-7CD8-213E-2B76-13496657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6FD17B7-0A2B-3E06-3415-78274698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A8ED8-48A9-4888-A99D-D0C503D146B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4016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6284554-273C-0B1A-78EC-10D007EB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D0CDF-3D17-4FF5-B524-ECB4BFB74507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28FE662-9CBB-F68C-324E-4288475DB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19DE33E-21D4-0D48-4307-FD2D313D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6EF3DF-8D7F-415D-A580-464E8DF068F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955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E098990-46C1-5275-7BC9-B8C79361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803D3-2561-477C-B718-7196B4FC3554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85941E1-9BA5-B4C9-2292-E02AB241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CA8B7B1-1E8C-630C-B2DB-ECE2FC93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26AA2-F49B-4A83-A103-3432F9A1D0E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20784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E89A7-86B3-D53B-6400-3EEE15C0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DA30D-2742-41AE-A988-D3063EDA29DA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F6EDC3-E2A3-9FE0-878B-5A73E355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ACFECB-529D-BA91-F318-CF0F90F5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FD512-69CA-42F2-86EF-50F3ABFD5CB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6259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EE93F7-F021-A26D-4BAB-F131E724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9956A-B4F2-4B44-A022-3DC346AA036D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6AECE3-FB3E-DFFE-5229-5B9578E4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C4621D-C8BF-52BF-7438-DD0AF546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BD74F-7F92-465D-B2E1-115498508DC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47501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45483630-3DE5-D6DF-A123-F63C077176B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A517ADA-0D32-82F0-7C2A-BF56021F8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1A83D0-EB0E-056A-A3D6-2E894330C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EBC6165-228B-4932-A57B-40E3D0133276}" type="datetime1">
              <a:rPr lang="pt-BR"/>
              <a:pPr>
                <a:defRPr/>
              </a:pPr>
              <a:t>16/10/2023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2CB836-E570-2E8E-7724-BC2605B65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C7F29D-C547-0C9E-340A-76888837F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F6E0B6D-76B6-4BDF-9C06-F6EDA2EFD6CB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9">
            <a:extLst>
              <a:ext uri="{FF2B5EF4-FFF2-40B4-BE49-F238E27FC236}">
                <a16:creationId xmlns:a16="http://schemas.microsoft.com/office/drawing/2014/main" id="{05FF73C8-E4D2-C1E8-118F-21BB4C6A6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chemeClr val="bg1"/>
                </a:solidFill>
                <a:latin typeface="Arial" panose="020B0604020202020204" pitchFamily="34" charset="0"/>
              </a:rPr>
              <a:t>Capítulo 3</a:t>
            </a:r>
          </a:p>
        </p:txBody>
      </p:sp>
      <p:sp>
        <p:nvSpPr>
          <p:cNvPr id="3075" name="CaixaDeTexto 4">
            <a:extLst>
              <a:ext uri="{FF2B5EF4-FFF2-40B4-BE49-F238E27FC236}">
                <a16:creationId xmlns:a16="http://schemas.microsoft.com/office/drawing/2014/main" id="{33665D63-8761-4677-986E-1F1184E27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Renda econômica e fluxo de caixa na análise e avaliação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das decisões econômicas e financeiras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2847648-CCF5-5003-10F9-A721624F012E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CaixaDeTexto 5">
            <a:extLst>
              <a:ext uri="{FF2B5EF4-FFF2-40B4-BE49-F238E27FC236}">
                <a16:creationId xmlns:a16="http://schemas.microsoft.com/office/drawing/2014/main" id="{BA5FEFA2-E61E-6D5C-C52E-63088BAA2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6622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rgbClr val="2C5DAA"/>
                </a:solidFill>
                <a:latin typeface="Arial" panose="020B0604020202020204" pitchFamily="34" charset="0"/>
              </a:rPr>
              <a:t>Capítulo 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3">
            <a:extLst>
              <a:ext uri="{FF2B5EF4-FFF2-40B4-BE49-F238E27FC236}">
                <a16:creationId xmlns:a16="http://schemas.microsoft.com/office/drawing/2014/main" id="{E50C339C-643B-E98C-B507-7CD02265D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123" name="CaixaDeTexto 6">
            <a:extLst>
              <a:ext uri="{FF2B5EF4-FFF2-40B4-BE49-F238E27FC236}">
                <a16:creationId xmlns:a16="http://schemas.microsoft.com/office/drawing/2014/main" id="{62CE18E3-0AA7-A2C1-A30A-E052C2082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 fluxo de caixa é a principal matéria-prima para estimar o valor de uma empresa, medir a rentabilidade de um projeto de investimento, planejar as operações ou estabelecer a capacidade de pagamento de uma dívida.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Os fluxos de caixa incrementais são a base para o cálculo dos índices que permitem efetuar a avaliação econômica dos projetos de investimento, porque, por meio do desconto desses fluxos, pode ser estabelecida a viabilidade econômica do projeto.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C33249-4FB8-B909-E743-BC3A9596953D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5125" name="CaixaDeTexto 10">
            <a:extLst>
              <a:ext uri="{FF2B5EF4-FFF2-40B4-BE49-F238E27FC236}">
                <a16:creationId xmlns:a16="http://schemas.microsoft.com/office/drawing/2014/main" id="{62AED210-BF49-85C2-0373-237B6D793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126" name="CaixaDeTexto 12">
            <a:extLst>
              <a:ext uri="{FF2B5EF4-FFF2-40B4-BE49-F238E27FC236}">
                <a16:creationId xmlns:a16="http://schemas.microsoft.com/office/drawing/2014/main" id="{AEFEBCD1-1C13-F3E6-5093-AFC630068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19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3.1 Fluxo de caixa incremental</a:t>
            </a:r>
          </a:p>
        </p:txBody>
      </p:sp>
      <p:sp>
        <p:nvSpPr>
          <p:cNvPr id="5127" name="Espaço Reservado para Número de Slide 7">
            <a:extLst>
              <a:ext uri="{FF2B5EF4-FFF2-40B4-BE49-F238E27FC236}">
                <a16:creationId xmlns:a16="http://schemas.microsoft.com/office/drawing/2014/main" id="{5CAF8703-D344-37F7-B8A2-E9644C2D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72A51188-6F94-4CE9-84F8-B70C370F7F4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>
            <a:extLst>
              <a:ext uri="{FF2B5EF4-FFF2-40B4-BE49-F238E27FC236}">
                <a16:creationId xmlns:a16="http://schemas.microsoft.com/office/drawing/2014/main" id="{A571F578-D35C-E664-855F-97E36851B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7171" name="CaixaDeTexto 6">
            <a:extLst>
              <a:ext uri="{FF2B5EF4-FFF2-40B4-BE49-F238E27FC236}">
                <a16:creationId xmlns:a16="http://schemas.microsoft.com/office/drawing/2014/main" id="{443C1402-0EAC-8428-1EF5-94C0A7285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Principais aspectos a serem considerados na montagem do fluxo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de caixa:</a:t>
            </a:r>
            <a:br>
              <a:rPr lang="pt-BR" altLang="pt-BR" sz="1600">
                <a:latin typeface="Arial" panose="020B0604020202020204" pitchFamily="34" charset="0"/>
              </a:rPr>
            </a:br>
            <a:r>
              <a:rPr lang="pt-BR" altLang="pt-BR" sz="1600" b="1">
                <a:latin typeface="Arial" panose="020B0604020202020204" pitchFamily="34" charset="0"/>
              </a:rPr>
              <a:t>1</a:t>
            </a:r>
            <a:r>
              <a:rPr lang="pt-BR" altLang="pt-BR" sz="1600">
                <a:latin typeface="Arial" panose="020B0604020202020204" pitchFamily="34" charset="0"/>
              </a:rPr>
              <a:t>. Os fluxos de caixa devem ser estimados em base incremental.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2</a:t>
            </a:r>
            <a:r>
              <a:rPr lang="pt-BR" altLang="pt-BR" sz="1600">
                <a:latin typeface="Arial" panose="020B0604020202020204" pitchFamily="34" charset="0"/>
              </a:rPr>
              <a:t>. Os custos de oportunidade associados a recursos previamente possuídos devem ser alocados com base no melhor uso alternativo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do bem.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2C9A9-2E46-B637-0D17-39C2D0DD50F4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7173" name="CaixaDeTexto 10">
            <a:extLst>
              <a:ext uri="{FF2B5EF4-FFF2-40B4-BE49-F238E27FC236}">
                <a16:creationId xmlns:a16="http://schemas.microsoft.com/office/drawing/2014/main" id="{B3247133-DD70-5D87-6B5D-BF2289946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174" name="CaixaDeTexto 12">
            <a:extLst>
              <a:ext uri="{FF2B5EF4-FFF2-40B4-BE49-F238E27FC236}">
                <a16:creationId xmlns:a16="http://schemas.microsoft.com/office/drawing/2014/main" id="{E16E15D0-F372-5384-FC71-6BED8C9B4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72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3.2 Considerações na montagem do fluxo de caixa</a:t>
            </a:r>
          </a:p>
        </p:txBody>
      </p:sp>
      <p:sp>
        <p:nvSpPr>
          <p:cNvPr id="7175" name="Espaço Reservado para Número de Slide 7">
            <a:extLst>
              <a:ext uri="{FF2B5EF4-FFF2-40B4-BE49-F238E27FC236}">
                <a16:creationId xmlns:a16="http://schemas.microsoft.com/office/drawing/2014/main" id="{8DF1C91E-B0ED-5D30-3682-A851D7D5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B4FF9CE-DDA6-4CCD-8D4C-E739D93CFF4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>
            <a:extLst>
              <a:ext uri="{FF2B5EF4-FFF2-40B4-BE49-F238E27FC236}">
                <a16:creationId xmlns:a16="http://schemas.microsoft.com/office/drawing/2014/main" id="{13F6471A-7D89-D67B-BE27-6C0D97417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1267" name="CaixaDeTexto 6">
            <a:extLst>
              <a:ext uri="{FF2B5EF4-FFF2-40B4-BE49-F238E27FC236}">
                <a16:creationId xmlns:a16="http://schemas.microsoft.com/office/drawing/2014/main" id="{AB255ECC-3EE8-7ECE-CF94-0CD06393F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6</a:t>
            </a:r>
            <a:r>
              <a:rPr lang="pt-BR" altLang="pt-BR" sz="1600">
                <a:latin typeface="Arial" panose="020B0604020202020204" pitchFamily="34" charset="0"/>
              </a:rPr>
              <a:t>. Os custos passados já gastos (custos afundados) não serão recuperados se o projeto não for empreendido e não devem ser incluídos.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7</a:t>
            </a:r>
            <a:r>
              <a:rPr lang="pt-BR" altLang="pt-BR" sz="1600">
                <a:latin typeface="Arial" panose="020B0604020202020204" pitchFamily="34" charset="0"/>
              </a:rPr>
              <a:t>. Os custos diretamente atribuídos ao projeto devem ser alocados somente se forem incrementais.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8</a:t>
            </a:r>
            <a:r>
              <a:rPr lang="pt-BR" altLang="pt-BR" sz="1600">
                <a:latin typeface="Arial" panose="020B0604020202020204" pitchFamily="34" charset="0"/>
              </a:rPr>
              <a:t>. Os fluxos devidos a financiamento não devem ser incluídos no fluxo de caixa livre para avaliação da viabilidade econômica do investimento de capital.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DEC897-BC47-754A-D168-A18DD92DF83E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11269" name="CaixaDeTexto 10">
            <a:extLst>
              <a:ext uri="{FF2B5EF4-FFF2-40B4-BE49-F238E27FC236}">
                <a16:creationId xmlns:a16="http://schemas.microsoft.com/office/drawing/2014/main" id="{3C19CD31-66F8-79D6-CD1E-592484E2E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1270" name="CaixaDeTexto 12">
            <a:extLst>
              <a:ext uri="{FF2B5EF4-FFF2-40B4-BE49-F238E27FC236}">
                <a16:creationId xmlns:a16="http://schemas.microsoft.com/office/drawing/2014/main" id="{E857C6E7-482A-05B7-0A4E-4AFEDFAC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72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3.2 Considerações na montagem do fluxo de caixa</a:t>
            </a:r>
          </a:p>
        </p:txBody>
      </p:sp>
      <p:sp>
        <p:nvSpPr>
          <p:cNvPr id="11271" name="Espaço Reservado para Número de Slide 7">
            <a:extLst>
              <a:ext uri="{FF2B5EF4-FFF2-40B4-BE49-F238E27FC236}">
                <a16:creationId xmlns:a16="http://schemas.microsoft.com/office/drawing/2014/main" id="{3EAE8534-1FEA-A3EC-3583-F4E592C8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C47907C-2B14-4862-9946-8095BC38D5E7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EC00793D-4D3D-1E9E-5EC4-C97EB6054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9219" name="CaixaDeTexto 6">
            <a:extLst>
              <a:ext uri="{FF2B5EF4-FFF2-40B4-BE49-F238E27FC236}">
                <a16:creationId xmlns:a16="http://schemas.microsoft.com/office/drawing/2014/main" id="{278FDA00-84CA-E99E-CFE7-5C4B8CDE1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3</a:t>
            </a:r>
            <a:r>
              <a:rPr lang="pt-BR" altLang="pt-BR" sz="1600">
                <a:latin typeface="Arial" panose="020B0604020202020204" pitchFamily="34" charset="0"/>
              </a:rPr>
              <a:t>. Devem ser consideradas as mudanças nos requerimentos de capital de giro.</a:t>
            </a:r>
            <a:br>
              <a:rPr lang="pt-BR" altLang="pt-BR" sz="1600">
                <a:latin typeface="Arial" panose="020B0604020202020204" pitchFamily="34" charset="0"/>
              </a:rPr>
            </a:br>
            <a:r>
              <a:rPr lang="pt-BR" altLang="pt-BR" sz="1600" b="1">
                <a:latin typeface="Arial" panose="020B0604020202020204" pitchFamily="34" charset="0"/>
              </a:rPr>
              <a:t>4</a:t>
            </a:r>
            <a:r>
              <a:rPr lang="pt-BR" altLang="pt-BR" sz="1600">
                <a:latin typeface="Arial" panose="020B0604020202020204" pitchFamily="34" charset="0"/>
              </a:rPr>
              <a:t>. Os efeitos fiscais (economias de imposto) e qualquer outro efeito derivado da aceitação do projeto devem ser considerados</a:t>
            </a:r>
            <a:r>
              <a:rPr lang="pt-BR" altLang="pt-BR" sz="1600" b="1">
                <a:latin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5</a:t>
            </a:r>
            <a:r>
              <a:rPr lang="pt-BR" altLang="pt-BR" sz="1600">
                <a:latin typeface="Arial" panose="020B0604020202020204" pitchFamily="34" charset="0"/>
              </a:rPr>
              <a:t>. Os efeitos derivados do projeto devem ser incluídos (como o impacto do projeto em outros setores da empresa).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b="1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9A407BA-9F19-7F51-CF26-94F4FEC8187F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9221" name="CaixaDeTexto 10">
            <a:extLst>
              <a:ext uri="{FF2B5EF4-FFF2-40B4-BE49-F238E27FC236}">
                <a16:creationId xmlns:a16="http://schemas.microsoft.com/office/drawing/2014/main" id="{B395CF9E-769C-1E17-B229-EF8C974AD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222" name="CaixaDeTexto 12">
            <a:extLst>
              <a:ext uri="{FF2B5EF4-FFF2-40B4-BE49-F238E27FC236}">
                <a16:creationId xmlns:a16="http://schemas.microsoft.com/office/drawing/2014/main" id="{F61F2917-CD10-2610-FAEE-AF03E8420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72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3.2 Considerações na montagem do fluxo de caixa</a:t>
            </a:r>
          </a:p>
        </p:txBody>
      </p:sp>
      <p:sp>
        <p:nvSpPr>
          <p:cNvPr id="9223" name="Espaço Reservado para Número de Slide 7">
            <a:extLst>
              <a:ext uri="{FF2B5EF4-FFF2-40B4-BE49-F238E27FC236}">
                <a16:creationId xmlns:a16="http://schemas.microsoft.com/office/drawing/2014/main" id="{6795A1DA-1D1D-BD50-5361-1A3D6DC4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7DE6878E-F438-4E25-A1D5-DC5DA79DA4D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>
            <a:extLst>
              <a:ext uri="{FF2B5EF4-FFF2-40B4-BE49-F238E27FC236}">
                <a16:creationId xmlns:a16="http://schemas.microsoft.com/office/drawing/2014/main" id="{7F3E8C06-9EEB-6D53-0571-8D99927A7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3315" name="CaixaDeTexto 6">
            <a:extLst>
              <a:ext uri="{FF2B5EF4-FFF2-40B4-BE49-F238E27FC236}">
                <a16:creationId xmlns:a16="http://schemas.microsoft.com/office/drawing/2014/main" id="{40A0EC0D-5B7E-66D0-8143-31830DA92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9</a:t>
            </a:r>
            <a:r>
              <a:rPr lang="pt-BR" altLang="pt-BR" sz="1600">
                <a:latin typeface="Arial" panose="020B0604020202020204" pitchFamily="34" charset="0"/>
              </a:rPr>
              <a:t>. Os efeitos da inflação nos fluxos de caixa e na avaliação devem receber tratamento adequado.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10</a:t>
            </a:r>
            <a:r>
              <a:rPr lang="pt-BR" altLang="pt-BR" sz="1600">
                <a:latin typeface="Arial" panose="020B0604020202020204" pitchFamily="34" charset="0"/>
              </a:rPr>
              <a:t>. O valor residual ou de liquidação do projeto deve ser estimado de modo consistente.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0C00D3-2BAE-93BF-AEB6-685F5B354BD3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13317" name="CaixaDeTexto 10">
            <a:extLst>
              <a:ext uri="{FF2B5EF4-FFF2-40B4-BE49-F238E27FC236}">
                <a16:creationId xmlns:a16="http://schemas.microsoft.com/office/drawing/2014/main" id="{C0FF0C80-4FB0-CF83-8BBF-E773BAFBF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3318" name="CaixaDeTexto 12">
            <a:extLst>
              <a:ext uri="{FF2B5EF4-FFF2-40B4-BE49-F238E27FC236}">
                <a16:creationId xmlns:a16="http://schemas.microsoft.com/office/drawing/2014/main" id="{9AC7BC0A-75F0-BA85-4B5B-8FD4BE93A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72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3.2 Considerações na montagem do fluxo de caixa</a:t>
            </a:r>
          </a:p>
        </p:txBody>
      </p:sp>
      <p:sp>
        <p:nvSpPr>
          <p:cNvPr id="13319" name="Espaço Reservado para Número de Slide 7">
            <a:extLst>
              <a:ext uri="{FF2B5EF4-FFF2-40B4-BE49-F238E27FC236}">
                <a16:creationId xmlns:a16="http://schemas.microsoft.com/office/drawing/2014/main" id="{B1F2A288-728E-69C9-3319-4DD77945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DA85726-4B03-426E-A235-3A92DEE839C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>
            <a:extLst>
              <a:ext uri="{FF2B5EF4-FFF2-40B4-BE49-F238E27FC236}">
                <a16:creationId xmlns:a16="http://schemas.microsoft.com/office/drawing/2014/main" id="{9B4623C1-A629-EF9C-CD9E-9FFCC4B02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6F89E8E-9E34-564E-3C3B-6703B38DF97E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15364" name="CaixaDeTexto 10">
            <a:extLst>
              <a:ext uri="{FF2B5EF4-FFF2-40B4-BE49-F238E27FC236}">
                <a16:creationId xmlns:a16="http://schemas.microsoft.com/office/drawing/2014/main" id="{64DCCE1A-8798-FD7F-5A98-A16FE16E5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5365" name="CaixaDeTexto 12">
            <a:extLst>
              <a:ext uri="{FF2B5EF4-FFF2-40B4-BE49-F238E27FC236}">
                <a16:creationId xmlns:a16="http://schemas.microsoft.com/office/drawing/2014/main" id="{1A7DD19F-7167-95EE-2098-81B94A3CA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989138"/>
            <a:ext cx="6929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Horizonte de tempo das projeções </a:t>
            </a:r>
          </a:p>
        </p:txBody>
      </p:sp>
      <p:sp>
        <p:nvSpPr>
          <p:cNvPr id="15366" name="Espaço Reservado para Número de Slide 7">
            <a:extLst>
              <a:ext uri="{FF2B5EF4-FFF2-40B4-BE49-F238E27FC236}">
                <a16:creationId xmlns:a16="http://schemas.microsoft.com/office/drawing/2014/main" id="{CEDF5A63-16F2-6C5D-1536-E12B174C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155CF482-A25E-488E-836C-7702C3F352F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5367" name="CaixaDeTexto 6">
            <a:extLst>
              <a:ext uri="{FF2B5EF4-FFF2-40B4-BE49-F238E27FC236}">
                <a16:creationId xmlns:a16="http://schemas.microsoft.com/office/drawing/2014/main" id="{C7B863C3-A884-5414-DBBB-7FBE25F10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84475"/>
            <a:ext cx="6715125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500" i="1">
                <a:latin typeface="Arial" panose="020B0604020202020204" pitchFamily="34" charset="0"/>
              </a:rPr>
              <a:t>Período de previsão explícita</a:t>
            </a:r>
            <a:r>
              <a:rPr lang="pt-BR" altLang="pt-BR" sz="1500">
                <a:latin typeface="Arial" panose="020B0604020202020204" pitchFamily="34" charset="0"/>
              </a:rPr>
              <a:t> é normalmente definido em função de: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 risco do projeto — quanto maior o risco, menor tenderá a ser o período de previsão explícita, pois, em ambiente de incerteza, menos relevante serão os fluxos mais distantes;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 período de estabilidade — quanto maior a fase de investimento e crescimento do projeto, maior será o período de previsão explícita;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 outros fatores — prazo de concessões, regulamentação econômica etc.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>
            <a:extLst>
              <a:ext uri="{FF2B5EF4-FFF2-40B4-BE49-F238E27FC236}">
                <a16:creationId xmlns:a16="http://schemas.microsoft.com/office/drawing/2014/main" id="{9AC5DC28-B1D3-DEF2-EB2E-CFBB96836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7411" name="CaixaDeTexto 6">
            <a:extLst>
              <a:ext uri="{FF2B5EF4-FFF2-40B4-BE49-F238E27FC236}">
                <a16:creationId xmlns:a16="http://schemas.microsoft.com/office/drawing/2014/main" id="{459B4036-0531-EEBA-3308-989DFF5EE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00313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Na abordagem patrimonial, o valor residual pode ser estimado das seguintes maneiras: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pelo valor de liquidação física dos bens;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pelo custo de reposição dos bens tangíveis e intangíveis do projeto;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pelo valor contábil do patrimônio líquido;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pelo valor de mercado de empresas similares que estejam sendo negociadas.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4F0427-7556-0D3D-9D6C-957A3F49E699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17413" name="CaixaDeTexto 10">
            <a:extLst>
              <a:ext uri="{FF2B5EF4-FFF2-40B4-BE49-F238E27FC236}">
                <a16:creationId xmlns:a16="http://schemas.microsoft.com/office/drawing/2014/main" id="{FAEAF9E2-959E-75C8-7925-A621064F6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7414" name="CaixaDeTexto 12">
            <a:extLst>
              <a:ext uri="{FF2B5EF4-FFF2-40B4-BE49-F238E27FC236}">
                <a16:creationId xmlns:a16="http://schemas.microsoft.com/office/drawing/2014/main" id="{48A2DBE7-62CB-D03F-6103-0DF11DA18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89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Valor residual do projeto</a:t>
            </a:r>
          </a:p>
        </p:txBody>
      </p:sp>
      <p:sp>
        <p:nvSpPr>
          <p:cNvPr id="17415" name="Espaço Reservado para Número de Slide 7">
            <a:extLst>
              <a:ext uri="{FF2B5EF4-FFF2-40B4-BE49-F238E27FC236}">
                <a16:creationId xmlns:a16="http://schemas.microsoft.com/office/drawing/2014/main" id="{F7C9E05A-4965-3F56-E503-437A53C2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89F7837-8A4B-4EC1-8914-2001B2DB412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12">
            <a:extLst>
              <a:ext uri="{FF2B5EF4-FFF2-40B4-BE49-F238E27FC236}">
                <a16:creationId xmlns:a16="http://schemas.microsoft.com/office/drawing/2014/main" id="{338937E3-193E-CB6F-A2BF-E170E0540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838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Custos de oportunidade</a:t>
            </a:r>
          </a:p>
        </p:txBody>
      </p:sp>
      <p:sp>
        <p:nvSpPr>
          <p:cNvPr id="19459" name="CaixaDeTexto 3">
            <a:extLst>
              <a:ext uri="{FF2B5EF4-FFF2-40B4-BE49-F238E27FC236}">
                <a16:creationId xmlns:a16="http://schemas.microsoft.com/office/drawing/2014/main" id="{4C0D9854-DA9F-2189-051B-3D2F6377C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9460" name="CaixaDeTexto 6">
            <a:extLst>
              <a:ext uri="{FF2B5EF4-FFF2-40B4-BE49-F238E27FC236}">
                <a16:creationId xmlns:a16="http://schemas.microsoft.com/office/drawing/2014/main" id="{64C1F1D4-FF1B-01DD-04C6-4E0A37619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67151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Refere-se à quantia que se deixa de ganhar em prol do investimento, se, em vez de aplicados no projeto, os recursos fossem investidos em alternativas de risco similar.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É um reflexo da escassez de recursos, porque, se os recursos fossem ilimitados, não haveria custos de oportunidade.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5CB636-E4A4-ABD5-70F4-D8A27CBAEB0E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19462" name="CaixaDeTexto 10">
            <a:extLst>
              <a:ext uri="{FF2B5EF4-FFF2-40B4-BE49-F238E27FC236}">
                <a16:creationId xmlns:a16="http://schemas.microsoft.com/office/drawing/2014/main" id="{2341CB27-AF1D-7F0E-B328-9D66F560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9463" name="Espaço Reservado para Número de Slide 7">
            <a:extLst>
              <a:ext uri="{FF2B5EF4-FFF2-40B4-BE49-F238E27FC236}">
                <a16:creationId xmlns:a16="http://schemas.microsoft.com/office/drawing/2014/main" id="{EA7FF27F-7340-65F1-76A8-726E343F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4746D67-443A-4EE6-9D02-8092D1D574B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3">
            <a:extLst>
              <a:ext uri="{FF2B5EF4-FFF2-40B4-BE49-F238E27FC236}">
                <a16:creationId xmlns:a16="http://schemas.microsoft.com/office/drawing/2014/main" id="{B84F5D72-E305-6E9C-7FB2-87778595A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1507" name="CaixaDeTexto 6">
            <a:extLst>
              <a:ext uri="{FF2B5EF4-FFF2-40B4-BE49-F238E27FC236}">
                <a16:creationId xmlns:a16="http://schemas.microsoft.com/office/drawing/2014/main" id="{DBAB25D6-C088-C517-2734-9B35EA926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00313"/>
            <a:ext cx="67151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Correspondem a fatores irrecuperáveis ou sem alternativa de uso (custo de oportunidade igual a zero).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Regra: investimentos e fluxos de caixa passados são irrecuperáveis; apenas os fluxos de caixa  presentes e futuros afetam a decisão de continuar ou abandonar um projeto.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Decisões econômicas são prospectivas e devem envolver apenas o que pode ser modificado pelos agentes decisores.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E0D51C-6F00-E48D-35C5-A8061F81A2ED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21509" name="CaixaDeTexto 10">
            <a:extLst>
              <a:ext uri="{FF2B5EF4-FFF2-40B4-BE49-F238E27FC236}">
                <a16:creationId xmlns:a16="http://schemas.microsoft.com/office/drawing/2014/main" id="{26A8B9F8-F873-E8FE-8D10-AD64E7E18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1510" name="CaixaDeTexto 12">
            <a:extLst>
              <a:ext uri="{FF2B5EF4-FFF2-40B4-BE49-F238E27FC236}">
                <a16:creationId xmlns:a16="http://schemas.microsoft.com/office/drawing/2014/main" id="{A6C603DB-EB0E-F09C-4A16-58A6177E9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621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Custos afundados (</a:t>
            </a:r>
            <a:r>
              <a:rPr lang="pt-BR" altLang="pt-BR" sz="1800" b="1" i="1">
                <a:solidFill>
                  <a:srgbClr val="2C5DAA"/>
                </a:solidFill>
                <a:latin typeface="Arial" panose="020B0604020202020204" pitchFamily="34" charset="0"/>
              </a:rPr>
              <a:t>sunk costs</a:t>
            </a: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1511" name="Espaço Reservado para Número de Slide 7">
            <a:extLst>
              <a:ext uri="{FF2B5EF4-FFF2-40B4-BE49-F238E27FC236}">
                <a16:creationId xmlns:a16="http://schemas.microsoft.com/office/drawing/2014/main" id="{E1F480D6-CCAB-728B-1305-B8881491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BB9BB10-292A-4D0D-9297-ACE44BB90DA2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3">
            <a:extLst>
              <a:ext uri="{FF2B5EF4-FFF2-40B4-BE49-F238E27FC236}">
                <a16:creationId xmlns:a16="http://schemas.microsoft.com/office/drawing/2014/main" id="{E161FBD2-BEFB-36E6-A348-15D82195E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3555" name="CaixaDeTexto 6">
            <a:extLst>
              <a:ext uri="{FF2B5EF4-FFF2-40B4-BE49-F238E27FC236}">
                <a16:creationId xmlns:a16="http://schemas.microsoft.com/office/drawing/2014/main" id="{B1D269E8-0ADA-1A58-6828-6E25D62B9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00313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Muitas vezes, os fluxos de caixa de um projeto de investimento são obtidos em detrimento ou em prol de outros projetos já existentes. A perda ou o ganho em outros projetos ocasionada pela decisão de investir é comumente chamada efeito derivado ou colateral.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25FEBF-3DD6-215A-D5A1-740E35349D3A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23557" name="CaixaDeTexto 10">
            <a:extLst>
              <a:ext uri="{FF2B5EF4-FFF2-40B4-BE49-F238E27FC236}">
                <a16:creationId xmlns:a16="http://schemas.microsoft.com/office/drawing/2014/main" id="{81F23FFB-3265-45B1-FF4B-B07667F1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3558" name="CaixaDeTexto 12">
            <a:extLst>
              <a:ext uri="{FF2B5EF4-FFF2-40B4-BE49-F238E27FC236}">
                <a16:creationId xmlns:a16="http://schemas.microsoft.com/office/drawing/2014/main" id="{5D6557D2-CE35-8C99-E7E5-4D2E56C03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10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derivados</a:t>
            </a:r>
          </a:p>
        </p:txBody>
      </p:sp>
      <p:sp>
        <p:nvSpPr>
          <p:cNvPr id="23559" name="Espaço Reservado para Número de Slide 7">
            <a:extLst>
              <a:ext uri="{FF2B5EF4-FFF2-40B4-BE49-F238E27FC236}">
                <a16:creationId xmlns:a16="http://schemas.microsoft.com/office/drawing/2014/main" id="{B4704A6F-BE72-4A77-179B-32B673F9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F5217336-72D4-487B-9798-FBCA8932BAE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aixaDeTexto 3">
            <a:extLst>
              <a:ext uri="{FF2B5EF4-FFF2-40B4-BE49-F238E27FC236}">
                <a16:creationId xmlns:a16="http://schemas.microsoft.com/office/drawing/2014/main" id="{C9B4D2D0-4F62-ECFA-AD38-F563E3098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5603" name="CaixaDeTexto 6">
            <a:extLst>
              <a:ext uri="{FF2B5EF4-FFF2-40B4-BE49-F238E27FC236}">
                <a16:creationId xmlns:a16="http://schemas.microsoft.com/office/drawing/2014/main" id="{7723B393-9F20-149C-1BA6-E20845485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00313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Qualquer conseqüência potencial da decisão inicial de investir deve ser considerada como parte da proposta de investimento. Assim, os dispêndios de capital a serem feitos enquanto o projeto durar e que constituem a base para seu funcionamento contínuo devem ser incluídos no fluxo de caixa livre.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7F8D9B-D53D-CF6F-B581-7BEA6668F55C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25605" name="CaixaDeTexto 10">
            <a:extLst>
              <a:ext uri="{FF2B5EF4-FFF2-40B4-BE49-F238E27FC236}">
                <a16:creationId xmlns:a16="http://schemas.microsoft.com/office/drawing/2014/main" id="{5015279E-1AB7-D0F9-BB25-A74630412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5606" name="CaixaDeTexto 12">
            <a:extLst>
              <a:ext uri="{FF2B5EF4-FFF2-40B4-BE49-F238E27FC236}">
                <a16:creationId xmlns:a16="http://schemas.microsoft.com/office/drawing/2014/main" id="{5A2BB1D2-639C-23FA-04C9-D4D518A44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557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Dispêndios de capital</a:t>
            </a:r>
          </a:p>
        </p:txBody>
      </p:sp>
      <p:sp>
        <p:nvSpPr>
          <p:cNvPr id="25607" name="Espaço Reservado para Número de Slide 7">
            <a:extLst>
              <a:ext uri="{FF2B5EF4-FFF2-40B4-BE49-F238E27FC236}">
                <a16:creationId xmlns:a16="http://schemas.microsoft.com/office/drawing/2014/main" id="{974FDB31-ED5D-C43D-499F-A03D6610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6CCC417-6DD8-4A88-974F-9F415AB07D8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3">
            <a:extLst>
              <a:ext uri="{FF2B5EF4-FFF2-40B4-BE49-F238E27FC236}">
                <a16:creationId xmlns:a16="http://schemas.microsoft.com/office/drawing/2014/main" id="{8C3FE2CC-70AC-548E-69D3-B6A1699A7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7651" name="CaixaDeTexto 6">
            <a:extLst>
              <a:ext uri="{FF2B5EF4-FFF2-40B4-BE49-F238E27FC236}">
                <a16:creationId xmlns:a16="http://schemas.microsoft.com/office/drawing/2014/main" id="{2DE734E2-A1F2-6715-DB39-5AD69AAF9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00313"/>
            <a:ext cx="67151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Deve ser incluído no fluxo econômico unicamente seu impacto fiscal, pois elas representam despesas não-caixa. Em algumas situações, na falta de mais informações, pode ser utilizada a depreciação linear como valor aproximado da depreciação econômica dos ativos. Pelo princípio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contábil da consistência, espera-se que, durante a vida útil do bem, a empresa mantenha o mesmo critério de depreciação que adotou desde o início.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019729D-B2D1-640F-78F4-96DE2D458190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27653" name="CaixaDeTexto 10">
            <a:extLst>
              <a:ext uri="{FF2B5EF4-FFF2-40B4-BE49-F238E27FC236}">
                <a16:creationId xmlns:a16="http://schemas.microsoft.com/office/drawing/2014/main" id="{91887B6B-85D0-F3F1-B253-E69B61D04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7654" name="CaixaDeTexto 12">
            <a:extLst>
              <a:ext uri="{FF2B5EF4-FFF2-40B4-BE49-F238E27FC236}">
                <a16:creationId xmlns:a16="http://schemas.microsoft.com/office/drawing/2014/main" id="{51B286D5-69EA-123E-8599-71027C848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287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Depreciação, amortização e exaustão</a:t>
            </a:r>
          </a:p>
        </p:txBody>
      </p:sp>
      <p:sp>
        <p:nvSpPr>
          <p:cNvPr id="27655" name="Espaço Reservado para Número de Slide 7">
            <a:extLst>
              <a:ext uri="{FF2B5EF4-FFF2-40B4-BE49-F238E27FC236}">
                <a16:creationId xmlns:a16="http://schemas.microsoft.com/office/drawing/2014/main" id="{F25CC7C4-BC00-DB97-17D8-CD73C756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A164DBA-B563-4793-AC45-0C4C7C3E1CE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3">
            <a:extLst>
              <a:ext uri="{FF2B5EF4-FFF2-40B4-BE49-F238E27FC236}">
                <a16:creationId xmlns:a16="http://schemas.microsoft.com/office/drawing/2014/main" id="{5689DD91-D676-52BE-D724-9DE142FA1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9699" name="CaixaDeTexto 6">
            <a:extLst>
              <a:ext uri="{FF2B5EF4-FFF2-40B4-BE49-F238E27FC236}">
                <a16:creationId xmlns:a16="http://schemas.microsoft.com/office/drawing/2014/main" id="{A8CF9D91-BB5C-DB2D-C843-A8222DA9C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00313"/>
            <a:ext cx="6715125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Há vários métodos de depreciação, mas, na prática, o mais utilizado é o método linear, que estabelece um percentual anual fixo para a depreciação.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4C8BCC-388A-75B3-45B4-009F8EB9D22D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29701" name="CaixaDeTexto 10">
            <a:extLst>
              <a:ext uri="{FF2B5EF4-FFF2-40B4-BE49-F238E27FC236}">
                <a16:creationId xmlns:a16="http://schemas.microsoft.com/office/drawing/2014/main" id="{9CBCC96A-C477-B503-0067-8C2FEBF93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9702" name="CaixaDeTexto 12">
            <a:extLst>
              <a:ext uri="{FF2B5EF4-FFF2-40B4-BE49-F238E27FC236}">
                <a16:creationId xmlns:a16="http://schemas.microsoft.com/office/drawing/2014/main" id="{53F76BE3-3CA6-ECF3-C9AF-09F665B1C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287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Depreciação, amortização e exaustão</a:t>
            </a:r>
          </a:p>
        </p:txBody>
      </p:sp>
      <p:sp>
        <p:nvSpPr>
          <p:cNvPr id="29703" name="Espaço Reservado para Número de Slide 7">
            <a:extLst>
              <a:ext uri="{FF2B5EF4-FFF2-40B4-BE49-F238E27FC236}">
                <a16:creationId xmlns:a16="http://schemas.microsoft.com/office/drawing/2014/main" id="{0758C858-DEC2-D46B-5C55-32198D56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9112988-02D4-47FF-9FA8-F8F3210A771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3">
            <a:extLst>
              <a:ext uri="{FF2B5EF4-FFF2-40B4-BE49-F238E27FC236}">
                <a16:creationId xmlns:a16="http://schemas.microsoft.com/office/drawing/2014/main" id="{8334A32D-771D-641A-AE98-759DF0A18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1747" name="CaixaDeTexto 6">
            <a:extLst>
              <a:ext uri="{FF2B5EF4-FFF2-40B4-BE49-F238E27FC236}">
                <a16:creationId xmlns:a16="http://schemas.microsoft.com/office/drawing/2014/main" id="{B316B1F6-A5DD-4DD3-6476-F252757D5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428875"/>
            <a:ext cx="67865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 investimento inicial de um projeto deve incluir: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gastos referentes à aquisição dos ativos necessários à sua implantação;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gastos com transporte e seguros dos ativos;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gastos necessários para colocar os ativos em condições de uso (inclusive impostos);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25F397-D6BE-DA37-72B1-6B00BB59FCDC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31749" name="CaixaDeTexto 10">
            <a:extLst>
              <a:ext uri="{FF2B5EF4-FFF2-40B4-BE49-F238E27FC236}">
                <a16:creationId xmlns:a16="http://schemas.microsoft.com/office/drawing/2014/main" id="{31F69C58-18E5-70AB-CB1F-CEB9C73B5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1750" name="CaixaDeTexto 12">
            <a:extLst>
              <a:ext uri="{FF2B5EF4-FFF2-40B4-BE49-F238E27FC236}">
                <a16:creationId xmlns:a16="http://schemas.microsoft.com/office/drawing/2014/main" id="{BBB35B0F-47BA-8768-2D99-4ED7CF0FD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42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Investimento líquido</a:t>
            </a:r>
          </a:p>
        </p:txBody>
      </p:sp>
      <p:sp>
        <p:nvSpPr>
          <p:cNvPr id="31751" name="Espaço Reservado para Número de Slide 7">
            <a:extLst>
              <a:ext uri="{FF2B5EF4-FFF2-40B4-BE49-F238E27FC236}">
                <a16:creationId xmlns:a16="http://schemas.microsoft.com/office/drawing/2014/main" id="{85A9729A-1AE6-C678-299B-37CBA0CC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CC84CB1-730A-43DF-9185-06EDBE82102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3">
            <a:extLst>
              <a:ext uri="{FF2B5EF4-FFF2-40B4-BE49-F238E27FC236}">
                <a16:creationId xmlns:a16="http://schemas.microsoft.com/office/drawing/2014/main" id="{AEB39B59-A05E-3223-DAAD-F8277230F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3795" name="CaixaDeTexto 6">
            <a:extLst>
              <a:ext uri="{FF2B5EF4-FFF2-40B4-BE49-F238E27FC236}">
                <a16:creationId xmlns:a16="http://schemas.microsoft.com/office/drawing/2014/main" id="{A013B6A7-46C0-9FA7-F309-12C507404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00313"/>
            <a:ext cx="67865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aumento do capital de giro necessário para sua operacionalização;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fluxo de caixa proveniente da venda dos equipamentos antigos (inclusive impostos).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34FEB2-B9A9-CB8D-DC05-863D3CDA69D6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33797" name="CaixaDeTexto 10">
            <a:extLst>
              <a:ext uri="{FF2B5EF4-FFF2-40B4-BE49-F238E27FC236}">
                <a16:creationId xmlns:a16="http://schemas.microsoft.com/office/drawing/2014/main" id="{A5CA312B-446A-386B-CF7A-A4A86717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3798" name="CaixaDeTexto 12">
            <a:extLst>
              <a:ext uri="{FF2B5EF4-FFF2-40B4-BE49-F238E27FC236}">
                <a16:creationId xmlns:a16="http://schemas.microsoft.com/office/drawing/2014/main" id="{18513B0E-F0A0-9493-F13C-C027BE96E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42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Investimento líquido</a:t>
            </a:r>
          </a:p>
        </p:txBody>
      </p:sp>
      <p:sp>
        <p:nvSpPr>
          <p:cNvPr id="33799" name="Espaço Reservado para Número de Slide 7">
            <a:extLst>
              <a:ext uri="{FF2B5EF4-FFF2-40B4-BE49-F238E27FC236}">
                <a16:creationId xmlns:a16="http://schemas.microsoft.com/office/drawing/2014/main" id="{D94AED57-5AE7-DFE6-487E-7B1297AB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92F41DC-D9C4-49BB-B17A-5B4C175EEB6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3">
            <a:extLst>
              <a:ext uri="{FF2B5EF4-FFF2-40B4-BE49-F238E27FC236}">
                <a16:creationId xmlns:a16="http://schemas.microsoft.com/office/drawing/2014/main" id="{8A98DDD2-4E0A-836E-7BB8-F72D82998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5843" name="CaixaDeTexto 6">
            <a:extLst>
              <a:ext uri="{FF2B5EF4-FFF2-40B4-BE49-F238E27FC236}">
                <a16:creationId xmlns:a16="http://schemas.microsoft.com/office/drawing/2014/main" id="{86ED4F4E-E661-FA91-5182-CE64987DF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428875"/>
            <a:ext cx="67151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Origina-se da necessidade de enfrentar a defasagem que normalmente existe entre os processos de produção e de vendas.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Serve para financiar a operação do negócio até que sejam recebidos os ingressos gerados pelas atividades produtivas.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D22112-CEB4-BAE4-646F-EE443CFAB02F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35845" name="CaixaDeTexto 10">
            <a:extLst>
              <a:ext uri="{FF2B5EF4-FFF2-40B4-BE49-F238E27FC236}">
                <a16:creationId xmlns:a16="http://schemas.microsoft.com/office/drawing/2014/main" id="{BC465DA6-F637-4A1A-03E7-542E09C14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5846" name="CaixaDeTexto 12">
            <a:extLst>
              <a:ext uri="{FF2B5EF4-FFF2-40B4-BE49-F238E27FC236}">
                <a16:creationId xmlns:a16="http://schemas.microsoft.com/office/drawing/2014/main" id="{35A21AC6-C4FF-330B-9BC6-9DC168275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78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Capital de giro</a:t>
            </a:r>
          </a:p>
        </p:txBody>
      </p:sp>
      <p:sp>
        <p:nvSpPr>
          <p:cNvPr id="35847" name="Espaço Reservado para Número de Slide 7">
            <a:extLst>
              <a:ext uri="{FF2B5EF4-FFF2-40B4-BE49-F238E27FC236}">
                <a16:creationId xmlns:a16="http://schemas.microsoft.com/office/drawing/2014/main" id="{89F5E539-3572-BFDE-F975-4E5D8DE3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FF3A6AD-051E-473F-A19A-C9F4AC954C8D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3">
            <a:extLst>
              <a:ext uri="{FF2B5EF4-FFF2-40B4-BE49-F238E27FC236}">
                <a16:creationId xmlns:a16="http://schemas.microsoft.com/office/drawing/2014/main" id="{025DACBF-DD8A-FD6B-2389-CF0F640AC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7891" name="CaixaDeTexto 6">
            <a:extLst>
              <a:ext uri="{FF2B5EF4-FFF2-40B4-BE49-F238E27FC236}">
                <a16:creationId xmlns:a16="http://schemas.microsoft.com/office/drawing/2014/main" id="{30EC224E-00E8-3CE1-08A6-3AF7277E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86063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Exemplo de montagem de um fluxo de caixa em que o capital de giro retorna no final do prazo: Um agricultor pretende investir em um projeto de sementes especiais. O investimento principal será o pagamento antecipado de aluguel do terreno por 4 anos de R$12.000,00. A colheita será feita a cada 4 meses, produzindo uma receita anual de R$9.600,00  com gastos operacionais de R$500,00/mês. Estruture o fluxo de caixa livre, supondo que o projeto tenha vida útil igual ao período de aluguel do terreno.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3D1272-3A35-7A0C-0F90-492A0EDA175E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37893" name="CaixaDeTexto 10">
            <a:extLst>
              <a:ext uri="{FF2B5EF4-FFF2-40B4-BE49-F238E27FC236}">
                <a16:creationId xmlns:a16="http://schemas.microsoft.com/office/drawing/2014/main" id="{6BE487E3-8CED-AAEA-1563-5B24C1DC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7894" name="Espaço Reservado para Número de Slide 7">
            <a:extLst>
              <a:ext uri="{FF2B5EF4-FFF2-40B4-BE49-F238E27FC236}">
                <a16:creationId xmlns:a16="http://schemas.microsoft.com/office/drawing/2014/main" id="{D1272D3D-E3A8-4781-6D3C-E9CBF4DF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0B6A49F-6F62-4CD6-A7ED-4CF5E01921C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37895" name="CaixaDeTexto 12">
            <a:extLst>
              <a:ext uri="{FF2B5EF4-FFF2-40B4-BE49-F238E27FC236}">
                <a16:creationId xmlns:a16="http://schemas.microsoft.com/office/drawing/2014/main" id="{92D88DD7-D209-62BD-EC78-2EA012A21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583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3.3 Análise das diversas variáveis e custos econômicos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relevantes na determinação do fluxo de caixa incremental 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aixaDeTexto 3">
            <a:extLst>
              <a:ext uri="{FF2B5EF4-FFF2-40B4-BE49-F238E27FC236}">
                <a16:creationId xmlns:a16="http://schemas.microsoft.com/office/drawing/2014/main" id="{B8C39CEB-48AA-52A7-6F48-5664A3389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9939" name="CaixaDeTexto 6">
            <a:extLst>
              <a:ext uri="{FF2B5EF4-FFF2-40B4-BE49-F238E27FC236}">
                <a16:creationId xmlns:a16="http://schemas.microsoft.com/office/drawing/2014/main" id="{0E66367E-1523-D599-E891-C47B8D2B5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86063"/>
            <a:ext cx="67151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Quadro do Fluxo de Caixa Livre: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Arial" panose="020B0604020202020204" pitchFamily="34" charset="0"/>
              </a:rPr>
              <a:t>(c) e (d) Capital de Giro necessário para os primeiros 4 meses.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57B1EF6-80F9-1ED4-76B9-029A1F284E8F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39941" name="CaixaDeTexto 10">
            <a:extLst>
              <a:ext uri="{FF2B5EF4-FFF2-40B4-BE49-F238E27FC236}">
                <a16:creationId xmlns:a16="http://schemas.microsoft.com/office/drawing/2014/main" id="{C83AD51C-8E86-1D0B-9B83-B4609F32E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9942" name="Espaço Reservado para Número de Slide 7">
            <a:extLst>
              <a:ext uri="{FF2B5EF4-FFF2-40B4-BE49-F238E27FC236}">
                <a16:creationId xmlns:a16="http://schemas.microsoft.com/office/drawing/2014/main" id="{002C4A3D-2434-BA97-EEA3-870ADDF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91ADA15-2C03-41C9-B023-154C0A1A517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DE1E10-FE5D-B9F1-FC9D-0E737E168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515" t="42187" r="2148" b="10000"/>
          <a:stretch>
            <a:fillRect/>
          </a:stretch>
        </p:blipFill>
        <p:spPr bwMode="auto">
          <a:xfrm>
            <a:off x="1571625" y="3571875"/>
            <a:ext cx="6000750" cy="1900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944" name="CaixaDeTexto 12">
            <a:extLst>
              <a:ext uri="{FF2B5EF4-FFF2-40B4-BE49-F238E27FC236}">
                <a16:creationId xmlns:a16="http://schemas.microsoft.com/office/drawing/2014/main" id="{A7D1F983-40D5-74A1-FA63-9C6DCCDA6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583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3.3 Análise das diversas variáveis e custos econômicos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relevantes na determinação do fluxo de caixa incremental 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aixaDeTexto 3">
            <a:extLst>
              <a:ext uri="{FF2B5EF4-FFF2-40B4-BE49-F238E27FC236}">
                <a16:creationId xmlns:a16="http://schemas.microsoft.com/office/drawing/2014/main" id="{6B652903-576D-4DE6-A4D2-5349A5626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1987" name="CaixaDeTexto 6">
            <a:extLst>
              <a:ext uri="{FF2B5EF4-FFF2-40B4-BE49-F238E27FC236}">
                <a16:creationId xmlns:a16="http://schemas.microsoft.com/office/drawing/2014/main" id="{7235CCE0-0EAF-F650-13F8-7143C2832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857500"/>
            <a:ext cx="67151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Fluxos em valores constantes são sinônimos de fluxos reais, enquanto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fluxos em valores correntes são sinônimos de fluxos nominais.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Os fluxos de caixa em valores correntes devem ser descontados a uma taxa de desconto nominal, enquanto os fluxos em valores constantes devem ser descontados a uma taxa real.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567BBCF-57FB-34E4-26E5-2FAE12AE6F4E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41989" name="CaixaDeTexto 10">
            <a:extLst>
              <a:ext uri="{FF2B5EF4-FFF2-40B4-BE49-F238E27FC236}">
                <a16:creationId xmlns:a16="http://schemas.microsoft.com/office/drawing/2014/main" id="{0955C366-DDAF-A54A-9674-C0955C706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1990" name="CaixaDeTexto 12">
            <a:extLst>
              <a:ext uri="{FF2B5EF4-FFF2-40B4-BE49-F238E27FC236}">
                <a16:creationId xmlns:a16="http://schemas.microsoft.com/office/drawing/2014/main" id="{CE120791-81FD-BEAE-E9D6-B027A2FAC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  <p:sp>
        <p:nvSpPr>
          <p:cNvPr id="41991" name="Espaço Reservado para Número de Slide 7">
            <a:extLst>
              <a:ext uri="{FF2B5EF4-FFF2-40B4-BE49-F238E27FC236}">
                <a16:creationId xmlns:a16="http://schemas.microsoft.com/office/drawing/2014/main" id="{092F957A-5444-8744-05D0-9484A978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E0436DC-10C9-4FA5-9582-E05AAC7D0DC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aixaDeTexto 3">
            <a:extLst>
              <a:ext uri="{FF2B5EF4-FFF2-40B4-BE49-F238E27FC236}">
                <a16:creationId xmlns:a16="http://schemas.microsoft.com/office/drawing/2014/main" id="{6D7F4267-C940-B90E-C93A-D5C059BAF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7A4EA0-B1A4-F066-D307-4013E0C57D26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44036" name="CaixaDeTexto 10">
            <a:extLst>
              <a:ext uri="{FF2B5EF4-FFF2-40B4-BE49-F238E27FC236}">
                <a16:creationId xmlns:a16="http://schemas.microsoft.com/office/drawing/2014/main" id="{11BB5D1A-C033-25D8-EE93-3D9FBD178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4037" name="Espaço Reservado para Número de Slide 7">
            <a:extLst>
              <a:ext uri="{FF2B5EF4-FFF2-40B4-BE49-F238E27FC236}">
                <a16:creationId xmlns:a16="http://schemas.microsoft.com/office/drawing/2014/main" id="{EDC3051B-B1DE-DDC1-15CF-EB3C780D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1E67779-0603-4A5E-80AA-9C6ACECC9AB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A4131A-703D-E48E-CFDA-A3F40BCC7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1133" t="58125" r="4492" b="17500"/>
          <a:stretch>
            <a:fillRect/>
          </a:stretch>
        </p:blipFill>
        <p:spPr bwMode="auto">
          <a:xfrm>
            <a:off x="1500188" y="4033838"/>
            <a:ext cx="6143625" cy="1109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4039" name="Retângulo 8">
            <a:extLst>
              <a:ext uri="{FF2B5EF4-FFF2-40B4-BE49-F238E27FC236}">
                <a16:creationId xmlns:a16="http://schemas.microsoft.com/office/drawing/2014/main" id="{D388F8CF-4C32-9ADD-2A13-66895816E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2779713"/>
            <a:ext cx="6572250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Comumente, a taxa de desconto é expressa em termos nominais, mas a taxa real pode ser estimada a partir dessa taxa nominal e da projeção inflacionária, por meio da seguinte identidade de cálculo:</a:t>
            </a:r>
          </a:p>
        </p:txBody>
      </p:sp>
      <p:sp>
        <p:nvSpPr>
          <p:cNvPr id="44040" name="CaixaDeTexto 12">
            <a:extLst>
              <a:ext uri="{FF2B5EF4-FFF2-40B4-BE49-F238E27FC236}">
                <a16:creationId xmlns:a16="http://schemas.microsoft.com/office/drawing/2014/main" id="{384282CB-12A0-3AB4-C8C7-42CF24B26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aixaDeTexto 3">
            <a:extLst>
              <a:ext uri="{FF2B5EF4-FFF2-40B4-BE49-F238E27FC236}">
                <a16:creationId xmlns:a16="http://schemas.microsoft.com/office/drawing/2014/main" id="{46DEADA2-B425-0470-9B31-AE7ED49EF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6083" name="CaixaDeTexto 6">
            <a:extLst>
              <a:ext uri="{FF2B5EF4-FFF2-40B4-BE49-F238E27FC236}">
                <a16:creationId xmlns:a16="http://schemas.microsoft.com/office/drawing/2014/main" id="{A4E19526-E442-DCA0-9780-8306F99D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98763"/>
            <a:ext cx="67151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Exemplo: Uma empresa pretende investir $ 100.000 em um projeto para produzir um novo produto.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investimento = $ 100.000;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vida útil do projeto = 3 anos;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custo do capital (k</a:t>
            </a:r>
            <a:r>
              <a:rPr lang="pt-BR" altLang="pt-BR" sz="1100">
                <a:latin typeface="Arial" panose="020B0604020202020204" pitchFamily="34" charset="0"/>
              </a:rPr>
              <a:t>N</a:t>
            </a:r>
            <a:r>
              <a:rPr lang="pt-BR" altLang="pt-BR" sz="1600">
                <a:latin typeface="Arial" panose="020B0604020202020204" pitchFamily="34" charset="0"/>
              </a:rPr>
              <a:t>) = 12% ao ano (taxa nominal);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preço unitário de venda hoje (P) = $ 10/unidade;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produção (Q) = 6.000 unidades/ano (constante);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custos totais de produção (CT) = $ 10.000/ano;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taxa de inflação projetada: 10% ao ano (constante).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30544A-ABF0-11EA-BF8D-43E5A3BE117A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46085" name="CaixaDeTexto 10">
            <a:extLst>
              <a:ext uri="{FF2B5EF4-FFF2-40B4-BE49-F238E27FC236}">
                <a16:creationId xmlns:a16="http://schemas.microsoft.com/office/drawing/2014/main" id="{1451CCD0-3D82-D7AE-AE74-B4D49B09D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6086" name="Espaço Reservado para Número de Slide 7">
            <a:extLst>
              <a:ext uri="{FF2B5EF4-FFF2-40B4-BE49-F238E27FC236}">
                <a16:creationId xmlns:a16="http://schemas.microsoft.com/office/drawing/2014/main" id="{CE77C7D3-BFF1-1B5F-01EF-9197F6BB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27A9699E-E65F-47C9-BCDE-96983ED2B407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46087" name="CaixaDeTexto 12">
            <a:extLst>
              <a:ext uri="{FF2B5EF4-FFF2-40B4-BE49-F238E27FC236}">
                <a16:creationId xmlns:a16="http://schemas.microsoft.com/office/drawing/2014/main" id="{9EDAFE8A-530B-454C-0E6B-64A818C9D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aixaDeTexto 3">
            <a:extLst>
              <a:ext uri="{FF2B5EF4-FFF2-40B4-BE49-F238E27FC236}">
                <a16:creationId xmlns:a16="http://schemas.microsoft.com/office/drawing/2014/main" id="{65A895B1-2794-FE23-611D-827574B94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8131" name="CaixaDeTexto 6">
            <a:extLst>
              <a:ext uri="{FF2B5EF4-FFF2-40B4-BE49-F238E27FC236}">
                <a16:creationId xmlns:a16="http://schemas.microsoft.com/office/drawing/2014/main" id="{A3310F20-AEC3-7166-D412-0912903C2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89238"/>
            <a:ext cx="6715125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a) Análise em valores constantes (a preços de hoje).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Fluxo de caixa = Receitas – Custos totais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= P × Q − C</a:t>
            </a:r>
            <a:r>
              <a:rPr lang="pt-BR" altLang="pt-BR" sz="1600" b="1">
                <a:latin typeface="Arial" panose="020B0604020202020204" pitchFamily="34" charset="0"/>
              </a:rPr>
              <a:t>T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= $ 10/unidade × 6.000 unidades/ano − $ 10.000/ano = $ 50.000 ano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Custo real do capital:</a:t>
            </a:r>
            <a:endParaRPr lang="pt-BR" altLang="pt-BR" sz="1600" b="1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24BAA0-8720-3D92-3A07-594BA4160C20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48133" name="CaixaDeTexto 10">
            <a:extLst>
              <a:ext uri="{FF2B5EF4-FFF2-40B4-BE49-F238E27FC236}">
                <a16:creationId xmlns:a16="http://schemas.microsoft.com/office/drawing/2014/main" id="{CF453094-31E4-95B7-1842-9219F4D93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8134" name="Espaço Reservado para Número de Slide 7">
            <a:extLst>
              <a:ext uri="{FF2B5EF4-FFF2-40B4-BE49-F238E27FC236}">
                <a16:creationId xmlns:a16="http://schemas.microsoft.com/office/drawing/2014/main" id="{F6658A9D-FDF9-9B44-B4F8-C7E4063F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644B29E-0E8C-4295-ABA5-71B407E579FD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5A268EB-9221-5350-75DA-B774E9587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1133" t="33750" r="6836" b="44687"/>
          <a:stretch>
            <a:fillRect/>
          </a:stretch>
        </p:blipFill>
        <p:spPr bwMode="auto">
          <a:xfrm>
            <a:off x="2357438" y="4786313"/>
            <a:ext cx="4429125" cy="728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6" name="CaixaDeTexto 12">
            <a:extLst>
              <a:ext uri="{FF2B5EF4-FFF2-40B4-BE49-F238E27FC236}">
                <a16:creationId xmlns:a16="http://schemas.microsoft.com/office/drawing/2014/main" id="{83A2378F-4169-EEF8-7E59-3FDA1E68A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aixaDeTexto 3">
            <a:extLst>
              <a:ext uri="{FF2B5EF4-FFF2-40B4-BE49-F238E27FC236}">
                <a16:creationId xmlns:a16="http://schemas.microsoft.com/office/drawing/2014/main" id="{B8ADD865-75FA-4958-F31C-106296E35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0179" name="CaixaDeTexto 6">
            <a:extLst>
              <a:ext uri="{FF2B5EF4-FFF2-40B4-BE49-F238E27FC236}">
                <a16:creationId xmlns:a16="http://schemas.microsoft.com/office/drawing/2014/main" id="{2C1090F8-0E93-814C-F71B-39FD1EFF4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86063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 fluxo de caixa expresso em valores constantes deve ser descontado ao custo real do capital: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CF872A-78EB-2AA2-3F6E-7F4E36B34005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50181" name="CaixaDeTexto 10">
            <a:extLst>
              <a:ext uri="{FF2B5EF4-FFF2-40B4-BE49-F238E27FC236}">
                <a16:creationId xmlns:a16="http://schemas.microsoft.com/office/drawing/2014/main" id="{5635D8F9-481F-F459-F5D6-8E634936E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0182" name="Espaço Reservado para Número de Slide 7">
            <a:extLst>
              <a:ext uri="{FF2B5EF4-FFF2-40B4-BE49-F238E27FC236}">
                <a16:creationId xmlns:a16="http://schemas.microsoft.com/office/drawing/2014/main" id="{D4BD2F02-A82F-8E74-7266-73FD3827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5B2106A-A5CB-4C43-8902-763CE8FB64F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0183" name="Rectangle 2">
            <a:extLst>
              <a:ext uri="{FF2B5EF4-FFF2-40B4-BE49-F238E27FC236}">
                <a16:creationId xmlns:a16="http://schemas.microsoft.com/office/drawing/2014/main" id="{D76462DD-4A78-18A1-04BA-DF38B1A0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8E1E8473-71C1-D7F9-2F8E-521B7AE92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195" t="56250" r="22070" b="31562"/>
          <a:stretch>
            <a:fillRect/>
          </a:stretch>
        </p:blipFill>
        <p:spPr bwMode="auto">
          <a:xfrm>
            <a:off x="1714500" y="3714750"/>
            <a:ext cx="6429375" cy="928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0185" name="CaixaDeTexto 12">
            <a:extLst>
              <a:ext uri="{FF2B5EF4-FFF2-40B4-BE49-F238E27FC236}">
                <a16:creationId xmlns:a16="http://schemas.microsoft.com/office/drawing/2014/main" id="{B12C0CBE-0926-CA27-13ED-CAC1E9B1A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aixaDeTexto 3">
            <a:extLst>
              <a:ext uri="{FF2B5EF4-FFF2-40B4-BE49-F238E27FC236}">
                <a16:creationId xmlns:a16="http://schemas.microsoft.com/office/drawing/2014/main" id="{76822F57-D201-7741-6905-D9559DD38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2227" name="CaixaDeTexto 6">
            <a:extLst>
              <a:ext uri="{FF2B5EF4-FFF2-40B4-BE49-F238E27FC236}">
                <a16:creationId xmlns:a16="http://schemas.microsoft.com/office/drawing/2014/main" id="{5AAD00B8-C5D3-7E62-982D-CA7E287C9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b) análise em valores correntes (a preços das respectivas datas).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Nesse caso, os fluxos de caixa devem refletir o poder aquisitivo da moeda. Fluxo de caixa em valores correntes (fluxo nominal):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BBE666-7FE4-90BD-9E9D-2BCB29008DC9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52229" name="CaixaDeTexto 10">
            <a:extLst>
              <a:ext uri="{FF2B5EF4-FFF2-40B4-BE49-F238E27FC236}">
                <a16:creationId xmlns:a16="http://schemas.microsoft.com/office/drawing/2014/main" id="{6FA92979-0B22-3E56-0C5A-806261BF6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2230" name="Espaço Reservado para Número de Slide 7">
            <a:extLst>
              <a:ext uri="{FF2B5EF4-FFF2-40B4-BE49-F238E27FC236}">
                <a16:creationId xmlns:a16="http://schemas.microsoft.com/office/drawing/2014/main" id="{A708CA4C-7B2D-E427-B03D-4C1CCC4D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6375CB5-5279-4981-B67E-74FAA671FAE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BCA06E7-A567-5032-3B15-3933CCD42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7031" t="26250" r="6250" b="31562"/>
          <a:stretch>
            <a:fillRect/>
          </a:stretch>
        </p:blipFill>
        <p:spPr bwMode="auto">
          <a:xfrm>
            <a:off x="1606550" y="3894138"/>
            <a:ext cx="5930900" cy="180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2232" name="CaixaDeTexto 12">
            <a:extLst>
              <a:ext uri="{FF2B5EF4-FFF2-40B4-BE49-F238E27FC236}">
                <a16:creationId xmlns:a16="http://schemas.microsoft.com/office/drawing/2014/main" id="{0F790E92-0245-E713-5DA1-4D03A5ECD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aixaDeTexto 3">
            <a:extLst>
              <a:ext uri="{FF2B5EF4-FFF2-40B4-BE49-F238E27FC236}">
                <a16:creationId xmlns:a16="http://schemas.microsoft.com/office/drawing/2014/main" id="{228D9C29-AEC8-B21C-BEBF-93F658970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4275" name="CaixaDeTexto 6">
            <a:extLst>
              <a:ext uri="{FF2B5EF4-FFF2-40B4-BE49-F238E27FC236}">
                <a16:creationId xmlns:a16="http://schemas.microsoft.com/office/drawing/2014/main" id="{256F4BAB-3A5C-A1EE-20D9-536ED777B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Fluxos de caixa a preços correntes devem ser descontados ao custo nominal (aparente) do capital: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3B7E5F9-2B71-4927-0ABF-FB6C308C5168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54277" name="CaixaDeTexto 10">
            <a:extLst>
              <a:ext uri="{FF2B5EF4-FFF2-40B4-BE49-F238E27FC236}">
                <a16:creationId xmlns:a16="http://schemas.microsoft.com/office/drawing/2014/main" id="{4BB69DFD-36A6-AB6C-AE8A-4ABE0A4A7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4278" name="Espaço Reservado para Número de Slide 7">
            <a:extLst>
              <a:ext uri="{FF2B5EF4-FFF2-40B4-BE49-F238E27FC236}">
                <a16:creationId xmlns:a16="http://schemas.microsoft.com/office/drawing/2014/main" id="{428FDF10-9BEC-7BFA-2765-0F8B6C5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2A8806C-3090-4C51-BA4C-AF85FC95292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71682" name="Picture 2">
            <a:extLst>
              <a:ext uri="{FF2B5EF4-FFF2-40B4-BE49-F238E27FC236}">
                <a16:creationId xmlns:a16="http://schemas.microsoft.com/office/drawing/2014/main" id="{C6C96261-59F4-B552-FFFC-37254F52B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852" t="66563" r="18554" b="22187"/>
          <a:stretch>
            <a:fillRect/>
          </a:stretch>
        </p:blipFill>
        <p:spPr bwMode="auto">
          <a:xfrm>
            <a:off x="1682750" y="3632200"/>
            <a:ext cx="6429375" cy="771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4280" name="Retângulo 8">
            <a:extLst>
              <a:ext uri="{FF2B5EF4-FFF2-40B4-BE49-F238E27FC236}">
                <a16:creationId xmlns:a16="http://schemas.microsoft.com/office/drawing/2014/main" id="{0B575DFE-1064-D169-C3F9-05D6C78DA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4476750"/>
            <a:ext cx="6500813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Constata-se que em ambas as formas de análise (em valores correntes ou em valores constantes) o VPL é o mesmo. Isso se deve à suposição de que tanto os custos quanto os preços acompanharão por igual a inflação (efeito inflacionário neutro).</a:t>
            </a:r>
          </a:p>
        </p:txBody>
      </p:sp>
      <p:sp>
        <p:nvSpPr>
          <p:cNvPr id="54281" name="CaixaDeTexto 12">
            <a:extLst>
              <a:ext uri="{FF2B5EF4-FFF2-40B4-BE49-F238E27FC236}">
                <a16:creationId xmlns:a16="http://schemas.microsoft.com/office/drawing/2014/main" id="{63578797-E47B-B42F-81BB-FEC79DCFE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3.4 Fluxos de caixa e o tratamento adequado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efeitos inflacionários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aixaDeTexto 3">
            <a:extLst>
              <a:ext uri="{FF2B5EF4-FFF2-40B4-BE49-F238E27FC236}">
                <a16:creationId xmlns:a16="http://schemas.microsoft.com/office/drawing/2014/main" id="{39C570F2-3ED8-097F-122C-60642E33F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6323" name="CaixaDeTexto 6">
            <a:extLst>
              <a:ext uri="{FF2B5EF4-FFF2-40B4-BE49-F238E27FC236}">
                <a16:creationId xmlns:a16="http://schemas.microsoft.com/office/drawing/2014/main" id="{F088962D-1A9B-4F6B-DB47-B99E41603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86063"/>
            <a:ext cx="67151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FCL é o fluxo disponível para todos os provedores de capital, seja por endividamento ou por participação acionária.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2B701C-4927-8BA2-008F-30D2F6824D99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56325" name="CaixaDeTexto 10">
            <a:extLst>
              <a:ext uri="{FF2B5EF4-FFF2-40B4-BE49-F238E27FC236}">
                <a16:creationId xmlns:a16="http://schemas.microsoft.com/office/drawing/2014/main" id="{49FAD202-9A16-AB86-1E6C-3F8CB7C68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6326" name="CaixaDeTexto 12">
            <a:extLst>
              <a:ext uri="{FF2B5EF4-FFF2-40B4-BE49-F238E27FC236}">
                <a16:creationId xmlns:a16="http://schemas.microsoft.com/office/drawing/2014/main" id="{80158513-74EF-92A5-0F0E-A3623E6CD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500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3.5 Fluxo de caixa livre (FCL) e avaliação econômica do empreendimento</a:t>
            </a:r>
          </a:p>
        </p:txBody>
      </p:sp>
      <p:sp>
        <p:nvSpPr>
          <p:cNvPr id="56327" name="Espaço Reservado para Número de Slide 7">
            <a:extLst>
              <a:ext uri="{FF2B5EF4-FFF2-40B4-BE49-F238E27FC236}">
                <a16:creationId xmlns:a16="http://schemas.microsoft.com/office/drawing/2014/main" id="{23A28126-C719-CAAF-5B11-04F88C02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AAB61FA-B1CE-4A30-8296-A0660D71071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6328" name="Rectangle 1">
            <a:extLst>
              <a:ext uri="{FF2B5EF4-FFF2-40B4-BE49-F238E27FC236}">
                <a16:creationId xmlns:a16="http://schemas.microsoft.com/office/drawing/2014/main" id="{8E581DC6-8078-3967-3241-2D5091913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3932238"/>
            <a:ext cx="6426200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909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909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909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zh-CN" sz="1600">
                <a:latin typeface="Arial" panose="020B0604020202020204" pitchFamily="34" charset="0"/>
              </a:rPr>
              <a:t>FCL = Lucro operacional depois de impostos – Dispêndios de capital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zh-CN" sz="1600">
                <a:latin typeface="Arial" panose="020B0604020202020204" pitchFamily="34" charset="0"/>
              </a:rPr>
              <a:t>± Mudanças nos requerimentos de capital de giro + Depreciação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aixaDeTexto 3">
            <a:extLst>
              <a:ext uri="{FF2B5EF4-FFF2-40B4-BE49-F238E27FC236}">
                <a16:creationId xmlns:a16="http://schemas.microsoft.com/office/drawing/2014/main" id="{6C9D1856-9C03-49C5-0A38-9B48AE800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8371" name="CaixaDeTexto 6">
            <a:extLst>
              <a:ext uri="{FF2B5EF4-FFF2-40B4-BE49-F238E27FC236}">
                <a16:creationId xmlns:a16="http://schemas.microsoft.com/office/drawing/2014/main" id="{B2AFF6EA-014F-0A2C-2664-B1B58B505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391953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i="1">
                <a:latin typeface="Arial" panose="020B0604020202020204" pitchFamily="34" charset="0"/>
              </a:rPr>
              <a:t> </a:t>
            </a:r>
            <a:r>
              <a:rPr lang="pt-BR" altLang="pt-BR" sz="1600">
                <a:latin typeface="Arial" panose="020B0604020202020204" pitchFamily="34" charset="0"/>
              </a:rPr>
              <a:t>Lajir</a:t>
            </a:r>
            <a:r>
              <a:rPr lang="pt-BR" altLang="pt-BR" sz="1600" i="1">
                <a:latin typeface="Arial" panose="020B0604020202020204" pitchFamily="34" charset="0"/>
              </a:rPr>
              <a:t> </a:t>
            </a:r>
            <a:r>
              <a:rPr lang="pt-BR" altLang="pt-BR" sz="1600">
                <a:latin typeface="Arial" panose="020B0604020202020204" pitchFamily="34" charset="0"/>
              </a:rPr>
              <a:t>é a abreviação de </a:t>
            </a:r>
            <a:r>
              <a:rPr lang="pt-BR" altLang="pt-BR" sz="1600" i="1">
                <a:latin typeface="Arial" panose="020B0604020202020204" pitchFamily="34" charset="0"/>
              </a:rPr>
              <a:t>lucro antes de juros e imposto de renda</a:t>
            </a:r>
            <a:r>
              <a:rPr lang="pt-BR" altLang="pt-BR" sz="1600">
                <a:latin typeface="Arial" panose="020B0604020202020204" pitchFamily="34" charset="0"/>
              </a:rPr>
              <a:t> e representa o resultado operacional do projeto.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T é a alíquota de imposto de renda e contribuição social sobre o lucro (IR/CS), que pode ser efetivamente atribuível às operações da empresa.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0B1AF4-5600-0235-DB56-85D9C0F0B87B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58373" name="CaixaDeTexto 10">
            <a:extLst>
              <a:ext uri="{FF2B5EF4-FFF2-40B4-BE49-F238E27FC236}">
                <a16:creationId xmlns:a16="http://schemas.microsoft.com/office/drawing/2014/main" id="{65AF9B26-8451-B094-9C08-F5B8D8A63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8374" name="Espaço Reservado para Número de Slide 7">
            <a:extLst>
              <a:ext uri="{FF2B5EF4-FFF2-40B4-BE49-F238E27FC236}">
                <a16:creationId xmlns:a16="http://schemas.microsoft.com/office/drawing/2014/main" id="{2C0E417C-1CC2-F9B1-ABF0-FF0BE356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CF3212F-D1CE-4D18-9CD2-386EF7A8232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8375" name="Rectangle 1">
            <a:extLst>
              <a:ext uri="{FF2B5EF4-FFF2-40B4-BE49-F238E27FC236}">
                <a16:creationId xmlns:a16="http://schemas.microsoft.com/office/drawing/2014/main" id="{91D622CF-6B28-3673-3EF6-F7EDAE937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738" y="2851150"/>
            <a:ext cx="6153150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909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909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909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6909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zh-CN" sz="1600">
                <a:latin typeface="Arial" panose="020B0604020202020204" pitchFamily="34" charset="0"/>
              </a:rPr>
              <a:t>FCL = Lajir × (1 – T) – Dispêndios de capital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zh-CN" sz="1600">
                <a:latin typeface="Arial" panose="020B0604020202020204" pitchFamily="34" charset="0"/>
              </a:rPr>
              <a:t>± Mudanças nos requerimentos de capital de giro + Depreciação</a:t>
            </a:r>
          </a:p>
        </p:txBody>
      </p:sp>
      <p:sp>
        <p:nvSpPr>
          <p:cNvPr id="58376" name="CaixaDeTexto 12">
            <a:extLst>
              <a:ext uri="{FF2B5EF4-FFF2-40B4-BE49-F238E27FC236}">
                <a16:creationId xmlns:a16="http://schemas.microsoft.com/office/drawing/2014/main" id="{5968274D-9BBD-35D6-AF8F-0FD030C3C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500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3.5 Fluxo de caixa livre (FCL) e avaliação econômica do empreendimento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aixaDeTexto 3">
            <a:extLst>
              <a:ext uri="{FF2B5EF4-FFF2-40B4-BE49-F238E27FC236}">
                <a16:creationId xmlns:a16="http://schemas.microsoft.com/office/drawing/2014/main" id="{1D92D99A-D210-E368-B13A-E0E43F2E9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0419" name="CaixaDeTexto 6">
            <a:extLst>
              <a:ext uri="{FF2B5EF4-FFF2-40B4-BE49-F238E27FC236}">
                <a16:creationId xmlns:a16="http://schemas.microsoft.com/office/drawing/2014/main" id="{B28218D5-E51C-4367-7F03-DF32DCA49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820988"/>
            <a:ext cx="6715125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 inclusão dos fluxos financeiros decorrentes da forma como o projeto será financiado e dos impactos fiscais desses fluxos transforma o FCL em um fluxo denominado fluxo dos acionistas (FDA).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 FDA permite estimar a rentabilidade do projeto do ponto de vista do capital próprio (do ponto de vista dos acionistas):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163ED25-E594-0F43-BF3A-A144AAF1984D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60421" name="CaixaDeTexto 10">
            <a:extLst>
              <a:ext uri="{FF2B5EF4-FFF2-40B4-BE49-F238E27FC236}">
                <a16:creationId xmlns:a16="http://schemas.microsoft.com/office/drawing/2014/main" id="{8F36903F-8592-8CE0-52A6-3B9F2139E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0422" name="CaixaDeTexto 12">
            <a:extLst>
              <a:ext uri="{FF2B5EF4-FFF2-40B4-BE49-F238E27FC236}">
                <a16:creationId xmlns:a16="http://schemas.microsoft.com/office/drawing/2014/main" id="{1501B533-6D2E-9B45-259D-3331BF220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3.6 Fluxo dos acionistas (FDA) e avaliação do empreendimento sob o ponto de vista do acionista</a:t>
            </a:r>
          </a:p>
        </p:txBody>
      </p:sp>
      <p:sp>
        <p:nvSpPr>
          <p:cNvPr id="60423" name="Espaço Reservado para Número de Slide 7">
            <a:extLst>
              <a:ext uri="{FF2B5EF4-FFF2-40B4-BE49-F238E27FC236}">
                <a16:creationId xmlns:a16="http://schemas.microsoft.com/office/drawing/2014/main" id="{4C84E62E-7D37-4447-F8FB-30F61423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A09D8C2-9172-4F3A-A5EF-7978043D9E1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133AA2D-4B61-3A0F-49DF-D20CE9FB6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101" t="68438" r="1562" b="19375"/>
          <a:stretch>
            <a:fillRect/>
          </a:stretch>
        </p:blipFill>
        <p:spPr bwMode="auto">
          <a:xfrm>
            <a:off x="1571625" y="4857750"/>
            <a:ext cx="6572250" cy="53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aixaDeTexto 3">
            <a:extLst>
              <a:ext uri="{FF2B5EF4-FFF2-40B4-BE49-F238E27FC236}">
                <a16:creationId xmlns:a16="http://schemas.microsoft.com/office/drawing/2014/main" id="{FA6903D0-A921-395B-5612-215EEFE85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2467" name="CaixaDeTexto 6">
            <a:extLst>
              <a:ext uri="{FF2B5EF4-FFF2-40B4-BE49-F238E27FC236}">
                <a16:creationId xmlns:a16="http://schemas.microsoft.com/office/drawing/2014/main" id="{E3B06E95-D765-B6E1-C1D3-E6F896B0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14625"/>
            <a:ext cx="671512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Monte o demonstrativo de fluxo de caixa anual do projeto de investimento, para o qual uma empresa projetou os seguintes valores: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receitas operacionais líquidas = $ 3.400/ano;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custos e despesas operacionais (sem depreciação) = $ 530/ano;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depreciação = $ 120/ano;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despesas financeiras (juros) = $ 115/ano.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  Para elaborar o demonstrativo, suponha também: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aumentos nos requerimentos de capital de giro = $ 100/ano;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A15E2A7-BB41-B2E5-D0DF-55B9CA3842F2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62469" name="CaixaDeTexto 10">
            <a:extLst>
              <a:ext uri="{FF2B5EF4-FFF2-40B4-BE49-F238E27FC236}">
                <a16:creationId xmlns:a16="http://schemas.microsoft.com/office/drawing/2014/main" id="{10523D28-479D-0234-12CF-B2EDF090D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2470" name="Espaço Reservado para Número de Slide 7">
            <a:extLst>
              <a:ext uri="{FF2B5EF4-FFF2-40B4-BE49-F238E27FC236}">
                <a16:creationId xmlns:a16="http://schemas.microsoft.com/office/drawing/2014/main" id="{E93B7119-ECCD-61E6-6AC5-0C26A70C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4ECF828-DED0-4779-AEAA-CDE404EEA51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2471" name="CaixaDeTexto 12">
            <a:extLst>
              <a:ext uri="{FF2B5EF4-FFF2-40B4-BE49-F238E27FC236}">
                <a16:creationId xmlns:a16="http://schemas.microsoft.com/office/drawing/2014/main" id="{1278F09A-4B7C-EEB4-5DE2-86A5EAE79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3.6 Fluxo dos acionistas (FDA) e avaliação do empreendimento sob o ponto de vista do acionista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aixaDeTexto 3">
            <a:extLst>
              <a:ext uri="{FF2B5EF4-FFF2-40B4-BE49-F238E27FC236}">
                <a16:creationId xmlns:a16="http://schemas.microsoft.com/office/drawing/2014/main" id="{180490CD-B91B-91E6-C0BB-3E9A19C23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4515" name="CaixaDeTexto 6">
            <a:extLst>
              <a:ext uri="{FF2B5EF4-FFF2-40B4-BE49-F238E27FC236}">
                <a16:creationId xmlns:a16="http://schemas.microsoft.com/office/drawing/2014/main" id="{E00B5051-6920-9AB9-D03C-A8B9F63F3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28913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alíquota de IR = 30%;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 financiamento é uma perpetuidade (pagam-se unicamente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os juros).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F39E57-01C3-4392-096C-0E960412A820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64517" name="CaixaDeTexto 10">
            <a:extLst>
              <a:ext uri="{FF2B5EF4-FFF2-40B4-BE49-F238E27FC236}">
                <a16:creationId xmlns:a16="http://schemas.microsoft.com/office/drawing/2014/main" id="{68C6A0C1-03C6-1F8A-2560-A7CC643F3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4518" name="Espaço Reservado para Número de Slide 7">
            <a:extLst>
              <a:ext uri="{FF2B5EF4-FFF2-40B4-BE49-F238E27FC236}">
                <a16:creationId xmlns:a16="http://schemas.microsoft.com/office/drawing/2014/main" id="{699B4417-B550-0084-6D49-3B337CF7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276431C-11A8-4D73-B4D9-4B356A40E25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4519" name="CaixaDeTexto 12">
            <a:extLst>
              <a:ext uri="{FF2B5EF4-FFF2-40B4-BE49-F238E27FC236}">
                <a16:creationId xmlns:a16="http://schemas.microsoft.com/office/drawing/2014/main" id="{4DC6DC74-AB84-1846-5CE1-9C261E25C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3.6 Fluxo dos acionistas (FDA) e avaliação do empreendimento sob o ponto de vista do acionista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aixaDeTexto 3">
            <a:extLst>
              <a:ext uri="{FF2B5EF4-FFF2-40B4-BE49-F238E27FC236}">
                <a16:creationId xmlns:a16="http://schemas.microsoft.com/office/drawing/2014/main" id="{12A14AB4-8965-EDFA-8515-4195BFAF3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6563" name="CaixaDeTexto 6">
            <a:extLst>
              <a:ext uri="{FF2B5EF4-FFF2-40B4-BE49-F238E27FC236}">
                <a16:creationId xmlns:a16="http://schemas.microsoft.com/office/drawing/2014/main" id="{68E93991-6640-0129-0530-CAD4F8804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86063"/>
            <a:ext cx="6715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Estrutura do fluxo de caixa anual do projeto de investimento: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721F4EC-09D7-DB4A-AD3D-8459DE81548A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66565" name="CaixaDeTexto 10">
            <a:extLst>
              <a:ext uri="{FF2B5EF4-FFF2-40B4-BE49-F238E27FC236}">
                <a16:creationId xmlns:a16="http://schemas.microsoft.com/office/drawing/2014/main" id="{5B16FA69-5CAC-E217-384B-99A6380F2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6566" name="Espaço Reservado para Número de Slide 7">
            <a:extLst>
              <a:ext uri="{FF2B5EF4-FFF2-40B4-BE49-F238E27FC236}">
                <a16:creationId xmlns:a16="http://schemas.microsoft.com/office/drawing/2014/main" id="{C921C9CD-4B8E-DC0A-6A30-F8DD67CD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CC6BA96-7CD4-4A17-8262-B0585FE15DD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66567" name="Picture 2">
            <a:extLst>
              <a:ext uri="{FF2B5EF4-FFF2-40B4-BE49-F238E27FC236}">
                <a16:creationId xmlns:a16="http://schemas.microsoft.com/office/drawing/2014/main" id="{4B4E0607-8A83-95D4-6D99-CC5A37E17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8" t="20625" r="18555" b="11874"/>
          <a:stretch>
            <a:fillRect/>
          </a:stretch>
        </p:blipFill>
        <p:spPr bwMode="auto">
          <a:xfrm>
            <a:off x="2357438" y="3111500"/>
            <a:ext cx="4143375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CaixaDeTexto 12">
            <a:extLst>
              <a:ext uri="{FF2B5EF4-FFF2-40B4-BE49-F238E27FC236}">
                <a16:creationId xmlns:a16="http://schemas.microsoft.com/office/drawing/2014/main" id="{2FCB4B07-68B2-71DC-E429-627D29A85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3.6 Fluxo dos acionistas (FDA) e avaliação do empreendimento sob o ponto de vista do acionista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aixaDeTexto 3">
            <a:extLst>
              <a:ext uri="{FF2B5EF4-FFF2-40B4-BE49-F238E27FC236}">
                <a16:creationId xmlns:a16="http://schemas.microsoft.com/office/drawing/2014/main" id="{F40389CB-7BB2-B943-2642-7A30259EE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8040BE-D214-B758-A02F-71FB0E259A0F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68612" name="CaixaDeTexto 10">
            <a:extLst>
              <a:ext uri="{FF2B5EF4-FFF2-40B4-BE49-F238E27FC236}">
                <a16:creationId xmlns:a16="http://schemas.microsoft.com/office/drawing/2014/main" id="{09A6B976-BB4B-1DDA-D231-0E1F4FBF4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8613" name="Espaço Reservado para Número de Slide 7">
            <a:extLst>
              <a:ext uri="{FF2B5EF4-FFF2-40B4-BE49-F238E27FC236}">
                <a16:creationId xmlns:a16="http://schemas.microsoft.com/office/drawing/2014/main" id="{21055D19-8DF2-78A7-F176-E6789878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48423F4-6C5E-475D-B183-96A23B00E15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EBD7046-BB8E-6E96-8335-A2302B338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1094" t="10312" r="7421" b="8125"/>
          <a:stretch>
            <a:fillRect/>
          </a:stretch>
        </p:blipFill>
        <p:spPr bwMode="auto">
          <a:xfrm>
            <a:off x="2276475" y="2786063"/>
            <a:ext cx="4591050" cy="3271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8615" name="CaixaDeTexto 12">
            <a:extLst>
              <a:ext uri="{FF2B5EF4-FFF2-40B4-BE49-F238E27FC236}">
                <a16:creationId xmlns:a16="http://schemas.microsoft.com/office/drawing/2014/main" id="{6E2910B8-E035-88DC-85D4-E105C1380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3.6 Fluxo dos acionistas (FDA) e avaliação do empreendimento sob o ponto de vista do acionista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aixaDeTexto 3">
            <a:extLst>
              <a:ext uri="{FF2B5EF4-FFF2-40B4-BE49-F238E27FC236}">
                <a16:creationId xmlns:a16="http://schemas.microsoft.com/office/drawing/2014/main" id="{A41F32BE-9FFE-8D65-83C7-D93F50AB7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70659" name="CaixaDeTexto 6">
            <a:extLst>
              <a:ext uri="{FF2B5EF4-FFF2-40B4-BE49-F238E27FC236}">
                <a16:creationId xmlns:a16="http://schemas.microsoft.com/office/drawing/2014/main" id="{EAB9DB76-D22E-0040-E453-433A7677A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 separação das decisões de investimento e de financiamento é possível pela existência de um mercado de capitais eficiente, por meio do qual empresas e indivíduos podem aplicar e levantar capitais, e pela existência de oportunidades de investimento em atividades produtivas (projetos).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 existência desses fatores permite que a decisão de investimento seja tomada independentemente das preferências particulares das empresas ou indivíduos, tornando-a uma tarefa técnica que independe de gostos e preferências individuais.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C5F95B-DF35-5857-383F-1156C8955358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70661" name="CaixaDeTexto 10">
            <a:extLst>
              <a:ext uri="{FF2B5EF4-FFF2-40B4-BE49-F238E27FC236}">
                <a16:creationId xmlns:a16="http://schemas.microsoft.com/office/drawing/2014/main" id="{F1499FCE-8B69-098D-AEED-DDD1289D9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0662" name="CaixaDeTexto 12">
            <a:extLst>
              <a:ext uri="{FF2B5EF4-FFF2-40B4-BE49-F238E27FC236}">
                <a16:creationId xmlns:a16="http://schemas.microsoft.com/office/drawing/2014/main" id="{A0B50E0A-97BA-A0BD-8F62-EDCDE1E1E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254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3.7 A separação das decisões econômicas e financeiras</a:t>
            </a:r>
          </a:p>
        </p:txBody>
      </p:sp>
      <p:sp>
        <p:nvSpPr>
          <p:cNvPr id="70663" name="Espaço Reservado para Número de Slide 7">
            <a:extLst>
              <a:ext uri="{FF2B5EF4-FFF2-40B4-BE49-F238E27FC236}">
                <a16:creationId xmlns:a16="http://schemas.microsoft.com/office/drawing/2014/main" id="{873963D9-1BCE-D551-691B-C67B03EB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AF501A9-7BD1-437C-ADD8-A50FDB4CE64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aixaDeTexto 3">
            <a:extLst>
              <a:ext uri="{FF2B5EF4-FFF2-40B4-BE49-F238E27FC236}">
                <a16:creationId xmlns:a16="http://schemas.microsoft.com/office/drawing/2014/main" id="{4C46B7DA-89C3-90DD-641D-F9304BBD5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72707" name="CaixaDeTexto 6">
            <a:extLst>
              <a:ext uri="{FF2B5EF4-FFF2-40B4-BE49-F238E27FC236}">
                <a16:creationId xmlns:a16="http://schemas.microsoft.com/office/drawing/2014/main" id="{0A621F24-DFBF-5B21-95A5-A6E39F410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Um projeto de investimento de $ 100.000 gera um FCL $ 120.000 em um ano; 80% do investimento será financiado por empréstimo a juros de 15% a.a., a ser quitado em parcela única um ano depois. Determinar a viabilidade econômica e financeira do projeto.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custo do capital (custo médio ponderado) = 18% a.a.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rentabilidade esperada pelos acionistas = 30% a.a.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F457C3-F004-33BC-19CB-3D4D4DD101E6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72709" name="CaixaDeTexto 10">
            <a:extLst>
              <a:ext uri="{FF2B5EF4-FFF2-40B4-BE49-F238E27FC236}">
                <a16:creationId xmlns:a16="http://schemas.microsoft.com/office/drawing/2014/main" id="{59941CF6-F2B3-8F9B-F4F6-5152E1BB2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2710" name="Espaço Reservado para Número de Slide 7">
            <a:extLst>
              <a:ext uri="{FF2B5EF4-FFF2-40B4-BE49-F238E27FC236}">
                <a16:creationId xmlns:a16="http://schemas.microsoft.com/office/drawing/2014/main" id="{B17425FD-E756-9A5B-2532-3858A916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89A0859-BA71-4E8C-A5EE-F431AFFB586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2711" name="CaixaDeTexto 12">
            <a:extLst>
              <a:ext uri="{FF2B5EF4-FFF2-40B4-BE49-F238E27FC236}">
                <a16:creationId xmlns:a16="http://schemas.microsoft.com/office/drawing/2014/main" id="{6B45241D-106E-7A60-A1BA-097197E3A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254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3.7 A separação das decisões econômicas e financeiras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aixaDeTexto 3">
            <a:extLst>
              <a:ext uri="{FF2B5EF4-FFF2-40B4-BE49-F238E27FC236}">
                <a16:creationId xmlns:a16="http://schemas.microsoft.com/office/drawing/2014/main" id="{8BBD0644-0661-BCA8-0772-095888EB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76803" name="CaixaDeTexto 6">
            <a:extLst>
              <a:ext uri="{FF2B5EF4-FFF2-40B4-BE49-F238E27FC236}">
                <a16:creationId xmlns:a16="http://schemas.microsoft.com/office/drawing/2014/main" id="{4C1D4A86-50A7-C004-2C7D-7119C1425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450" y="2286000"/>
            <a:ext cx="6715125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Podemos observar que: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1600">
                <a:latin typeface="Arial" panose="020B0604020202020204" pitchFamily="34" charset="0"/>
              </a:rPr>
              <a:t> o FCL não inclui os fluxos do financiamento. O FCL do ano zero ($ 100.000) representa o aporte total de capital (acionistas +  credores) e o do ano 1 o retorno decorrente desse aporte total;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1600">
                <a:latin typeface="Arial" panose="020B0604020202020204" pitchFamily="34" charset="0"/>
              </a:rPr>
              <a:t> a TIR do FCL (TIRE) representará a rentabilidade do ponto de vista do projeto como um todo [TIRE &gt; 18%];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1600">
                <a:latin typeface="Arial" panose="020B0604020202020204" pitchFamily="34" charset="0"/>
              </a:rPr>
              <a:t> o FDA do ano zero ($ 20.000) representa unicamente o aporte dos acionistas, e o do ano 1, o retorno decorrente desse aporte;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1600">
                <a:latin typeface="Arial" panose="020B0604020202020204" pitchFamily="34" charset="0"/>
              </a:rPr>
              <a:t> a TIR do FDA (TIRF) representará a rentabilidade do projeto do ponto de vista dos acionistas [TIRF &gt; 30%].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6B0A45-6F56-1B6E-B350-082BAD1F12C0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76805" name="CaixaDeTexto 10">
            <a:extLst>
              <a:ext uri="{FF2B5EF4-FFF2-40B4-BE49-F238E27FC236}">
                <a16:creationId xmlns:a16="http://schemas.microsoft.com/office/drawing/2014/main" id="{D3F976EA-2D01-B93A-B004-7A3DD730B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6806" name="Espaço Reservado para Número de Slide 7">
            <a:extLst>
              <a:ext uri="{FF2B5EF4-FFF2-40B4-BE49-F238E27FC236}">
                <a16:creationId xmlns:a16="http://schemas.microsoft.com/office/drawing/2014/main" id="{02D0FCE1-063D-DA0C-EC91-7EC10209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3BF61642-E42D-47E1-9C06-BD8AB479664D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6807" name="CaixaDeTexto 12">
            <a:extLst>
              <a:ext uri="{FF2B5EF4-FFF2-40B4-BE49-F238E27FC236}">
                <a16:creationId xmlns:a16="http://schemas.microsoft.com/office/drawing/2014/main" id="{19AF70C9-59CB-8F1E-4DC6-858079490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000250"/>
            <a:ext cx="6254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3.7 A separação das decisões econômicas e financeiras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aixaDeTexto 3">
            <a:extLst>
              <a:ext uri="{FF2B5EF4-FFF2-40B4-BE49-F238E27FC236}">
                <a16:creationId xmlns:a16="http://schemas.microsoft.com/office/drawing/2014/main" id="{DD67687F-18B9-FDE1-7618-70BA20D4C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74755" name="CaixaDeTexto 6">
            <a:extLst>
              <a:ext uri="{FF2B5EF4-FFF2-40B4-BE49-F238E27FC236}">
                <a16:creationId xmlns:a16="http://schemas.microsoft.com/office/drawing/2014/main" id="{E33A04E6-6197-D845-8C28-A801CD462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Fluxos de caixa e sua respectiva TIR: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EF249C-73B2-096F-10E4-9ADDDB3A36E2}"/>
              </a:ext>
            </a:extLst>
          </p:cNvPr>
          <p:cNvSpPr txBox="1"/>
          <p:nvPr/>
        </p:nvSpPr>
        <p:spPr>
          <a:xfrm>
            <a:off x="4143375" y="142875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</a:rPr>
              <a:t>Capítulo 3</a:t>
            </a:r>
            <a:r>
              <a:rPr lang="pt-BR">
                <a:solidFill>
                  <a:schemeClr val="bg1">
                    <a:lumMod val="95000"/>
                  </a:schemeClr>
                </a:solidFill>
              </a:rPr>
              <a:t> | Renda econômica e fluxo de caixa na análise e avaliação das decisões econômicas e financeiras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F12130"/>
              </a:solidFill>
            </a:endParaRPr>
          </a:p>
        </p:txBody>
      </p:sp>
      <p:sp>
        <p:nvSpPr>
          <p:cNvPr id="74757" name="CaixaDeTexto 10">
            <a:extLst>
              <a:ext uri="{FF2B5EF4-FFF2-40B4-BE49-F238E27FC236}">
                <a16:creationId xmlns:a16="http://schemas.microsoft.com/office/drawing/2014/main" id="{59306281-90F7-2B38-F53B-AE7B6F785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4758" name="Espaço Reservado para Número de Slide 7">
            <a:extLst>
              <a:ext uri="{FF2B5EF4-FFF2-40B4-BE49-F238E27FC236}">
                <a16:creationId xmlns:a16="http://schemas.microsoft.com/office/drawing/2014/main" id="{EF2ACB0D-CF0A-F1B1-D02E-B0D7E720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59F79C3-7AE9-4564-B4D1-75DDB4032DE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BF01D45-EC35-6E5E-36EF-7F69148E9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5859" t="41250" r="3320" b="23125"/>
          <a:stretch>
            <a:fillRect/>
          </a:stretch>
        </p:blipFill>
        <p:spPr bwMode="auto">
          <a:xfrm>
            <a:off x="2071688" y="3467100"/>
            <a:ext cx="5715000" cy="1400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4760" name="CaixaDeTexto 12">
            <a:extLst>
              <a:ext uri="{FF2B5EF4-FFF2-40B4-BE49-F238E27FC236}">
                <a16:creationId xmlns:a16="http://schemas.microsoft.com/office/drawing/2014/main" id="{CAE55909-5087-ED68-3FFE-03ADCE3F0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254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3.7 A separação das decisões econômicas e financeiras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Data xmlns="f244cccc-9ebe-487b-9f49-451c84d31f5d">2024-10-23T15:06:16+00:00</Data>
    <grupo13_x002d_MarceloPassos xmlns="f244cccc-9ebe-487b-9f49-451c84d31f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EE09B7-624A-433D-95B7-7F2DCF52EEC2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customXml/itemProps2.xml><?xml version="1.0" encoding="utf-8"?>
<ds:datastoreItem xmlns:ds="http://schemas.openxmlformats.org/officeDocument/2006/customXml" ds:itemID="{4F6A703D-D260-4EBD-BD3C-53AD03655B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A57FED-413A-48DD-B48A-D83C72CE35C5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37</Slides>
  <Notes>37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3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revision>7</cp:revision>
  <cp:lastPrinted>2018-09-14T18:24:36Z</cp:lastPrinted>
  <dcterms:created xsi:type="dcterms:W3CDTF">2009-04-20T19:30:33Z</dcterms:created>
  <dcterms:modified xsi:type="dcterms:W3CDTF">2023-10-16T12:55:52Z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
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474720"/>
            <a:ext cx="5486400" cy="54864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389120"/>
            <a:ext cx="3657600" cy="3657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5120640"/>
            <a:ext cx="2194560" cy="219456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E GESTÃO DE RISCOS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Economia Brasileira: Política Monetária,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 e Cambial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Primário, Dívida Pública e a Evolução das Regras Fiscais no Brasil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9808" y="4709160"/>
            <a:ext cx="1463040" cy="0"/>
          </a:xfrm>
          <a:prstGeom prst="line">
            <a:avLst/>
          </a:prstGeom>
          <a:noFill/>
          <a:ln w="31750">
            <a:solidFill>
              <a:srgbClr val="C99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Produção — Universidade de Brasília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Tripé da Política Econômica Brasileira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0756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Política Monetária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7157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Selic, Copom e os canais de transmissão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2103120"/>
            <a:ext cx="502920" cy="50292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0" name="Text 8"/>
          <p:cNvSpPr/>
          <p:nvPr/>
        </p:nvSpPr>
        <p:spPr>
          <a:xfrm>
            <a:off x="5193792" y="20756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Política Fiscal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53712" y="27157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primário, déficit e dívida pública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30184" y="2103120"/>
            <a:ext cx="502920" cy="50292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4" name="Text 12"/>
          <p:cNvSpPr/>
          <p:nvPr/>
        </p:nvSpPr>
        <p:spPr>
          <a:xfrm>
            <a:off x="8970264" y="20756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Regras Fiscais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30184" y="27157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Ouro, Teto de Gastos e o Novo Arcabouço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87952"/>
            <a:ext cx="502920" cy="50292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4160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Política Cambial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flutuante e seus determinantes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5112" y="3959352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53712" y="4187952"/>
            <a:ext cx="502920" cy="50292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22" name="Text 20"/>
          <p:cNvSpPr/>
          <p:nvPr/>
        </p:nvSpPr>
        <p:spPr>
          <a:xfrm>
            <a:off x="5193792" y="4160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Vasos Comunicantes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53712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três políticas se conectam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1584" y="3959352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0184" y="4187952"/>
            <a:ext cx="502920" cy="50292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26" name="Text 24"/>
          <p:cNvSpPr/>
          <p:nvPr/>
        </p:nvSpPr>
        <p:spPr>
          <a:xfrm>
            <a:off x="8970264" y="4160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Custo para Projetos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30184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TMA brasileira é tão elevada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2168500"/>
            <a:ext cx="372161" cy="372161"/>
          </a:xfrm>
          <a:prstGeom prst="rect">
            <a:avLst/>
          </a:prstGeom>
        </p:spPr>
      </p:pic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092" y="2168500"/>
            <a:ext cx="372161" cy="372161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564" y="2168500"/>
            <a:ext cx="372161" cy="372161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4253332"/>
            <a:ext cx="372161" cy="372161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092" y="4253332"/>
            <a:ext cx="372161" cy="372161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564" y="4253332"/>
            <a:ext cx="372161" cy="37216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Ambiente Macroeconômico como Variável de Projeto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de capital, taxas de desconto e horizontes de planejamento são profundamente influenciados pelo ambiente macroeconômico. No Brasil, essa dependência é particularmente intensa.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7380" y="3246120"/>
            <a:ext cx="731520" cy="73152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Monetária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663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custo e a disponibilidade do crédito na economia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92608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00700" y="3246120"/>
            <a:ext cx="731520" cy="73152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4663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a trajetória da dívida e o prêmio de risco do país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0" y="292608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04020" y="3246120"/>
            <a:ext cx="731520" cy="73152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4663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 insumos importados, exportações e dívida em moeda estrangeira</a:t>
            </a:r>
            <a:endParaRPr lang="en-US" sz="12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478" y="3341218"/>
            <a:ext cx="541325" cy="541325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798" y="3341218"/>
            <a:ext cx="541325" cy="541325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118" y="3341218"/>
            <a:ext cx="541325" cy="5413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Estado e os Três Instrumentos de Política Econômica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27448" y="178308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C99A2E"/>
          </a:solidFill>
          <a:ln/>
        </p:spPr>
      </p:sp>
      <p:sp>
        <p:nvSpPr>
          <p:cNvPr id="5" name="Text 3"/>
          <p:cNvSpPr/>
          <p:nvPr/>
        </p:nvSpPr>
        <p:spPr>
          <a:xfrm>
            <a:off x="4727448" y="1783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9048" y="2560320"/>
            <a:ext cx="0" cy="228600"/>
          </a:xfrm>
          <a:prstGeom prst="line">
            <a:avLst/>
          </a:prstGeom>
          <a:noFill/>
          <a:ln w="25400">
            <a:solidFill>
              <a:srgbClr val="3E6E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2788920"/>
            <a:ext cx="8732520" cy="0"/>
          </a:xfrm>
          <a:prstGeom prst="line">
            <a:avLst/>
          </a:prstGeom>
          <a:noFill/>
          <a:ln w="25400">
            <a:solidFill>
              <a:srgbClr val="3E6E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788920"/>
            <a:ext cx="0" cy="320040"/>
          </a:xfrm>
          <a:prstGeom prst="line">
            <a:avLst/>
          </a:prstGeom>
          <a:noFill/>
          <a:ln w="25400">
            <a:solidFill>
              <a:srgbClr val="3E6E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9048" y="2788920"/>
            <a:ext cx="0" cy="320040"/>
          </a:xfrm>
          <a:prstGeom prst="line">
            <a:avLst/>
          </a:prstGeom>
          <a:noFill/>
          <a:ln w="25400">
            <a:solidFill>
              <a:srgbClr val="3E6E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69880" y="2788920"/>
            <a:ext cx="0" cy="320040"/>
          </a:xfrm>
          <a:prstGeom prst="line">
            <a:avLst/>
          </a:prstGeom>
          <a:noFill/>
          <a:ln w="25400">
            <a:solidFill>
              <a:srgbClr val="3E6E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10896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0B3552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3273552"/>
            <a:ext cx="502920" cy="50292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Monetária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• Selic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10328" y="310896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0B3552"/>
          </a:solidFill>
          <a:ln/>
        </p:spPr>
      </p:sp>
      <p:sp>
        <p:nvSpPr>
          <p:cNvPr id="16" name="Shape 14"/>
          <p:cNvSpPr/>
          <p:nvPr/>
        </p:nvSpPr>
        <p:spPr>
          <a:xfrm>
            <a:off x="5870448" y="3273552"/>
            <a:ext cx="502920" cy="50292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001768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001768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Tesouro • Orçamento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81160" y="310896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0B3552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0" y="3273552"/>
            <a:ext cx="502920" cy="502920"/>
          </a:xfrm>
          <a:prstGeom prst="ellipse">
            <a:avLst/>
          </a:prstGeom>
          <a:solidFill>
            <a:srgbClr val="8A5A17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7260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flutuante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140" y="3338932"/>
            <a:ext cx="372161" cy="372161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660" y="3338932"/>
            <a:ext cx="372161" cy="372161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828" y="3338932"/>
            <a:ext cx="372161" cy="372161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48640" y="502920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0F3F5E"/>
          </a:solidFill>
          <a:ln/>
        </p:spPr>
      </p:sp>
      <p:sp>
        <p:nvSpPr>
          <p:cNvPr id="27" name="Text 22"/>
          <p:cNvSpPr/>
          <p:nvPr/>
        </p:nvSpPr>
        <p:spPr>
          <a:xfrm>
            <a:off x="868680" y="50292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políticas interagem de forma complexa — os efeitos de cada uma se propagam pelas demais, moldando o custo do capital e o ambiente de investimento no país.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POLÍTICA MONETÁRIA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Banco Central como Guardião da Estabilidade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Política Monetária é conduzida pelo Banco Central do Brasil (BCB) e tem como principal instrumento a fixação da Taxa Selic — a taxa básica de juros da economia brasileira.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meio da Selic, o BCB regula a quantidade de moeda em circulação, controla a inflação (medida principalmente pelo IPCA) e influencia as expectativas dos agentes econômicos.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35040" y="1783080"/>
            <a:ext cx="5166360" cy="4114800"/>
          </a:xfrm>
          <a:prstGeom prst="roundRect">
            <a:avLst>
              <a:gd name="adj" fmla="val 2000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2057400"/>
            <a:ext cx="548640" cy="54864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403" y="212872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2084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Copom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55080" y="26974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Comitê de Política Monetária reúne-se periodicamente para decidir o nível da Selic, mantendo a inflação dentro de uma banda predefinida pelo Conselho Monetário Nacional (CMN).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3886200"/>
            <a:ext cx="4572000" cy="0"/>
          </a:xfrm>
          <a:prstGeom prst="line">
            <a:avLst/>
          </a:prstGeom>
          <a:noFill/>
          <a:ln w="12700">
            <a:solidFill>
              <a:srgbClr val="2D58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 Metas de Inflação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55080" y="43891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Adotado desde 1999. A credibilidade do regime — medida pela convergência das expectativas de inflação para a meta — determina a magnitude do prêmio de risco embutido nas taxas de longo prazo.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4494276"/>
            <a:ext cx="338328" cy="3383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63040" y="443484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Complementar 179/2021 formalizou a independência do Banco Central — um avanço institucional que reduz a suscetibilidade a pressões políticas de curto prazo.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POLÍTICA MONETÁRIA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Selic se Propaga pela Economia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4884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do Crédito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mais altos encarecem empréstimos e reduzem consumo e investimento privado.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63240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64408" y="187452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0F7A6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1668" y="214884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das Expectativas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3657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comprometimento do BCB com metas de inflação ancora as expectativas, reduzindo a inércia inflacionária.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79008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80176" y="187452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8A5A1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17436" y="214884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117336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do Câmbio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63056" y="3657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mais altos atraem capital externo, valorizando o real e barateando importações.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94776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95944" y="187452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5C3A8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33204" y="214884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1" name="Text 19"/>
          <p:cNvSpPr/>
          <p:nvPr/>
        </p:nvSpPr>
        <p:spPr>
          <a:xfrm>
            <a:off x="8833104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dos Ativos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78824" y="3657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elevados tornam títulos públicos mais atrativos que ações, reduzindo o preço dos ativos de risco.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110" y="2232050"/>
            <a:ext cx="473659" cy="473659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646" y="2232050"/>
            <a:ext cx="473659" cy="473659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878" y="2232050"/>
            <a:ext cx="473659" cy="473659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414" y="2232050"/>
            <a:ext cx="473659" cy="47365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POLÍTICA FISCAL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Estado como Agente Econômico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Política Fiscal refere-se às decisões do governo quanto a gastos públicos e arrecadação tributária. O saldo entre receitas e despesas determina o resultado fiscal — superávit ou déficit.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3063240"/>
            <a:ext cx="640080" cy="6400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Arrecadação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Tributos, contribuições e outras receitas que o governo recolhe da economia.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78892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46420" y="3063240"/>
            <a:ext cx="640080" cy="6400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 Público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42976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Custeio da máquina pública, investimentos, benefícios sociais e transferências.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278892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49740" y="3063240"/>
            <a:ext cx="640080" cy="6400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Fiscal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42976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o que entra e o que sai — o termômetro da saúde fiscal do país.</a:t>
            </a:r>
            <a:endParaRPr lang="en-US" sz="11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310" y="3146450"/>
            <a:ext cx="473659" cy="473659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630" y="3146450"/>
            <a:ext cx="473659" cy="473659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50" y="3146450"/>
            <a:ext cx="473659" cy="473659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48640" y="53492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0B3552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5349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governo gasta mais do que arrecada, precisa financiar o déficit via emissão de dívida pública — competindo com o setor privado pelo crédito disponível (crowding-out).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POLÍTICA FISCAL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das Contas Públicas: da Receita à Dívida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0F7A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423160" y="210312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24328" y="21031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B02E2E"/>
          </a:solidFill>
          <a:ln/>
        </p:spPr>
      </p:sp>
      <p:sp>
        <p:nvSpPr>
          <p:cNvPr id="8" name="Text 6"/>
          <p:cNvSpPr/>
          <p:nvPr/>
        </p:nvSpPr>
        <p:spPr>
          <a:xfrm>
            <a:off x="2624328" y="210312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Primárias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98848" y="210312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00016" y="21031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0B3552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210312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Primário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74536" y="210312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775704" y="21031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B02E2E"/>
          </a:solidFill>
          <a:ln/>
        </p:spPr>
      </p:sp>
      <p:sp>
        <p:nvSpPr>
          <p:cNvPr id="14" name="Text 12"/>
          <p:cNvSpPr/>
          <p:nvPr/>
        </p:nvSpPr>
        <p:spPr>
          <a:xfrm>
            <a:off x="6775704" y="210312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da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Dívida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50224" y="210312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851392" y="21031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0B3552"/>
          </a:solidFill>
          <a:ln/>
        </p:spPr>
      </p:sp>
      <p:sp>
        <p:nvSpPr>
          <p:cNvPr id="17" name="Text 15"/>
          <p:cNvSpPr/>
          <p:nvPr/>
        </p:nvSpPr>
        <p:spPr>
          <a:xfrm>
            <a:off x="8851392" y="210312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6576" cy="21031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Primário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405079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se a receita supera as despesas primárias (excluindo juros); déficit se o inverso ocorre. É o indicador mais usado para avaliar o esforço fiscal do governo.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Nominal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51023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primário descontado o pagamento de juros da dívida pública — reflete o efeito total das contas públicas sobre o endividamento.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3657600"/>
            <a:ext cx="5166360" cy="2103120"/>
          </a:xfrm>
          <a:prstGeom prst="roundRect">
            <a:avLst>
              <a:gd name="adj" fmla="val 3913"/>
            </a:avLst>
          </a:prstGeom>
          <a:solidFill>
            <a:srgbClr val="081F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elo com a Dívida Pública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2519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resultado nominal é deficitário, o governo precisa emitir mais dívida para cobrir a diferença. Déficits recorrentes → dívida pública crescente → maior prêmio de risco → juros mais altos.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POLÍTICA FISCAL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Superávit x Déficit Primário: Duas Trajetórias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0F7A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213466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Superávit Primário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496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&gt; Despesas Primárias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 de caixa disponível para abater parte dos juros da dívida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compromisso fiscal aos investidores — reduz prêmio de risco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crescimento do PIB superar os juros, a dívida/PIB tende a cair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057400"/>
            <a:ext cx="594360" cy="594360"/>
          </a:xfrm>
          <a:prstGeom prst="ellipse">
            <a:avLst/>
          </a:prstGeom>
          <a:solidFill>
            <a:srgbClr val="B02E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213466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Déficit Primário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315200" y="2496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7C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&lt; Despesas Primárias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583680" y="297180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preciso emitir dívida nova só para cobrir despesas correntes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 a percepção de risco quanto à sustentabilidade da dívida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Dívida/PIB tende a subir, mesmo sem contar os juros pagos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25780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5257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Dado do livro: nos últimos anos, o déficit primário do governo federal oscilou entre 1% e 3% do PIB — exigindo financiamento contínuo via emissão de dívida.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POLÍTICA FISCAL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Déficit ao Crowding-Out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B02E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77440" y="210312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33472" y="21031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B3552"/>
          </a:solidFill>
          <a:ln/>
        </p:spPr>
      </p:sp>
      <p:sp>
        <p:nvSpPr>
          <p:cNvPr id="8" name="Text 6"/>
          <p:cNvSpPr/>
          <p:nvPr/>
        </p:nvSpPr>
        <p:spPr>
          <a:xfrm>
            <a:off x="2633472" y="2103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Dívida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62272" y="210312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18304" y="21031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F7A6E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2103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Pressiona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Longos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47104" y="210312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03136" y="21031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8A5A17"/>
          </a:solidFill>
          <a:ln/>
        </p:spPr>
      </p:sp>
      <p:sp>
        <p:nvSpPr>
          <p:cNvPr id="14" name="Text 12"/>
          <p:cNvSpPr/>
          <p:nvPr/>
        </p:nvSpPr>
        <p:spPr>
          <a:xfrm>
            <a:off x="6803136" y="2103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pelo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Privado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31936" y="210312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87968" y="21031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5C3A8E"/>
          </a:solidFill>
          <a:ln/>
        </p:spPr>
      </p:sp>
      <p:sp>
        <p:nvSpPr>
          <p:cNvPr id="17" name="Text 15"/>
          <p:cNvSpPr/>
          <p:nvPr/>
        </p:nvSpPr>
        <p:spPr>
          <a:xfrm>
            <a:off x="8887968" y="2103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Crowding-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3814420"/>
            <a:ext cx="372161" cy="37216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08760" y="365760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Crowding-out: ao competir com o setor privado pelo crédito disponível, o governo eleva as taxas de juros de longo prazo — encarecendo o financiamento de projetos privados de investimento.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507492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0B3552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749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 diretas para os projetos privados: (1) eleva a taxa de juros de longo prazo; (2) reduz o espaço fiscal para investimentos públicos complementares; (3) eleva o risco-país (CDS Brasil); (4) pressiona câmbio e inflação.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POLÍTICA FISCAL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Dívida Pública Brasileira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Dívida Bruta do Governo Geral (DBGG) em 2024 — metodologia FMI. Uma das mais elevadas entre os países emergentes.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1783080"/>
            <a:ext cx="36576" cy="4480560"/>
          </a:xfrm>
          <a:prstGeom prst="rect">
            <a:avLst/>
          </a:prstGeom>
          <a:solidFill>
            <a:srgbClr val="1C4C6E"/>
          </a:solidFill>
          <a:ln/>
        </p:spPr>
      </p:sp>
      <p:sp>
        <p:nvSpPr>
          <p:cNvPr id="8" name="Shape 6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B02E2E"/>
          </a:solidFill>
          <a:ln/>
        </p:spPr>
      </p:sp>
      <p:sp>
        <p:nvSpPr>
          <p:cNvPr id="9" name="Text 7"/>
          <p:cNvSpPr/>
          <p:nvPr/>
        </p:nvSpPr>
        <p:spPr>
          <a:xfrm>
            <a:off x="6995160" y="18745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projeções fiscais indicam trajetória ascendente sem reformas estruturais do lado da despesa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3154680"/>
            <a:ext cx="457200" cy="457200"/>
          </a:xfrm>
          <a:prstGeom prst="ellipse">
            <a:avLst/>
          </a:prstGeom>
          <a:solidFill>
            <a:srgbClr val="B02E2E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31089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da dívida (pagamento de juros) consome parcela crescente do orçamento federal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4389120"/>
            <a:ext cx="457200" cy="457200"/>
          </a:xfrm>
          <a:prstGeom prst="ellipse">
            <a:avLst/>
          </a:prstGeom>
          <a:solidFill>
            <a:srgbClr val="B0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43434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comprime os recursos disponíveis para investimentos públicos em infraestrutura, educação e saúde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4516" y="1979676"/>
            <a:ext cx="338328" cy="338328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16" y="4448556"/>
            <a:ext cx="338328" cy="338328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321411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POLÍTICA FISCAL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Vicioso da Dívida Alta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Dívida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 Alta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201168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Prêmio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Risco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40233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4023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de Longo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Mais Altos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023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da Dívida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00400" y="4023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⬅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46120" y="2889504"/>
            <a:ext cx="3017520" cy="1078992"/>
          </a:xfrm>
          <a:prstGeom prst="ellipse">
            <a:avLst/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2889504"/>
            <a:ext cx="3017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B02E2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dívida elevada justifica juros altos, que por sua vez elevam o custo da dívida — um dos principais desafios macroeconômicos do país.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REGRAS FISCAIS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Décadas de Regras Fiscais no Brasil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1042416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2505456"/>
            <a:ext cx="292608" cy="292608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1988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-754380" y="3017520"/>
            <a:ext cx="3154680" cy="2103120"/>
          </a:xfrm>
          <a:prstGeom prst="roundRect">
            <a:avLst>
              <a:gd name="adj" fmla="val 304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-617220" y="31821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-617220" y="3730752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Federal, Art. 167, III — veda crédito para custeio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51376" y="2505456"/>
            <a:ext cx="292608" cy="292608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720340" y="3017520"/>
            <a:ext cx="3154680" cy="2103120"/>
          </a:xfrm>
          <a:prstGeom prst="roundRect">
            <a:avLst>
              <a:gd name="adj" fmla="val 304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57500" y="31821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57500" y="3730752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Responsabilidade Fiscal — limites e transparência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26096" y="2505456"/>
            <a:ext cx="292608" cy="292608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95060" y="3017520"/>
            <a:ext cx="3154680" cy="2103120"/>
          </a:xfrm>
          <a:prstGeom prst="roundRect">
            <a:avLst>
              <a:gd name="adj" fmla="val 304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32220" y="31821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de Gastos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32220" y="3730752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95 — despesas travadas em termos reais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100816" y="2505456"/>
            <a:ext cx="292608" cy="292608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21" name="Text 19"/>
          <p:cNvSpPr/>
          <p:nvPr/>
        </p:nvSpPr>
        <p:spPr>
          <a:xfrm>
            <a:off x="1060704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669780" y="3017520"/>
            <a:ext cx="3154680" cy="2103120"/>
          </a:xfrm>
          <a:prstGeom prst="roundRect">
            <a:avLst>
              <a:gd name="adj" fmla="val 3043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06940" y="31821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Arcabouço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06940" y="3730752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200 — bandas de crescimento condicionadas à meta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Cada regime buscou ancorar as expectativas fiscais, mas nenhum se sustentou sem revisões — um padrão que revela a dificuldade de compromissos fiscais duradouros no Brasil.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REGRAS FISCAIS — 1988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de Ouro: a Primeira Âncora Fiscal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0B3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1287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constitucional (Art. 167, III) que veda a realização de operações de crédito que excedam as despesas de capital. Em sua concepção original, buscava impedir que o governo se endividasse para pagar despesas correntes — ou seja, que tomasse empréstimos para cobrir o custeio do Estado.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709160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892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É a regra mais antiga entre as estudadas — ainda vigente na Constituição, mas praticamente esvaziada na prática.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178308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B02E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683" y="2128723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perdeu eficácia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309360" y="26974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o governo federal obteve sucessivas autorizações do Congresso para descumprir a regra — esvaziando sua eficácia como âncora fiscal.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309360" y="3977640"/>
            <a:ext cx="4572000" cy="0"/>
          </a:xfrm>
          <a:prstGeom prst="line">
            <a:avLst/>
          </a:prstGeom>
          <a:noFill/>
          <a:ln w="12700">
            <a:solidFill>
              <a:srgbClr val="D67C7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09360" y="41605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para as próximas regras: uma âncora fiscal só é crível se o custo político de contorná-la for suficientemente alto.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REGRAS FISCAIS — 2016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Teto de Gastos: a Reforma Mais Ambiciosa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607040" cy="1371600"/>
          </a:xfrm>
          <a:prstGeom prst="roundRect">
            <a:avLst>
              <a:gd name="adj" fmla="val 6000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1287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Emenda Constitucional 95/2016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254203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Introduzido no contexto de grave crise fiscal: as despesas primárias do governo federal não poderiam crescer em termos reais — sendo corrigidas apenas pela inflação do ano anterior.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5120640" cy="2514600"/>
          </a:xfrm>
          <a:prstGeom prst="roundRect">
            <a:avLst>
              <a:gd name="adj" fmla="val 327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Mérito, na perspectiva liberal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40233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Representou a reforma fiscal mais ambiciosa das últimas décadas, ao criar um mecanismo de restrição orçamentária crível e de longo prazo.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3429000"/>
            <a:ext cx="5120640" cy="2514600"/>
          </a:xfrm>
          <a:prstGeom prst="roundRect">
            <a:avLst>
              <a:gd name="adj" fmla="val 3273"/>
            </a:avLst>
          </a:prstGeom>
          <a:solidFill>
            <a:srgbClr val="B02E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3796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Limite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37960" y="40233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Enfrentou resistência política crescente ao longo dos anos, com sucessivas exceções e furos abertos — até ser revogado em 2023 pela Emenda Constitucional 126.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REGRAS FISCAIS — TRANSIÇÃO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uma Regra Rígida Deixa de Sobreviver?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experiência do Teto de Gastos ilustra uma tensão central no desenho de regras fiscais: rigidez gera credibilidade, mas também atrito político.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306324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86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Despesas obrigatórias crescentes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Previdência, saúde e educação com pisos constitucionais pressionaram o espaço fiscal disponível.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78892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46420" y="306324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3886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Pressão política e social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26280" y="4526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rígida demais para conviver com ciclos eleitorais e demandas emergenciais (ex.: pandemia).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78892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49740" y="306324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3886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Ausência de flexibilidade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4526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mecanismo de ajuste em função da arrecadação, o Teto perdeu apoio político sustentável.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310" y="3146450"/>
            <a:ext cx="473659" cy="473659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950" y="3146450"/>
            <a:ext cx="473659" cy="473659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30" y="3146450"/>
            <a:ext cx="473659" cy="47365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REGRAS FISCAIS — 2023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Arcabouço Fiscal: Como Funciona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0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200/2023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substituição ao Teto de Gastos, estabelece uma regra baseada na trajetória da dívida pública e nos limites de crescimento real dos gastos, condicionados ao cumprimento de metas de resultado primário.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de crescimento real das despesas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6766560" cy="822960"/>
          </a:xfrm>
          <a:prstGeom prst="roundRect">
            <a:avLst>
              <a:gd name="adj" fmla="val 50000"/>
            </a:avLst>
          </a:prstGeom>
          <a:solidFill>
            <a:srgbClr val="F4F7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74720"/>
            <a:ext cx="6766560" cy="822960"/>
          </a:xfrm>
          <a:prstGeom prst="roundRect">
            <a:avLst>
              <a:gd name="adj" fmla="val 50000"/>
            </a:avLst>
          </a:prstGeom>
          <a:solidFill>
            <a:srgbClr val="0F7A6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0,6% a.a.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3474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2,5% a.a.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garantido ↔ Máximo, se arrecadação permitir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5240" y="30632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Condicionante-chave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36118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real dos gastos só se aproxima do teto de 2,5% se as metas de resultado primário forem cumpridas.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5029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Diferença essencial: o Teto era um limite fixo e uniforme; o Novo Arcabouço é uma banda variável, condicionada ao desempenho da arrecadação e ao cumprimento de metas fiscais.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REGRAS FISCAIS — COMPARAÇÃO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de Ouro x Teto de Gastos x Novo Arcabouço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607040" cy="3566160"/>
        </p:xfrm>
        <a:graphic>
          <a:graphicData uri="http://schemas.openxmlformats.org/drawingml/2006/table">
            <a:tbl>
              <a:tblPr/>
              <a:tblGrid>
                <a:gridCol w="1737360"/>
                <a:gridCol w="2953512"/>
                <a:gridCol w="2953512"/>
                <a:gridCol w="296265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de Ouro (1988)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Teto de Gastos (2016)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 Arcabouço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Natureza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Veda crédito para despesas correntes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Teto fixo, corrigido só pela inflação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 variável (0,6%–2,5% real)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Rigidez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— facilmente contornável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— pouca flexibilidade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Moderada — depende da arrecadação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Credibilidade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Esvaziada por autorizações do Congresso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Alta, até o desgaste político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em construção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Desfecho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Segue vigente, mas ineficaz na prática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Revogado pela EC 126/2023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vigente atualmente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0B3552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6235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Padrão histórico: quanto mais rígida a regra, maior a credibilidade inicial — mas também maior o risco de ruptura sob pressão política.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REGRAS FISCAIS — AVALIAÇÃO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Novo Arcabouço sob a Perspectiva Liberal do Livro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0F7A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1287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30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preserva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uma âncora explícita ligada à trajetória da dívida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 o crescimento do gasto ao desempenho da arrecadação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compromisso fiscal mínimo aos investidores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B02E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3" y="212872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30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Crítica liberal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83464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 menor rigidez que o Teto de Gastos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sujeito a pressões políticas para afrouxamento das metas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credibilidade das regras fiscais é um ativo precioso e frágil — uma vez perdida, o prêmio de risco da dívida sobe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BLOCO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Cambial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terceiro vértice do tripé macroeconômico: o preço da moeda brasileira no mundo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41248" y="4297680"/>
            <a:ext cx="1463040" cy="0"/>
          </a:xfrm>
          <a:prstGeom prst="line">
            <a:avLst/>
          </a:prstGeom>
          <a:noFill/>
          <a:ln w="31750">
            <a:solidFill>
              <a:srgbClr val="C99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POLÍTICA CAMBIAL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Preço da Moeda no Mundo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janeiro de 1999, o Brasil adota câmbio flutuante: a taxa é determinada pelo mercado, com intervenções ocasionais do BCB para suavizar volatilidades excessivas ("dirty float").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354010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4930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 Câmbio Flutuante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nominal de câmbio é o preço da moeda nacional em relação às moedas estrangeiras — determinada, em regra, pelas forças de mercado.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5029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Faz parte do tripé macroeconômico brasileiro, ao lado das metas de inflação e do superávit primário.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35040" y="17830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Política Cambial mais Importa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35040" y="2286000"/>
            <a:ext cx="502920" cy="50292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2267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importados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20840" y="25786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de implantação sensíveis ao câmbio.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3429000"/>
            <a:ext cx="502920" cy="50292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3410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de exportação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720840" y="37216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depende do câmbio na fase operacional.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4572000"/>
            <a:ext cx="502920" cy="50292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4553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Dívida em moeda estrangeira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720840" y="48646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descasamento cambial.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420" y="2351380"/>
            <a:ext cx="372161" cy="372161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420" y="3494380"/>
            <a:ext cx="372161" cy="372161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420" y="4637380"/>
            <a:ext cx="372161" cy="3721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POLÍTICA CAMBIAL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Fatores que Determinam a Taxa de Câmbio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121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Diferencial de Juros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 mais altos atraem capitais estrangeiros, valorizando o real.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103120"/>
            <a:ext cx="594360" cy="59436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2121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Balança Comercial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7889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Superávits comerciais elevam a oferta de divisas e tendem a valorizar a moeda.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389120"/>
            <a:ext cx="594360" cy="594360"/>
          </a:xfrm>
          <a:prstGeom prst="ellipse">
            <a:avLst/>
          </a:prstGeom>
          <a:solidFill>
            <a:srgbClr val="8A5A17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407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Percepção de Risco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Aversão ao risco global ou deterioração fiscal doméstica depreciam o real.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4114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4389120"/>
            <a:ext cx="594360" cy="594360"/>
          </a:xfrm>
          <a:prstGeom prst="ellipse">
            <a:avLst/>
          </a:prstGeom>
          <a:solidFill>
            <a:srgbClr val="5C3A8E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4407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Fluxos de Capital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50749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 diretos estrangeiros e de portfólio influenciam a demanda por reais.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2180387"/>
            <a:ext cx="439826" cy="439826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787" y="2180387"/>
            <a:ext cx="439826" cy="439826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4466387"/>
            <a:ext cx="439826" cy="439826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787" y="4466387"/>
            <a:ext cx="439826" cy="43982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VASOS COMUNICANTES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Três Políticas se Retroalimentam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2651760"/>
            <a:ext cx="3566160" cy="-822960"/>
          </a:xfrm>
          <a:prstGeom prst="line">
            <a:avLst/>
          </a:prstGeom>
          <a:noFill/>
          <a:ln w="25400">
            <a:solidFill>
              <a:srgbClr val="3E6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737360"/>
            <a:ext cx="3108960" cy="640080"/>
          </a:xfrm>
          <a:prstGeom prst="line">
            <a:avLst/>
          </a:prstGeom>
          <a:noFill/>
          <a:ln w="25400">
            <a:solidFill>
              <a:srgbClr val="3E6E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2697480"/>
            <a:ext cx="7680960" cy="0"/>
          </a:xfrm>
          <a:prstGeom prst="line">
            <a:avLst/>
          </a:prstGeom>
          <a:noFill/>
          <a:ln w="25400">
            <a:solidFill>
              <a:srgbClr val="3E6E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03120"/>
            <a:ext cx="1645920" cy="9144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Monetária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1645920" cy="9144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26880" y="2103120"/>
            <a:ext cx="1645920" cy="9144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48386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fiscal → dívida pública → prêmio de risco → pressão sobre a Selic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50792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58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alta → capital externo → valorização cambial → menor inflação, menor competitividade exportadora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2569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Depreciação cambial → importações mais caras → pressão inflacionária → possível alta da Selic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18464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9262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 fiscal → fuga de capitais → depreciação → inflação → Selic mais alta → pior quadro fiscal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"tripé macroeconômico" — metas de inflação, câmbio flutuante e superávit primário — garantiu estabilidade ao Brasil entre 1999 e meados dos anos 2000. Sua erosão nos anos 2010 contribuiu para a crise de 2015-2016.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CUSTO PARA PROJETOS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Brasil tem as Maiores Taxas de Juros Reais do Mundo?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121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Insegurança Jurídica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Morosidade judicial, instabilidade tributária e mudanças regulatórias elevam o prêmio de risco de crédito.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103120"/>
            <a:ext cx="594360" cy="594360"/>
          </a:xfrm>
          <a:prstGeom prst="ellipse">
            <a:avLst/>
          </a:prstGeom>
          <a:solidFill>
            <a:srgbClr val="0F7A6E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2121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Concentração Bancária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7889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maiores bancos dominam os ativos do sistema; spreads bancários entre os mais altos do mundo.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389120"/>
            <a:ext cx="594360" cy="594360"/>
          </a:xfrm>
          <a:prstGeom prst="ellipse">
            <a:avLst/>
          </a:prstGeom>
          <a:solidFill>
            <a:srgbClr val="8A5A17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407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Déficit Fiscal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Déficits recorrentes exigem mais dívida pública, elevando o prêmio de risco exigido pelos investidores.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4114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4389120"/>
            <a:ext cx="594360" cy="594360"/>
          </a:xfrm>
          <a:prstGeom prst="ellipse">
            <a:avLst/>
          </a:prstGeom>
          <a:solidFill>
            <a:srgbClr val="5C3A8E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4407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Cascata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50749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Prêmio de risco → juros longos → custo do capital privado → menor rentabilidade dos projetos.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2180387"/>
            <a:ext cx="439826" cy="439826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787" y="2180387"/>
            <a:ext cx="439826" cy="439826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4466387"/>
            <a:ext cx="439826" cy="439826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787" y="4466387"/>
            <a:ext cx="439826" cy="43982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CUSTO PARA PROJETOS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Spread Bancário Brasileiro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possui um dos sistemas bancários mais concentrados do mundo. Os cinco maiores bancos — Banco do Brasil, Caixa, Itaú Unibanco, Bradesco e Santander — respondem pela parcela majoritária dos ativos totais do sistema.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o spread bancário?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elevada e custos de recuperação de crédito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Compulsório elevado — reservas obrigatórias mantidas no BCB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tributária sobre operações financeiras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bancário — reflexo do baixo nível de concorrência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administrativos elevados frente a economias mais eficientes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2788920"/>
            <a:ext cx="4297680" cy="3108960"/>
          </a:xfrm>
          <a:prstGeom prst="roundRect">
            <a:avLst>
              <a:gd name="adj" fmla="val 2647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0" y="3017520"/>
            <a:ext cx="502920" cy="50292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7700" y="3082900"/>
            <a:ext cx="372161" cy="37216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0" y="3611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liberal para reduzir o spread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0" y="406908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passa por regulação de preços, mas por maior abertura do setor a novas entrantes (fintechs, bancos digitais), simplificação regulatória e portabilidade de crédito. Open Finance e PIX são avanços nessa direção.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CUSTO PARA PROJETOS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Concreto: TMA Brasil x Mundo Desenvolvido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 típica — projetos industriais e de infraestrutura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(nominal)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7498080" cy="502920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7480"/>
            <a:ext cx="6373368" cy="502920"/>
          </a:xfrm>
          <a:prstGeom prst="roundRect">
            <a:avLst>
              <a:gd name="adj" fmla="val 9091"/>
            </a:avLst>
          </a:prstGeom>
          <a:solidFill>
            <a:srgbClr val="B02E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– 20% a.a.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Economias desenvolvidas com grau de investimento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7498080" cy="502920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749040"/>
            <a:ext cx="2699309" cy="502920"/>
          </a:xfrm>
          <a:prstGeom prst="roundRect">
            <a:avLst>
              <a:gd name="adj" fmla="val 9091"/>
            </a:avLst>
          </a:prstGeom>
          <a:solidFill>
            <a:srgbClr val="0F7A6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– 8% a.a.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7498080" cy="1371600"/>
          </a:xfrm>
          <a:prstGeom prst="roundRect">
            <a:avLst>
              <a:gd name="adj" fmla="val 5333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720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Um projeto industrial com VPL positivo a 8% a.a. pode ter VPL negativo a 15% a.a. A diferença não está na qualidade do projeto — está no ambiente macroeconômico.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1828800"/>
            <a:ext cx="27432" cy="41148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1828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Outros efeitos do custo elevado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0" y="251460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Horizontes de planejamento encurtados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de longa maturação penalizados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Investimento Total viável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CUSTO PARA PROJETOS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Implicações Práticas: Definindo a Taxa de Desconto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548640" cy="54864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1031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médio ponderado de capital: capital próprio (CAPM ajustado ao risco-país) + custo da dívida efetivo.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2084832"/>
            <a:ext cx="548640" cy="54864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1031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Prêmios de risco específicos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8232" y="2697480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risco regulatório, cambial e de construção à taxa básica de desconto.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325112"/>
            <a:ext cx="548640" cy="54864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343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Taxas diferenciadas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4937760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com taxas de desconto distintas para fluxos em moeda nacional e estrangeira.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4069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4325112"/>
            <a:ext cx="548640" cy="54864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4343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sensibilidade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28232" y="4937760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robustez da TIR e do VPL frente a variações no custo do capital.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555" y="2156155"/>
            <a:ext cx="405994" cy="405994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" y="2156155"/>
            <a:ext cx="405994" cy="405994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555" y="4396435"/>
            <a:ext cx="405994" cy="405994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" y="4396435"/>
            <a:ext cx="405994" cy="40599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Tripé Macroeconômico Brasileiro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29000" cy="2560320"/>
          </a:xfrm>
          <a:prstGeom prst="roundRect">
            <a:avLst>
              <a:gd name="adj" fmla="val 3214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331720"/>
            <a:ext cx="731520" cy="73152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 de Inflação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expectativas via Selic e Copom, desde 1999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011680"/>
            <a:ext cx="3429000" cy="2560320"/>
          </a:xfrm>
          <a:prstGeom prst="roundRect">
            <a:avLst>
              <a:gd name="adj" fmla="val 3214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00700" y="2331720"/>
            <a:ext cx="731520" cy="73152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3291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Superávit Primário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7200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fiscal que sustenta a trajetória da dívida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011680"/>
            <a:ext cx="3429000" cy="2560320"/>
          </a:xfrm>
          <a:prstGeom prst="roundRect">
            <a:avLst>
              <a:gd name="adj" fmla="val 3214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04020" y="2331720"/>
            <a:ext cx="731520" cy="73152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291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Câmbio Flutuante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7532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Absorve choques externos sem esgotar reservas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478" y="2426818"/>
            <a:ext cx="541325" cy="541325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118" y="2426818"/>
            <a:ext cx="541325" cy="541325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798" y="2426818"/>
            <a:ext cx="541325" cy="54132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" y="489204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0F3F5E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489204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tripé garantiu estabilidade entre 1999 e meados dos anos 2000. A perspectiva liberal do livro advoga pelo seu fortalecimento como condição necessária para um ambiente de negócios estável e propício ao investimento de longo prazo.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 FINAIS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 Econômica não Opera no Vácuo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B35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0770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Engenharia Econômica é, fundamentalmente, uma ferramenta de decisão que opera dentro de um ambiente institucional, fiscal, monetário e jurídico que condiciona seus resultados.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70532" y="3639312"/>
            <a:ext cx="585216" cy="58521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Monetária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Selic define o custo do dinheiro no tempo — a base da taxa de desconto.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338328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73852" y="3639312"/>
            <a:ext cx="585216" cy="58521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26280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Superávit, déficit e dívida moldam o prêmio de risco embutido nos juros longos.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955280" y="338328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0B355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377172" y="3639312"/>
            <a:ext cx="585216" cy="58521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8" name="Text 15"/>
          <p:cNvSpPr/>
          <p:nvPr/>
        </p:nvSpPr>
        <p:spPr>
          <a:xfrm>
            <a:off x="813816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29600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câmbio flutuante conecta o Brasil aos ciclos de capital internacional.</a:t>
            </a:r>
            <a:endParaRPr lang="en-US" sz="11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930" y="3715390"/>
            <a:ext cx="433060" cy="433060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10" y="3715390"/>
            <a:ext cx="433060" cy="433060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250" y="3715390"/>
            <a:ext cx="433060" cy="4330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UnB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145481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liberdade econômica não é uma política — é uma pré-condição para a prosperidade.”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Milton Friedman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1248" y="4023360"/>
            <a:ext cx="1463040" cy="0"/>
          </a:xfrm>
          <a:prstGeom prst="line">
            <a:avLst/>
          </a:prstGeom>
          <a:noFill/>
          <a:ln w="31750">
            <a:solidFill>
              <a:srgbClr val="C99A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2519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Capítulo 1 — Fundamentos da Matemática Financeira: capitalização, séries de pagamentos, equivalência de capitais e sistemas de amortização (SAC e Price).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Produção — Universidade de Brasília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o13_x002d_MarceloPassos xmlns="f244cccc-9ebe-487b-9f49-451c84d31f5d" xsi:nil="true"/>
    <Data xmlns="f244cccc-9ebe-487b-9f49-451c84d31f5d">2026-08-19T21:44:40+00:00</Data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</documentManagement>
</p:properties>
</file>

<file path=customXml/itemProps1.xml><?xml version="1.0" encoding="utf-8"?>
<ds:datastoreItem xmlns:ds="http://schemas.openxmlformats.org/officeDocument/2006/customXml" ds:itemID="{ACF09CCC-6037-4C7E-BF1E-B183832A031C}"/>
</file>

<file path=customXml/itemProps2.xml><?xml version="1.0" encoding="utf-8"?>
<ds:datastoreItem xmlns:ds="http://schemas.openxmlformats.org/officeDocument/2006/customXml" ds:itemID="{876D924E-6592-4952-AC8F-F613772E93E5}"/>
</file>

<file path=customXml/itemProps3.xml><?xml version="1.0" encoding="utf-8"?>
<ds:datastoreItem xmlns:ds="http://schemas.openxmlformats.org/officeDocument/2006/customXml" ds:itemID="{0F510C51-C0BC-460A-A61E-F42CE479882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Análise Econômica - UnB</dc:title>
  <dc:subject>PptxGenJS Presentation</dc:subject>
  <dc:creator>Engenharia Econômica - UnB</dc:creator>
  <cp:lastModifiedBy>Engenharia Econômica - UnB</cp:lastModifiedBy>
  <cp:revision>1</cp:revision>
  <dcterms:created xsi:type="dcterms:W3CDTF">2026-07-07T23:51:43Z</dcterms:created>
  <dcterms:modified xsi:type="dcterms:W3CDTF">2026-07-07T23:51:43Z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</Properties>
</file>
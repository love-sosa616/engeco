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VPL (R$)</c:v>
                </c:pt>
              </c:strCache>
            </c:strRef>
          </c:tx>
          <c:spPr>
            <a:ln w="31750" cap="flat">
              <a:solidFill>
                <a:srgbClr val="0B35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552"/>
              </a:solidFill>
              <a:ln w="9525" cap="flat">
                <a:solidFill>
                  <a:srgbClr val="0B355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25%</c:v>
                </c:pt>
                <c:pt idx="6">
                  <c:v>30%</c:v>
                </c:pt>
                <c:pt idx="7">
                  <c:v>35%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175000</c:v>
                </c:pt>
                <c:pt idx="1">
                  <c:v>124711</c:v>
                </c:pt>
                <c:pt idx="2">
                  <c:v>84309</c:v>
                </c:pt>
                <c:pt idx="3">
                  <c:v>51412</c:v>
                </c:pt>
                <c:pt idx="4">
                  <c:v>24296</c:v>
                </c:pt>
                <c:pt idx="5">
                  <c:v>1696</c:v>
                </c:pt>
                <c:pt idx="6">
                  <c:v>-17332</c:v>
                </c:pt>
                <c:pt idx="7">
                  <c:v>-33503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C1-458B-BCDF-BD21FFE13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B3552"/>
                </a:solidFill>
                <a:latin typeface="Calibri"/>
              </a:rPr>
              <a:t>Comparação de CAE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CAE (R$/ano)</c:v>
                </c:pt>
              </c:strCache>
            </c:strRef>
          </c:tx>
          <c:spPr>
            <a:solidFill>
              <a:srgbClr val="0B355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35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09-441F-A605-12C66F684E76}"/>
              </c:ext>
            </c:extLst>
          </c:dPt>
          <c:dPt>
            <c:idx val="1"/>
            <c:invertIfNegative val="0"/>
            <c:bubble3D val="0"/>
            <c:spPr>
              <a:solidFill>
                <a:srgbClr val="B046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09-441F-A605-12C66F684E7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 (12 anos)</c:v>
                </c:pt>
                <c:pt idx="1">
                  <c:v>B (8 anos)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1385.18</c:v>
                </c:pt>
                <c:pt idx="1">
                  <c:v>1633.81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09-441F-A605-12C66F684E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VPL X</c:v>
                </c:pt>
              </c:strCache>
            </c:strRef>
          </c:tx>
          <c:spPr>
            <a:ln w="31750" cap="flat">
              <a:solidFill>
                <a:srgbClr val="0B35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552"/>
              </a:solidFill>
              <a:ln w="9525" cap="flat">
                <a:solidFill>
                  <a:srgbClr val="0B355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0%</c:v>
                </c:pt>
                <c:pt idx="1">
                  <c:v>4%</c:v>
                </c:pt>
                <c:pt idx="2">
                  <c:v>8%</c:v>
                </c:pt>
                <c:pt idx="3">
                  <c:v>10,94%</c:v>
                </c:pt>
                <c:pt idx="4">
                  <c:v>14%</c:v>
                </c:pt>
                <c:pt idx="5">
                  <c:v>18%</c:v>
                </c:pt>
                <c:pt idx="6">
                  <c:v>20%</c:v>
                </c:pt>
                <c:pt idx="7">
                  <c:v>25%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</c:v>
                </c:pt>
                <c:pt idx="1">
                  <c:v>30.18</c:v>
                </c:pt>
                <c:pt idx="2">
                  <c:v>21.4</c:v>
                </c:pt>
                <c:pt idx="3">
                  <c:v>15.53</c:v>
                </c:pt>
                <c:pt idx="4">
                  <c:v>9.8800000000000008</c:v>
                </c:pt>
                <c:pt idx="5">
                  <c:v>3.13</c:v>
                </c:pt>
                <c:pt idx="6">
                  <c:v>0</c:v>
                </c:pt>
                <c:pt idx="7">
                  <c:v>-7.2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AF-4AD3-B26C-6D23C9BCCB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VPL Y</c:v>
                </c:pt>
              </c:strCache>
            </c:strRef>
          </c:tx>
          <c:spPr>
            <a:ln w="31750" cap="flat">
              <a:solidFill>
                <a:srgbClr val="C99A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9A2E"/>
              </a:solidFill>
              <a:ln w="9525" cap="flat">
                <a:solidFill>
                  <a:srgbClr val="C99A2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0%</c:v>
                </c:pt>
                <c:pt idx="1">
                  <c:v>4%</c:v>
                </c:pt>
                <c:pt idx="2">
                  <c:v>8%</c:v>
                </c:pt>
                <c:pt idx="3">
                  <c:v>10,94%</c:v>
                </c:pt>
                <c:pt idx="4">
                  <c:v>14%</c:v>
                </c:pt>
                <c:pt idx="5">
                  <c:v>18%</c:v>
                </c:pt>
                <c:pt idx="6">
                  <c:v>20%</c:v>
                </c:pt>
                <c:pt idx="7">
                  <c:v>25%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31.25</c:v>
                </c:pt>
                <c:pt idx="1">
                  <c:v>25.05</c:v>
                </c:pt>
                <c:pt idx="2">
                  <c:v>19.38</c:v>
                </c:pt>
                <c:pt idx="3">
                  <c:v>15.53</c:v>
                </c:pt>
                <c:pt idx="4">
                  <c:v>11.77</c:v>
                </c:pt>
                <c:pt idx="5">
                  <c:v>7.19</c:v>
                </c:pt>
                <c:pt idx="6">
                  <c:v>5.03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AF-4AD3-B26C-6D23C9BCC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VPL ($)</c:v>
                </c:pt>
              </c:strCache>
            </c:strRef>
          </c:tx>
          <c:spPr>
            <a:ln w="31750" cap="flat">
              <a:solidFill>
                <a:srgbClr val="0B35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552"/>
              </a:solidFill>
              <a:ln w="9525" cap="flat">
                <a:solidFill>
                  <a:srgbClr val="0B355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6%</c:v>
                </c:pt>
                <c:pt idx="2">
                  <c:v>7,55%</c:v>
                </c:pt>
                <c:pt idx="3">
                  <c:v>20%</c:v>
                </c:pt>
                <c:pt idx="4">
                  <c:v>30%</c:v>
                </c:pt>
                <c:pt idx="5">
                  <c:v>48,18%</c:v>
                </c:pt>
                <c:pt idx="6">
                  <c:v>60%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-100</c:v>
                </c:pt>
                <c:pt idx="1">
                  <c:v>-14.54</c:v>
                </c:pt>
                <c:pt idx="2">
                  <c:v>0</c:v>
                </c:pt>
                <c:pt idx="3">
                  <c:v>50.01</c:v>
                </c:pt>
                <c:pt idx="4">
                  <c:v>44.06</c:v>
                </c:pt>
                <c:pt idx="5">
                  <c:v>0</c:v>
                </c:pt>
                <c:pt idx="6">
                  <c:v>-33.44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C5-4660-BE23-61BCEE3E97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0B3552"/>
                </a:solidFill>
                <a:latin typeface="Calibri"/>
              </a:rPr>
              <a:t>Ranking pelo IR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 = VPL/I</c:v>
                </c:pt>
              </c:strCache>
            </c:strRef>
          </c:tx>
          <c:spPr>
            <a:solidFill>
              <a:srgbClr val="0B355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8E-4A6A-B1FF-6AA45B28F7CD}"/>
              </c:ext>
            </c:extLst>
          </c:dPt>
          <c:dPt>
            <c:idx val="1"/>
            <c:invertIfNegative val="0"/>
            <c:bubble3D val="0"/>
            <c:spPr>
              <a:solidFill>
                <a:srgbClr val="C9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8E-4A6A-B1FF-6AA45B28F7CD}"/>
              </c:ext>
            </c:extLst>
          </c:dPt>
          <c:dPt>
            <c:idx val="2"/>
            <c:invertIfNegative val="0"/>
            <c:bubble3D val="0"/>
            <c:spPr>
              <a:solidFill>
                <a:srgbClr val="2D58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8E-4A6A-B1FF-6AA45B28F7C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2.14</c:v>
                </c:pt>
                <c:pt idx="1">
                  <c:v>3.21</c:v>
                </c:pt>
                <c:pt idx="2">
                  <c:v>2.39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8E-4A6A-B1FF-6AA45B28F7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A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610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7315200" cy="73152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120640"/>
            <a:ext cx="1737360" cy="17373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 ·  UNIVERSIDADE DE BRASÍLIA — UnB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515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CA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Engenharia de </a:t>
            </a:r>
            <a:r>
              <a:rPr lang="en-US" sz="1300" dirty="0" err="1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300" dirty="0">
              <a:solidFill>
                <a:srgbClr val="CA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João Carlos Félix Souza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6E8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26060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 Critérios de Decisão na Análise de Investimentos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1005840" cy="4572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605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VPL, TIR, Payback, C/B, AE, CAE e a Seleção de Carteiras de Investimento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5184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5696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Teóricos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77640" y="51206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0" y="5184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06240" y="5696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Resolvidos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51206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5184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543800" y="5696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de 1h20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92640" y="6382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2026</a:t>
            </a:r>
            <a:endParaRPr lang="en-US" sz="1100" dirty="0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88EBA394-BB7E-A394-70AD-666322420615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Métodos, Dois Encontros de 1h20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B355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5349240" cy="228600"/>
          </a:xfrm>
          <a:prstGeom prst="rect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  ·  Indicadores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63040" y="25877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Presente Líquido (VPL)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Interna de Retorno (TIR)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7398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63040" y="3721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Descontado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63040" y="42885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Custo-Benefício (C/B)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8737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63040" y="4855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 Uniforme Equivalente (AE)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91072" y="169164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2D58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291072" y="2103120"/>
            <a:ext cx="5349240" cy="228600"/>
          </a:xfrm>
          <a:prstGeom prst="rect">
            <a:avLst/>
          </a:prstGeom>
          <a:solidFill>
            <a:srgbClr val="2D5878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1691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  ·  Decisões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65392" y="2606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05472" y="25877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Anual Equivalente (CAE)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65392" y="31729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05472" y="3154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Mutuamente Excludentes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65392" y="37398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65392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205472" y="3721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da TIR em Excludentes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65392" y="43068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205472" y="42885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Carteiras de Investimento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65392" y="48737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205472" y="4855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Flexibilidades e VPL Estratégico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A1DDB517-AF46-6B03-C83C-92285065C55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Fluxo de Caixa à Decisão de Investir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126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econômica de projetos é um dos temas centrais da Engenharia Econômica: uma vez construído o fluxo de caixa, é preciso decidir se o projeto deve ser empreendido — e qual alternativa é mais vantajosa.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capítulo apresenta os principais métodos usados na prática: VPL, TIR, Payback Descontado, C/B, AE e CAE.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aborda situações mais avançadas: alternativas mutuamente excludentes, as limitações da TIR e o VPL Estratégico.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828800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8040" y="18288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7360920" y="25146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projeto compete pelo mesmo capital escasso.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60920" y="3794760"/>
            <a:ext cx="731520" cy="36576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7360920" y="39776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do capítulo, você será capaz de calcular e interpretar cada indicador, comparar projetos com vidas úteis diferentes e montar a melhor carteira sob restrição orçamentária.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5349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TODA DECISÃO DE INVESTIMENTO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25">
            <a:extLst>
              <a:ext uri="{FF2B5EF4-FFF2-40B4-BE49-F238E27FC236}">
                <a16:creationId xmlns:a16="http://schemas.microsoft.com/office/drawing/2014/main" id="{AEEE50B8-ED56-9B20-CC5B-374F833C83E4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Presente Líquido (VPL)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principal indicador de análise de investimentos em ambientes sem restrição de capital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fórmula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decisão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Propriedades: aditividade e maximização de valor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6D27015B-745C-A749-6656-4B27443472EA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 — DEFINIÇÃO E FUNDAMENTAÇÃO TEÓRICA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VPL?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 mede a riqueza gerada pelo projeto em valor presente, descontando todos os fluxos de caixa futuros ao custo de oportunidade do capital (K) e subtraindo o investimento inicial.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VPL positivo indica que o projeto cria valor acima do custo de oportunidade do capital.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isolado: empreender se VPL &gt; 0.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alternativas: escolher a de maior VPL positivo.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 = −I + Σ FCₜ /(1+K)ᵗ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903720" y="310896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3264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353872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FCₜ = fluxo de caixa no período 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investimento inicial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custo do capital (taxa de desconto)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vida útil do projeto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E6742CC3-018F-0B31-6AAD-1A18C211A134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2.1.3 — PROPRIEDADES DO VPL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VPL é o Critério Preferido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Aditividade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 de uma carteira de projetos é a soma dos VPLs individuais: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VPL(A+B) = VPL(A) + VPL(B)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897880" y="1691640"/>
            <a:ext cx="5742432" cy="1874520"/>
          </a:xfrm>
          <a:prstGeom prst="roundRect">
            <a:avLst>
              <a:gd name="adj" fmla="val 390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874520"/>
            <a:ext cx="457200" cy="45720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2084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Maximização de Valor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aceitar todos os projetos com VPL &gt; 0 (sem restrição de capital), maximiza-se o valor da empresa.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em função da taxa de desconto (K) — Exemplo: I = R$ 200.000; FC = R$ 75.000/ano; n = 5 anos</a:t>
            </a:r>
            <a:endParaRPr lang="en-US" sz="12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4069080"/>
          <a:ext cx="73152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8092440" y="4069080"/>
            <a:ext cx="3547872" cy="2514600"/>
          </a:xfrm>
          <a:prstGeom prst="roundRect">
            <a:avLst>
              <a:gd name="adj" fmla="val 290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21040" y="4206240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gráfico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 cai à medida que K aumenta. Onde a curva cruza o eixo zero (K ≈ 25,4%), temos a 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projeto — assunto da próxima seção.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4227CEDF-0970-FB17-F564-B80809166094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Avaliando a Viabilidade de um Equipamento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avalia um equipamento com investimento de R$ 200.000,00, que gerará fluxos de caixa de R$ 75.000,00/ano durante 5 anos. Custo de capital: 15% a.a. O projeto é viável?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1672" cy="230428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de Caixa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1/(1,15)ᵗ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do Fluxo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Acumulado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-200.000,00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-200.000,00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-200.000,00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0,8696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65.217,39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-134.782,61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0,7561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56.710,78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-78.071,83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0,6575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49.313,72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-28.758,11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0,5718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42.881,49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14.123,38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0,4972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37.288,26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51.411,63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93776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VPL = −200.000 + 75.000 × a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(5|15%) = −200.000 + 75.000 × 3,3522 = R$ 51.412,00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VPL = R$ 51.411,63 &gt; 0  →  Projeto VIÁVEL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3" name="Text 25">
            <a:extLst>
              <a:ext uri="{FF2B5EF4-FFF2-40B4-BE49-F238E27FC236}">
                <a16:creationId xmlns:a16="http://schemas.microsoft.com/office/drawing/2014/main" id="{A95071F2-D9A7-65B1-C6CF-3AF4B778D737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Interna de Retorno (TIR)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rentabilidade intrínseca do projeto: a taxa que torna o VPL igual a zero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critério de decisão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convencionais × não-convencionais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por interpolação linear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BA83456B-BF75-C63E-5518-803DB67A45A7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 — DEFINIÇÃO E CRITÉRIO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 TIR?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TIR — taxa Interna de retorno do investimento — é a taxa de desconto que torna o VPL do projeto igual a zero: a rentabilidade intrínseca do projeto, independente de qualquer taxa de mercado.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ser um polinômio de grau n em (1+TIR), não há solução analítica fechada para n &gt; 4.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usa-se interpolação linear entre dois valores conhecidos, ou algoritmos iterativos (bisseção, Newton-Raphson).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isolado: empreender se TIR &gt; K. TIR = K → indiferente; TIR &lt; K → rejeitar.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 = −I + Σ FCₜ/(1+TIR)ᵗ = 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310896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3264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353872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 equação para TIR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alternativas: preferir a maior TIR, desde que TIR &gt; K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é sempre comparada ao custo de capital 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D1A49E9A-E921-297E-FA22-E4D16EED6FF1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2.2.3 — TIPOS DE FLUXO DE CAIXA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Projetos Convencionais × Não-Convencionais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7EE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Convencional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apenas uma mudança de sinal no fluxo (tipicamente saída no período 0 e entradas nos demais). Garante uma única TIR positiva.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08192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5E6E6"/>
          </a:solidFill>
          <a:ln/>
        </p:spPr>
      </p:sp>
      <p:sp>
        <p:nvSpPr>
          <p:cNvPr id="10" name="Shape 8"/>
          <p:cNvSpPr/>
          <p:nvPr/>
        </p:nvSpPr>
        <p:spPr>
          <a:xfrm>
            <a:off x="6336792" y="1874520"/>
            <a:ext cx="457200" cy="457200"/>
          </a:xfrm>
          <a:prstGeom prst="ellipse">
            <a:avLst/>
          </a:prstGeom>
          <a:solidFill>
            <a:srgbClr val="B0463E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31152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Não-Convencional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6792" y="2331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mais de uma mudança de sinal. Pela Regra de Descartes, pode ter tantas TIRs positivas quantas forem as mudanças de sinal.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91672" cy="2423160"/>
          </a:xfrm>
          <a:prstGeom prst="roundRect">
            <a:avLst>
              <a:gd name="adj" fmla="val 301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0690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ATENÇÃO — Projeto Não-Convencional: Exemplo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= [−350; 100; 500; 600; 50; −1.000]  — este fluxo tem duas mudanças de sinal (−→+ e +→−), gerando duas TIRs: TIR₁ = 7,55% e TIR₂ = 48,18%.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 = 6% &lt; 7,55%, o VPL(6%) = −14,54 &lt; 0 — o projeto NÃO é viável mesmo com i &lt; TIR₁.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532120"/>
            <a:ext cx="10561320" cy="594360"/>
          </a:xfrm>
          <a:prstGeom prst="roundRect">
            <a:avLst>
              <a:gd name="adj" fmla="val 12308"/>
            </a:avLst>
          </a:prstGeom>
          <a:solidFill>
            <a:srgbClr val="0F3F5E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61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use sempre o VPL para projetos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não-convencionais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 da TIR a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VPL,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iguais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é a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82307EFA-AA71-7EC8-84C0-38921488626C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Calculando a TIR por Interpolação Linear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TIR do projeto com I = R$ 200.000 e FC = R$ 75.000/ano por 5 anos.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a(5|TIR) = 200.000 / 75.000 = 2,6667  —&gt;  interpolação entre TIR₁ = 25% e TIR₂ = 26%: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2788920"/>
          <a:ext cx="7616952" cy="1371600"/>
        </p:xfrm>
        <a:graphic>
          <a:graphicData uri="http://schemas.openxmlformats.org/drawingml/2006/table">
            <a:tbl>
              <a:tblPr/>
              <a:tblGrid>
                <a:gridCol w="2542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(i)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a(5|i)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(R$)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25%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2,6893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+1.698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TIR = ?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2,6667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26%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2,6350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−2.625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443484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TIR = 25% + [1.698 / (1.698+2.625)] × (26%−25%) = 25% + 0,393% ≈ 25,4% a.a.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E7EEF4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6235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TIR = 25,4% a.a. &gt; K = 15% a.a.  →  Projeto VIÁVEL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0D2D66B2-898E-A3C3-5CDB-D1C0C0A9A1CF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Descontado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necessário para que os fluxos de caixa descontados recuperem o investimento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fórmula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como indicador complementar (nunca substituto)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limitação: ignora fluxos após a recuperação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CAD49A91-9F2A-20C8-7304-C4025386B83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PAYBACK DESCONTADO (PB)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de Recuperação do Investimento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tempo necessário para que os fluxos de caixa descontados acumulados igualem o investimento inicial.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payback simples, utiliza os fluxos já trazidos a valor presente — considera o valor do dinheiro no tempo.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complementar: nunca substitui o VPL ou a TIR. Útil para análise de liquidez e projetos com alta incerteza.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03720" y="173736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7373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Σ FCₜ /(1+K)ᵗ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0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até t = T, onde a igualdade é satisfeita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5E6E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754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ATENÇÃO — Limitação Principal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0749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payback ignora os fluxos de caixa ocorridos após o período de recuperação. Dois projetos com o mesmo PB podem ter VPLs muito diferentes.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8192" y="46177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E7EEF4"/>
          </a:solidFill>
          <a:ln/>
        </p:spPr>
      </p:sp>
      <p:sp>
        <p:nvSpPr>
          <p:cNvPr id="12" name="Text 10"/>
          <p:cNvSpPr/>
          <p:nvPr/>
        </p:nvSpPr>
        <p:spPr>
          <a:xfrm>
            <a:off x="6336792" y="4754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CRITÉRIO DE DECISÃO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36792" y="50749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o projeto se o PB for menor que o prazo máximo de recuperação estabelecido pela empresa. Entre alternativas, preferir o menor PB.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F907211D-3193-11E4-66B2-844D32A94459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Descontado do Mesmo Projeto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projeto anterior (I = R$ 200.000; FC = R$ 75.000/ano; K = 15%), determine o payback descontado.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2419501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6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(t)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do FC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Acumulado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vs I (R$)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-200.000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-200.000,00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65.217,39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65.217,39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-134.782,61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56.710,78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121.928,17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-78.071,83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49.313,72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171.241,88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-28.758,11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42.881,49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214.123,38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+14.123,38 ✓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6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37.288,26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251.411,63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+51.411,63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9834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 3, VP acumulado = R$ 171.242 &lt; R$ 200.000. No ano 4, passa a R$ 214.123 &gt; R$ 200.000.</a:t>
            </a:r>
            <a:endParaRPr lang="en-US" sz="1250" dirty="0"/>
          </a:p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 = 3 + (28.758 / 42.881) ≈ 3,67 anos ≈ 3 anos e 8 meses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617220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/>
        </p:spPr>
      </p:sp>
      <p:sp>
        <p:nvSpPr>
          <p:cNvPr id="6" name="Text 25">
            <a:extLst>
              <a:ext uri="{FF2B5EF4-FFF2-40B4-BE49-F238E27FC236}">
                <a16:creationId xmlns:a16="http://schemas.microsoft.com/office/drawing/2014/main" id="{564E9EF4-6BB0-9A50-91D2-0ED00D0F0E0E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Custo-Benefício (C/B)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reais de benefício, em valor presente, são gerados para cada real de custo investido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fórmula (RBC)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decisão: C/B &gt; 1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algébrica com o VPL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06D697B6-A8EA-4D72-BFB7-872AEAD1B986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— ÍNDICE CUSTO-BENEFÍCIO (C/B)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Relação Benefício/Custo (RBC)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quantos reais de benefício (em valor presente) são gerados para cada real de custo investido. Amplamente utilizado em projetos públicos e na seleção de carteiras com restrição de capital.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774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C/B = [</a:t>
            </a:r>
            <a:r>
              <a:rPr lang="en-US" sz="15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Σbt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/(1+K)</a:t>
            </a:r>
            <a:r>
              <a:rPr lang="en-US" sz="15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[</a:t>
            </a:r>
            <a:r>
              <a:rPr lang="en-US" sz="15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Σct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/(1+K)</a:t>
            </a:r>
            <a:r>
              <a:rPr lang="en-US" sz="15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1500" baseline="300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geral — bt = benefícios; ct = custos do período 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23774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3774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C/B = VP(Benefícios) / 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17920" y="3337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simplificada (único custo = investimento inicial)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1672" cy="17373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C/B &gt;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viável — benefícios superam os custos em VP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C/B =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Indiferente — equivale a VPL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C/B &lt;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inviável — custos superam os benefícios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5778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E6E6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5778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 índice C/B é útil para ordenar projetos sob restrição de capital, mas não deve ser usado sozinho para comparar alternativas de escalas diferentes.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CF1AB3BE-CD7A-F822-F348-61DEB28981C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C/B e sua Relação com o VPL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792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96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índice C/B do projeto anterior (I = R$ 200.000; FC = R$ 75.000/ano por 5 anos; K = 15%).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33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VP(Benefícios) = 75.000 × a(5|15%) = 75.000 × 3,3522 = R$ 251.412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C/B = 251.412 / 200.000 = 1,2571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Relação algébrica: C/B = 1 + VPL/I = 1 + 51.412/200.000 = 1,2571  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85546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371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C/B = 1,2571 &gt; 1  →  Projeto VIÁVEL. Para cada R$ 1,00 investido, o projeto gera R$ 1,26 em benefícios a valor presente.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17" name="Text 25">
            <a:extLst>
              <a:ext uri="{FF2B5EF4-FFF2-40B4-BE49-F238E27FC236}">
                <a16:creationId xmlns:a16="http://schemas.microsoft.com/office/drawing/2014/main" id="{50859CB6-0F0A-CE62-21F9-5B0E0609AC31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Anuidade Uniforme Equivalente (AE)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projetos mutuamente excludentes com vidas úteis diferentes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Convertendo o VPL em série de pagamentos periódicos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decisão: maior AE positiva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12956EE6-4A7F-7CE6-A1FD-60501D38CB3C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2.5.1 — NECESSIDADE E DEFINIÇÃO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Projetos com Vidas Diferentes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dois projetos mutuamente excludentes possuem vidas úteis diferentes, o VPL calculado sobre prazos distintos não é comparável diretamente.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AE converte o VPL em uma série de pagamentos periódicos iguais, permitindo a comparação por unidade de tempo (valor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implícita: ao término da vida útil, o projeto pode ser renovado nas mesmas condições.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isolado: viável se AE &gt; 0. Entre alternativas: escolher a de maior AE positiva.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2880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 = VPL / a(n|K)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903720" y="310896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3264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353872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a(n|K) = [(1+K)ⁿ −1] / [(1+K)ⁿ × K]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fator de valor presente da série uniforme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E1451C92-3B6E-CDB5-4F62-A0D0D5EBF682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2.5 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Vidas Úteis Diferentes: A (1 ano) × B (3 anos)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equipamentos executam a mesma tarefa. A tem vida útil de 1 ano e B de 3 anos (K = 10%). Compare pelo VPL com horizonte igualado e pela AE.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originais: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7168"/>
          <a:ext cx="11091672" cy="792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VPL(10%)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30,00%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1,82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23,38%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2,43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com horizonte igualado a 3 anos (renova-se A três vezes):</a:t>
            </a:r>
            <a:endParaRPr lang="en-US" sz="12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30752"/>
          <a:ext cx="11091672" cy="1508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59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VPL(10%)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9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(original)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9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1ª Renovação 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9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2ª Renovação 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9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Fluxo Líquido 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4,97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9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Alternativa 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2,43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53492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</a:t>
            </a:r>
            <a:r>
              <a:rPr lang="en-US" sz="1350" b="1" baseline="-250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anos) = R$4,97 &gt; VPL</a:t>
            </a:r>
            <a:r>
              <a:rPr lang="en-US" sz="1350" b="1" baseline="-250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R$2,43  →  A é </a:t>
            </a:r>
            <a:r>
              <a:rPr lang="en-US" sz="135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preferível</a:t>
            </a: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 pelo VPL com horizonte igualado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B228F640-EDD4-0C66-8AAC-971480030CAC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2.5 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Método da AE — Mais Simples e Direto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792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96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e B diretamente pelo método da Anuidade Uniforme Equivalente (mesmo K = 10%), sem precisar igualar horizontes.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33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r>
              <a:rPr lang="en-US" sz="1500" baseline="-25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VPL</a:t>
            </a:r>
            <a:r>
              <a:rPr lang="en-US" sz="1500" baseline="-25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a(1|10%) = 1,82 / 0,9091 = 2,00/ano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</a:t>
            </a:r>
            <a:r>
              <a:rPr lang="en-US" sz="1500" baseline="-25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VPL</a:t>
            </a:r>
            <a:r>
              <a:rPr lang="en-US" sz="1500" baseline="-25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a(3|10%) = 2,43 / 2,4869 = 0,98/ano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30682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885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0624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r>
              <a:rPr lang="en-US" sz="1400" b="1" baseline="-25000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$2,00/ano &gt; AE</a:t>
            </a:r>
            <a:r>
              <a:rPr lang="en-US" sz="1400" b="1" baseline="-25000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$0,98/ano  →  A é preferível — mesmo resultado do VPL com horizonte igualado, com muito menos trabalho.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1 — Valor do Dinheiro no Tempo | UnB  ·  Exemplo Resolvido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37744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114800" cy="41148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AULA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Indicadores no Bolso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91440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574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Riqueza gerada em valor presente — critério principal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2549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254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825496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intrínseca do projeto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935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935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Descontado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359359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recuperação do capital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616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C/B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436168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por real investido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2978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2978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5129784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projetos com vidas úteis diferentes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2: CAE, alternativas mutuamente excludentes, os limites da TIR e o VPL Estratégico.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9BCA8ACD-14C3-B345-B59B-0790482BF98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Anual Equivalente (CAE)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de volta — Aula 2. Comparando alternativas com os mesmos benefícios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particular da AE — foco nos custos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decisão: menor CAE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" y="5824728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0585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Aplicação: precificação de serviços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1636E057-FA66-486A-7412-51B6773F774E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2.6.1 — DEFINIÇÃO E DIFERENÇA EM RELAÇÃO À AE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Anual Equivalente (CAE)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particular da AE, aplicado quando as alternativas geram os mesmos benefícios e diferem apenas nos custos. Não é necessário calcular receitas — compara-se diretamente o custo anual equivalente de cada alternativa.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3172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 = [I / a(</a:t>
            </a: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n|K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)] + Custos Op.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padrão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233172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33172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 = [ (I − VR/(1+K)ⁿ)/a(</a:t>
            </a:r>
            <a:r>
              <a:rPr lang="en-US" sz="13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n|K</a:t>
            </a: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)] + CO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0" y="3246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valor residual (VR) ao final de n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711274"/>
              </p:ext>
            </p:extLst>
          </p:nvPr>
        </p:nvGraphicFramePr>
        <p:xfrm>
          <a:off x="548640" y="3611880"/>
          <a:ext cx="11091672" cy="1453896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Decisão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Alternativas com mesmos benefícios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Escolher a alternativa com MENOR CAE (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total)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Precificação de serviços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 = custo mínimo a cobrar por período para cobrir investimento e operação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53492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valor de revenda/sucata ao final de n;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a(n|K)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fator de VP da série uniforme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D537115C-48E5-E883-5FB8-9F4ADE1B9454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2.6 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Entre Dois Equipamentos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equipamentos executam a mesma tarefa: A custa R$ 13.000 (vida útil 12 anos); B custa R$ 11.000 (vida útil 8 anos). Custos operacionais: zero para ambos. Benefício: R$ 7.000/ano para ambos. K = 4% a.a. Qual escolher?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</a:t>
            </a:r>
            <a:r>
              <a:rPr lang="en-US" sz="1300" baseline="-25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13.000 / a(12|4%) = 13.000 / 9,3851 = R$ 1.385,18/ano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</a:t>
            </a:r>
            <a:r>
              <a:rPr lang="en-US" sz="1300" baseline="-25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11.000 / a(8|4%) = 11.000 / 6,7327 = R$ 1.633,81/ano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1672" cy="1050645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Útil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 (R$/ano)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 (R$/ano)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Lucro Anual (R$/ano)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R$ 13.000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anos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1.385,18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7.000,00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5.614,82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2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R$ 11.000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anos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1.633,81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7.000,00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5.366,19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548640" y="4526280"/>
          <a:ext cx="53949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6080760" y="4526280"/>
            <a:ext cx="5559552" cy="1965960"/>
          </a:xfrm>
          <a:prstGeom prst="roundRect">
            <a:avLst>
              <a:gd name="adj" fmla="val 3721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355080" y="4754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r>
              <a:rPr lang="en-US" sz="1500" b="1" baseline="-250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R$ 1.385,18/ano &lt; CAE</a:t>
            </a:r>
            <a:r>
              <a:rPr lang="en-US" sz="1500" b="1" baseline="-250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R$ 1.633,81/ano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0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</a:t>
            </a: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0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b="1" dirty="0" err="1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diluído</a:t>
            </a: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355080" y="5715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Embora A tenha maior custo inicial, ele é diluído em 12 anos, resultando em custo anual menor.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03E4E53B-EBC2-F75E-CABB-654D636D371B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2.6  (2/2)  ·  PRECIFICAÇÃO DE SERVIÇO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Tarifa Mínima de um Gerador de Energia (CEB)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3644"/>
            <a:ext cx="438912" cy="438912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53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12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CEB instala um gerador a R$ 10.000.000,00 com vida útil de 120 meses. Custos operacionais: R$ 80.000/mês. Rentabilidade mínima: 4% a.m. Qual a tarifa mínima mensal?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0B3552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724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= [10.000.000 / a(120|4%)] + 80.000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a(120|4%) ≈ 24,7275  →  10.000.000 / 24,7275 ≈ R$ 404.408,05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 mensal = R$ 404.407,05 + R$ 80.000 = R$ 484.407,05/mês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E7EEF4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809744"/>
            <a:ext cx="438912" cy="43891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914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09160"/>
            <a:ext cx="10012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mínima: R$ 484.407,05 por mês — o valor que cobre o investimento amortizado e os custos operacionais, remunerando o capital a 4% a.m.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17" name="Text 25">
            <a:extLst>
              <a:ext uri="{FF2B5EF4-FFF2-40B4-BE49-F238E27FC236}">
                <a16:creationId xmlns:a16="http://schemas.microsoft.com/office/drawing/2014/main" id="{E465B8EC-1F76-9A5F-FAC0-3E09A4CBF7D1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Alternativas Mutuamente Excludentes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escolher uma opção elimina automaticamente as demais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pelo VPL — regra do maior VPL absoluto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pela TIR Incremental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DBD061EC-4290-2A1A-B965-C19C341079EC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— CONCEITO E MÉTODOS DE ANÁLISE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 × TIR Incremental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mutuamente excludentes são aquelas em que a escolha de uma elimina automaticamente as demais (ex.: duas rotas de um projeto, dois modelos de equipamento). Não basta que cada uma seja individualmente viável — é preciso determinar qual é a melhor.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51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pelo VPL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alternativas com o mesmo horizonte, escolhe-se aquela com o maior VPL. O VPL absoluto — não relativo — é o indicador correto: maximiza a riqueza total criada.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08192" y="25146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36792" y="2651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pela TIR Incremental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36792" y="30175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investimentos diferem, a TIR isolada pode induzir ao erro. Calcula-se a TIR do fluxo incremental: vale a pena investir o capital adicional?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4434840"/>
            <a:ext cx="108173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Incremental (B−A) = FC_B − FC_A  →  calcular TIR(B−A)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E7EE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5321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TIR(B−A) &gt; K: vale a pena o investimento adicional → escolher B.  Caso contrário → escolher 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17" name="Text 25">
            <a:extLst>
              <a:ext uri="{FF2B5EF4-FFF2-40B4-BE49-F238E27FC236}">
                <a16:creationId xmlns:a16="http://schemas.microsoft.com/office/drawing/2014/main" id="{ED39BD70-4D88-BB81-20A0-A079E69D7793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 Isolada Pode Induzir ao Erro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as alternativas A e B com K = 12% a.a. usando VPL, TIR e TIR incremental (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1371600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Ano 1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(12%)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−10.000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714,29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20,00%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−15.000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17.700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803,57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18,00%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B−A (incremental)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−5.000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5.700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89,29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14,00%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749040"/>
            <a:ext cx="3575304" cy="1691640"/>
          </a:xfrm>
          <a:prstGeom prst="roundRect">
            <a:avLst>
              <a:gd name="adj" fmla="val 432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VPL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VPL_B = $803,57 &gt; VPL_A = $714,29 → Escolher B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3749040"/>
            <a:ext cx="3575304" cy="1691640"/>
          </a:xfrm>
          <a:prstGeom prst="roundRect">
            <a:avLst>
              <a:gd name="adj" fmla="val 4324"/>
            </a:avLst>
          </a:prstGeom>
          <a:solidFill>
            <a:srgbClr val="F5E6E6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89704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TIR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89704" y="42519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TIR_A = 20% &gt; TIR_B = 18% → Indicaria A (ERRADO!)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65008" y="3749040"/>
            <a:ext cx="3575304" cy="1691640"/>
          </a:xfrm>
          <a:prstGeom prst="roundRect">
            <a:avLst>
              <a:gd name="adj" fmla="val 4324"/>
            </a:avLst>
          </a:prstGeom>
          <a:solidFill>
            <a:srgbClr val="F4F7F9"/>
          </a:solidFill>
          <a:ln w="12700">
            <a:solidFill>
              <a:srgbClr val="CADCE8"/>
            </a:solidFill>
            <a:prstDash val="solid"/>
          </a:ln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47888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TIR Incremental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47888" y="42519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TIR(B−A) = 14% &gt; K = 12% → Capital adicional compensa → Escolher B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960" y="56235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Escolher B (VPL e TIR Incremental concordam) — a TIR isolada induzia ao erro.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6" name="Text 25">
            <a:extLst>
              <a:ext uri="{FF2B5EF4-FFF2-40B4-BE49-F238E27FC236}">
                <a16:creationId xmlns:a16="http://schemas.microsoft.com/office/drawing/2014/main" id="{A1945ECC-6DD8-8B29-3047-EF6D9AC93CD3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da TIR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Projetos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Excludentes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armadilhas: perfis temporais diferentes e múltiplas taxas internas de retorno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temporais — o Ponto de Fisher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não-convencionais — múltiplas TIRs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D5F4B610-AE06-D1D4-41BD-8536001E35FB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2.8.1 — PERFIS TEMPORAIS DIFERENTES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de Fisher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em projetos convencionais, a TIR pode contradizer o VPL quando as alternativas têm perfis temporais diferentes — a TIR pressupõe reinvestimento dos fluxos à própria TIR, hipótese irrealista quando TIR ≫ 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projetos, mesmo investimento de $100, K = 10%: X = [−100, 20, 120]  e  Y = [−100, 100, 31,25]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606040"/>
          <a:ext cx="64008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178040" y="2606040"/>
            <a:ext cx="4462272" cy="2880360"/>
          </a:xfrm>
          <a:prstGeom prst="roundRect">
            <a:avLst>
              <a:gd name="adj" fmla="val 254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06640" y="2788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Fisher: 10,94%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06640" y="320040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TIR_X = 20%  &gt;  TIR_Y = 25%? Não: </a:t>
            </a:r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TIR_Y = 25% &gt; TIR_X = 20%.
</a:t>
            </a:r>
            <a:endParaRPr lang="en-US" sz="115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para K = 10%: VPL_X = 17,36 &gt; VPL_Y = 16,74.
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de 10,94% (Fisher), X domina pelo VPL.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TIR(X−Y) = 10,94% &gt; K = 10% → o adiamento de caixa compensa → Escolher X.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12" name="Text 25">
            <a:extLst>
              <a:ext uri="{FF2B5EF4-FFF2-40B4-BE49-F238E27FC236}">
                <a16:creationId xmlns:a16="http://schemas.microsoft.com/office/drawing/2014/main" id="{B9CB0AB8-C491-59D9-3C08-68F1285C1CA0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2.8.2 — O PROBLEMA DAS MÚLTIPLAS TIRS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Projetos Não-Convencionais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= [−350; +100; +500; +600; +50; −1.000] — duas mudanças de sinal → até duas TIRs positivas (Regra de Descartes).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64008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2057400"/>
            <a:ext cx="4462272" cy="3063240"/>
          </a:xfrm>
          <a:prstGeom prst="roundRect">
            <a:avLst>
              <a:gd name="adj" fmla="val 2388"/>
            </a:avLst>
          </a:prstGeom>
          <a:solidFill>
            <a:srgbClr val="F5E6E6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22402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B0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raízes: TIR₁ = 7,55% e TIR₂ = 48,18%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06640" y="283464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K = 6% (&lt; TIR₁ = 7,55%), o VPL(6%) = −14,54 &lt; 0 — o projeto NÃO é viável, mesmo com i &lt; TIR₁.
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só é viável para 7,55% &lt; K &lt; 48,18%.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525780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Regra prática: sempre que o fluxo de caixa mudar de sinal mais de uma vez, abandone a TIR e use o VPL — que sempre fornece a resposta correta, independente do número de raízes.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13" name="Text 25">
            <a:extLst>
              <a:ext uri="{FF2B5EF4-FFF2-40B4-BE49-F238E27FC236}">
                <a16:creationId xmlns:a16="http://schemas.microsoft.com/office/drawing/2014/main" id="{86CD460D-4C65-F551-BE2C-0CEADFD8CC89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de Alternativas de Investimento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Escolhendo a melhor carteira de projetos, com e sem restrição orçamentária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restrição: aceitar todo VPL &gt; 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restrição: o Índice de Rentabilidade (IR)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5AA41ED8-3018-1BF1-03D0-7EC62DC0A41E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 — RACIONAMENTO DE CAPITAL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Restrição × Com Restrição de Capital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7EE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2.9.1 — Sem Restrição de Capital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é simples: aceitar todos os projetos independentes com VPL &gt; 0. Em alternativas mutuamente excludentes, seleciona-se a de maior VPL.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08192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36792" y="18288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2.9.2 — Com Restrição de Capital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36792" y="224028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preciso selecionar a carteira de projetos que maximiza o VPL total dentro do orçamento. O Índice de Rentabilidade (IR) é usado para ordenar os projetos.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977640"/>
            <a:ext cx="10817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= VPL / 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484632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C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de VPL é gerado por real investido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5E6E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7492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Importante: o IR só é adequado sob restrição de capital. Sem restrição, o VPL absoluto é o critério correto — o IR pode indicar projetos menores que não maximizam o VPL total.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17" name="Text 25">
            <a:extLst>
              <a:ext uri="{FF2B5EF4-FFF2-40B4-BE49-F238E27FC236}">
                <a16:creationId xmlns:a16="http://schemas.microsoft.com/office/drawing/2014/main" id="{D96E44DE-C0B2-BD2E-D330-8F5B4E9F5FB8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 — SEÇÃO 2.9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a Carteira Ótima (Orçamento = $10)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92240" cy="13716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0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(10%)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= VPL/I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21,40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2,14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16,07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3,21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11,94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2,39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223760" y="1600200"/>
          <a:ext cx="4416552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Ordenando pelo IR: B (3,21) &gt; C (2,39) &gt; A (2,14)</a:t>
            </a:r>
            <a:endParaRPr lang="en-US" sz="13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1371600"/>
        </p:xfrm>
        <a:graphic>
          <a:graphicData uri="http://schemas.openxmlformats.org/drawingml/2006/table">
            <a:tbl>
              <a:tblPr/>
              <a:tblGrid>
                <a:gridCol w="377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Total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Combinado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21,40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2,14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+ C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28,01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2,80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+ B (sem restrição)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37,47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822960" y="52120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99A2E"/>
                </a:solidFill>
              </a:rPr>
              <a:t>Com restrição ($10): B + C → VPL = $28,01  (&gt; $21,40 de A sozinha)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7EEF4"/>
                </a:solidFill>
              </a:rPr>
              <a:t>Sem restrição: A + B → VPL = $37,47 — todos os projetos com VPL &gt; 0 são aceitos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4" name="Text 25">
            <a:extLst>
              <a:ext uri="{FF2B5EF4-FFF2-40B4-BE49-F238E27FC236}">
                <a16:creationId xmlns:a16="http://schemas.microsoft.com/office/drawing/2014/main" id="{38611096-F68A-3F92-9907-D04034A4C9C3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3840480" cy="384048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Flexibilidades Estratégicas e o VPL Estratégico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82296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370832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possibilidade de adaptação ao longo do tempo tem valor econômico real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5166360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474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do VPL tradicional (passivo)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5495544"/>
            <a:ext cx="109728" cy="109728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7667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Opções Reais e o VPL Estratégico (expandido)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06EA764E-6532-D4C7-D0FE-FB306A3DFCE5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2.10.1 E 2.10.2 — LIMITAÇÕES E OPÇÕES REAIS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Flexibilidade Gerencial Tem Valor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 clássico assume fluxos de caixa fixos e execução passiva. Na prática, gestores expandem, contraem, adiam ou abandonam investimentos em resposta a novas informações — e essa flexibilidade tem valor econômico real.</a:t>
            </a:r>
            <a:endParaRPr lang="en-US" sz="12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Opção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é Valiosa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Esperar / Adiar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Postergar o investimento até obter mais informações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incerteza + investimento irreversível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Expandir capacidade se o projeto tiver bom desempenho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Mercados em crescimento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Reduzir escala se o desempenho for ruim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volatilidade de demanda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Abandono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Vender o ativo antes do fim da vida útil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Ativos com bom valor de mercado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insumos ou produtos conforme preços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Flexibilidade de processo produtivo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8E80E32A-B28A-1A4C-5F7B-50C5728E8631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2.10.3 — VPL ESTRATÉGICO (EXPANDIDO)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Incorporando o Valor das Opções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VPL_estratégico = VPL_passivo + Valor das Opções Reais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das opções reais é positivo e aumenta com a volatilidade do projeto. Paradoxalmente, projetos mais arriscados podem ter VPL estratégico maior — a incerteza aumenta o valor das opções de adaptação.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2926080"/>
          </a:xfrm>
          <a:prstGeom prst="roundRect">
            <a:avLst>
              <a:gd name="adj" fmla="val 2500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CONCEITUAL  ·  Avaliação de uma Jazida de Minério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mineradora avalia uma jazida com VPL_passivo = −R$ 5.000.000 (inviável pelo método tradicional). Fatores de flexibilidade identificados: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4805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0F3F5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5537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de Adiamento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48463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R$ 3.000.000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61688" y="44805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0F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45537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de Abandono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98848" y="48463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R$ 2.500.000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00416" y="44805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0F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8037576" y="45537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de Expansão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37576" y="48463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R$ 1.500.000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VPL_estratégico = −5.000.000 + 3.000.000 + 2.500.000 + 1.500.000 = R$ +2.000.000  →  Projeto VIÁVEL quando gerido ativamente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51D6232C-1283-55EE-5FC9-D6E1872DF79E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2.10.4 — QUANDO O VPL ESTRATÉGICO É MAIS RELEVANTE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do Projeto × Relevância</a:t>
            </a:r>
            <a:endParaRPr lang="en-US" sz="2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24528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 do Projeto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Relevância do VPL Estratégico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volatilidade dos fluxos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incerteza aumenta o valor das opções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irreversível (sunk cost)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a opção de adiar é valiosa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Múltiplas fases sequenciais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opção de expansão em cada fase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Ativos com mercado secundário 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opção de abandono valiosa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Fluxos estáveis e previsíveis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— VPL tradicional é suficiente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 acirrada (janela de oportunidade)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— adiar pode significar perder o mercado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  <p:sp>
        <p:nvSpPr>
          <p:cNvPr id="4" name="Text 25">
            <a:extLst>
              <a:ext uri="{FF2B5EF4-FFF2-40B4-BE49-F238E27FC236}">
                <a16:creationId xmlns:a16="http://schemas.microsoft.com/office/drawing/2014/main" id="{9A3D8BCF-6C1C-283B-C205-EC86FE699712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 — Quadro de Métodos</a:t>
            </a:r>
            <a:endParaRPr lang="en-US" sz="2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533904"/>
              </p:ext>
            </p:extLst>
          </p:nvPr>
        </p:nvGraphicFramePr>
        <p:xfrm>
          <a:off x="548640" y="1737360"/>
          <a:ext cx="11091672" cy="4526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Principal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−I + Σ FCt/(1+K)</a:t>
                      </a:r>
                      <a:r>
                        <a:rPr lang="en-US" sz="1050" baseline="300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050" baseline="30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VPL &gt;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principal; sem restrição de capital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VPL = 0 → resolver i*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TIR &gt; 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Complementar; só em projetos convencionais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Descontado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= Σ VPt até 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PB &lt; prazo máximo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liquidez e risco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C/B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VP(Ben.)/VP(Cust.)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C/B &gt; 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 públicos; seleção com restrição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VPL / a(n|K)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AE &gt;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projetos com vidas diferentes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[I/a(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n|K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)] + Op.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Menor CAE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Alternativas com mesmos benefícios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Incremental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TIR do fluxo B−A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TIR_inc &gt; 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Alternativas mutuamente excludentes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(Rentabilidade)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VPL / 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Maior IR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Racionamento de capital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Estratégico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VPL_passivo + Opções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VPL_est. &gt;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 com alta incerteza/flexibilidade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4" name="Text 25">
            <a:extLst>
              <a:ext uri="{FF2B5EF4-FFF2-40B4-BE49-F238E27FC236}">
                <a16:creationId xmlns:a16="http://schemas.microsoft.com/office/drawing/2014/main" id="{0C428BC2-71E4-961D-BC5D-A0C1BA21433A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PRÁTICO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Decisão — Qual Método Usar?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62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Recomendado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isolado, sem restrição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universal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projetos, mesmo prazo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ou TIR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válida para conv.; VPL é preferível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projetos, prazos diferentes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 ou CAE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Igualação implícita do horizonte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Selecionar carteira com orçamento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Rentabilidade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Maximizar VPL por real investido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 não-convencionais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(nunca TIR)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Múltiplas TIRs inviabilizam o 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contradiz VPL (excludentes)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Incremental + VPL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diferencial entre alternativas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com alta incerteza / opções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Estratégico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Incorporar o valor das opções reais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4" name="Text 25">
            <a:extLst>
              <a:ext uri="{FF2B5EF4-FFF2-40B4-BE49-F238E27FC236}">
                <a16:creationId xmlns:a16="http://schemas.microsoft.com/office/drawing/2014/main" id="{A643B9EF-5CF4-8DD9-F3C3-62F2EF77FC30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377440"/>
            <a:ext cx="5943600" cy="5943600"/>
          </a:xfrm>
          <a:prstGeom prst="ellipse">
            <a:avLst/>
          </a:prstGeom>
          <a:solidFill>
            <a:srgbClr val="0F3F5E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114800" cy="411480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 PRÓXIMA AULA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Bibliográficas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914400" cy="4114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SAMANEZ, C. P. Engenharia Econômica. São Paulo: Pearson Prentice Hall, 2009.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79776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79776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BREALEY, R. A.; MYERS, S. C.; ALLEN, F. Princípios de Finanças Corporativas. 12. ed. Porto Alegre: AMGH, 2018.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47872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4787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BLANK, L.; TARQUIN, A. Engenharia Econômica. 6. ed. Porto Alegre: AMGH, 2011.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15968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DAMODARAN, A. Avaliação de Investimentos. 2. ed. Rio de Janeiro: Qualitymark, 2010.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084064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0B355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8406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DIXIT, A. K.; PINDYCK, R. S. Investment under Uncertainty. Princeton: Princeton University Press, 1994.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95360" y="2011680"/>
            <a:ext cx="3063240" cy="4206240"/>
          </a:xfrm>
          <a:prstGeom prst="roundRect">
            <a:avLst>
              <a:gd name="adj" fmla="val 2388"/>
            </a:avLst>
          </a:prstGeom>
          <a:solidFill>
            <a:srgbClr val="0B3552"/>
          </a:solidFill>
          <a:ln/>
          <a:effectLst>
            <a:outerShdw blurRad="76200" dist="25400" dir="5400000" algn="bl" rotWithShape="0">
              <a:srgbClr val="0B3552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2396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CAPÍTULO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23960" y="26060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Depreciação e Análise de Substituição de Ativos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23960" y="3931920"/>
            <a:ext cx="548640" cy="32004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41148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os exercícios propostos podem ser trazidas para o início da próxima aula.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50" dirty="0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5CE4AF53-6875-2951-5586-4CDC797418E0}"/>
              </a:ext>
            </a:extLst>
          </p:cNvPr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Cap. 2 —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Investimentos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3_x002d_MarceloPassos xmlns="f244cccc-9ebe-487b-9f49-451c84d31f5d" xsi:nil="true"/>
    <Data xmlns="f244cccc-9ebe-487b-9f49-451c84d31f5d">2026-09-02T21:26:07+00:00</Data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</documentManagement>
</p:properties>
</file>

<file path=customXml/itemProps1.xml><?xml version="1.0" encoding="utf-8"?>
<ds:datastoreItem xmlns:ds="http://schemas.openxmlformats.org/officeDocument/2006/customXml" ds:itemID="{6BEB9422-A800-448A-BE17-C55F333A787E}"/>
</file>

<file path=customXml/itemProps2.xml><?xml version="1.0" encoding="utf-8"?>
<ds:datastoreItem xmlns:ds="http://schemas.openxmlformats.org/officeDocument/2006/customXml" ds:itemID="{2D94AE4A-8173-40B9-BAEB-C19CFF9A6F06}"/>
</file>

<file path=customXml/itemProps3.xml><?xml version="1.0" encoding="utf-8"?>
<ds:datastoreItem xmlns:ds="http://schemas.openxmlformats.org/officeDocument/2006/customXml" ds:itemID="{C86A4330-BE9F-401B-996C-E55E5D26D000}"/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5578</Words>
  <Application>Microsoft Office PowerPoint</Application>
  <PresentationFormat>Widescreen</PresentationFormat>
  <Paragraphs>793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Joao Carlos Felix Souza</cp:lastModifiedBy>
  <cp:revision>9</cp:revision>
  <dcterms:created xsi:type="dcterms:W3CDTF">2026-07-13T00:18:21Z</dcterms:created>
  <dcterms:modified xsi:type="dcterms:W3CDTF">2026-07-13T14:11:45Z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</Properties>
</file>